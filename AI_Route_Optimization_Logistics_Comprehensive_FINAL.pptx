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9" r:id="rId40"/>
    <p:sldId id="290" r:id="rId41"/>
    <p:sldId id="260" r:id="rId6"/>
    <p:sldId id="261" r:id="rId7"/>
    <p:sldId id="262" r:id="rId8"/>
    <p:sldId id="291" r:id="rId42"/>
    <p:sldId id="263" r:id="rId9"/>
    <p:sldId id="264" r:id="rId10"/>
    <p:sldId id="265" r:id="rId11"/>
    <p:sldId id="266" r:id="rId12"/>
    <p:sldId id="267" r:id="rId13"/>
    <p:sldId id="268" r:id="rId14"/>
    <p:sldId id="292" r:id="rId43"/>
    <p:sldId id="269" r:id="rId15"/>
    <p:sldId id="293" r:id="rId44"/>
    <p:sldId id="294" r:id="rId45"/>
    <p:sldId id="270" r:id="rId16"/>
    <p:sldId id="295" r:id="rId46"/>
    <p:sldId id="271" r:id="rId17"/>
    <p:sldId id="296" r:id="rId4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97" r:id="rId48"/>
    <p:sldId id="283" r:id="rId34"/>
    <p:sldId id="284" r:id="rId35"/>
    <p:sldId id="285" r:id="rId36"/>
    <p:sldId id="286" r:id="rId37"/>
    <p:sldId id="287" r:id="rId38"/>
    <p:sldId id="288" r:id="rId39"/>
    <p:sldId id="280" r:id="rId26"/>
    <p:sldId id="281" r:id="rId27"/>
    <p:sldId id="282" r:id="rId28"/>
    <p:sldId id="298" r:id="rId49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8.xml"/><Relationship Id="rId16" Type="http://schemas.openxmlformats.org/officeDocument/2006/relationships/slide" Target="slides/slide21.xml"/><Relationship Id="rId17" Type="http://schemas.openxmlformats.org/officeDocument/2006/relationships/slide" Target="slides/slide23.xml"/><Relationship Id="rId18" Type="http://schemas.openxmlformats.org/officeDocument/2006/relationships/slide" Target="slides/slide25.xml"/><Relationship Id="rId19" Type="http://schemas.openxmlformats.org/officeDocument/2006/relationships/slide" Target="slides/slide26.xml"/><Relationship Id="rId20" Type="http://schemas.openxmlformats.org/officeDocument/2006/relationships/slide" Target="slides/slide27.xml"/><Relationship Id="rId21" Type="http://schemas.openxmlformats.org/officeDocument/2006/relationships/slide" Target="slides/slide28.xml"/><Relationship Id="rId22" Type="http://schemas.openxmlformats.org/officeDocument/2006/relationships/slide" Target="slides/slide29.xml"/><Relationship Id="rId23" Type="http://schemas.openxmlformats.org/officeDocument/2006/relationships/slide" Target="slides/slide30.xml"/><Relationship Id="rId24" Type="http://schemas.openxmlformats.org/officeDocument/2006/relationships/slide" Target="slides/slide31.xml"/><Relationship Id="rId25" Type="http://schemas.openxmlformats.org/officeDocument/2006/relationships/slide" Target="slides/slide32.xml"/><Relationship Id="rId26" Type="http://schemas.openxmlformats.org/officeDocument/2006/relationships/slide" Target="slides/slide40.xml"/><Relationship Id="rId27" Type="http://schemas.openxmlformats.org/officeDocument/2006/relationships/slide" Target="slides/slide41.xml"/><Relationship Id="rId28" Type="http://schemas.openxmlformats.org/officeDocument/2006/relationships/slide" Target="slides/slide42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5.xml"/><Relationship Id="rId41" Type="http://schemas.openxmlformats.org/officeDocument/2006/relationships/slide" Target="slides/slide6.xml"/><Relationship Id="rId42" Type="http://schemas.openxmlformats.org/officeDocument/2006/relationships/slide" Target="slides/slide10.xml"/><Relationship Id="rId43" Type="http://schemas.openxmlformats.org/officeDocument/2006/relationships/slide" Target="slides/slide17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2.xml"/><Relationship Id="rId47" Type="http://schemas.openxmlformats.org/officeDocument/2006/relationships/slide" Target="slides/slide24.xml"/><Relationship Id="rId48" Type="http://schemas.openxmlformats.org/officeDocument/2006/relationships/slide" Target="slides/slide33.xml"/><Relationship Id="rId49" Type="http://schemas.openxmlformats.org/officeDocument/2006/relationships/slide" Target="slides/slide4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Global Fleet Mgmt Market (US$B)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(US$B)</c:v>
                </c:pt>
              </c:strCache>
            </c:strRef>
          </c:tx>
          <c:spPr>
            <a:solidFill>
              <a:srgbClr val="FF7A1A"/>
            </a:solidFill>
            <a:effectLst/>
          </c:spPr>
          <c:invertIfNegative val="0"/>
          <c:dLbls>
            <c:numFmt formatCode="$0.0&quot;B&quot;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2023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37.7</c:v>
                </c:pt>
                <c:pt idx="1">
                  <c:v>70.3</c:v>
                </c:pt>
              </c:numCache>
            </c:numRef>
          </c:val>
        </c:ser>
        <c:dLbls>
          <c:numFmt formatCode="$0.0&quot;B&quot;" sourceLinked="0"/>
          <c:txPr>
            <a:bodyPr/>
            <a:lstStyle/>
            <a:p>
              <a:pPr>
                <a:defRPr b="0" i="0" strike="noStrike" sz="1800" u="none">
                  <a:solidFill>
                    <a:srgbClr val="2023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7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700" b="0" i="0" u="none" strike="noStrike">
                <a:solidFill>
                  <a:srgbClr val="000000"/>
                </a:solidFill>
                <a:latin typeface="Arial"/>
              </a:rPr>
              <a:t>US Trucking Cost / Mile (ATRI, 2025)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6472"/>
              </a:solidFill>
              <a:effectLst/>
            </c:spPr>
          </c:dPt>
          <c:dPt>
            <c:idx val="1"/>
            <c:bubble3D val="0"/>
            <c:spPr>
              <a:solidFill>
                <a:srgbClr val="AEB4BD"/>
              </a:solidFill>
              <a:effectLst/>
            </c:spPr>
          </c:dPt>
          <c:dPt>
            <c:idx val="2"/>
            <c:bubble3D val="0"/>
            <c:spPr>
              <a:solidFill>
                <a:srgbClr val="FF7A1A"/>
              </a:solidFill>
              <a:effectLst/>
            </c:spPr>
          </c:dPt>
          <c:dPt>
            <c:idx val="3"/>
            <c:bubble3D val="0"/>
            <c:spPr>
              <a:solidFill>
                <a:srgbClr val="D9D9D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Driver Pay (44%)</c:v>
                </c:pt>
                <c:pt idx="1">
                  <c:v>Equipment (28%)</c:v>
                </c:pt>
                <c:pt idx="2">
                  <c:v>Fuel (21%)</c:v>
                </c:pt>
                <c:pt idx="3">
                  <c:v>Other (7%)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43.8</c:v>
                </c:pt>
                <c:pt idx="1">
                  <c:v>28.1</c:v>
                </c:pt>
                <c:pt idx="2">
                  <c:v>21.3</c:v>
                </c:pt>
                <c:pt idx="3">
                  <c:v>6.8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600" b="0" i="0" u="none" strike="noStrike">
                <a:solidFill>
                  <a:srgbClr val="000000"/>
                </a:solidFill>
                <a:latin typeface="Arial"/>
              </a:rPr>
              <a:t>McKinsey AI Impact Ranges — High End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estimate</c:v>
                </c:pt>
              </c:strCache>
            </c:strRef>
          </c:tx>
          <c:spPr>
            <a:solidFill>
              <a:srgbClr val="FF7A1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Logistics Cost</c:v>
                  </c:pt>
                  <c:pt idx="1">
                    <c:v>Fuel Cost</c:v>
                  </c:pt>
                  <c:pt idx="2">
                    <c:v>Inventory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15</c:v>
                </c:pt>
                <c:pt idx="2">
                  <c:v>30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On-Time Rate Trend (Illustrative)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Rate (%)</c:v>
                </c:pt>
              </c:strCache>
            </c:strRef>
          </c:tx>
          <c:spPr>
            <a:solidFill>
              <a:srgbClr val="FF7A1A"/>
            </a:solidFill>
            <a:ln w="38100" cap="flat">
              <a:solidFill>
                <a:srgbClr val="FF7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D9600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7A1A"/>
              </a:solidFill>
              <a:ln w="9525" cap="flat">
                <a:solidFill>
                  <a:srgbClr val="FF7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</c:v>
                </c:pt>
                <c:pt idx="1">
                  <c:v>92</c:v>
                </c:pt>
                <c:pt idx="2">
                  <c:v>90</c:v>
                </c:pt>
                <c:pt idx="3">
                  <c:v>84</c:v>
                </c:pt>
                <c:pt idx="4">
                  <c:v>89</c:v>
                </c:pt>
                <c:pt idx="5">
                  <c:v>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D9600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Average Delay by Zone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(min)</c:v>
                </c:pt>
              </c:strCache>
            </c:strRef>
          </c:tx>
          <c:spPr>
            <a:solidFill>
              <a:srgbClr val="AEB4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2023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EB4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EB4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7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EB4B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EB4B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Zone A</c:v>
                  </c:pt>
                  <c:pt idx="1">
                    <c:v>Zone B</c:v>
                  </c:pt>
                  <c:pt idx="2">
                    <c:v>Zone C</c:v>
                  </c:pt>
                  <c:pt idx="3">
                    <c:v>Zone D</c:v>
                  </c:pt>
                  <c:pt idx="4">
                    <c:v>Zone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11</c:v>
                </c:pt>
                <c:pt idx="2">
                  <c:v>22</c:v>
                </c:pt>
                <c:pt idx="3">
                  <c:v>9</c:v>
                </c:pt>
                <c:pt idx="4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800" u="none">
                  <a:solidFill>
                    <a:srgbClr val="2023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Distance vs Fuel Used (Illustrative)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Fuel (L)</c:v>
                </c:pt>
              </c:strCache>
            </c:strRef>
          </c:tx>
          <c:spPr>
            <a:solidFill>
              <a:srgbClr val="D9600A"/>
            </a:solidFill>
            <a:ln w="25400" cap="flat">
              <a:solidFill>
                <a:srgbClr val="D960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600A"/>
              </a:solidFill>
              <a:ln w="9525" cap="flat">
                <a:solidFill>
                  <a:srgbClr val="D9600A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18</c:v>
                </c:pt>
                <c:pt idx="2">
                  <c:v>25</c:v>
                </c:pt>
                <c:pt idx="3">
                  <c:v>30</c:v>
                </c:pt>
                <c:pt idx="4">
                  <c:v>35</c:v>
                </c:pt>
                <c:pt idx="5">
                  <c:v>42</c:v>
                </c:pt>
                <c:pt idx="6">
                  <c:v>48</c:v>
                </c:pt>
                <c:pt idx="7">
                  <c:v>55</c:v>
                </c:pt>
                <c:pt idx="8">
                  <c:v>60</c:v>
                </c:pt>
                <c:pt idx="9">
                  <c:v>63</c:v>
                </c:pt>
                <c:pt idx="10">
                  <c:v>70</c:v>
                </c:pt>
                <c:pt idx="11">
                  <c:v>22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3.1</c:v>
                </c:pt>
                <c:pt idx="1">
                  <c:v>4.2</c:v>
                </c:pt>
                <c:pt idx="2">
                  <c:v>5.8</c:v>
                </c:pt>
                <c:pt idx="3">
                  <c:v>6.9</c:v>
                </c:pt>
                <c:pt idx="4">
                  <c:v>7.5</c:v>
                </c:pt>
                <c:pt idx="5">
                  <c:v>9.8</c:v>
                </c:pt>
                <c:pt idx="6">
                  <c:v>10.5</c:v>
                </c:pt>
                <c:pt idx="7">
                  <c:v>12.1</c:v>
                </c:pt>
                <c:pt idx="8">
                  <c:v>13</c:v>
                </c:pt>
                <c:pt idx="9">
                  <c:v>18.5</c:v>
                </c:pt>
                <c:pt idx="10">
                  <c:v>15.2</c:v>
                </c:pt>
                <c:pt idx="11">
                  <c:v>9.5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6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600" b="0" i="0" u="none" strike="noStrike">
                    <a:solidFill>
                      <a:srgbClr val="000000"/>
                    </a:solidFill>
                    <a:latin typeface="Arial"/>
                  </a:rPr>
                  <a:t>Distance (km)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6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600" b="0" i="0" u="none" strike="noStrike">
                    <a:solidFill>
                      <a:srgbClr val="000000"/>
                    </a:solidFill>
                    <a:latin typeface="Arial"/>
                  </a:rPr>
                  <a:t>Fuel (L)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3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9.png"/><Relationship Id="rId6" Type="http://schemas.openxmlformats.org/officeDocument/2006/relationships/image" Target="../media/image44.png"/><Relationship Id="rId7" Type="http://schemas.openxmlformats.org/officeDocument/2006/relationships/image" Target="../media/image4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4343400" cy="9144"/>
          </a:xfrm>
          <a:prstGeom prst="line">
            <a:avLst/>
          </a:prstGeom>
          <a:noFill/>
          <a:ln w="15875">
            <a:solidFill>
              <a:srgbClr val="5B6472"/>
            </a:solidFill>
            <a:prstDash val="dash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70916" y="608076"/>
            <a:ext cx="64008" cy="64008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78508" y="608076"/>
            <a:ext cx="64008" cy="64008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0" y="608076"/>
            <a:ext cx="64008" cy="64008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3692" y="608076"/>
            <a:ext cx="64008" cy="64008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5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AI-IN-BUSINESS CASE STUDY  —  COMPREHENSIVE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Route Optimization</a:t>
            </a:r>
            <a:endParaRPr lang="en-US" sz="46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Logistics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Planning to Real-Time, Data-Driven Fleet Decisions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21208" y="4297680"/>
            <a:ext cx="2377440" cy="4572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4526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Emad Abd El Aziz
</a:t>
            </a:r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9B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Candidate  |  Case Studies in AI for Business
</a:t>
            </a:r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9B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Village Campus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43</a:t>
            </a:r>
            <a:endParaRPr lang="en-US" sz="1300" dirty="0"/>
          </a:p>
        </p:txBody>
      </p:sp>
      <p:pic>
        <p:nvPicPr>
          <p:cNvPr id="15" name="Picture 14" descr="title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000" y="4405245"/>
            <a:ext cx="6100000" cy="18495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Opportunity, in Four Verified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728216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101600" dist="25400" dir="5400000">
              <a:srgbClr val="20232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728216"/>
            <a:ext cx="73152" cy="187452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865376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6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5–20%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154680" y="189280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logistics costs from embedding AI in distribution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154680" y="32369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728216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101600" dist="25400" dir="5400000">
              <a:srgbClr val="20232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17920" y="1728216"/>
            <a:ext cx="73152" cy="187452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92240" y="1865376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6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10–15%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915400" y="189280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fuel cost from route optimization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915400" y="32369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McKinsey-aligned analysis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101600" dist="25400" dir="5400000">
              <a:srgbClr val="20232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3858768"/>
            <a:ext cx="73152" cy="187452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3995928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6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$70B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3154680" y="4023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fleet-management market by 2030 (from $38B in 2025)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54680" y="5367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MarketsandMarkets, 2025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858768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101600" dist="25400" dir="5400000">
              <a:srgbClr val="20232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17920" y="3858768"/>
            <a:ext cx="73152" cy="187452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92240" y="3995928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6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$94.6B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915400" y="4023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cost of highway congestion to U.S. trucking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15400" y="5367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External, cited industry benchmarks — not company-specific results. Full references in the appendix.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43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MARKET CONTEXT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Fast-Growing, Still Under-Optimized Market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graphicFrame>
        <p:nvGraphicFramePr>
          <p:cNvPr id="5" name="Chart 0" descr=""/>
          <p:cNvGraphicFramePr/>
          <p:nvPr/>
        </p:nvGraphicFramePr>
        <p:xfrm>
          <a:off x="457200" y="1636776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92861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 CAGR, 2025–2030  ·  Source: MarketsandMarkets, 2025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92240" y="1636776"/>
            <a:ext cx="5257800" cy="3657600"/>
          </a:xfrm>
          <a:prstGeom prst="rect">
            <a:avLst/>
          </a:prstGeom>
          <a:solidFill>
            <a:srgbClr val="20232B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766560" y="18653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766560" y="2505456"/>
            <a:ext cx="128016" cy="128016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040880" y="236829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≈ half of total logistics cost (McKinsey)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766560" y="3419856"/>
            <a:ext cx="128016" cy="128016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040880" y="328269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alone = 41–53% of logistics cost (Capgemini)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766560" y="4334256"/>
            <a:ext cx="128016" cy="128016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040880" y="419709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+ edge AI enable up to 20% fuel savings (Mordor Intelligence)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Planning Bleeds Money in Three Places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graphicFrame>
        <p:nvGraphicFramePr>
          <p:cNvPr id="5" name="Chart 0" descr=""/>
          <p:cNvGraphicFramePr/>
          <p:nvPr/>
        </p:nvGraphicFramePr>
        <p:xfrm>
          <a:off x="457200" y="1636776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636776"/>
            <a:ext cx="5486400" cy="3977640"/>
          </a:xfrm>
          <a:prstGeom prst="rect">
            <a:avLst/>
          </a:prstGeom>
          <a:solidFill>
            <a:srgbClr val="20232B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537960" y="191109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(21%)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37960" y="231343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routes can't react to live traffic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37960" y="30815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37960" y="348386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$94.6B/year cost to U.S. trucking (ATRI)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37960" y="42519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37960" y="465429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upkeep misses early warning signs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43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200">
                <a:solidFill>
                  <a:srgbClr val="FF7A1A"/>
                </a:solidFill>
                <a:latin typeface="Calibri"/>
              </a:rPr>
              <a:t>INDUSTRY &amp; 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20232B"/>
                </a:solidFill>
                <a:latin typeface="Georgia"/>
              </a:rPr>
              <a:t>Who We Are, and Where the Old Approach Breaks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C818C"/>
                </a:solidFill>
                <a:latin typeface="Calibri"/>
              </a:rPr>
              <a:t>AI-POWERED ROUTE OPTIMIZATION IN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7C818C"/>
                </a:solidFill>
                <a:latin typeface="Calibri"/>
              </a:rPr>
              <a:t>5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00000"/>
            <a:ext cx="5486400" cy="2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00000"/>
            <a:ext cx="54864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10000"/>
            <a:ext cx="49926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ORGANIZATION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60000"/>
            <a:ext cx="4992624" cy="1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4B505A"/>
                </a:solidFill>
                <a:latin typeface="Calibri"/>
              </a:rPr>
              <a:t>•  Mid-size ground logistics / trucking fleet operator — ~30 vehicles running daily last-mile and regional delivery routes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4B505A"/>
                </a:solidFill>
                <a:latin typeface="Calibri"/>
              </a:rPr>
              <a:t>•  Competes in a fast-growing logistics market (13.3% CAGR, 2025–2030)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4B505A"/>
                </a:solidFill>
                <a:latin typeface="Calibri"/>
              </a:rPr>
              <a:t>•  Dispatch and route planning still run on manual/static tools — spreadsheets and dispatcher judgment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8400" y="1800000"/>
            <a:ext cx="5486400" cy="2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400" y="1800000"/>
            <a:ext cx="54864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5288" y="2010000"/>
            <a:ext cx="49926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WHY TRADITIONAL SYSTEMS FALL SHORT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5288" y="2460000"/>
            <a:ext cx="4992624" cy="1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4B505A"/>
                </a:solidFill>
                <a:latin typeface="Calibri"/>
              </a:rPr>
              <a:t>•  Static, pre-planned routes can't react to live traffic, weather or breakdowns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4B505A"/>
                </a:solidFill>
                <a:latin typeface="Calibri"/>
              </a:rPr>
              <a:t>•  Manual dispatch scales with headcount — can't absorb order-volume growth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4B505A"/>
                </a:solidFill>
                <a:latin typeface="Calibri"/>
              </a:rPr>
              <a:t>•  Reactive (not predictive) maintenance misses early warning signs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4B505A"/>
                </a:solidFill>
                <a:latin typeface="Calibri"/>
              </a:rPr>
              <a:t>•  Spreadsheet reporting delays visibility from real-time to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60000"/>
            <a:ext cx="11277600" cy="1750000"/>
          </a:xfrm>
          <a:prstGeom prst="rect">
            <a:avLst/>
          </a:prstGeom>
          <a:solidFill>
            <a:srgbClr val="20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18333"/>
            <a:ext cx="10728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100">
                <a:solidFill>
                  <a:srgbClr val="FF7A1A"/>
                </a:solidFill>
                <a:latin typeface="Calibri"/>
              </a:rPr>
              <a:t>OPERATIONAL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46666"/>
            <a:ext cx="1072896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No real-time re-routing — congestion and delay are absorbed as cost, not managed.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01666"/>
            <a:ext cx="10728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100">
                <a:solidFill>
                  <a:srgbClr val="FF7A1A"/>
                </a:solidFill>
                <a:latin typeface="Calibri"/>
              </a:rPr>
              <a:t>STRATEGIC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30000"/>
            <a:ext cx="1072896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Competitors adopting AI/telematics gain a service-reliability edge in a 13.3%-CAGR market.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85000"/>
            <a:ext cx="10728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100">
                <a:solidFill>
                  <a:srgbClr val="FF7A1A"/>
                </a:solidFill>
                <a:latin typeface="Calibri"/>
              </a:rPr>
              <a:t>FINANCIAL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13333"/>
            <a:ext cx="1072896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Fuel (21%) + industry-wide congestion cost ($94.6B/yr, ATRI) + reactive maintenance stack into avoidable spend.</a:t>
            </a:r>
          </a:p>
        </p:txBody>
      </p:sp>
      <p:pic>
        <p:nvPicPr>
          <p:cNvPr id="23" name="Picture 22" descr="ware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560" y="1955000"/>
            <a:ext cx="320040" cy="320040"/>
          </a:xfrm>
          <a:prstGeom prst="rect">
            <a:avLst/>
          </a:prstGeom>
        </p:spPr>
      </p:pic>
      <p:pic>
        <p:nvPicPr>
          <p:cNvPr id="24" name="Picture 23" descr="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760" y="1955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200">
                <a:solidFill>
                  <a:srgbClr val="FF7A1A"/>
                </a:solidFill>
                <a:latin typeface="Calibri"/>
              </a:rPr>
              <a:t>DATA ANALYTICS COMPONENT (MANDATORY)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The Data Behind Every AI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C818C"/>
                </a:solidFill>
                <a:latin typeface="Calibri"/>
              </a:rPr>
              <a:t>AI-POWERED ROUTE OPTIMIZATION IN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7C818C"/>
                </a:solidFill>
                <a:latin typeface="Calibri"/>
              </a:rPr>
              <a:t>6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00000"/>
            <a:ext cx="5486400" cy="285000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00000"/>
            <a:ext cx="54864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10000"/>
            <a:ext cx="49926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TYPES OF DATA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60000"/>
            <a:ext cx="4992624" cy="20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 Structured — trip records, GPS coordinates, fuel logs, delivery timestamps (schema on Slide 26)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 Real-time / streaming — live GPS telemetry, traffic and weather feeds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 Historical — completed-trip archive used to train delay/ETA models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 Unstructured (lightly used) — free-text dispatcher/incident 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8400" y="1800000"/>
            <a:ext cx="5486400" cy="285000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400" y="1800000"/>
            <a:ext cx="54864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5288" y="2010000"/>
            <a:ext cx="49926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DATA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5288" y="2460000"/>
            <a:ext cx="4992624" cy="20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 ERP (Sales/Order module) — order creation, customer &amp; delivery details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 TMS / dispatch system — route assignment, vehicle &amp; driver allocation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 IoT / telematics — GPS, engine and fuel sensors on each vehicle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 External feeds — live traffic APIs, weather services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 ERP Finance &amp; HRM — trip cost postings and driver hours feed the KPI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50000"/>
            <a:ext cx="1473980" cy="457200"/>
          </a:xfrm>
          <a:prstGeom prst="roundRect">
            <a:avLst>
              <a:gd name="adj" fmla="val 50000"/>
            </a:avLst>
          </a:prstGeom>
          <a:solidFill>
            <a:srgbClr val="34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Structured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68340" y="4950000"/>
            <a:ext cx="1367730" cy="457200"/>
          </a:xfrm>
          <a:prstGeom prst="roundRect">
            <a:avLst>
              <a:gd name="adj" fmla="val 50000"/>
            </a:avLst>
          </a:prstGeom>
          <a:solidFill>
            <a:srgbClr val="34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Real-time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73230" y="4950000"/>
            <a:ext cx="1473980" cy="457200"/>
          </a:xfrm>
          <a:prstGeom prst="roundRect">
            <a:avLst>
              <a:gd name="adj" fmla="val 50000"/>
            </a:avLst>
          </a:prstGeom>
          <a:solidFill>
            <a:srgbClr val="34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Historical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84370" y="4950000"/>
            <a:ext cx="730230" cy="457200"/>
          </a:xfrm>
          <a:prstGeom prst="roundRect">
            <a:avLst>
              <a:gd name="adj" fmla="val 50000"/>
            </a:avLst>
          </a:prstGeom>
          <a:solidFill>
            <a:srgbClr val="34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ERP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1760" y="4950000"/>
            <a:ext cx="2111480" cy="457200"/>
          </a:xfrm>
          <a:prstGeom prst="roundRect">
            <a:avLst>
              <a:gd name="adj" fmla="val 50000"/>
            </a:avLst>
          </a:prstGeom>
          <a:solidFill>
            <a:srgbClr val="34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IoT / Telematics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0400" y="4950000"/>
            <a:ext cx="1792730" cy="457200"/>
          </a:xfrm>
          <a:prstGeom prst="roundRect">
            <a:avLst>
              <a:gd name="adj" fmla="val 50000"/>
            </a:avLst>
          </a:prstGeom>
          <a:solidFill>
            <a:srgbClr val="34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External APIs</a:t>
            </a:r>
          </a:p>
        </p:txBody>
      </p:sp>
      <p:pic>
        <p:nvPicPr>
          <p:cNvPr id="22" name="Picture 21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560" y="1955000"/>
            <a:ext cx="320040" cy="320040"/>
          </a:xfrm>
          <a:prstGeom prst="rect">
            <a:avLst/>
          </a:prstGeom>
        </p:spPr>
      </p:pic>
      <p:pic>
        <p:nvPicPr>
          <p:cNvPr id="23" name="Picture 22" descr="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760" y="1955000"/>
            <a:ext cx="185041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VS TO-BE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Manual-Routing Gap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96305" y="2185416"/>
            <a:ext cx="9144" cy="2157984"/>
          </a:xfrm>
          <a:prstGeom prst="line">
            <a:avLst/>
          </a:prstGeom>
          <a:noFill/>
          <a:ln w="15875">
            <a:solidFill>
              <a:srgbClr val="DAD7D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367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23113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dispatch planning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937760" cy="9144"/>
          </a:xfrm>
          <a:prstGeom prst="line">
            <a:avLst/>
          </a:prstGeom>
          <a:noFill/>
          <a:ln w="9525">
            <a:solidFill>
              <a:srgbClr val="E8E5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88950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static routes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93008"/>
            <a:ext cx="4937760" cy="9144"/>
          </a:xfrm>
          <a:prstGeom prst="line">
            <a:avLst/>
          </a:prstGeom>
          <a:noFill/>
          <a:ln w="9525">
            <a:solidFill>
              <a:srgbClr val="E8E5E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354787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response to delays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83680" y="16367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23113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route optimization engine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583680" y="2834640"/>
            <a:ext cx="4937760" cy="9144"/>
          </a:xfrm>
          <a:prstGeom prst="line">
            <a:avLst/>
          </a:prstGeom>
          <a:noFill/>
          <a:ln w="9525">
            <a:solidFill>
              <a:srgbClr val="F3D9C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0" y="288950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dynamic re-routing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583680" y="3493008"/>
            <a:ext cx="4937760" cy="9144"/>
          </a:xfrm>
          <a:prstGeom prst="line">
            <a:avLst/>
          </a:prstGeom>
          <a:noFill/>
          <a:ln w="9525">
            <a:solidFill>
              <a:srgbClr val="F3D9C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83680" y="354787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continuous adaptation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3520440" cy="1051560"/>
          </a:xfrm>
          <a:prstGeom prst="rect">
            <a:avLst/>
          </a:prstGeom>
          <a:solidFill>
            <a:srgbClr val="EFEDE9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1520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9834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after a delay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069080" y="452628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00A"/>
                </a:solidFill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251960" y="4526280"/>
            <a:ext cx="3520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434840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34840" y="49834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risk before it happens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772400" y="452628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00A"/>
                </a:solidFill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955280" y="4526280"/>
            <a:ext cx="3520440" cy="105156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138160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38160" y="49834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the best action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43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0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 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Pipeline: Data to Management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17957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08176"/>
            <a:ext cx="11292840" cy="603504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08176"/>
            <a:ext cx="2743200" cy="603504"/>
          </a:xfrm>
          <a:prstGeom prst="rect">
            <a:avLst/>
          </a:prstGeom>
          <a:solidFill>
            <a:srgbClr val="343A4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0817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1408176"/>
            <a:ext cx="8183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· Telematics · Orders · Traffic · Weather · Vehicle &amp; Driver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92840" cy="603504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2103120"/>
            <a:ext cx="2743200" cy="603504"/>
          </a:xfrm>
          <a:prstGeom prst="rect">
            <a:avLst/>
          </a:prstGeom>
          <a:solidFill>
            <a:srgbClr val="343A4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1031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8183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Cleaning · Data Lake · Feature Engineering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11292840" cy="603504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2798064"/>
            <a:ext cx="2743200" cy="603504"/>
          </a:xfrm>
          <a:prstGeom prst="rect">
            <a:avLst/>
          </a:prstGeom>
          <a:solidFill>
            <a:srgbClr val="343A4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279806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ANALYTICS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2798064"/>
            <a:ext cx="8183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&amp; Delay Prediction · Clustering · Anomaly Detection · Route Optimization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93008"/>
            <a:ext cx="11292840" cy="603504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493008"/>
            <a:ext cx="2743200" cy="603504"/>
          </a:xfrm>
          <a:prstGeom prst="rect">
            <a:avLst/>
          </a:prstGeom>
          <a:solidFill>
            <a:srgbClr val="343A4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349300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83280" y="3493008"/>
            <a:ext cx="8183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Route · Vehicle Assignment · Alerts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187952"/>
            <a:ext cx="11292840" cy="603504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7200" y="4187952"/>
            <a:ext cx="2743200" cy="603504"/>
          </a:xfrm>
          <a:prstGeom prst="rect">
            <a:avLst/>
          </a:prstGeom>
          <a:solidFill>
            <a:srgbClr val="343A45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418795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83280" y="4187952"/>
            <a:ext cx="8183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· TMS · ERP · Notifications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882896"/>
            <a:ext cx="11292840" cy="603504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57200" y="4882896"/>
            <a:ext cx="2743200" cy="603504"/>
          </a:xfrm>
          <a:prstGeom prst="rect">
            <a:avLst/>
          </a:prstGeom>
          <a:solidFill>
            <a:srgbClr val="D9600A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488289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83280" y="4882896"/>
            <a:ext cx="8183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KPIs · Continuous Improvement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43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PLAN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Techniques, Five Specific Jobs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728216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20232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728216"/>
            <a:ext cx="3520440" cy="6400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91109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0545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Random Forest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00837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delay &amp; fuel-overrun risk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197096" y="1728216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20232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97096" y="1728216"/>
            <a:ext cx="3520440" cy="6400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79976" y="191109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79976" y="250545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Neural Networks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79976" y="300837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ETA from traffic sequences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6992" y="1728216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20232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936992" y="1728216"/>
            <a:ext cx="3520440" cy="6400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19872" y="191109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19872" y="250545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19872" y="300837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delivery zones &amp; driver risk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2327148" y="4105656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20232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327148" y="4105656"/>
            <a:ext cx="3520440" cy="6400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510028" y="428853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510028" y="488289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Clustering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510028" y="538581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rare events (breakdowns)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067044" y="4105656"/>
            <a:ext cx="3520440" cy="2148840"/>
          </a:xfrm>
          <a:prstGeom prst="rect">
            <a:avLst/>
          </a:prstGeom>
          <a:solidFill>
            <a:srgbClr val="20232B"/>
          </a:solidFill>
          <a:ln w="12700">
            <a:solidFill>
              <a:srgbClr val="20232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067044" y="4105656"/>
            <a:ext cx="3520440" cy="6400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249924" y="428853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(non-ML)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249924" y="488289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Solver + RL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49924" y="538581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best route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43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200">
                <a:solidFill>
                  <a:srgbClr val="FF7A1A"/>
                </a:solidFill>
                <a:latin typeface="Calibri"/>
              </a:rPr>
              <a:t>AI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One AI Engine, Five Business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C818C"/>
                </a:solidFill>
                <a:latin typeface="Calibri"/>
              </a:rPr>
              <a:t>AI-POWERED ROUTE OPTIMIZATION IN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7C818C"/>
                </a:solidFill>
                <a:latin typeface="Calibri"/>
              </a:rPr>
              <a:t>10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00000"/>
            <a:ext cx="2194560" cy="420000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00000"/>
            <a:ext cx="219456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10000"/>
            <a:ext cx="170078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spc="60">
                <a:solidFill>
                  <a:srgbClr val="FF7A1A"/>
                </a:solidFill>
                <a:latin typeface="Calibri"/>
              </a:rPr>
              <a:t>SUPPLY CHAIN /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60000"/>
            <a:ext cx="1700784" cy="1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 Optimized routing (VRP + RL) cuts distance and delay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 Predictive maintenance reduces unplanned breakdowns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800000"/>
            <a:ext cx="2194560" cy="420000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800000"/>
            <a:ext cx="219456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010000"/>
            <a:ext cx="170078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spc="60">
                <a:solidFill>
                  <a:srgbClr val="FF7A1A"/>
                </a:solidFill>
                <a:latin typeface="Calibri"/>
              </a:rPr>
              <a:t>FINANCE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2460000"/>
            <a:ext cx="1700784" cy="1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 Lower cost-per-delivery; ROI tracked via the Slide 18 financial model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 Trip cost auto-posted from ERP Finance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800000"/>
            <a:ext cx="2194560" cy="420000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800000"/>
            <a:ext cx="219456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2010000"/>
            <a:ext cx="170078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spc="60">
                <a:solidFill>
                  <a:srgbClr val="FF7A1A"/>
                </a:solidFill>
                <a:latin typeface="Calibri"/>
              </a:rPr>
              <a:t>HR (DRIVER OPERATIONS)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2460000"/>
            <a:ext cx="1700784" cy="1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 Driver hours and shift data feed AI recommendations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 Overtime and fatigue risk flagged automatically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800000"/>
            <a:ext cx="2194560" cy="420000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1800000"/>
            <a:ext cx="219456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2010000"/>
            <a:ext cx="170078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spc="60">
                <a:solidFill>
                  <a:srgbClr val="FF7A1A"/>
                </a:solidFill>
                <a:latin typeface="Calibri"/>
              </a:rPr>
              <a:t>CUSTOMER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460000"/>
            <a:ext cx="1700784" cy="1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 More accurate ETAs and proactive delay alerts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 Fewer missed or late deliveries improve the on-time KPI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800000"/>
            <a:ext cx="2194560" cy="420000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800000"/>
            <a:ext cx="219456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48088" y="2010000"/>
            <a:ext cx="170078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spc="60">
                <a:solidFill>
                  <a:srgbClr val="FF7A1A"/>
                </a:solidFill>
                <a:latin typeface="Calibri"/>
              </a:rPr>
              <a:t>IT / DATA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088" y="2460000"/>
            <a:ext cx="1700784" cy="1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 Owns the data lake, model deployment (MLOps) and integration layer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 Runs the SDLC shown on Slide 13</a:t>
            </a:r>
          </a:p>
        </p:txBody>
      </p:sp>
      <p:pic>
        <p:nvPicPr>
          <p:cNvPr id="28" name="Picture 27" descr="tru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760" y="1955290"/>
            <a:ext cx="260000" cy="169419"/>
          </a:xfrm>
          <a:prstGeom prst="rect">
            <a:avLst/>
          </a:prstGeom>
        </p:spPr>
      </p:pic>
      <p:pic>
        <p:nvPicPr>
          <p:cNvPr id="29" name="Picture 28" descr="dol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760" y="1910000"/>
            <a:ext cx="260000" cy="260000"/>
          </a:xfrm>
          <a:prstGeom prst="rect">
            <a:avLst/>
          </a:prstGeom>
        </p:spPr>
      </p:pic>
      <p:pic>
        <p:nvPicPr>
          <p:cNvPr id="30" name="Picture 29" descr="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760" y="1910000"/>
            <a:ext cx="260000" cy="260000"/>
          </a:xfrm>
          <a:prstGeom prst="rect">
            <a:avLst/>
          </a:prstGeom>
        </p:spPr>
      </p:pic>
      <p:pic>
        <p:nvPicPr>
          <p:cNvPr id="31" name="Picture 30" descr="heads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9760" y="1910000"/>
            <a:ext cx="260000" cy="260000"/>
          </a:xfrm>
          <a:prstGeom prst="rect">
            <a:avLst/>
          </a:prstGeom>
        </p:spPr>
      </p:pic>
      <p:pic>
        <p:nvPicPr>
          <p:cNvPr id="32" name="Picture 31" descr="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5760" y="1910000"/>
            <a:ext cx="260000" cy="260000"/>
          </a:xfrm>
          <a:prstGeom prst="rect">
            <a:avLst/>
          </a:prstGeom>
        </p:spPr>
      </p:pic>
      <p:pic>
        <p:nvPicPr>
          <p:cNvPr id="33" name="Picture 32" descr="tru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760" y="4842581"/>
            <a:ext cx="1500000" cy="977419"/>
          </a:xfrm>
          <a:prstGeom prst="rect">
            <a:avLst/>
          </a:prstGeom>
        </p:spPr>
      </p:pic>
      <p:pic>
        <p:nvPicPr>
          <p:cNvPr id="34" name="Picture 33" descr="doll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7760" y="4320000"/>
            <a:ext cx="1500000" cy="1500000"/>
          </a:xfrm>
          <a:prstGeom prst="rect">
            <a:avLst/>
          </a:prstGeom>
        </p:spPr>
      </p:pic>
      <p:pic>
        <p:nvPicPr>
          <p:cNvPr id="35" name="Picture 34" descr="peo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3760" y="4320000"/>
            <a:ext cx="1500000" cy="1500000"/>
          </a:xfrm>
          <a:prstGeom prst="rect">
            <a:avLst/>
          </a:prstGeom>
        </p:spPr>
      </p:pic>
      <p:pic>
        <p:nvPicPr>
          <p:cNvPr id="36" name="Picture 35" descr="headse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9760" y="4320000"/>
            <a:ext cx="1500000" cy="1500000"/>
          </a:xfrm>
          <a:prstGeom prst="rect">
            <a:avLst/>
          </a:prstGeom>
        </p:spPr>
      </p:pic>
      <p:pic>
        <p:nvPicPr>
          <p:cNvPr id="37" name="Picture 36" descr="clou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5760" y="4320000"/>
            <a:ext cx="1500000" cy="15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0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DISTINCTION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Everything Here Is “AI”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728216"/>
            <a:ext cx="5440680" cy="18745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91109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414016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Predicts: ETA, delay risk, fuel overrun, maintenance risk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17920" y="1728216"/>
            <a:ext cx="5440680" cy="18745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92240" y="191109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(OR)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92240" y="2414016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best route given constraints — not predictive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858768"/>
            <a:ext cx="5440680" cy="187452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40416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SUPPORT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454456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predictions + optimization to recommend an action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3858768"/>
            <a:ext cx="5440680" cy="18745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2240" y="40416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92240" y="454456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approved action: updates TMS/ERP, sends alerts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60350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(Vehicle Routing Problem) is classical operations research, not machine learning — it becomes “AI-powered” only when its inputs come from ML predictions.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43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&amp; PROCESS AUTOMATION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Predicts. RPA Executes.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96305" y="2194560"/>
            <a:ext cx="1869739" cy="1358445"/>
          </a:xfrm>
          <a:prstGeom prst="line">
            <a:avLst/>
          </a:prstGeom>
          <a:noFill/>
          <a:ln w="1905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V="1">
            <a:off x="7251867" y="3553005"/>
            <a:ext cx="714177" cy="2198010"/>
          </a:xfrm>
          <a:prstGeom prst="line">
            <a:avLst/>
          </a:prstGeom>
          <a:noFill/>
          <a:ln w="1905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940743" y="5751015"/>
            <a:ext cx="2311125" cy="9144"/>
          </a:xfrm>
          <a:prstGeom prst="line">
            <a:avLst/>
          </a:prstGeom>
          <a:noFill/>
          <a:ln w="1905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226566" y="3553005"/>
            <a:ext cx="714177" cy="2198010"/>
          </a:xfrm>
          <a:prstGeom prst="line">
            <a:avLst/>
          </a:prstGeom>
          <a:noFill/>
          <a:ln w="1905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V="1">
            <a:off x="4226566" y="2194560"/>
            <a:ext cx="1869739" cy="1358445"/>
          </a:xfrm>
          <a:prstGeom prst="line">
            <a:avLst/>
          </a:prstGeom>
          <a:noFill/>
          <a:ln w="1905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953305" y="1714500"/>
            <a:ext cx="2286000" cy="9601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44745" y="17145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</a:t>
            </a:r>
            <a:endParaRPr lang="en-US" sz="1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 Detected)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23044" y="3072945"/>
            <a:ext cx="2286000" cy="960120"/>
          </a:xfrm>
          <a:prstGeom prst="ellipse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914484" y="3072945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(RPA Triggered)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08867" y="5270955"/>
            <a:ext cx="2286000" cy="960120"/>
          </a:xfrm>
          <a:prstGeom prst="ellipse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00307" y="5270955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Action</a:t>
            </a:r>
            <a:endParaRPr lang="en-US" sz="1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(TMS/ERP Updated)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797743" y="5270955"/>
            <a:ext cx="2286000" cy="960120"/>
          </a:xfrm>
          <a:prstGeom prst="ellipse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889183" y="5270955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(Logged)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083566" y="3072945"/>
            <a:ext cx="2286000" cy="960120"/>
          </a:xfrm>
          <a:prstGeom prst="ellipse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175006" y="3072945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43</a:t>
            </a:r>
            <a:endParaRPr lang="en-US" sz="1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43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METHODOLOGY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Agile + MLOps: Why Not Waterfall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636776"/>
            <a:ext cx="21214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1636776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Requirements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2706624" y="1636776"/>
            <a:ext cx="21214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816352" y="1636776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Collection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956048" y="1636776"/>
            <a:ext cx="21214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065776" y="1636776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Prep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205472" y="1636776"/>
            <a:ext cx="21214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0" y="1636776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Dev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454896" y="1636776"/>
            <a:ext cx="21214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564624" y="1636776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Integration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57200" y="2761488"/>
            <a:ext cx="21214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66928" y="2761488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Testing (UAT)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2706624" y="2761488"/>
            <a:ext cx="21214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816352" y="2761488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Pilot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4956048" y="2761488"/>
            <a:ext cx="21214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65776" y="2761488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Deployment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205472" y="2761488"/>
            <a:ext cx="21214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315200" y="2761488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Monitoring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9454896" y="2761488"/>
            <a:ext cx="2121408" cy="96012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564624" y="2761488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Improve &amp; Retrain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57200" y="4023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Agile + MLOps, not Waterfall: routing models need continuous retraining as traffic and demand patterns change — a linear, one-pass project can't accommodate that feedback loop.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FRAMEWORK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Description to Prescription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728216"/>
            <a:ext cx="2697480" cy="3749040"/>
          </a:xfrm>
          <a:prstGeom prst="rect">
            <a:avLst/>
          </a:prstGeom>
          <a:solidFill>
            <a:srgbClr val="C7CDD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21792" y="200253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" y="2505456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4379976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rate, fuel use by zone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7560" y="1728216"/>
            <a:ext cx="2697480" cy="3749040"/>
          </a:xfrm>
          <a:prstGeom prst="rect">
            <a:avLst/>
          </a:prstGeom>
          <a:solidFill>
            <a:srgbClr val="AEB4B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02152" y="200253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02152" y="2505456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it happen?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02152" y="4379976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delays rose in a zone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728216"/>
            <a:ext cx="2697480" cy="3749040"/>
          </a:xfrm>
          <a:prstGeom prst="rect">
            <a:avLst/>
          </a:prstGeom>
          <a:solidFill>
            <a:srgbClr val="5B647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82512" y="200253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82512" y="2505456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2512" y="4379976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&amp; fuel-overrun risk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98280" y="1728216"/>
            <a:ext cx="2697480" cy="374904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262872" y="200253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62872" y="2505456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4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do?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62872" y="4379976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A2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the best action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43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0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Dashboard Tracks the Business AND the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728216"/>
            <a:ext cx="5440680" cy="18745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728216"/>
            <a:ext cx="5440680" cy="54864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72821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2414016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 · Vehicle Utilization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7920" y="1728216"/>
            <a:ext cx="5440680" cy="18745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17920" y="1728216"/>
            <a:ext cx="5440680" cy="54864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46520" y="172821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46520" y="2414016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Delivery · Fuel Cost / Mile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3858768"/>
            <a:ext cx="5440680" cy="18745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3858768"/>
            <a:ext cx="5440680" cy="54864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385876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Model Health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85800" y="4544568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Accuracy · ETA Prediction Error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3858768"/>
            <a:ext cx="5440680" cy="18745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17920" y="3858768"/>
            <a:ext cx="5440680" cy="54864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46520" y="385876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/ Safety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46520" y="4544568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Overtime · Harsh-Braking Events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43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Dimensions, One Shift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636776"/>
            <a:ext cx="11247120" cy="548640"/>
          </a:xfrm>
          <a:prstGeom prst="rect">
            <a:avLst/>
          </a:prstGeom>
          <a:solidFill>
            <a:srgbClr val="20232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636776"/>
            <a:ext cx="24231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0" y="1636776"/>
            <a:ext cx="42519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06640" y="1636776"/>
            <a:ext cx="429768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185416"/>
            <a:ext cx="11247120" cy="868680"/>
          </a:xfrm>
          <a:prstGeom prst="rect">
            <a:avLst/>
          </a:prstGeom>
          <a:solidFill>
            <a:srgbClr val="EFEDE9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2185416"/>
            <a:ext cx="242316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17520" y="2185416"/>
            <a:ext cx="425196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Partial, delayed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06640" y="2185416"/>
            <a:ext cx="42976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telemetry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3054096"/>
            <a:ext cx="242316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17520" y="3054096"/>
            <a:ext cx="425196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06640" y="3054096"/>
            <a:ext cx="42976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3922776"/>
            <a:ext cx="11247120" cy="868680"/>
          </a:xfrm>
          <a:prstGeom prst="rect">
            <a:avLst/>
          </a:prstGeom>
          <a:solidFill>
            <a:srgbClr val="EFEDE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922776"/>
            <a:ext cx="242316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017520" y="3922776"/>
            <a:ext cx="425196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06640" y="3922776"/>
            <a:ext cx="42976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dashboards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4791456"/>
            <a:ext cx="242316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017520" y="4791456"/>
            <a:ext cx="425196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judgment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06640" y="4791456"/>
            <a:ext cx="42976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Near-real-time, data-driven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43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200">
                <a:solidFill>
                  <a:srgbClr val="FF7A1A"/>
                </a:solidFill>
                <a:latin typeface="Calibri"/>
              </a:rPr>
              <a:t>DIGITAL TRANSFORMATION (MANDATORY)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20232B"/>
                </a:solidFill>
                <a:latin typeface="Georgia"/>
              </a:rPr>
              <a:t>Beyond the Dashboard — People and the 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C818C"/>
                </a:solidFill>
                <a:latin typeface="Calibri"/>
              </a:rPr>
              <a:t>AI-POWERED ROUTE OPTIMIZATION IN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7C818C"/>
                </a:solidFill>
                <a:latin typeface="Calibri"/>
              </a:rPr>
              <a:t>17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50000"/>
            <a:ext cx="548640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50000"/>
            <a:ext cx="54864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60000"/>
            <a:ext cx="49926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ORGANIZATIONAL CULTURE &amp; DECISION-MAKING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10000"/>
            <a:ext cx="4992624" cy="1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4B505A"/>
                </a:solidFill>
                <a:latin typeface="Calibri"/>
              </a:rPr>
              <a:t>•  Dispatchers shift from reactive fire-fighting to managing by exception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4B505A"/>
                </a:solidFill>
                <a:latin typeface="Calibri"/>
              </a:rPr>
              <a:t>•  Decisions move from individual judgment to shared, data-backed recommendations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4B505A"/>
                </a:solidFill>
                <a:latin typeface="Calibri"/>
              </a:rPr>
              <a:t>•  Requires change management: training and phased trust-building (Slide 25 roadmap)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8400" y="1750000"/>
            <a:ext cx="548640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400" y="1750000"/>
            <a:ext cx="54864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5288" y="1960000"/>
            <a:ext cx="49926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CUSTOMER EXPERIENCE IMPROVEMENTS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5288" y="2410000"/>
            <a:ext cx="4992624" cy="1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4B505A"/>
                </a:solidFill>
                <a:latin typeface="Calibri"/>
              </a:rPr>
              <a:t>•  Accurate, real-time ETAs replace static delivery windows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4B505A"/>
                </a:solidFill>
                <a:latin typeface="Calibri"/>
              </a:rPr>
              <a:t>•  Proactive delay notifications instead of after-the-fact complaints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4B505A"/>
                </a:solidFill>
                <a:latin typeface="Calibri"/>
              </a:rPr>
              <a:t>•  Fewer missed/late deliveries lifts the on-time-rate KPI (Slide 28)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00000"/>
            <a:ext cx="3157728" cy="512500"/>
          </a:xfrm>
          <a:prstGeom prst="rect">
            <a:avLst/>
          </a:prstGeom>
          <a:solidFill>
            <a:srgbClr val="20232B"/>
          </a:solidFill>
          <a:ln w="9525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00000"/>
            <a:ext cx="2883408" cy="51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4928" y="4200000"/>
            <a:ext cx="4059936" cy="512500"/>
          </a:xfrm>
          <a:prstGeom prst="rect">
            <a:avLst/>
          </a:prstGeom>
          <a:solidFill>
            <a:srgbClr val="20232B"/>
          </a:solidFill>
          <a:ln w="9525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52088" y="4200000"/>
            <a:ext cx="3785616" cy="51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88A5A"/>
                </a:solidFill>
                <a:latin typeface="Calibri"/>
              </a:rPr>
              <a:t>Before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74864" y="4200000"/>
            <a:ext cx="4059936" cy="512500"/>
          </a:xfrm>
          <a:prstGeom prst="rect">
            <a:avLst/>
          </a:prstGeom>
          <a:solidFill>
            <a:srgbClr val="20232B"/>
          </a:solidFill>
          <a:ln w="9525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2024" y="4200000"/>
            <a:ext cx="3785616" cy="51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7A1A"/>
                </a:solidFill>
                <a:latin typeface="Calibri"/>
              </a:rPr>
              <a:t>After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12500"/>
            <a:ext cx="3157728" cy="51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712500"/>
            <a:ext cx="2883408" cy="51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20232B"/>
                </a:solidFill>
                <a:latin typeface="Calibri"/>
              </a:rPr>
              <a:t>Dispatcher role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4928" y="4712500"/>
            <a:ext cx="4059936" cy="51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52088" y="4712500"/>
            <a:ext cx="3785616" cy="51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20232B"/>
                </a:solidFill>
                <a:latin typeface="Calibri"/>
              </a:rPr>
              <a:t>Manual re-planning of every trip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74864" y="4712500"/>
            <a:ext cx="4059936" cy="51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2024" y="4712500"/>
            <a:ext cx="3785616" cy="51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20232B"/>
                </a:solidFill>
                <a:latin typeface="Calibri"/>
              </a:rPr>
              <a:t>Exception management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25000"/>
            <a:ext cx="3157728" cy="51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25000"/>
            <a:ext cx="2883408" cy="51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20232B"/>
                </a:solidFill>
                <a:latin typeface="Calibri"/>
              </a:rPr>
              <a:t>Customer updates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4928" y="5225000"/>
            <a:ext cx="4059936" cy="51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52088" y="5225000"/>
            <a:ext cx="3785616" cy="51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20232B"/>
                </a:solidFill>
                <a:latin typeface="Calibri"/>
              </a:rPr>
              <a:t>Static ETA fixed at booking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74864" y="5225000"/>
            <a:ext cx="4059936" cy="51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2024" y="5225000"/>
            <a:ext cx="3785616" cy="51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20232B"/>
                </a:solidFill>
                <a:latin typeface="Calibri"/>
              </a:rPr>
              <a:t>Live, predictive ETA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737500"/>
            <a:ext cx="3157728" cy="51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737500"/>
            <a:ext cx="2883408" cy="51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20232B"/>
                </a:solidFill>
                <a:latin typeface="Calibri"/>
              </a:rPr>
              <a:t>Decision basis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14928" y="5737500"/>
            <a:ext cx="4059936" cy="51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52088" y="5737500"/>
            <a:ext cx="3785616" cy="51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20232B"/>
                </a:solidFill>
                <a:latin typeface="Calibri"/>
              </a:rPr>
              <a:t>Individual dispatcher judgment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74864" y="5737500"/>
            <a:ext cx="4059936" cy="51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2024" y="5737500"/>
            <a:ext cx="3785616" cy="51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20232B"/>
                </a:solidFill>
                <a:latin typeface="Calibri"/>
              </a:rPr>
              <a:t>Shared dashboard + model output</a:t>
            </a:r>
          </a:p>
        </p:txBody>
      </p:sp>
      <p:pic>
        <p:nvPicPr>
          <p:cNvPr id="40" name="Picture 39" descr="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560" y="1905000"/>
            <a:ext cx="320040" cy="320040"/>
          </a:xfrm>
          <a:prstGeom prst="rect">
            <a:avLst/>
          </a:prstGeom>
        </p:spPr>
      </p:pic>
      <p:pic>
        <p:nvPicPr>
          <p:cNvPr id="41" name="Picture 40" descr="head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760" y="1905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TMS/ERP INTEGRATION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Plugs Into Systems You Already Run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5732" y="2093976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7172" y="2093976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5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(ERP Sales)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2561692" y="2093976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00A"/>
                </a:solidFill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54300" y="2093976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45740" y="2093976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</a:t>
            </a:r>
            <a:endParaRPr lang="en-US" sz="15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(Execution)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820260" y="2093976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00A"/>
                </a:solidFill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12868" y="2093976"/>
            <a:ext cx="1965960" cy="118872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204308" y="2093976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5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(Optimize)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78828" y="2093976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00A"/>
                </a:solidFill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71436" y="2093976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62876" y="2093976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Finance</a:t>
            </a:r>
            <a:endParaRPr lang="en-US" sz="15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(Cost)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337396" y="2093976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00A"/>
                </a:solidFill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30004" y="2093976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721444" y="2093976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HRM</a:t>
            </a:r>
            <a:endParaRPr lang="en-US" sz="15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(Driver)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" y="373989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and shift decisions directly affect driver hours and payroll — so HRM needs visibility into what the AI recommends.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43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200">
                <a:solidFill>
                  <a:srgbClr val="FF7A1A"/>
                </a:solidFill>
                <a:latin typeface="Calibri"/>
              </a:rPr>
              <a:t>ERP INTEGRATION &amp; ROLE (MANDATORY)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How the AI Engine Plugs Into 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C818C"/>
                </a:solidFill>
                <a:latin typeface="Calibri"/>
              </a:rPr>
              <a:t>AI-POWERED ROUTE OPTIMIZATION IN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7C818C"/>
                </a:solidFill>
                <a:latin typeface="Calibri"/>
              </a:rPr>
              <a:t>19 / 43</a:t>
            </a:r>
          </a:p>
        </p:txBody>
      </p:sp>
      <p:pic>
        <p:nvPicPr>
          <p:cNvPr id="8" name="Picture 7" descr="06_bpm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408" y="1620000"/>
            <a:ext cx="9263183" cy="475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200">
                <a:solidFill>
                  <a:srgbClr val="FF7A1A"/>
                </a:solidFill>
                <a:latin typeface="Calibri"/>
              </a:rPr>
              <a:t>ERP INTEGRATION &amp; ROLE (MANDATORY)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Modules Involved, Benefits Gained, Challenges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C818C"/>
                </a:solidFill>
                <a:latin typeface="Calibri"/>
              </a:rPr>
              <a:t>AI-POWERED ROUTE OPTIMIZATION IN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7C818C"/>
                </a:solidFill>
                <a:latin typeface="Calibri"/>
              </a:rPr>
              <a:t>20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50000"/>
            <a:ext cx="3639600" cy="455000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50000"/>
            <a:ext cx="36396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60000"/>
            <a:ext cx="31458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ERP MODULES INVOLVED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10000"/>
            <a:ext cx="3145824" cy="3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Order-to-Cash (Sales) — order creation, customer &amp; delivery data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Finance / Costing — trip cost posting and reconciliation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HRM / Payroll — driver hours, overtime, shift data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TMS — the execution / dispatch layer linking AI to ERP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960" y="1750000"/>
            <a:ext cx="3639600" cy="455000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960" y="1750000"/>
            <a:ext cx="36396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848" y="1960000"/>
            <a:ext cx="31458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BENEFITS OF ERP + AI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848" y="2410000"/>
            <a:ext cx="3145824" cy="3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Single source of truth — no duplicate manual entry between AI engine and ERP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Real-time cost and driver-hour postings from optimized routes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Faster financial close — trip costs reconciled automatically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KPI dashboard reflects the full order-to-cash and cost cycle live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720" y="1750000"/>
            <a:ext cx="3639600" cy="455000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720" y="1750000"/>
            <a:ext cx="36396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608" y="1960000"/>
            <a:ext cx="31458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CHALLENGES IN IMPLEMENTATION / CUSTOMIZATION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608" y="2410000"/>
            <a:ext cx="3145824" cy="3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Legacy ERP data models rarely have native fields for AI-model outputs — needs custom APIs/middleware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Master-data quality (vehicle/driver IDs, zones) must be clean before AI can trust it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ERP customizations must be re-tested on every upgrade cycle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Integration latency: batch-oriented ERP vs near-real-time AI recommendations</a:t>
            </a:r>
          </a:p>
        </p:txBody>
      </p:sp>
      <p:pic>
        <p:nvPicPr>
          <p:cNvPr id="20" name="Picture 19" descr="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760" y="1905000"/>
            <a:ext cx="320040" cy="320040"/>
          </a:xfrm>
          <a:prstGeom prst="rect">
            <a:avLst/>
          </a:prstGeom>
        </p:spPr>
      </p:pic>
      <p:pic>
        <p:nvPicPr>
          <p:cNvPr id="21" name="Picture 20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520" y="1905000"/>
            <a:ext cx="320040" cy="320040"/>
          </a:xfrm>
          <a:prstGeom prst="rect">
            <a:avLst/>
          </a:prstGeom>
        </p:spPr>
      </p:pic>
      <p:pic>
        <p:nvPicPr>
          <p:cNvPr id="22" name="Picture 21" descr="g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5280" y="1905000"/>
            <a:ext cx="320040" cy="320040"/>
          </a:xfrm>
          <a:prstGeom prst="rect">
            <a:avLst/>
          </a:prstGeom>
        </p:spPr>
      </p:pic>
      <p:pic>
        <p:nvPicPr>
          <p:cNvPr id="23" name="Picture 22" descr="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6800" y="4370000"/>
            <a:ext cx="1750000" cy="1750000"/>
          </a:xfrm>
          <a:prstGeom prst="rect">
            <a:avLst/>
          </a:prstGeom>
        </p:spPr>
      </p:pic>
      <p:pic>
        <p:nvPicPr>
          <p:cNvPr id="24" name="Picture 23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560" y="4370000"/>
            <a:ext cx="1750000" cy="1750000"/>
          </a:xfrm>
          <a:prstGeom prst="rect">
            <a:avLst/>
          </a:prstGeom>
        </p:spPr>
      </p:pic>
      <p:pic>
        <p:nvPicPr>
          <p:cNvPr id="25" name="Picture 24" descr="ge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320" y="4370000"/>
            <a:ext cx="1750000" cy="175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 — Range-Based, Not Invented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graphicFrame>
        <p:nvGraphicFramePr>
          <p:cNvPr id="5" name="Chart 0" descr=""/>
          <p:cNvGraphicFramePr/>
          <p:nvPr/>
        </p:nvGraphicFramePr>
        <p:xfrm>
          <a:off x="457200" y="1636776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24865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end of range: 5% / 10% / 20% respectively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92240" y="1636776"/>
            <a:ext cx="5257800" cy="3977640"/>
          </a:xfrm>
          <a:prstGeom prst="rect">
            <a:avLst/>
          </a:prstGeom>
          <a:solidFill>
            <a:srgbClr val="20232B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766560" y="18653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LOGIC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766560" y="23225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Distance / Idling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766560" y="27797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7A1A"/>
                </a:solidFill>
              </a:rPr>
              <a:t>↓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766560" y="30998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Fuel + Fewer Delays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766560" y="35570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7A1A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766560" y="38770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per Delivery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766560" y="43342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7A1A"/>
                </a:solidFill>
              </a:rPr>
              <a:t>↓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66560" y="46542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ROI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66560" y="488289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9B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Illustrative: 30 vehicles × 200 mi/day × $0.65/mi → ~$150K–$300K/yr impact (not an achieved result)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43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200">
                <a:solidFill>
                  <a:srgbClr val="FF7A1A"/>
                </a:solidFill>
                <a:latin typeface="Calibri"/>
              </a:rPr>
              <a:t>BUSINESS IMPACT &amp; VALUE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 i="0">
                <a:solidFill>
                  <a:srgbClr val="20232B"/>
                </a:solidFill>
                <a:latin typeface="Georgia"/>
              </a:rPr>
              <a:t>Beyond Cost Savings — Strategic and Long-Term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C818C"/>
                </a:solidFill>
                <a:latin typeface="Calibri"/>
              </a:rPr>
              <a:t>AI-POWERED ROUTE OPTIMIZATION IN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7C818C"/>
                </a:solidFill>
                <a:latin typeface="Calibri"/>
              </a:rPr>
              <a:t>22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00000"/>
            <a:ext cx="3639600" cy="4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00000"/>
            <a:ext cx="36396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10000"/>
            <a:ext cx="31458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OPERATIONAL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60000"/>
            <a:ext cx="3145824" cy="3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4B505A"/>
                </a:solidFill>
                <a:latin typeface="Calibri"/>
              </a:rPr>
              <a:t>•  Simulation confirms faster on-time delivery and lower Zone-C delay (Slides 35–36)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4B505A"/>
                </a:solidFill>
                <a:latin typeface="Calibri"/>
              </a:rPr>
              <a:t>•  Lower idle time and distance directly reduce fuel burn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4B505A"/>
                </a:solidFill>
                <a:latin typeface="Calibri"/>
              </a:rPr>
              <a:t>•  Fewer reactive dispatcher interventions per shift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960" y="1800000"/>
            <a:ext cx="3639600" cy="4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960" y="1800000"/>
            <a:ext cx="36396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848" y="2010000"/>
            <a:ext cx="31458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STRATEGIC ADVANTAGES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848" y="2460000"/>
            <a:ext cx="3145824" cy="3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4B505A"/>
                </a:solidFill>
                <a:latin typeface="Calibri"/>
              </a:rPr>
              <a:t>•  Service-reliability differentiation in a 13.3%-CAGR market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4B505A"/>
                </a:solidFill>
                <a:latin typeface="Calibri"/>
              </a:rPr>
              <a:t>•  Trip-level data becomes a reusable asset for new routes and regions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4B505A"/>
                </a:solidFill>
                <a:latin typeface="Calibri"/>
              </a:rPr>
              <a:t>•  Builds the platform foundation for further automation (RPA, Slide 12)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720" y="1800000"/>
            <a:ext cx="3639600" cy="4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720" y="1800000"/>
            <a:ext cx="36396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608" y="2010000"/>
            <a:ext cx="31458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SCALABILITY &amp; SUSTAINABILITY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608" y="2460000"/>
            <a:ext cx="3145824" cy="3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4B505A"/>
                </a:solidFill>
                <a:latin typeface="Calibri"/>
              </a:rPr>
              <a:t>•  MLOps retraining loop (Slide 13) scales the model as the fleet grows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4B505A"/>
                </a:solidFill>
                <a:latin typeface="Calibri"/>
              </a:rPr>
              <a:t>•  Marginal cost of adding a vehicle/route is data-only, not re-engineering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4B505A"/>
                </a:solidFill>
                <a:latin typeface="Calibri"/>
              </a:rPr>
              <a:t>•  Fuel-efficiency gains support sustainability / ESG reporting</a:t>
            </a:r>
          </a:p>
        </p:txBody>
      </p:sp>
      <p:pic>
        <p:nvPicPr>
          <p:cNvPr id="20" name="Picture 19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760" y="1955000"/>
            <a:ext cx="320040" cy="320040"/>
          </a:xfrm>
          <a:prstGeom prst="rect">
            <a:avLst/>
          </a:prstGeom>
        </p:spPr>
      </p:pic>
      <p:pic>
        <p:nvPicPr>
          <p:cNvPr id="21" name="Picture 20" descr="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520" y="1955000"/>
            <a:ext cx="320040" cy="320040"/>
          </a:xfrm>
          <a:prstGeom prst="rect">
            <a:avLst/>
          </a:prstGeom>
        </p:spPr>
      </p:pic>
      <p:pic>
        <p:nvPicPr>
          <p:cNvPr id="22" name="Picture 21" descr="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5280" y="1955000"/>
            <a:ext cx="320040" cy="320040"/>
          </a:xfrm>
          <a:prstGeom prst="rect">
            <a:avLst/>
          </a:prstGeom>
        </p:spPr>
      </p:pic>
      <p:pic>
        <p:nvPicPr>
          <p:cNvPr id="23" name="Picture 22" descr="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6800" y="4270000"/>
            <a:ext cx="1750000" cy="1750000"/>
          </a:xfrm>
          <a:prstGeom prst="rect">
            <a:avLst/>
          </a:prstGeom>
        </p:spPr>
      </p:pic>
      <p:pic>
        <p:nvPicPr>
          <p:cNvPr id="24" name="Picture 23" descr="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560" y="4270000"/>
            <a:ext cx="1750000" cy="1750000"/>
          </a:xfrm>
          <a:prstGeom prst="rect">
            <a:avLst/>
          </a:prstGeom>
        </p:spPr>
      </p:pic>
      <p:pic>
        <p:nvPicPr>
          <p:cNvPr id="25" name="Picture 24" descr="growt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320" y="4270000"/>
            <a:ext cx="1750000" cy="175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Risk Categories, Named Mitigations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636776"/>
            <a:ext cx="2697480" cy="1554480"/>
          </a:xfrm>
          <a:prstGeom prst="rect">
            <a:avLst/>
          </a:prstGeom>
          <a:solidFill>
            <a:srgbClr val="AEB4B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21792" y="180136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1792" y="2276856"/>
            <a:ext cx="2368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limits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337560" y="1636776"/>
            <a:ext cx="2697480" cy="1554480"/>
          </a:xfrm>
          <a:prstGeom prst="rect">
            <a:avLst/>
          </a:prstGeom>
          <a:solidFill>
            <a:srgbClr val="AEB4B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02152" y="180136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02152" y="2276856"/>
            <a:ext cx="2368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Driver/dispatcher resistance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17920" y="1636776"/>
            <a:ext cx="2697480" cy="155448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180136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276856"/>
            <a:ext cx="2368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GPS/location data privacy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098280" y="1636776"/>
            <a:ext cx="2697480" cy="1554480"/>
          </a:xfrm>
          <a:prstGeom prst="rect">
            <a:avLst/>
          </a:prstGeom>
          <a:solidFill>
            <a:srgbClr val="B8424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262872" y="180136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262872" y="2276856"/>
            <a:ext cx="2368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data access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35570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27001:2022 CONTROLS APPLIED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014216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4014216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A.5.34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011680" y="401421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Protection of PII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12080" y="401421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traces &amp; addresses are personal data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7200" y="4910328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491032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A.8.15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011680" y="49103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212080" y="49103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location data must be tracked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43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200">
                <a:solidFill>
                  <a:srgbClr val="FF7A1A"/>
                </a:solidFill>
                <a:latin typeface="Calibri"/>
              </a:rPr>
              <a:t>RISKS, ETHICAL ISSUES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</a:rPr>
              <a:t>What the Model Can't Do, and Where Bias Can Creep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C818C"/>
                </a:solidFill>
                <a:latin typeface="Calibri"/>
              </a:rPr>
              <a:t>AI-POWERED ROUTE OPTIMIZATION IN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7C818C"/>
                </a:solidFill>
                <a:latin typeface="Calibri"/>
              </a:rPr>
              <a:t>24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00000"/>
            <a:ext cx="3639600" cy="440000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00000"/>
            <a:ext cx="36396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10000"/>
            <a:ext cx="31458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BIAS IN AI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60000"/>
            <a:ext cx="3145824" cy="3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Historical trip data can encode existing dispatcher bias (favored drivers/routes) — the model would learn and repeat it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Under-represented zones/conditions (rare weather, new routes) get less-reliable predictions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Mitigation: monitor prediction error by zone/driver segment, not only in aggregate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960" y="1800000"/>
            <a:ext cx="3639600" cy="440000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960" y="1800000"/>
            <a:ext cx="36396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848" y="2010000"/>
            <a:ext cx="31458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LIMITATIONS OF AI &amp; ERP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848" y="2460000"/>
            <a:ext cx="3145824" cy="3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Accuracy degrades if traffic/demand patterns shift faster than the retraining cycle (Slide 13)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Optimization is only as good as the ERP master data feeding it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Illustrative financial ranges (Slide 21) are not guaranteed — real results depend on adoption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720" y="1800000"/>
            <a:ext cx="3639600" cy="440000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720" y="1800000"/>
            <a:ext cx="36396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608" y="2010000"/>
            <a:ext cx="31458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REGULATORY &amp;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608" y="2460000"/>
            <a:ext cx="3145824" cy="3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GPS/location data is personal data — governed by ISO/IEC 27001:2022 control A.5.34 (Slide 23)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Access to location/driver data logged per control A.8.15 (Slide 23)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Adoption risk if AI recommendations aren't explainable to dispatchers/drivers (Slide 17)</a:t>
            </a:r>
          </a:p>
        </p:txBody>
      </p:sp>
      <p:pic>
        <p:nvPicPr>
          <p:cNvPr id="20" name="Picture 19" descr="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760" y="1955000"/>
            <a:ext cx="320040" cy="320040"/>
          </a:xfrm>
          <a:prstGeom prst="rect">
            <a:avLst/>
          </a:prstGeom>
        </p:spPr>
      </p:pic>
      <p:pic>
        <p:nvPicPr>
          <p:cNvPr id="21" name="Picture 20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520" y="1955000"/>
            <a:ext cx="320040" cy="320040"/>
          </a:xfrm>
          <a:prstGeom prst="rect">
            <a:avLst/>
          </a:prstGeom>
        </p:spPr>
      </p:pic>
      <p:pic>
        <p:nvPicPr>
          <p:cNvPr id="22" name="Picture 21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5280" y="1955000"/>
            <a:ext cx="320040" cy="320040"/>
          </a:xfrm>
          <a:prstGeom prst="rect">
            <a:avLst/>
          </a:prstGeom>
        </p:spPr>
      </p:pic>
      <p:pic>
        <p:nvPicPr>
          <p:cNvPr id="23" name="Picture 22" descr="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6800" y="4270000"/>
            <a:ext cx="1750000" cy="1750000"/>
          </a:xfrm>
          <a:prstGeom prst="rect">
            <a:avLst/>
          </a:prstGeom>
        </p:spPr>
      </p:pic>
      <p:pic>
        <p:nvPicPr>
          <p:cNvPr id="24" name="Picture 23" descr="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560" y="4270000"/>
            <a:ext cx="1750000" cy="1750000"/>
          </a:xfrm>
          <a:prstGeom prst="rect">
            <a:avLst/>
          </a:prstGeom>
        </p:spPr>
      </p:pic>
      <p:pic>
        <p:nvPicPr>
          <p:cNvPr id="25" name="Picture 24" descr="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320" y="4270000"/>
            <a:ext cx="1750000" cy="175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0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Phases, Twelve Months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636776"/>
            <a:ext cx="3520440" cy="466344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636776"/>
            <a:ext cx="3520440" cy="73152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6916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92938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&amp; Baseline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4414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280720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04495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telematics on pilot fleet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36576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8953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KPI report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45079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74573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confirmed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535838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KPI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55961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completeness &gt; 95%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06240" y="373989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26280" y="1636776"/>
            <a:ext cx="3520440" cy="466344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26280" y="1636776"/>
            <a:ext cx="3520440" cy="73152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09160" y="16916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192938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Integration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09160" y="24414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709160" y="280720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04495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models; integrate TMS/ERP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709160" y="36576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8953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prediction models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709160" y="45079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474573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accuracy meets target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709160" y="535838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KPI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55961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error within target range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046720" y="373989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</a:rPr>
              <a:t>›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366760" y="1636776"/>
            <a:ext cx="3520440" cy="466344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366760" y="1636776"/>
            <a:ext cx="3520440" cy="73152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9640" y="16916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49640" y="192938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Full-Scale Rollout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549640" y="24414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549640" y="280720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49640" y="304495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fleet-wide; live dashboards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549640" y="36576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49640" y="38953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dashboard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8549640" y="45079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49640" y="474573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targets sustained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549640" y="535838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KPI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549640" y="55961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 improvement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43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Trip-Level Dataset Powers Everything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636776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completed trip: GPS/telematics + order record + weather/traffic context.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11247120" cy="457200"/>
          </a:xfrm>
          <a:prstGeom prst="rect">
            <a:avLst/>
          </a:prstGeom>
          <a:solidFill>
            <a:srgbClr val="20232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218541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218541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80960" y="218541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642616"/>
            <a:ext cx="11247120" cy="347472"/>
          </a:xfrm>
          <a:prstGeom prst="rect">
            <a:avLst/>
          </a:prstGeom>
          <a:solidFill>
            <a:srgbClr val="EFEDE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264261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trip_id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64261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0" y="26426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TRIP-04821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29900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vehicle_id / driver_id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29900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80960" y="29900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VEH-118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11247120" cy="347472"/>
          </a:xfrm>
          <a:prstGeom prst="rect">
            <a:avLst/>
          </a:prstGeom>
          <a:solidFill>
            <a:srgbClr val="EFEDE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33375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pickup_time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0" y="333756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680960" y="33375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36850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distance_km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0" y="368503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680960" y="36850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57200" y="4032504"/>
            <a:ext cx="11247120" cy="347472"/>
          </a:xfrm>
          <a:prstGeom prst="rect">
            <a:avLst/>
          </a:prstGeom>
          <a:solidFill>
            <a:srgbClr val="EFEDE9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40325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 actual time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72000" y="403250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680960" y="403250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43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48640" y="437997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fuel_used_l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572000" y="437997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680960" y="43799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457200" y="4727448"/>
            <a:ext cx="11247120" cy="347472"/>
          </a:xfrm>
          <a:prstGeom prst="rect">
            <a:avLst/>
          </a:prstGeom>
          <a:solidFill>
            <a:srgbClr val="EFEDE9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48640" y="47274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/ weather / traffic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572000" y="47274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680960" y="47274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Zone-C, Rain, High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48640" y="50749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delay_min (target)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572000" y="50749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680960" y="50749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457200" y="5422392"/>
            <a:ext cx="11247120" cy="347472"/>
          </a:xfrm>
          <a:prstGeom prst="rect">
            <a:avLst/>
          </a:prstGeom>
          <a:solidFill>
            <a:srgbClr val="EFEDE9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48640" y="54223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on_time_flag (target)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4572000" y="54223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7680960" y="54223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457200" y="587959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SCHEMA — structure only, not real company data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43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APPROACH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Dataset to Business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636776"/>
            <a:ext cx="2084832" cy="594360"/>
          </a:xfrm>
          <a:prstGeom prst="rect">
            <a:avLst/>
          </a:prstGeom>
          <a:solidFill>
            <a:srgbClr val="20232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636776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42032" y="1636776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00A"/>
                </a:solidFill>
              </a:rPr>
              <a:t>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24912" y="1636776"/>
            <a:ext cx="2084832" cy="594360"/>
          </a:xfrm>
          <a:prstGeom prst="rect">
            <a:avLst/>
          </a:prstGeom>
          <a:solidFill>
            <a:srgbClr val="20232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70632" y="1636776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9744" y="1636776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00A"/>
                </a:solidFill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92624" y="1636776"/>
            <a:ext cx="2084832" cy="594360"/>
          </a:xfrm>
          <a:prstGeom prst="rect">
            <a:avLst/>
          </a:prstGeom>
          <a:solidFill>
            <a:srgbClr val="20232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38344" y="1636776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/ AI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77456" y="1636776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00A"/>
                </a:solidFill>
              </a:rPr>
              <a:t>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60336" y="1636776"/>
            <a:ext cx="2084832" cy="594360"/>
          </a:xfrm>
          <a:prstGeom prst="rect">
            <a:avLst/>
          </a:prstGeom>
          <a:solidFill>
            <a:srgbClr val="2023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06056" y="1636776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45168" y="1636776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00A"/>
                </a:solidFill>
              </a:rPr>
              <a:t>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528048" y="1636776"/>
            <a:ext cx="2084832" cy="59436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73768" y="1636776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2697480" cy="2926080"/>
          </a:xfrm>
          <a:prstGeom prst="rect">
            <a:avLst/>
          </a:prstGeom>
          <a:solidFill>
            <a:srgbClr val="C7CDD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" y="2825496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" kern="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" y="405993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TECHNIQUE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" y="4334256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&amp; trend analysis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337560" y="2596896"/>
            <a:ext cx="2697480" cy="2926080"/>
          </a:xfrm>
          <a:prstGeom prst="rect">
            <a:avLst/>
          </a:prstGeom>
          <a:solidFill>
            <a:srgbClr val="5B647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502152" y="2825496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02152" y="405993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TECHNIQUE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02152" y="4334256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(Random Forest)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217920" y="2596896"/>
            <a:ext cx="2697480" cy="2926080"/>
          </a:xfrm>
          <a:prstGeom prst="rect">
            <a:avLst/>
          </a:prstGeom>
          <a:solidFill>
            <a:srgbClr val="AEB4B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382512" y="2825496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" kern="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82512" y="405993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TECHNIQUE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82512" y="4334256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LSTM → delay &amp; ETA risk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9098280" y="2596896"/>
            <a:ext cx="2697480" cy="292608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262872" y="2825496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" kern="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62872" y="405993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TECHNIQUE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62872" y="4334256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A2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+ rule-based recommender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43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0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DEEP DIVE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of Six KPIs Management Will Watch (1/2)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728216"/>
            <a:ext cx="3520440" cy="374904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794760" y="1929384"/>
            <a:ext cx="201168" cy="201168"/>
          </a:xfrm>
          <a:prstGeom prst="ellipse">
            <a:avLst/>
          </a:prstGeom>
          <a:solidFill>
            <a:srgbClr val="3B856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91109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596896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deliveries within promised window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60273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858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≥95% (illustrative)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68680" y="43342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5902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at-risk deliveries early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26280" y="1728216"/>
            <a:ext cx="3520440" cy="374904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635240" y="1929384"/>
            <a:ext cx="201168" cy="201168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09160" y="191109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/ Trip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9160" y="2596896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vs. actual arrival difference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360273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3858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 min (illustrative)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709160" y="43342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45902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forecasts delay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66760" y="1728216"/>
            <a:ext cx="3520440" cy="374904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1475720" y="1929384"/>
            <a:ext cx="201168" cy="201168"/>
          </a:xfrm>
          <a:prstGeom prst="ellipse">
            <a:avLst/>
          </a:prstGeom>
          <a:solidFill>
            <a:srgbClr val="3B856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49640" y="191109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Cost / Delivery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549640" y="2596896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fuel spend ÷ deliveries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49640" y="360273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49640" y="3858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–10–15% vs baseline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549640" y="43342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49640" y="45902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minimizes idling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43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0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DEEP DIVE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of Six KPIs Management Will Watch (2/2)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728216"/>
            <a:ext cx="3520440" cy="374904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794760" y="1929384"/>
            <a:ext cx="201168" cy="201168"/>
          </a:xfrm>
          <a:prstGeom prst="ellipse">
            <a:avLst/>
          </a:prstGeom>
          <a:solidFill>
            <a:srgbClr val="B8424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91109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Deviation Rate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596896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trips deviating from optimal route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60273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858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 (illustrative)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68680" y="43342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5902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flags deviations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26280" y="1728216"/>
            <a:ext cx="3520440" cy="374904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635240" y="1929384"/>
            <a:ext cx="201168" cy="201168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09160" y="191109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Alert Precision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9160" y="2596896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flagged vehicles that needed service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360273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3858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&gt;85% precision (illustrative)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709160" y="43342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45902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on telemetry signals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66760" y="1728216"/>
            <a:ext cx="3520440" cy="374904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1475720" y="1929384"/>
            <a:ext cx="201168" cy="201168"/>
          </a:xfrm>
          <a:prstGeom prst="ellipse">
            <a:avLst/>
          </a:prstGeom>
          <a:solidFill>
            <a:srgbClr val="3B856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49640" y="191109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Utilization Rate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549640" y="2596896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available vehicle-hours used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49640" y="360273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49640" y="3858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75–85% (illustrative)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549640" y="43342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49640" y="45902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improves scheduling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43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GRAPHS (1/3)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On-Time Rate Dipped — Here's Why It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graphicFrame>
        <p:nvGraphicFramePr>
          <p:cNvPr id="5" name="Chart 0" descr=""/>
          <p:cNvGraphicFramePr/>
          <p:nvPr/>
        </p:nvGraphicFramePr>
        <p:xfrm>
          <a:off x="640080" y="1636776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636776"/>
            <a:ext cx="3886200" cy="3931920"/>
          </a:xfrm>
          <a:prstGeom prst="rect">
            <a:avLst/>
          </a:prstGeom>
          <a:solidFill>
            <a:srgbClr val="20232B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138160" y="19110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38160" y="223113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 dipped in Month 4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138160" y="31455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346557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Coincides with a seasonal weather pattern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138160" y="43799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38160" y="470001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seasonal routing/staffing buffers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43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GRAPHS (2/3)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Zone C Runs Twice the Average Delay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graphicFrame>
        <p:nvGraphicFramePr>
          <p:cNvPr id="5" name="Chart 0" descr=""/>
          <p:cNvGraphicFramePr/>
          <p:nvPr/>
        </p:nvGraphicFramePr>
        <p:xfrm>
          <a:off x="640080" y="1636776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636776"/>
            <a:ext cx="3886200" cy="3931920"/>
          </a:xfrm>
          <a:prstGeom prst="rect">
            <a:avLst/>
          </a:prstGeom>
          <a:solidFill>
            <a:srgbClr val="20232B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138160" y="19110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38160" y="223113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 runs ~2x the average delay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138160" y="31455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346557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cost &amp; SLA risk in one zone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138160" y="43799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38160" y="470001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Zone C for re-optimization pilot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43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GRAPHS (3/3)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 Trips Point to Inefficient Routing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graphicFrame>
        <p:nvGraphicFramePr>
          <p:cNvPr id="5" name="Chart 0" descr=""/>
          <p:cNvGraphicFramePr/>
          <p:nvPr/>
        </p:nvGraphicFramePr>
        <p:xfrm>
          <a:off x="640080" y="1636776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636776"/>
            <a:ext cx="3886200" cy="3931920"/>
          </a:xfrm>
          <a:prstGeom prst="rect">
            <a:avLst/>
          </a:prstGeom>
          <a:solidFill>
            <a:srgbClr val="20232B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138160" y="19110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38160" y="223113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correlation, with outliers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138160" y="31455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346557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signal inefficient routing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138160" y="43799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38160" y="470001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outlier trips for a route audit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43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200">
                <a:solidFill>
                  <a:srgbClr val="FF7A1A"/>
                </a:solidFill>
                <a:latin typeface="Calibri"/>
              </a:rPr>
              <a:t>ANALYTICAL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From Patterns in Data to Management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C818C"/>
                </a:solidFill>
                <a:latin typeface="Calibri"/>
              </a:rPr>
              <a:t>AI-POWERED ROUTE OPTIMIZATION IN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7C818C"/>
                </a:solidFill>
                <a:latin typeface="Calibri"/>
              </a:rPr>
              <a:t>33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50000"/>
            <a:ext cx="3639600" cy="390000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50000"/>
            <a:ext cx="36396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60000"/>
            <a:ext cx="31458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CLUSTERING (K-MEANS)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10000"/>
            <a:ext cx="3145824" cy="3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Groups delivery zones by delay risk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Decision: prioritize Zone C for schedule buffer (Slide 31)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960" y="1750000"/>
            <a:ext cx="3639600" cy="390000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960" y="1750000"/>
            <a:ext cx="36396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848" y="1960000"/>
            <a:ext cx="31458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ANOMALY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848" y="2410000"/>
            <a:ext cx="3145824" cy="3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Flags outlier trips automatically (Slide 32)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Decision: investigate routing/driver behavior instead of dismissing outliers as chance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720" y="1750000"/>
            <a:ext cx="3639600" cy="390000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720" y="1750000"/>
            <a:ext cx="3639600" cy="457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608" y="1960000"/>
            <a:ext cx="3145824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0">
                <a:solidFill>
                  <a:srgbClr val="FF7A1A"/>
                </a:solidFill>
                <a:latin typeface="Calibri"/>
              </a:rPr>
              <a:t>PREDICTIVE MODELS (XGBOOST / LSTM)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608" y="2410000"/>
            <a:ext cx="3145824" cy="3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Forecasts delay/ETA before a trip starts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Decision: proactive re-routing and customer notification, not after-the-fact correction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20000"/>
            <a:ext cx="112776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C7CBD3"/>
                </a:solidFill>
                <a:latin typeface="Calibri"/>
              </a:rPr>
              <a:t>Data mining doesn't just describe the past — clustering and anomaly detection actively steer where management should look next.</a:t>
            </a:r>
          </a:p>
        </p:txBody>
      </p:sp>
      <p:pic>
        <p:nvPicPr>
          <p:cNvPr id="21" name="Picture 20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760" y="1905000"/>
            <a:ext cx="320040" cy="320040"/>
          </a:xfrm>
          <a:prstGeom prst="rect">
            <a:avLst/>
          </a:prstGeom>
        </p:spPr>
      </p:pic>
      <p:pic>
        <p:nvPicPr>
          <p:cNvPr id="22" name="Picture 21" descr="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520" y="1905000"/>
            <a:ext cx="320040" cy="320040"/>
          </a:xfrm>
          <a:prstGeom prst="rect">
            <a:avLst/>
          </a:prstGeom>
        </p:spPr>
      </p:pic>
      <p:pic>
        <p:nvPicPr>
          <p:cNvPr id="23" name="Picture 22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5280" y="1905000"/>
            <a:ext cx="320040" cy="320040"/>
          </a:xfrm>
          <a:prstGeom prst="rect">
            <a:avLst/>
          </a:prstGeom>
        </p:spPr>
      </p:pic>
      <p:pic>
        <p:nvPicPr>
          <p:cNvPr id="24" name="Picture 23" descr="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6800" y="3720000"/>
            <a:ext cx="1750000" cy="1750000"/>
          </a:xfrm>
          <a:prstGeom prst="rect">
            <a:avLst/>
          </a:prstGeom>
        </p:spPr>
      </p:pic>
      <p:pic>
        <p:nvPicPr>
          <p:cNvPr id="25" name="Picture 24" descr="comp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560" y="3720000"/>
            <a:ext cx="1750000" cy="1750000"/>
          </a:xfrm>
          <a:prstGeom prst="rect">
            <a:avLst/>
          </a:prstGeom>
        </p:spPr>
      </p:pic>
      <p:pic>
        <p:nvPicPr>
          <p:cNvPr id="26" name="Picture 25" descr="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320" y="3720000"/>
            <a:ext cx="1750000" cy="1750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spc="200">
                <a:solidFill>
                  <a:srgbClr val="FF7A1A"/>
                </a:solidFill>
                <a:latin typeface="Calibri"/>
              </a:rPr>
              <a:t>SIMULATION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FFFFF"/>
                </a:solidFill>
                <a:latin typeface="Georgia"/>
              </a:rPr>
              <a:t>A Discrete-Event Simulation of This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7C818C"/>
                </a:solidFill>
                <a:latin typeface="Calibri"/>
              </a:rPr>
              <a:t>AI-POWERED ROUTE OPTIMIZATION IN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7C818C"/>
                </a:solidFill>
                <a:latin typeface="Calibri"/>
              </a:rPr>
              <a:t>34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28216"/>
            <a:ext cx="2652000" cy="18745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28216"/>
            <a:ext cx="73152" cy="18745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65376"/>
            <a:ext cx="2152000" cy="7872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F7A1A"/>
                </a:solidFill>
                <a:latin typeface="Georgia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90495"/>
            <a:ext cx="2152000" cy="7872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Vehicles simulated
(Slide 15 fleet size)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360" y="1728216"/>
            <a:ext cx="2652000" cy="18745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360" y="1728216"/>
            <a:ext cx="73152" cy="18745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680" y="1865376"/>
            <a:ext cx="2152000" cy="7872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F7A1A"/>
                </a:solidFill>
                <a:latin typeface="Georgia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680" y="2590495"/>
            <a:ext cx="2152000" cy="7872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Independent replications
for statistical stability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520" y="1728216"/>
            <a:ext cx="2652000" cy="18745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520" y="1728216"/>
            <a:ext cx="73152" cy="18745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840" y="1865376"/>
            <a:ext cx="2152000" cy="7872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F7A1A"/>
                </a:solidFill>
                <a:latin typeface="Georgia"/>
              </a:rPr>
              <a:t>252,000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840" y="2590495"/>
            <a:ext cx="2152000" cy="7872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Simulated trip records
(Slide 18 schema)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4680" y="1728216"/>
            <a:ext cx="2652000" cy="18745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4680" y="1728216"/>
            <a:ext cx="73152" cy="18745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9000" y="1865376"/>
            <a:ext cx="2152000" cy="7872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F7A1A"/>
                </a:solidFill>
                <a:latin typeface="Georgia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9000" y="2590495"/>
            <a:ext cx="2152000" cy="7872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Parameters traced to this
deck — nothing 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00000"/>
            <a:ext cx="11277600" cy="1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C7CBD3"/>
                </a:solidFill>
                <a:latin typeface="Calibri"/>
              </a:rPr>
              <a:t>A SimPy discrete-event model runs each scenario for a 30-day operating month: As-Is (manual dispatch, fixed routes, reactive response — Slide 5) vs To-Be (AI route-optimization engine, real-time re-routing, proactive adaptation — Slide 5). Every trip generates the exact record schema from Slide 18 (zone, weather, traffic, distance, delay, fuel, cost). No external data or assumptions are introduced — every input traces to a specific slide in this deck.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spc="200">
                <a:solidFill>
                  <a:srgbClr val="FF7A1A"/>
                </a:solidFill>
                <a:latin typeface="Calibri"/>
              </a:rPr>
              <a:t>SIMULATION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FFFFFF"/>
                </a:solidFill>
                <a:latin typeface="Georgia"/>
              </a:rPr>
              <a:t>How Each Trip Is Simulated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7C818C"/>
                </a:solidFill>
                <a:latin typeface="Calibri"/>
              </a:rPr>
              <a:t>AI-POWERED ROUTE OPTIMIZATION IN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7C818C"/>
                </a:solidFill>
                <a:latin typeface="Calibri"/>
              </a:rPr>
              <a:t>35 / 43</a:t>
            </a:r>
          </a:p>
        </p:txBody>
      </p:sp>
      <p:pic>
        <p:nvPicPr>
          <p:cNvPr id="8" name="Picture 7" descr="01_process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61" y="1560000"/>
            <a:ext cx="10783277" cy="4900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spc="200">
                <a:solidFill>
                  <a:srgbClr val="FF7A1A"/>
                </a:solidFill>
                <a:latin typeface="Calibri"/>
              </a:rPr>
              <a:t>SIMULATED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20232B"/>
                </a:solidFill>
                <a:latin typeface="Georgia"/>
              </a:rPr>
              <a:t>As-Is vs To-Be — KPI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7C818C"/>
                </a:solidFill>
                <a:latin typeface="Calibri"/>
              </a:rPr>
              <a:t>AI-POWERED ROUTE OPTIMIZATION IN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7C818C"/>
                </a:solidFill>
                <a:latin typeface="Calibri"/>
              </a:rPr>
              <a:t>36 / 43</a:t>
            </a:r>
          </a:p>
        </p:txBody>
      </p:sp>
      <p:pic>
        <p:nvPicPr>
          <p:cNvPr id="8" name="Picture 7" descr="03_kpi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011" y="1650000"/>
            <a:ext cx="7747977" cy="4750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spc="200">
                <a:solidFill>
                  <a:srgbClr val="FF7A1A"/>
                </a:solidFill>
                <a:latin typeface="Calibri"/>
              </a:rPr>
              <a:t>SIMULATED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20232B"/>
                </a:solidFill>
                <a:latin typeface="Georgia"/>
              </a:rPr>
              <a:t>Zone-C Delay — Simulation Confirms Slide 23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7C818C"/>
                </a:solidFill>
                <a:latin typeface="Calibri"/>
              </a:rPr>
              <a:t>AI-POWERED ROUTE OPTIMIZATION IN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7C818C"/>
                </a:solidFill>
                <a:latin typeface="Calibri"/>
              </a:rPr>
              <a:t>37 / 43</a:t>
            </a:r>
          </a:p>
        </p:txBody>
      </p:sp>
      <p:sp>
        <p:nvSpPr>
          <p:cNvPr id="9" name="Rectangle 8"/>
          <p:cNvSpPr/>
          <p:nvPr/>
        </p:nvSpPr>
        <p:spPr>
          <a:xfrm>
            <a:off x="7550000" y="1650000"/>
            <a:ext cx="4180000" cy="4750000"/>
          </a:xfrm>
          <a:prstGeom prst="rect">
            <a:avLst/>
          </a:prstGeom>
          <a:solidFill>
            <a:srgbClr val="20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24320" y="1808333"/>
            <a:ext cx="3631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100">
                <a:solidFill>
                  <a:srgbClr val="FF7A1A"/>
                </a:solidFill>
                <a:latin typeface="Calibri"/>
              </a:rPr>
              <a:t>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4320" y="2156666"/>
            <a:ext cx="3631360" cy="949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Zone-C averages ~1.8x the fleet-wide delay across 20 simulated replications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4320" y="3391666"/>
            <a:ext cx="3631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100">
                <a:solidFill>
                  <a:srgbClr val="FF7A1A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4320" y="3739999"/>
            <a:ext cx="3631360" cy="949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Independently reproduces the deck's own claim (Slide 23: “~2x the average delay”)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4320" y="4974999"/>
            <a:ext cx="3631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100">
                <a:solidFill>
                  <a:srgbClr val="FF7A1A"/>
                </a:solidFill>
                <a:latin typeface="Calibri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4320" y="5323333"/>
            <a:ext cx="3631360" cy="949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Confirms Zone-C as the priority target for the re-optimization pilot</a:t>
            </a:r>
          </a:p>
        </p:txBody>
      </p:sp>
      <p:pic>
        <p:nvPicPr>
          <p:cNvPr id="16" name="Picture 15" descr="04_zone_de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14442"/>
            <a:ext cx="6800000" cy="422111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spc="200">
                <a:solidFill>
                  <a:srgbClr val="FF7A1A"/>
                </a:solidFill>
                <a:latin typeface="Calibri"/>
              </a:rPr>
              <a:t>SIMULATED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20232B"/>
                </a:solidFill>
                <a:latin typeface="Georgia"/>
              </a:rPr>
              <a:t>Financial Impact — Simulation vs Slide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7C818C"/>
                </a:solidFill>
                <a:latin typeface="Calibri"/>
              </a:rPr>
              <a:t>AI-POWERED ROUTE OPTIMIZATION IN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7C818C"/>
                </a:solidFill>
                <a:latin typeface="Calibri"/>
              </a:rPr>
              <a:t>38 / 43</a:t>
            </a:r>
          </a:p>
        </p:txBody>
      </p:sp>
      <p:sp>
        <p:nvSpPr>
          <p:cNvPr id="9" name="Rectangle 8"/>
          <p:cNvSpPr/>
          <p:nvPr/>
        </p:nvSpPr>
        <p:spPr>
          <a:xfrm>
            <a:off x="7550000" y="1650000"/>
            <a:ext cx="4180000" cy="4750000"/>
          </a:xfrm>
          <a:prstGeom prst="rect">
            <a:avLst/>
          </a:prstGeom>
          <a:solidFill>
            <a:srgbClr val="20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24320" y="1808333"/>
            <a:ext cx="3631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100">
                <a:solidFill>
                  <a:srgbClr val="FF7A1A"/>
                </a:solidFill>
                <a:latin typeface="Calibri"/>
              </a:rPr>
              <a:t>SIMULATED SAVING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4320" y="2156666"/>
            <a:ext cx="3631360" cy="949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$162K actual / $177.6K via the Slide-15 formula, applied to the simulation's own distance-reduction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4320" y="3391666"/>
            <a:ext cx="3631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100">
                <a:solidFill>
                  <a:srgbClr val="FF7A1A"/>
                </a:solidFill>
                <a:latin typeface="Calibri"/>
              </a:rPr>
              <a:t>VS. DECK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4320" y="3739999"/>
            <a:ext cx="3631360" cy="949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Falls inside the Slide-15 illustrative range of $150K–$300K/yr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4320" y="4974999"/>
            <a:ext cx="3631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100">
                <a:solidFill>
                  <a:srgbClr val="FF7A1A"/>
                </a:solidFill>
                <a:latin typeface="Calibri"/>
              </a:rPr>
              <a:t>OTHER TARGETS MET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4320" y="5323333"/>
            <a:ext cx="3631360" cy="949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Fuel −15.1% (target −10 to −15%) · Route deviation 4.0% (target &lt;5%) · Avg delay 9.1 min (target &lt;10 min)</a:t>
            </a:r>
          </a:p>
        </p:txBody>
      </p:sp>
      <p:pic>
        <p:nvPicPr>
          <p:cNvPr id="16" name="Picture 15" descr="05_financial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44284"/>
            <a:ext cx="6800000" cy="396143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spc="200">
                <a:solidFill>
                  <a:srgbClr val="FF7A1A"/>
                </a:solidFill>
                <a:latin typeface="Calibri"/>
              </a:rPr>
              <a:t>SIMULATION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FFFFF"/>
                </a:solidFill>
                <a:latin typeface="Georgia"/>
              </a:rPr>
              <a:t>Every Deck Target, Checked Against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7C818C"/>
                </a:solidFill>
                <a:latin typeface="Calibri"/>
              </a:rPr>
              <a:t>AI-POWERED ROUTE OPTIMIZATION IN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7C818C"/>
                </a:solidFill>
                <a:latin typeface="Calibri"/>
              </a:rPr>
              <a:t>39 / 43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650000"/>
            <a:ext cx="347472" cy="347472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32B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76848"/>
            <a:ext cx="10378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On-time delivery rate rises 76.3% → 84.2% under AI-optimized routing (target ≥95%, Slide 20)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270000"/>
            <a:ext cx="347472" cy="347472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32B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96848"/>
            <a:ext cx="10378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Average delay/trip falls 11.2 → 9.1 minutes — meets the &lt;10 min target (Slide 20)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890000"/>
            <a:ext cx="347472" cy="347472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32B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16848"/>
            <a:ext cx="10378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Fuel use per trip falls 15.1% — inside the −10% to −15% target range (Slide 20)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510000"/>
            <a:ext cx="347472" cy="347472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32B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36848"/>
            <a:ext cx="10378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Route deviation rate falls 12.0% → 4.0% — meets the &lt;5% target (Slide 21)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130000"/>
            <a:ext cx="347472" cy="347472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32B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56848"/>
            <a:ext cx="10378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Annualized saving of $162K–$178K falls inside the $150K–$300K illustrative range (Slide 15)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50000"/>
            <a:ext cx="347472" cy="347472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32B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76848"/>
            <a:ext cx="10378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Zone-C delay runs ~1.8x the fleet average — independently reproduces Slide 23's claim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0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DECISION SUPPORT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the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2276856"/>
            <a:ext cx="1536192" cy="11887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276856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039112" y="2276856"/>
            <a:ext cx="109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1A"/>
                </a:solidFill>
              </a:rPr>
              <a:t>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48840" y="2276856"/>
            <a:ext cx="1536192" cy="11887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194560" y="2276856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685032" y="2276856"/>
            <a:ext cx="109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1A"/>
                </a:solidFill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94760" y="2276856"/>
            <a:ext cx="1536192" cy="11887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40480" y="2276856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330952" y="2276856"/>
            <a:ext cx="109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1A"/>
                </a:solidFill>
              </a:rPr>
              <a:t>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40680" y="2276856"/>
            <a:ext cx="1536192" cy="11887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0" y="2276856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Recommend-</a:t>
            </a:r>
            <a:endParaRPr lang="en-US" sz="14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76872" y="2276856"/>
            <a:ext cx="109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1A"/>
                </a:solidFill>
              </a:rPr>
              <a:t>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086600" y="2276856"/>
            <a:ext cx="1536192" cy="11887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132320" y="2276856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22792" y="2276856"/>
            <a:ext cx="109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1A"/>
                </a:solidFill>
              </a:rPr>
              <a:t>›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732520" y="2276856"/>
            <a:ext cx="1536192" cy="1188720"/>
          </a:xfrm>
          <a:prstGeom prst="rect">
            <a:avLst/>
          </a:prstGeom>
          <a:solidFill>
            <a:srgbClr val="2B303B"/>
          </a:solidFill>
          <a:ln w="12700">
            <a:solidFill>
              <a:srgbClr val="3D43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778240" y="2276856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0268712" y="2276856"/>
            <a:ext cx="109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1A"/>
                </a:solidFill>
              </a:rPr>
              <a:t>›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378440" y="2276856"/>
            <a:ext cx="1536192" cy="118872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424160" y="2276856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4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0080" y="401421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never stops: every action feeds back into KPI monitoring, which triggers the next cycle of analytics.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43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DECISION SUPPORT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0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AI Outputs, Five Business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636776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20232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636776"/>
            <a:ext cx="73152" cy="169164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81965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41401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Delay-risk score per trip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270248" y="1636776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20232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270248" y="1636776"/>
            <a:ext cx="73152" cy="169164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98848" y="181965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98848" y="241401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volume by zone/day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83296" y="1636776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20232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83296" y="1636776"/>
            <a:ext cx="73152" cy="169164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11896" y="181965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11896" y="241401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Zones/drivers by risk pattern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57200" y="3557016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20232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557016"/>
            <a:ext cx="73152" cy="169164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" y="373989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fuel use or deviation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270248" y="3557016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20232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270248" y="3557016"/>
            <a:ext cx="73152" cy="1691640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498848" y="373989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498848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re-route or reassignment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43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0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 Problem, Solved by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64208"/>
            <a:ext cx="347472" cy="347472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32B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591056"/>
            <a:ext cx="10378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planning is a scale problem, not a skill problem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47472" cy="347472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32B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304288"/>
            <a:ext cx="10378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evidence: 5–20% logistics cost reduction, 10–15% fuel savings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090672"/>
            <a:ext cx="347472" cy="347472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32B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10378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 stack (VRP + ML + RPA) is mature, already deployed at scale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3803904"/>
            <a:ext cx="347472" cy="347472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32B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730752"/>
            <a:ext cx="10378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TMS/ERP integration is a natural fit — not forced in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48640" y="4517136"/>
            <a:ext cx="347472" cy="347472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517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32B"/>
                </a:solidFill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443984"/>
            <a:ext cx="10378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12-month roadmap manages risk while capturing value early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57200" y="5248656"/>
            <a:ext cx="11247120" cy="18288"/>
          </a:xfrm>
          <a:prstGeom prst="rect">
            <a:avLst/>
          </a:prstGeom>
          <a:solidFill>
            <a:srgbClr val="3D434C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5404104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here is an independently cited industry benchmark — nothing is fabricated.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ROUTE OPTIMIZATION IN LOGISTICS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43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200">
                <a:solidFill>
                  <a:srgbClr val="FF7A1A"/>
                </a:solidFill>
                <a:latin typeface="Calibri"/>
              </a:rPr>
              <a:t>RECOMMENDATIONS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Where This Goes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453896"/>
            <a:ext cx="502920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201168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C818C"/>
                </a:solidFill>
                <a:latin typeface="Calibri"/>
              </a:rPr>
              <a:t>AI-POWERED ROUTE OPTIMIZATION IN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282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7C818C"/>
                </a:solidFill>
                <a:latin typeface="Calibri"/>
              </a:rPr>
              <a:t>43 / 43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00000"/>
            <a:ext cx="347472" cy="347472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32B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26848"/>
            <a:ext cx="10378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Strategic recommendation: run a phased pilot (5–8 vehicles) before fleet-wide rollout, validating simulated gains against live data (Slides 34–39)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80000"/>
            <a:ext cx="347472" cy="347472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32B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06848"/>
            <a:ext cx="10378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Advanced analytics upgrade: move from batch retraining to continuous/online learning as more trip data accumulates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060000"/>
            <a:ext cx="347472" cy="347472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32B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86848"/>
            <a:ext cx="10378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Future digital transformation: extend AI recommendations into customer-facing tracking and predictive maintenance scheduling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140000"/>
            <a:ext cx="347472" cy="347472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32B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66848"/>
            <a:ext cx="10378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Expand ERP–AI capabilities: deepen integration with ERP Procurement (parts/fuel) and Sustainability/ESG reporting as the next module frontier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152004"/>
            <a:ext cx="11277600" cy="0"/>
          </a:xfrm>
          <a:prstGeom prst="line">
            <a:avLst/>
          </a:prstGeom>
          <a:ln w="15875">
            <a:solidFill>
              <a:srgbClr val="5B647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57200" y="6120000"/>
            <a:ext cx="64008" cy="64008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99918" y="6120000"/>
            <a:ext cx="64008" cy="64008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42636" y="6120000"/>
            <a:ext cx="64008" cy="64008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85355" y="6120000"/>
            <a:ext cx="64008" cy="64008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28073" y="6120000"/>
            <a:ext cx="64008" cy="64008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70792" y="6120000"/>
            <a:ext cx="64008" cy="64008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2026-08-30T15:55:28Z</dcterms:created>
  <dcterms:modified xsi:type="dcterms:W3CDTF">2026-08-30T15:55:28Z</dcterms:modified>
</cp:coreProperties>
</file>