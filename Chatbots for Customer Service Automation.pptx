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6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65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93D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3293D"/>
                </a:solidFill>
                <a:latin typeface="Calibri"/>
              </a:rPr>
              <a:t>Share of Daily Customer Inquiries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Daily Inquiries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329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Balance &amp;
Statements</c:v>
                </c:pt>
                <c:pt idx="1">
                  <c:v>Fund
Transfers</c:v>
                </c:pt>
                <c:pt idx="2">
                  <c:v>Card
Services</c:v>
                </c:pt>
                <c:pt idx="3">
                  <c:v>Loan &amp;
Credit</c:v>
                </c:pt>
                <c:pt idx="4">
                  <c:v>Branch/ATM
Location</c:v>
                </c:pt>
                <c:pt idx="5">
                  <c:v>Complaints &amp;
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07-434B-9B7C-CC0E52D5E8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329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9525" cap="flat">
              <a:solidFill>
                <a:srgbClr val="E0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93D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3293D"/>
                </a:solidFill>
                <a:latin typeface="Calibri"/>
              </a:rPr>
              <a:t>Average Customer Wait Time by Hour (minutes)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Wait Time (minutes)</c:v>
                </c:pt>
              </c:strCache>
            </c:strRef>
          </c:tx>
          <c:spPr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293D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9am</c:v>
                </c:pt>
                <c:pt idx="1">
                  <c:v>10am</c:v>
                </c:pt>
                <c:pt idx="2">
                  <c:v>11am</c:v>
                </c:pt>
                <c:pt idx="3">
                  <c:v>12pm</c:v>
                </c:pt>
                <c:pt idx="4">
                  <c:v>1pm</c:v>
                </c:pt>
                <c:pt idx="5">
                  <c:v>2pm</c:v>
                </c:pt>
                <c:pt idx="6">
                  <c:v>3pm</c:v>
                </c:pt>
                <c:pt idx="7">
                  <c:v>4pm</c:v>
                </c:pt>
                <c:pt idx="8">
                  <c:v>5pm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2.1</c:v>
                </c:pt>
                <c:pt idx="1">
                  <c:v>3.4</c:v>
                </c:pt>
                <c:pt idx="2">
                  <c:v>4.8</c:v>
                </c:pt>
                <c:pt idx="3">
                  <c:v>6.5</c:v>
                </c:pt>
                <c:pt idx="4">
                  <c:v>6.9</c:v>
                </c:pt>
                <c:pt idx="5">
                  <c:v>5.7</c:v>
                </c:pt>
                <c:pt idx="6">
                  <c:v>3.9</c:v>
                </c:pt>
                <c:pt idx="7">
                  <c:v>2.6</c:v>
                </c:pt>
                <c:pt idx="8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D6-4B62-8DD9-709C2F63B24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29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9525" cap="flat">
              <a:solidFill>
                <a:srgbClr val="E0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3293D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3293D"/>
                </a:solidFill>
                <a:latin typeface="Calibri"/>
              </a:rPr>
              <a:t>Share of Service Interactions by Channel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282-4CED-842A-F4540770EA04}"/>
              </c:ext>
            </c:extLst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82-4CED-842A-F4540770EA04}"/>
              </c:ext>
            </c:extLst>
          </c:dPt>
          <c:dPt>
            <c:idx val="2"/>
            <c:bubble3D val="0"/>
            <c:spPr>
              <a:solidFill>
                <a:srgbClr val="AFC8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282-4CED-842A-F4540770EA04}"/>
              </c:ext>
            </c:extLst>
          </c:dPt>
          <c:dPt>
            <c:idx val="3"/>
            <c:bubble3D val="0"/>
            <c:spPr>
              <a:solidFill>
                <a:srgbClr val="5C7A8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282-4CED-842A-F4540770EA04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282-4CED-842A-F4540770EA04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282-4CED-842A-F4540770EA04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282-4CED-842A-F4540770EA04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282-4CED-842A-F4540770EA04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Call Center</c:v>
                </c:pt>
                <c:pt idx="1">
                  <c:v>Mobile App</c:v>
                </c:pt>
                <c:pt idx="2">
                  <c:v>Branch</c:v>
                </c:pt>
                <c:pt idx="3">
                  <c:v>Website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282-4CED-842A-F4540770EA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329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3293D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3293D"/>
                </a:solidFill>
                <a:latin typeface="Calibri"/>
              </a:rPr>
              <a:t>Average Cost per Interaction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Interaction (USD)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&quot;$&quot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329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Branch</c:v>
                </c:pt>
                <c:pt idx="1">
                  <c:v>Call Center</c:v>
                </c:pt>
                <c:pt idx="2">
                  <c:v>Mobile/Web
Self-Service</c:v>
                </c:pt>
                <c:pt idx="3">
                  <c:v>Chatbot
(Projected)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3.2</c:v>
                </c:pt>
                <c:pt idx="2">
                  <c:v>0.8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7E-4974-9425-316842CEF5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329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5"/>
        </c:scaling>
        <c:delete val="0"/>
        <c:axPos val="l"/>
        <c:majorGridlines>
          <c:spPr>
            <a:ln w="9525" cap="flat">
              <a:solidFill>
                <a:srgbClr val="E0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93D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3293D"/>
                </a:solidFill>
                <a:latin typeface="Calibri"/>
              </a:rPr>
              <a:t>Customer Satisfaction (CSAT) by Channel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CSAT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329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Branch</c:v>
                </c:pt>
                <c:pt idx="1">
                  <c:v>Mobile App</c:v>
                </c:pt>
                <c:pt idx="2">
                  <c:v>Website</c:v>
                </c:pt>
                <c:pt idx="3">
                  <c:v>Call Center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74</c:v>
                </c:pt>
                <c:pt idx="2">
                  <c:v>70</c:v>
                </c:pt>
                <c:pt idx="3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AD-47FB-B63B-99D09B8CB1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29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9525" cap="flat">
              <a:solidFill>
                <a:srgbClr val="E0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93D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3293D"/>
                </a:solidFill>
                <a:latin typeface="Calibri"/>
              </a:rPr>
              <a:t>Key Metrics — Current State vs. With Chatbot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State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329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Avg. Wait
Time (min)</c:v>
                </c:pt>
                <c:pt idx="1">
                  <c:v>Monthly Cost
(Index=100)</c:v>
                </c:pt>
                <c:pt idx="2">
                  <c:v>Agent Workload
(Index=100)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6.5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EE-42DA-A1A9-EBDAC1BAFD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Chatbot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329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Avg. Wait
Time (min)</c:v>
                </c:pt>
                <c:pt idx="1">
                  <c:v>Monthly Cost
(Index=100)</c:v>
                </c:pt>
                <c:pt idx="2">
                  <c:v>Agent Workload
(Index=100)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</c:v>
                </c:pt>
                <c:pt idx="1">
                  <c:v>63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EE-42DA-A1A9-EBDAC1BAFD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329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29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877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F305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51062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 for Customer Service Automation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Retail Banking</a:t>
            </a:r>
            <a:endParaRPr lang="en-US" sz="3000" dirty="0"/>
          </a:p>
        </p:txBody>
      </p:sp>
      <p:pic>
        <p:nvPicPr>
          <p:cNvPr id="9" name="Picture 8" descr="A gold logo with a chain and a crescent moon&#10;&#10;Description automatically generated">
            <a:extLst>
              <a:ext uri="{FF2B5EF4-FFF2-40B4-BE49-F238E27FC236}">
                <a16:creationId xmlns:a16="http://schemas.microsoft.com/office/drawing/2014/main" id="{05B1AA3A-0B8B-498E-9683-1D4B52F06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885" y="334333"/>
            <a:ext cx="1835244" cy="17687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BB236EC-A5DF-4FCB-A504-E0878812A335}"/>
              </a:ext>
            </a:extLst>
          </p:cNvPr>
          <p:cNvSpPr/>
          <p:nvPr/>
        </p:nvSpPr>
        <p:spPr>
          <a:xfrm>
            <a:off x="731520" y="518477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AFC8D3"/>
                </a:solidFill>
                <a:latin typeface="Arial" pitchFamily="34" charset="0"/>
                <a:cs typeface="Arial" pitchFamily="34" charset="-120"/>
              </a:rPr>
              <a:t>Presented by : Peter Ibrahim</a:t>
            </a:r>
          </a:p>
          <a:p>
            <a:r>
              <a:rPr lang="en-US" dirty="0">
                <a:solidFill>
                  <a:srgbClr val="AFC8D3"/>
                </a:solidFill>
                <a:latin typeface="Arial" pitchFamily="34" charset="0"/>
                <a:cs typeface="Arial" pitchFamily="34" charset="-120"/>
              </a:rPr>
              <a:t>Professor  : Ahmed </a:t>
            </a:r>
            <a:r>
              <a:rPr lang="en-US" dirty="0" err="1">
                <a:solidFill>
                  <a:srgbClr val="AFC8D3"/>
                </a:solidFill>
                <a:latin typeface="Arial" pitchFamily="34" charset="0"/>
                <a:cs typeface="Arial" pitchFamily="34" charset="-120"/>
              </a:rPr>
              <a:t>Elsedawy</a:t>
            </a:r>
            <a:endParaRPr lang="en-US" dirty="0">
              <a:solidFill>
                <a:srgbClr val="AFC8D3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08792" cy="27432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202539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0253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8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Introduction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AF4F4"/>
          </a:solidFill>
          <a:ln/>
        </p:spPr>
      </p:sp>
      <p:sp>
        <p:nvSpPr>
          <p:cNvPr id="9" name="Shape 7"/>
          <p:cNvSpPr/>
          <p:nvPr/>
        </p:nvSpPr>
        <p:spPr>
          <a:xfrm>
            <a:off x="6528816" y="202539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528816" y="20253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8" dirty="0"/>
          </a:p>
        </p:txBody>
      </p:sp>
      <p:sp>
        <p:nvSpPr>
          <p:cNvPr id="11" name="Text 9"/>
          <p:cNvSpPr/>
          <p:nvPr/>
        </p:nvSpPr>
        <p:spPr>
          <a:xfrm>
            <a:off x="7269480" y="173736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Understanding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A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344271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34427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8" dirty="0"/>
          </a:p>
        </p:txBody>
      </p:sp>
      <p:sp>
        <p:nvSpPr>
          <p:cNvPr id="15" name="Text 13"/>
          <p:cNvSpPr/>
          <p:nvPr/>
        </p:nvSpPr>
        <p:spPr>
          <a:xfrm>
            <a:off x="1600200" y="315468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315468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A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528816" y="344271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28816" y="34427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8" dirty="0"/>
          </a:p>
        </p:txBody>
      </p:sp>
      <p:sp>
        <p:nvSpPr>
          <p:cNvPr id="19" name="Text 17"/>
          <p:cNvSpPr/>
          <p:nvPr/>
        </p:nvSpPr>
        <p:spPr>
          <a:xfrm>
            <a:off x="7269480" y="315468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A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536" y="48600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" y="48600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8" dirty="0"/>
          </a:p>
        </p:txBody>
      </p:sp>
      <p:sp>
        <p:nvSpPr>
          <p:cNvPr id="23" name="Text 21"/>
          <p:cNvSpPr/>
          <p:nvPr/>
        </p:nvSpPr>
        <p:spPr>
          <a:xfrm>
            <a:off x="1600200" y="457200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Objectives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457200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AF4F4"/>
          </a:solidFill>
          <a:ln/>
        </p:spPr>
      </p:sp>
      <p:sp>
        <p:nvSpPr>
          <p:cNvPr id="25" name="Shape 23"/>
          <p:cNvSpPr/>
          <p:nvPr/>
        </p:nvSpPr>
        <p:spPr>
          <a:xfrm>
            <a:off x="6528816" y="48600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528816" y="48600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8" dirty="0"/>
          </a:p>
        </p:txBody>
      </p:sp>
      <p:sp>
        <p:nvSpPr>
          <p:cNvPr id="27" name="Text 25"/>
          <p:cNvSpPr/>
          <p:nvPr/>
        </p:nvSpPr>
        <p:spPr>
          <a:xfrm>
            <a:off x="7269480" y="457200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Service Chatbots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68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FC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 Why chatbots?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89120" y="7589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0" y="758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120640" y="685800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banking sector is undergoing rapid digital transformation, reshaping how customers interact with their banks.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89120" y="22037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2203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120640" y="2130552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now expect instant, always-available responses through digital channels rather than traditional branches.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89120" y="36484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20640" y="3575304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has emerged as a promising solution to automate repetitive inquiries and ease pressure on call centers.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89120" y="50932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20640" y="5020056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covers the project's foundational phase: problem analysis and business understanding, ahead of solution design.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Service Chatbots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Understanding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retail banking landscape and current customer service channels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🏛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10712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/>
        </p:spPr>
      </p:sp>
      <p:sp>
        <p:nvSpPr>
          <p:cNvPr id="8" name="Text 6"/>
          <p:cNvSpPr/>
          <p:nvPr/>
        </p:nvSpPr>
        <p:spPr>
          <a:xfrm>
            <a:off x="3410712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☎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10712" y="2423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Center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81344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/>
        </p:spPr>
      </p:sp>
      <p:sp>
        <p:nvSpPr>
          <p:cNvPr id="11" name="Text 9"/>
          <p:cNvSpPr/>
          <p:nvPr/>
        </p:nvSpPr>
        <p:spPr>
          <a:xfrm>
            <a:off x="6181344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81344" y="2423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51976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951976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51976" y="2423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 of the business environment: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95020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840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daily volume of repetitive inquiries: balance checks, statements, transfers, cards, and loans.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41655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pressure on call centers during peak times, with limited operating hours versus customer expectations.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1023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99262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market-wide shift toward self-service and digital channels as an alternative to direct human interaction.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6784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56869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Varying levels of integration across banking systems, which affects response speed.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Service Chatbots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FC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facing traditional customer service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0F30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299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274320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daily inquiries are routine, repetitive, and automatable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0F305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0299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39312" y="274320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expectation for availability, not just business hours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0F3050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0299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73952" y="274320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wait time spikes during call center peak hours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18288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0F305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20299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↑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308592" y="274320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operational cost of call centers vs. digital automation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customers and the bank: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Declining customer satisfaction due to slow response times and limited availability.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074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Employee time consumed by routine tasks instead of higher-value, complex cases.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5577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Missed opportunities to improve operational efficiency and reduce costs through automation.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Service Chatbots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root causes to business 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Resulting Impact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120640" cy="685800"/>
          </a:xfrm>
          <a:prstGeom prst="roundRect">
            <a:avLst>
              <a:gd name="adj" fmla="val 9333"/>
            </a:avLst>
          </a:prstGeom>
          <a:solidFill>
            <a:srgbClr val="EAF4F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reliance on human resources to handle routine inquiries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2391156"/>
            <a:ext cx="86868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0" y="2148840"/>
            <a:ext cx="4572000" cy="685800"/>
          </a:xfrm>
          <a:prstGeom prst="roundRect">
            <a:avLst>
              <a:gd name="adj" fmla="val 9333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1488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response time for customers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120640" cy="685800"/>
          </a:xfrm>
          <a:prstGeom prst="roundRect">
            <a:avLst>
              <a:gd name="adj" fmla="val 9333"/>
            </a:avLst>
          </a:prstGeom>
          <a:solidFill>
            <a:srgbClr val="EAF4F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175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effective automation solutions for digital customer service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3259836"/>
            <a:ext cx="86868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3017520"/>
            <a:ext cx="4572000" cy="685800"/>
          </a:xfrm>
          <a:prstGeom prst="roundRect">
            <a:avLst>
              <a:gd name="adj" fmla="val 9333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30175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customer satisfaction and loyalty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120640" cy="685800"/>
          </a:xfrm>
          <a:prstGeom prst="roundRect">
            <a:avLst>
              <a:gd name="adj" fmla="val 9333"/>
            </a:avLst>
          </a:prstGeom>
          <a:solidFill>
            <a:srgbClr val="EAF4F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communication channels without a unified customer experience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4128516"/>
            <a:ext cx="86868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3886200"/>
            <a:ext cx="4572000" cy="685800"/>
          </a:xfrm>
          <a:prstGeom prst="roundRect">
            <a:avLst>
              <a:gd name="adj" fmla="val 9333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38862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operational costs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5120640" cy="685800"/>
          </a:xfrm>
          <a:prstGeom prst="roundRect">
            <a:avLst>
              <a:gd name="adj" fmla="val 9333"/>
            </a:avLst>
          </a:prstGeom>
          <a:solidFill>
            <a:srgbClr val="EAF4F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7548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integration between internal banking systems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4997196"/>
            <a:ext cx="86868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4" name="Shape 22"/>
          <p:cNvSpPr/>
          <p:nvPr/>
        </p:nvSpPr>
        <p:spPr>
          <a:xfrm>
            <a:off x="6949440" y="4754880"/>
            <a:ext cx="4572000" cy="685800"/>
          </a:xfrm>
          <a:prstGeom prst="roundRect">
            <a:avLst>
              <a:gd name="adj" fmla="val 9333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47548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Weaker digital competitiveness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Service Chatbots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project aims to achieve for the bank and the customer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20848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Response 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wait times for common inquiries down to seconds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8288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EA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4636008" y="2103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21808" y="20848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Operating Cost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26060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reliance on human resources for routine tasks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EA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7616" y="2103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043416" y="20848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Availability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11896" y="26060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support around the clock, beyond business hours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EA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00200" y="42793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Customer Experience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8006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satisfaction through fast, consistent responses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1688" y="40233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EAF4F4"/>
          </a:solidFill>
          <a:ln/>
        </p:spPr>
      </p:sp>
      <p:sp>
        <p:nvSpPr>
          <p:cNvPr id="25" name="Shape 23"/>
          <p:cNvSpPr/>
          <p:nvPr/>
        </p:nvSpPr>
        <p:spPr>
          <a:xfrm>
            <a:off x="4636008" y="4297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636008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321808" y="42793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Employees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0288" y="48006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up time to focus on complex, higher-value cases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83296" y="40233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EAF4F4"/>
          </a:solidFill>
          <a:ln/>
        </p:spPr>
      </p:sp>
      <p:sp>
        <p:nvSpPr>
          <p:cNvPr id="30" name="Shape 28"/>
          <p:cNvSpPr/>
          <p:nvPr/>
        </p:nvSpPr>
        <p:spPr>
          <a:xfrm>
            <a:off x="8357616" y="4297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357616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043416" y="42793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Decision-Making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11896" y="48006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Sharper data and insights on recurring customer needs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Service Chatbots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parties invested in the project's success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4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beneficiaries of faster, better service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52928" y="19202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3584448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40" dirty="0"/>
          </a:p>
        </p:txBody>
      </p:sp>
      <p:sp>
        <p:nvSpPr>
          <p:cNvPr id="12" name="Text 10"/>
          <p:cNvSpPr/>
          <p:nvPr/>
        </p:nvSpPr>
        <p:spPr>
          <a:xfrm>
            <a:off x="2990088" y="2971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 Team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90088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the current communication channels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65776" y="19202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0B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5797296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797296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40" dirty="0"/>
          </a:p>
        </p:txBody>
      </p:sp>
      <p:sp>
        <p:nvSpPr>
          <p:cNvPr id="17" name="Text 15"/>
          <p:cNvSpPr/>
          <p:nvPr/>
        </p:nvSpPr>
        <p:spPr>
          <a:xfrm>
            <a:off x="5202936" y="2971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Department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02936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for tech infrastructure and system integration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78624" y="19202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8010144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010144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40" dirty="0"/>
          </a:p>
        </p:txBody>
      </p:sp>
      <p:sp>
        <p:nvSpPr>
          <p:cNvPr id="22" name="Text 20"/>
          <p:cNvSpPr/>
          <p:nvPr/>
        </p:nvSpPr>
        <p:spPr>
          <a:xfrm>
            <a:off x="7415784" y="2971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Risk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15784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alignment with regulations and data security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91472" y="19202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0B254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22992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222992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40" dirty="0"/>
          </a:p>
        </p:txBody>
      </p:sp>
      <p:sp>
        <p:nvSpPr>
          <p:cNvPr id="27" name="Text 25"/>
          <p:cNvSpPr/>
          <p:nvPr/>
        </p:nvSpPr>
        <p:spPr>
          <a:xfrm>
            <a:off x="9628632" y="2971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Management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28632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strategic decision and project budget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Service Chatbots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0F30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phase summary: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retail banking customer service sector faces clear challenges in response time, cost, and availability, while chatbots present a practical opportunity to address these challenges within defined business objectives and clear stakeholders.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3337560"/>
            <a:ext cx="10104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and analyze detailed customer and employee requirements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4164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995928"/>
            <a:ext cx="10104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available technical solutions and suitable AI models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70001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654296"/>
            <a:ext cx="10104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conversation experience and usage scenarios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35838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5312664"/>
            <a:ext cx="10104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 phased implementation plan and success metrics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Service Chatbots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83080" y="160020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Analytics Phase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76479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52360" y="160020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Methodology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8211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783080" y="30175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Volume Analysis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18211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452360" y="30175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&amp; Cost Analysis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9943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783080" y="44348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Insights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44348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59943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452360" y="44348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57432" y="6519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Analytics Phase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statement to evidence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the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business-understanding narrative into measurable figures: volumes, wait times, and cost per channel.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Automation Opportunity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56032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inquiry types are highest-volume, most repetitive, and easiest to automate first.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97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Current Performance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480060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cost, speed, and satisfaction baseline for every existing service channel.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297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the Next Phase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7960" y="480060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realistic parameters for the Task 3 simulation and the design of the chatbot framework.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19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✦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logs &amp; IVR records</a:t>
            </a:r>
            <a:endParaRPr lang="en-US" sz="1400" dirty="0"/>
          </a:p>
          <a:p>
            <a:pPr marL="228600" indent="-228600">
              <a:lnSpc>
                <a:spcPct val="135000"/>
              </a:lnSpc>
              <a:buSzPct val="100000"/>
              <a:buChar char="✦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/ pilot live-chat transcripts</a:t>
            </a:r>
            <a:endParaRPr lang="en-US" sz="1400" dirty="0"/>
          </a:p>
          <a:p>
            <a:pPr marL="228600" indent="-228600">
              <a:lnSpc>
                <a:spcPct val="135000"/>
              </a:lnSpc>
              <a:buSzPct val="100000"/>
              <a:buChar char="✦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 app support tickets</a:t>
            </a:r>
            <a:endParaRPr lang="en-US" sz="1400" dirty="0"/>
          </a:p>
          <a:p>
            <a:pPr marL="228600" indent="-228600">
              <a:lnSpc>
                <a:spcPct val="135000"/>
              </a:lnSpc>
              <a:buSzPct val="100000"/>
              <a:buChar char="✦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complaint and case records</a:t>
            </a:r>
            <a:endParaRPr lang="en-US" sz="1400" dirty="0"/>
          </a:p>
          <a:p>
            <a:pPr marL="228600" indent="-228600">
              <a:lnSpc>
                <a:spcPct val="135000"/>
              </a:lnSpc>
              <a:buSzPct val="100000"/>
              <a:buChar char="✦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surveys (CSAT)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✦"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on inquiry volume &amp; category mix</a:t>
            </a:r>
            <a:endParaRPr lang="en-US" sz="1400" dirty="0"/>
          </a:p>
          <a:p>
            <a:pPr marL="228600" indent="-228600">
              <a:lnSpc>
                <a:spcPct val="135000"/>
              </a:lnSpc>
              <a:buSzPct val="100000"/>
              <a:buChar char="✦"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 to locate peak-load windows</a:t>
            </a:r>
            <a:endParaRPr lang="en-US" sz="1400" dirty="0"/>
          </a:p>
          <a:p>
            <a:pPr marL="228600" indent="-228600">
              <a:lnSpc>
                <a:spcPct val="135000"/>
              </a:lnSpc>
              <a:buSzPct val="100000"/>
              <a:buChar char="✦"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Cost-per-interaction benchmarking across channels</a:t>
            </a:r>
            <a:endParaRPr lang="en-US" sz="1400" dirty="0"/>
          </a:p>
          <a:p>
            <a:pPr marL="228600" indent="-228600">
              <a:lnSpc>
                <a:spcPct val="135000"/>
              </a:lnSpc>
              <a:buSzPct val="100000"/>
              <a:buChar char="✦"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categorization of complaints and requests</a:t>
            </a:r>
            <a:endParaRPr lang="en-US" sz="1400" dirty="0"/>
          </a:p>
          <a:p>
            <a:pPr marL="228600" indent="-228600">
              <a:lnSpc>
                <a:spcPct val="135000"/>
              </a:lnSpc>
              <a:buSzPct val="100000"/>
              <a:buChar char="✦"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Excel, Power BI, and Python (pandas)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figures in this section are illustrative, built on retail-banking industry benchmarks and the case study's assumptions, pending access to the bank's live datasets.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57432" y="6519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Inquiry Volume by Category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1732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0020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001000" y="26517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daily inquiries are routine and automatable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3 categories)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379476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checks, transfers, and card services alone account for more than two-thirds of contact volume — the natural starting point for chatbot automation.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57432" y="6519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Center Load Across the Day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17320"/>
          <a:ext cx="7863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600200"/>
            <a:ext cx="3017520" cy="4023360"/>
          </a:xfrm>
          <a:prstGeom prst="roundRect">
            <a:avLst>
              <a:gd name="adj" fmla="val 2424"/>
            </a:avLst>
          </a:prstGeom>
          <a:solidFill>
            <a:srgbClr val="EAF4F4"/>
          </a:solidFill>
          <a:ln/>
        </p:spPr>
      </p:sp>
      <p:sp>
        <p:nvSpPr>
          <p:cNvPr id="7" name="Text 4"/>
          <p:cNvSpPr/>
          <p:nvPr/>
        </p:nvSpPr>
        <p:spPr>
          <a:xfrm>
            <a:off x="882396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23960" y="219456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buSzPct val="100000"/>
              <a:buChar char="✦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peaks 12pm-1pm, driven by the lunch-hour surge</a:t>
            </a:r>
            <a:endParaRPr lang="en-US" sz="1200" dirty="0"/>
          </a:p>
          <a:p>
            <a:pPr marL="203200" indent="-203200">
              <a:lnSpc>
                <a:spcPct val="130000"/>
              </a:lnSpc>
              <a:buSzPct val="100000"/>
              <a:buChar char="✦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wait (6.9 min) is 3.8x the off-peak average</a:t>
            </a:r>
            <a:endParaRPr lang="en-US" sz="1200" dirty="0"/>
          </a:p>
          <a:p>
            <a:pPr marL="203200" indent="-203200">
              <a:lnSpc>
                <a:spcPct val="130000"/>
              </a:lnSpc>
              <a:buSzPct val="100000"/>
              <a:buChar char="✦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coverage after 5pm or before 9am — a full service gap</a:t>
            </a:r>
            <a:endParaRPr lang="en-US" sz="1200" dirty="0"/>
          </a:p>
          <a:p>
            <a:pPr marL="203200" indent="-203200">
              <a:lnSpc>
                <a:spcPct val="130000"/>
              </a:lnSpc>
              <a:buSzPct val="100000"/>
              <a:buChar char="✦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chatbot availability directly targets this gap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57432" y="6519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Usage &amp; Cost per Interaction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508760"/>
          <a:ext cx="52120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126480" y="150876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volume is highest, yet it is also the second most expensive channel per interaction — a projected chatbot cuts cost per interaction by roughly 90% versus the call center.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457432" y="6519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 Insights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63040"/>
          <a:ext cx="6217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46304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EAF4F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1691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COMPLAINT THEMES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0" y="210312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✦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 times during peak hours</a:t>
            </a:r>
            <a:endParaRPr lang="en-US" sz="1300" dirty="0"/>
          </a:p>
          <a:p>
            <a:pPr marL="203200" indent="-203200">
              <a:lnSpc>
                <a:spcPct val="140000"/>
              </a:lnSpc>
              <a:buSzPct val="100000"/>
              <a:buChar char="✦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available outside business hours</a:t>
            </a:r>
            <a:endParaRPr lang="en-US" sz="1300" dirty="0"/>
          </a:p>
          <a:p>
            <a:pPr marL="203200" indent="-203200">
              <a:lnSpc>
                <a:spcPct val="140000"/>
              </a:lnSpc>
              <a:buSzPct val="100000"/>
              <a:buChar char="✦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asked to repeat the same information</a:t>
            </a:r>
            <a:endParaRPr lang="en-US" sz="1300" dirty="0"/>
          </a:p>
          <a:p>
            <a:pPr marL="203200" indent="-203200">
              <a:lnSpc>
                <a:spcPct val="140000"/>
              </a:lnSpc>
              <a:buSzPct val="100000"/>
              <a:buChar char="✦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answers across different channels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57432" y="6519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Data-Driven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AF4F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709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40000"/>
              </a:lnSpc>
              <a:buSzPct val="100000"/>
              <a:buChar char="✦"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inquiries are routine — a strong automation opportunity</a:t>
            </a:r>
            <a:endParaRPr lang="en-US" sz="1350" dirty="0"/>
          </a:p>
          <a:p>
            <a:pPr marL="228600" indent="-228600">
              <a:lnSpc>
                <a:spcPct val="140000"/>
              </a:lnSpc>
              <a:buSzPct val="100000"/>
              <a:buChar char="✦"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cost per interaction is ~10x a projected chatbot's cost</a:t>
            </a:r>
            <a:endParaRPr lang="en-US" sz="1350" dirty="0"/>
          </a:p>
          <a:p>
            <a:pPr marL="228600" indent="-228600">
              <a:lnSpc>
                <a:spcPct val="140000"/>
              </a:lnSpc>
              <a:buSzPct val="100000"/>
              <a:buChar char="✦"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times spike at lunch hours, directly hurting satisfaction</a:t>
            </a:r>
            <a:endParaRPr lang="en-US" sz="1350" dirty="0"/>
          </a:p>
          <a:p>
            <a:pPr marL="228600" indent="-228600">
              <a:lnSpc>
                <a:spcPct val="140000"/>
              </a:lnSpc>
              <a:buSzPct val="100000"/>
              <a:buChar char="✦"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demand exists but is entirely unmet today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4709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40000"/>
              </a:lnSpc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automation for balance, transfer, and card-service inquiries (~68% of volume)</a:t>
            </a:r>
            <a:endParaRPr lang="en-US" sz="1350" dirty="0"/>
          </a:p>
          <a:p>
            <a:pPr marL="228600" indent="-228600">
              <a:lnSpc>
                <a:spcPct val="140000"/>
              </a:lnSpc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sub-1-minute response for these categories, any time of day</a:t>
            </a:r>
            <a:endParaRPr lang="en-US" sz="1350" dirty="0"/>
          </a:p>
          <a:p>
            <a:pPr marL="228600" indent="-228600">
              <a:lnSpc>
                <a:spcPct val="140000"/>
              </a:lnSpc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figures as the baseline for the Task 3 simulation</a:t>
            </a:r>
            <a:endParaRPr lang="en-US" sz="1350" dirty="0"/>
          </a:p>
          <a:p>
            <a:pPr marL="228600" indent="-228600">
              <a:lnSpc>
                <a:spcPct val="140000"/>
              </a:lnSpc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CSAT and cost-per-interaction after launch to validate impact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57432" y="6519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83080" y="160020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Approach &amp; Assumptions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76479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52360" y="160020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Results: Before vs. After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8211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783080" y="30175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Chatbot Framework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18211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452360" y="30175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Components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9943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783080" y="44348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44348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59943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452360" y="44348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Report Overview &amp; Next Steps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Approach &amp; Objective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impact before building anything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Simulate?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investing in development, estimate how a chatbot layer would change wait time, cost, and workload — using the Task 2 data as input.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56032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queueing-based comparison of two states: today's human-only service model versus a chatbot-first model with human escalation.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97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Used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480060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inquiry volume, category mix, current handling times, and cost per interaction — all taken from the Data Analytics findings.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297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Produces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7960" y="480060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wait time, monthly operating cost, and agent workload under both scenarios, to test the business case.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Assumptions &amp; Parameters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417320"/>
          <a:ext cx="11064240" cy="4032504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 (Human-Only)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Chatbot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inquiries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handled by chatbot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(top 3 categories)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handling time — human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minutes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minutes (escalations 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handling time — chatbot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seconds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rate to a human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of chatbot-handled inquiries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availability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hours /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/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parameters are working assumptions for the simulation model, grounded in the Task 2 data analysis and standard chatbot performance benchmarks.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Results: Before vs. After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17320"/>
          <a:ext cx="70408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cost and workload are shown as an index (current state = 100) so both scenarios are comparable on one chart; wait time is in minutes.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18120" y="1600200"/>
            <a:ext cx="3794760" cy="4297680"/>
          </a:xfrm>
          <a:prstGeom prst="roundRect">
            <a:avLst>
              <a:gd name="adj" fmla="val 1928"/>
            </a:avLst>
          </a:prstGeom>
          <a:solidFill>
            <a:srgbClr val="0B2545"/>
          </a:solidFill>
          <a:ln/>
        </p:spPr>
      </p:sp>
      <p:sp>
        <p:nvSpPr>
          <p:cNvPr id="8" name="Text 5"/>
          <p:cNvSpPr/>
          <p:nvPr/>
        </p:nvSpPr>
        <p:spPr>
          <a:xfrm>
            <a:off x="809244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92440" y="219456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falls from 6.5 min to ~24 sec for automatable inquiries</a:t>
            </a:r>
            <a:endParaRPr lang="en-US" sz="1250" dirty="0"/>
          </a:p>
          <a:p>
            <a:pPr marL="203200" indent="-203200">
              <a:lnSpc>
                <a:spcPct val="140000"/>
              </a:lnSpc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operating cost down ~37% versus today's model</a:t>
            </a:r>
            <a:endParaRPr lang="en-US" sz="1250" dirty="0"/>
          </a:p>
          <a:p>
            <a:pPr marL="203200" indent="-203200">
              <a:lnSpc>
                <a:spcPct val="140000"/>
              </a:lnSpc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workload cut by roughly 55%, freeing time for complex cases</a:t>
            </a:r>
            <a:endParaRPr lang="en-US" sz="1250" dirty="0"/>
          </a:p>
          <a:p>
            <a:pPr marL="203200" indent="-203200">
              <a:lnSpc>
                <a:spcPct val="140000"/>
              </a:lnSpc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moves from 8 hours/day to full 24/7 availability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Chatbot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2185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27832" y="137160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00984" y="1371600"/>
            <a:ext cx="2185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15584" y="137160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88736" y="1371600"/>
            <a:ext cx="2185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WhatsApp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03336" y="137160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76488" y="1371600"/>
            <a:ext cx="2185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CHANNELS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70448" y="2048256"/>
            <a:ext cx="182880" cy="182880"/>
          </a:xfrm>
          <a:prstGeom prst="downArrow">
            <a:avLst/>
          </a:prstGeom>
          <a:solidFill>
            <a:srgbClr val="AFC8D3"/>
          </a:solidFill>
          <a:ln w="12700">
            <a:solidFill>
              <a:srgbClr val="AFC8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2286000"/>
            <a:ext cx="2926080" cy="621792"/>
          </a:xfrm>
          <a:prstGeom prst="roundRect">
            <a:avLst>
              <a:gd name="adj" fmla="val 10294"/>
            </a:avLst>
          </a:prstGeom>
          <a:solidFill>
            <a:srgbClr val="0F3050"/>
          </a:solidFill>
          <a:ln w="12700">
            <a:solidFill>
              <a:srgbClr val="0F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2359152"/>
            <a:ext cx="2779776" cy="341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&amp; Intent Recognition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24912" y="2627986"/>
            <a:ext cx="2779776" cy="261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what the customer needs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2487168"/>
            <a:ext cx="320040" cy="219456"/>
          </a:xfrm>
          <a:prstGeom prst="rightArrow">
            <a:avLst/>
          </a:prstGeom>
          <a:solidFill>
            <a:srgbClr val="AFC8D3"/>
          </a:solidFill>
          <a:ln w="12700">
            <a:solidFill>
              <a:srgbClr val="AFC8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2286000"/>
            <a:ext cx="3291840" cy="621792"/>
          </a:xfrm>
          <a:prstGeom prst="roundRect">
            <a:avLst>
              <a:gd name="adj" fmla="val 10294"/>
            </a:avLst>
          </a:prstGeom>
          <a:solidFill>
            <a:srgbClr val="0F3050"/>
          </a:solidFill>
          <a:ln w="12700">
            <a:solidFill>
              <a:srgbClr val="0F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71032" y="2359152"/>
            <a:ext cx="3145536" cy="341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Manager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71032" y="2627986"/>
            <a:ext cx="3145536" cy="261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conversation flow &amp; context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70448" y="2962656"/>
            <a:ext cx="182880" cy="182880"/>
          </a:xfrm>
          <a:prstGeom prst="downArrow">
            <a:avLst/>
          </a:prstGeom>
          <a:solidFill>
            <a:srgbClr val="AFC8D3"/>
          </a:solidFill>
          <a:ln w="12700">
            <a:solidFill>
              <a:srgbClr val="AFC8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3200400"/>
            <a:ext cx="6126480" cy="603504"/>
          </a:xfrm>
          <a:prstGeom prst="roundRect">
            <a:avLst>
              <a:gd name="adj" fmla="val 1060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273552"/>
            <a:ext cx="5980176" cy="33192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&amp; CRM Integration Layer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90672" y="3532327"/>
            <a:ext cx="5980176" cy="25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access to accounts, cards, transfers, and case 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70448" y="3858768"/>
            <a:ext cx="182880" cy="182880"/>
          </a:xfrm>
          <a:prstGeom prst="downArrow">
            <a:avLst/>
          </a:prstGeom>
          <a:solidFill>
            <a:srgbClr val="AFC8D3"/>
          </a:solidFill>
          <a:ln w="12700">
            <a:solidFill>
              <a:srgbClr val="AFC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4096512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4169664"/>
            <a:ext cx="3145536" cy="362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Resolution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542032" y="4458614"/>
            <a:ext cx="3145536" cy="276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 delivered to the customer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4096512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5C7A89"/>
          </a:solidFill>
          <a:ln w="12700">
            <a:solidFill>
              <a:srgbClr val="5C7A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4169664"/>
            <a:ext cx="3145536" cy="362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to Human Agent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82512" y="4458614"/>
            <a:ext cx="3145536" cy="276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off with full context when needed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23360" y="4809744"/>
            <a:ext cx="182880" cy="182880"/>
          </a:xfrm>
          <a:prstGeom prst="downArrow">
            <a:avLst/>
          </a:prstGeom>
          <a:solidFill>
            <a:srgbClr val="AFC8D3"/>
          </a:solidFill>
          <a:ln w="12700">
            <a:solidFill>
              <a:srgbClr val="AFC8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4809744"/>
            <a:ext cx="182880" cy="182880"/>
          </a:xfrm>
          <a:prstGeom prst="downArrow">
            <a:avLst/>
          </a:prstGeom>
          <a:solidFill>
            <a:srgbClr val="AFC8D3"/>
          </a:solidFill>
          <a:ln w="12700">
            <a:solidFill>
              <a:srgbClr val="AFC8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5047488"/>
            <a:ext cx="6126480" cy="566928"/>
          </a:xfrm>
          <a:prstGeom prst="roundRect">
            <a:avLst>
              <a:gd name="adj" fmla="val 1129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90672" y="5120640"/>
            <a:ext cx="5980176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Continuous Learning Loop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090672" y="5359298"/>
            <a:ext cx="5980176" cy="2381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outcomes back into the NLU model and reporting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Components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Omnichannel Interface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chatbot experience across app, website, and messaging channels.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645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NLU &amp; Intent Recognition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53712" y="224028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customer language and classifies the request into a known intent.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01584" y="1463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1645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Dialogue Management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30184" y="224028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track of context across a multi-turn conversation.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Banking Integration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448056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permissioned API access to account and transaction data.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25112" y="3703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3886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&amp; Human Handoff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53712" y="448056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transfer to an agent with full context for complex cases.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01584" y="3703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0184" y="3886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Compliance &amp; Analytics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30184" y="448056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protection, regulatory alignment, and continuous performance tracking.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 Data Readiness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7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requirements, data access, and integration scope.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82112" y="3410712"/>
            <a:ext cx="173736" cy="219456"/>
          </a:xfrm>
          <a:prstGeom prst="rightArrow">
            <a:avLst/>
          </a:prstGeom>
          <a:solidFill>
            <a:srgbClr val="5C7A89"/>
          </a:solidFill>
          <a:ln w="12700">
            <a:solidFill>
              <a:srgbClr val="5C7A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6916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2402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— Top 3 Intents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66160" y="3154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7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3-4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66160" y="35661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chatbot for balance, transfer, and card-service inquiries.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16752" y="3410712"/>
            <a:ext cx="173736" cy="219456"/>
          </a:xfrm>
          <a:prstGeom prst="rightArrow">
            <a:avLst/>
          </a:prstGeom>
          <a:solidFill>
            <a:srgbClr val="5C7A89"/>
          </a:solidFill>
          <a:ln w="12700">
            <a:solidFill>
              <a:srgbClr val="5C7A8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6916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2402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Rollout &amp; Integration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00800" y="3154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7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5-7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intents, connect all channels, integrate core systems.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51392" y="3410712"/>
            <a:ext cx="173736" cy="219456"/>
          </a:xfrm>
          <a:prstGeom prst="rightArrow">
            <a:avLst/>
          </a:prstGeom>
          <a:solidFill>
            <a:srgbClr val="5C7A89"/>
          </a:solidFill>
          <a:ln w="12700">
            <a:solidFill>
              <a:srgbClr val="5C7A8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6916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2402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&amp; Scale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235440" y="3154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7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8+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35440" y="35661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model using live data; expand to new use cases.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Report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maps directly onto the written V1 report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1874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20116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193792" y="187452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1874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20116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970264" y="187452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 Analysis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03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417320" y="356616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25112" y="3566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3703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193792" y="356616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01584" y="3566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3703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970264" y="356616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Conclusion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Simulation to a Ready V1 Report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confirms a strong potential impact — faster service, lower cost, and full-time availability — and the proposed framework is grounded in the bank's real channels and constraints.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0881360" cy="3017520"/>
          </a:xfrm>
          <a:prstGeom prst="roundRect">
            <a:avLst>
              <a:gd name="adj" fmla="val 2424"/>
            </a:avLst>
          </a:prstGeom>
          <a:solidFill>
            <a:srgbClr val="0F305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37560"/>
            <a:ext cx="10149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Finalize and submit the V1 written report</a:t>
            </a:r>
            <a:endParaRPr lang="en-US" sz="1600" dirty="0"/>
          </a:p>
          <a:p>
            <a:pPr marL="0" indent="0">
              <a:lnSpc>
                <a:spcPct val="1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Begin a technical proof-of-concept for the Phase 2 pilot intents</a:t>
            </a:r>
            <a:endParaRPr lang="en-US" sz="1600" dirty="0"/>
          </a:p>
          <a:p>
            <a:pPr marL="0" indent="0">
              <a:lnSpc>
                <a:spcPct val="1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Validate integration requirements with the IT department</a:t>
            </a:r>
            <a:endParaRPr lang="en-US" sz="1600" dirty="0"/>
          </a:p>
          <a:p>
            <a:pPr marL="0" indent="0">
              <a:lnSpc>
                <a:spcPct val="1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Define success metrics and a measurement plan for the 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 Chatbots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1973</Words>
  <Application>Microsoft Office PowerPoint</Application>
  <PresentationFormat>Widescreen</PresentationFormat>
  <Paragraphs>407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Ibrahim Sadek Habashy</cp:lastModifiedBy>
  <cp:revision>3</cp:revision>
  <dcterms:created xsi:type="dcterms:W3CDTF">2026-08-23T16:46:47Z</dcterms:created>
  <dcterms:modified xsi:type="dcterms:W3CDTF">2026-09-27T14:58:54Z</dcterms:modified>
</cp:coreProperties>
</file>