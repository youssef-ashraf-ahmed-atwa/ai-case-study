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10"/>
  </p:normalViewPr>
  <p:slideViewPr>
    <p:cSldViewPr snapToGrid="0" snapToObjects="1">
      <p:cViewPr>
        <p:scale>
          <a:sx n="107" d="100"/>
          <a:sy n="107" d="100"/>
        </p:scale>
        <p:origin x="5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188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Eslam Aly, and this is my individual case study for Case Studies in AI for Business, presented to Dr. Ahmed Elseddawy.
The title is Drug Discovery and Development Using AI Models, and the company I follow through the whole project is Regeneron Pharmaceuticals.
The sentence on this slide is the argument of the entire project. Every pharmaceutical company can now hire the same data scientists and run the same models - the algorithms are becoming a commodity. What cannot be copied is the data those models learn from. So my question is not "does Regeneron use AI"; it is "why does Regeneron's AI work when the industry's has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project is to test one claim: that AI can shorten and de-risk the discovery of new medicines.
Start with the problem. Drug development is one of the last industries where the feedback loop is measured in decades - ten to fifteen years and about 2.6 billion dollars per approved medicine, and roughly nine out of ten candidates that reach clinical trials fail. And it is not improving: Eroom's Law, the reverse of Moore's Law, shows the inflation-adjusted cost of developing a drug has doubled roughly every nine years since 1950.
The second block is why, and it is the reason this is an AI problem and not only a biology problem. The animal model is the weak link. A mouse is not a small human, so a compound that cures a mouse tells us little about a person. There is no large, human-truthful dataset of what a molecule does inside a body for a model to learn from - so the bottleneck is the ground truth, not the algorithm.
The third block is why I chose Regeneron: it starts from human genetics instead. The next slide shows exactly how that changes the process.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argument in one picture.
Both paths end at the same place - an approved medicine - but they start from different evidence.
The top lane is how the industry has worked for a century. Evidence comes from cells and then from animals, and roughly one candidate in ten that reaches clinical trials is ever approved.
The reason is marked in the middle. The animal model is where the evidence stops predicting humans. A mouse is not a small human, so a compound that works in one tells us little about the other. This is exactly why simply adding AI has not fixed the industry: a model trained on animal evidence does not learn human biology, it reproduces the wrong ground truth faster and more cheaply.
The bottom lane is Regeneron's answer. It replaces the front of the process: instead of starting from animal biology it starts from human genetics - more than three million sequenced exomes linked to de-identified health records - and uses machine learning to find targets already validated in real people. Nature published the current estimate in 2024: a drug mechanism with human genetic support is 2.6 times more likely to succeed in the clinic.
That leads to the claim in the panel at the bottom, which the rest of this project tests. Every competitor can license the same models; algorithms diffuse in months. A human-truthful dataset takes a decade and more than 150 health-system partnerships to assemble. The durable advantage sits in the data, not the model - and that lesson travels well beyond pharmaceuticals.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directly: which AI am I using, and how.
I have deliberately named the model in every row, because "we will use AI" is not an answer.
Stage one, reading the evidence: NLP. A BERT-style clinical language model reads the unstructured parts of the health record - the doctor's free-text notes - and the published literature, and pulls out the phenotype: which disease this person actually had. Without this step most of the health record is unusable.
Stage two, finding hidden structure: unsupervised machine learning. K-means clustering with UMAP for dimensionality reduction. There are no labels here at all; we simply group three million people by genetic profile, and disease sub-types and population structure fall out of the data.
Stage three, scoring every target: supervised machine learning, specifically XGBoost - gradient-boosted trees. We train on past programmes where we already know the answer, approved or failed, and the model then predicts a probability of clinical success for every new target. This is the model that produces the ranked list on the decision slide.
Stage four, and this is the one I want the examiner to notice: semi-supervised learning. The honest problem is that only a few thousand drugs have ever been approved, but there are millions of variants - so we have far too few labels. Label propagation spreads those few known outcomes across the unlabelled genome. Without this step, stage three does not have enough training data to work.
Stage five, designing the molecule: deep learning, and specifically generative deep learning. A protein language model predicts what a mutation does to the protein structure, and a generative model then designs the antibody sequence that copies nature's protective effect.
Stage six is not machine learning at all, and I want to be precise about that: RPA is rule-based software automation. Bots ingest the partner health-record feeds, de-identify, run quality control and assemble the analysis dataset. That is the three weeks to two days improvement.
And the line at the bottom is the SDLC: all six stages sit inside one Agile CRISP-DM loop, re-run every quarter as new cohorts arrive, with the models version-controlled and monitored for drift.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requirement 3.7 directly: why the traditional decision-making methods were insufficient.
I want to be precise here, because "the old way was bad" is not an analysis. There are four specific failures, and each one is a decision-making failure rather than a scientific one.
One: the evidence base. Every major spending decision was gated on animal results, and animal results rarely predict the human outcome. So the industry was making 2.6 billion dollar decisions on evidence that does not predict the thing being decided.
Two: how the target was chosen. In practice a senior scientist proposed it and a committee approved it, guided by the published literature. But the literature is heavily biased toward genes that are already well studied, so the industry kept circling the same small share of the genome and missing the rest.
Three: the method itself. Classical statistics tests one hypothesis at a time. There are around twenty thousand human genes and thousands of diseases. You cannot search that space one study at a time - the search space is larger than the method.
Four: the systems. Data sat in silos and preparing an analysis dataset took about three weeks. That sounds operational, but it is really a decision problem: when a question costs three weeks, people stop asking questions, and the decision defaults back to opinion.
Notice the pattern. None of these are fixed by hiring better scientists. They are fixed by changing the evidence base and the tooling - which is exactly what the next slide quantifies, and what Regeneron did.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requirement 3.8 - the gaps - and I have grouped them the way the brief asks: operational, strategic and financial.
The operational gap is capacity. Three weeks to assemble a dataset, around eighteen months from question to a validated target, and years of laboratory time spent on candidates that were never going to reach a patient. That is not a laboratory inefficiency; it is the throughput of the whole discovery engine.
The strategic gap is the one I would emphasise to a board. If you use the same public data and the same models as everyone else, you have no defensible advantage - and AI does not give you one, because algorithms diffuse in months. Meanwhile the portfolio is chosen by committee opinion rather than by weight of evidence, and the FDA's April 2025 move toward human data rewards firms that already made this shift. A company without proprietary human data is exposed on all three fronts.
The financial gap is the sharpest. Roughly ninety per cent of clinical spend goes to candidates that never launch. Capital is locked up for ten to fifteen years before any return. And Eroom's Law says the real cost per approval has doubled roughly every nine years - so this gap widens by itself if nothing changes.
The line at the bottom is how I would summarise it in a board meeting: the company was spending like a data business and deciding like a laboratory. The money scaled; the evidence did not.
One note on honesty: the cycle-time figures are illustrative benchmarks; the cost, failure-rate and 2.6 times figures are from the published sources listed.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data the whole case rests on, and I want to explain it in plain language because it is the heart of the argument.
Four sources are joined on one anonymous person. The genes are the clues. The medical record is the answer key - it tells us what actually happened to that person over their lifetime.
The second row of the table, in grey italics, translates each technical column into plain English, so read the table from that row.
Now read row one with me. An anonymous volunteer was born with the GPR75 gene naturally switched off. Their medical record shows they never became obese. Nature ran that experiment for us, in a human being, over a lifetime - no mouse required. If we can copy that switch-off with a drug, we may copy the protection.
That is what three million of these rows buy you: millions of natural experiments that already happened in humans.
On the data types the brief asks for: genomic and lab data are structured and historical; the health record is semi-structured and arrives near real-time; external sources are unstructured and batch-loaded.
The sample is simulated for this study, but the gene names are real Regeneron discoveries.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second part of the brief: what we actually do in analytics, and how we measure it.
The four cards form a ladder, and they rise deliberately - each step answers a harder question and is worth more to the business than the one below it.
Step one, descriptive: what is in the data. How common is each gene change, in which populations. Step two, diagnostic: why. Which gene changes actually cause protection from disease, once you control for everything else. Step three, predictive: what will happen. Machine learning scores every candidate target for its chance of surviving clinical trials. Step four, prescriptive - and this is the step most projects never reach - what should we do. A portfolio optimiser recommends which targets get the budget, and in what order.
Underneath are the five KPIs, each shown as where we are today and where AI should take us. The two that matter most: probability of success, which carries the whole business case, and pipeline latency, which is the enabling one - if preparing a dataset takes three weeks, scientists simply stop asking questions.
To be transparent: the latency numbers are Regeneron's published results; the other baselines and targets are illustrative benchmarks I set for this study.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the discovery team would actually run on, built on exactly the KPIs from the previous slide.
Across the top, the five KPIs with where we are today, the target, the movement, and a two-year sparkline. Genetically supported targets are at sixty-two per cent against a seventy per cent target. Probability of success is at fourteen point eight per cent against twenty. Validation cycle time is down to nine point two months. Pipeline latency is at two days - that one is already on target. Portfolio hit rate is fifty-eight per cent.
The three charts underneath explain the movement. On the left, probability of success by quarter with the target as the dashed line - eight consecutive quarters of improvement, and you can see we are trending toward the target but have not reached it. In the middle, the portfolio split by evidence tier: twelve targets with strong genetic support, nine moderate, fourteen weak - and those fourteen are the ones the next slide releases. On the right, the headline ratio: sixty-two per cent of the active pipeline now carries human genetic support.
Now the part that matters, in the green bar. A dashboard is only useful if it changes a decision. Genetic support has almost doubled and probability of success followed it, so the strategy is working. But cycle time is still three months above target. That tells us the constraint has moved - it is no longer the quality of the evidence, it is the throughput of the process. So next quarter's investment goes to the pipeline, not to buying more data.
To be transparent: these dashboard values are simulated for this case study, built on the KPI definitions I showed you. The pipeline-latency numbers are Regeneron's published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 that turns the analysis into a decision, and it animates in three waves so you can follow the logic.
Each bubble is a candidate drug target. Left to right is the strength of the human evidence. Bottom to top is the model's predicted chance of clinical success. The size of the bubble is how many patients the target could help - so a big bubble low down is a large unmet need we cannot yet serve.
First wave, the grey bubbles: nineteen targets with weak human evidence and low predicted success. These are released from the portfolio. Historically this is where most of the R&amp;D budget quietly went.
Second wave, the blue: four targets strong on one axis only. We do not fund these yet - we recruit more people into the cohort first.
Third wave, the green: twelve targets in the top-right corner. Strong human evidence, high predicted success. These get the budget. I have named three real Regeneron discoveries there - GPR75 in obesity, CIDEB and HSD17B13 in liver disease.
The consequence is in the bar at the bottom. Targets with human genetic support are 2.6 times more likely to reach approval, so concentrating the same budget on the top-right corner buys materially more expected value. That is the moment AI stops being a laboratory tool and becomes a capital-allocation tool.
The portfolio of thirty-five targets is simulated for this study; the 2.6 times figure is from Nature, 2024.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simulation we start building in week five, and I want to be clear about what it is and what it is not.
It is not a biology simulation. I am not pretending to model protein chemistry. It is a business simulation: a Monte Carlo model of capital allocation under uncertainty.
The question is in the blue bar. If we re-ran five years of target selection using human genetic evidence instead of animal evidence, how many more medicines reach patients for the same R&amp;D budget? That is a question a board can act on.
Three scenarios. Scenario A is the baseline - the traditional way, targets chosen by committee on preclinical evidence, eight per cent probability of success. Scenario B is the AI-led path - only the twelve targets in the upper-right quadrant get funded, and genetically supported targets carry the 2.6 times uplift from the Nature paper. Scenario C is the one I care most about as an analyst: the stress test. What if the uplift is only one and a half times instead of 2.6? What if twenty per cent of the model's scores are simply wrong? If the recommendation survives that, it is a real recommendation. If it collapses, I would rather find out now than in front of a board.
On the left are the inputs, and I have deliberately written the cost assumptions on the slide so they can be challenged - sixty-five million preclinical, one hundred and eighty million clinical, a one billion dollar budget per cycle, ten thousand iterations.
On the right is what we measure. The headline is approved medicines per billion dollars spent. But the number I expect to be asked about is the last one: the break-even. At what level of uplift does the AI path stop being the better bet? That single number tells you how much of the case depends on one published estimate.
And the timeline: week five we build, week six we run, week seven we do the sensitivity analysis and bring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the professor will ask first: is this a real simulation, or a picture of one.
It is real. Everything on the next three slides came out of a script I wrote called simulation dot py, which I ran against the two hundred and ten thousand row dataset. Ten thousand iterations, and a fixed seed so anyone can reproduce it exactly.
Five steps. Step one, load: join the genotype table to the participant table. Step two, measure: for every gene, screen seven blood markers and then regress the disease on how many copies of the variant the person carries. Step three, score: turn that into one number out of ten. Step four, choose: fund the six best-scoring targets that one billion dollars can carry. Step five, roll the dice ten thousand times.
The black box on the left is the actual measurement code, not pseudocode. It is five lines. The intelligence is not in the code, it is in the data underneath it.
And the box on the right is what the script printed. Seventeen of twenty variants gave a usable estimate. Three were excluded, and I will show you why that matters, because a model that hides its failures is not a model you can trust.
The last line is the one I want you to hold on to: ranking AUC of zero point nine one. I will explain that in two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"show me it working". One target, every step, nothing skipped.
PCSK9. Step one: ten thousand four hundred and thirty-nine people in the dataset were examined at this gene, and six hundred and eighty-eight of them carry the variant. That is six and a half per cent, which matches the published frequency.
Step two: the model screens seven different blood markers and picks the strongest. It lands on LDL cholesterol, and the effect is minus nineteen point eight milligrams per decilitre for every copy you carry. The z score is minus sixteen. That is not a borderline finding, that is overwhelming.
Step three: now the disease. Logistic regression on heart disease, adjusted for age, sex and ancestry. Odds ratio zero point seven two, confidence interval zero point five three to zero point nine eight, p value zero point zero three seven. Carriers get less heart disease.
Step four: those measurements combine into a score of seven point zero out of ten, rank five of eighteen.
Step five: that is above the funding threshold, so PCSK9 enters the portfolio, and its probability of success goes from six per cent to fifteen point six per cent.
Now the part I would put in front of a board. The model says fund PCSK9. The world already did. There are three approved medicines against this gene - alirocumab, which is Regeneron's own Praluent, evolocumab and inclisiran. The model reached the same conclusion the pharmaceutical industry reached, using nothing but the dataset.
And I want to be honest about one thing: the participants are simulated. But they were simulated from the published effect sizes, so the model is being asked a fair question, and the answer it gives can be checked against a medicine you can buy in a pharmacy.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Seventy-two per cent more approved medicines for the same billion dollars, just from choosing targets on human genetic evidence instead of committee opinion.
Look at what separates A from B. It is not that the science is different - it is the same eighteen genes, the same biology. The committee funds one point eight genetically supported targets out of six, by luck. The model funds all six, on purpose. That is the whole difference.
The chart on the left is the bit I would insist a board looks at. It is not an average, it is the full distribution of ten thousand cycles. And notice: even in scenario B, more than half of the runs produce zero approved medicines. This is a business where losing is normal. What the AI changes is not whether you lose, it is how often you win.
The middle chart is the strongest evidence I have that this is not a toy. I ranked all eighteen genes by the evidence score the model computed from the data. Then, afterwards, I coloured in the ones that already have an approved medicine on the market. Four of the model's top five already have drugs. The AUC is zero point nine one, where a coin toss is zero point five. The model was never told which genes were drugged - it read two hundred and ten thousand rows and worked it out.
The three checks on the right are the ones I did not rig. The baseline implies two point five four billion dollars per approved medicine; the published industry figure is two point six billion. My portfolio averages an eight point nine per cent success rate; the industry reports between seven point nine and eleven point eight. I did not fit the model to either number - they fall out of the assumptions.
And the red bar is the honest part. There is no clean break-even. The AI path only loses if the genetic uplift is exactly one, which would mean human genetics tells you nothing at all - and that would require Minikel, Nelson and King all to be wrong. Half the advantage survives at one point seven times, and survives a third of the model's own scores being wrong.
If the professor asks me one question about this deck, I hope it is this one, because this is the slide I am most confident defending.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simulation on one canvas, drawn the way an engineer would draw a system model.
On the far left are the dials - the four assumptions that drive everything: the 2.6 times genetic uplift, the six per cent baseline success rate, the one billion dollar budget, and the two hundred and five million dollar cost per programme. Those are the only things I get to choose. Everything else is computed.
Next to them are the four data sources feeding the model: the genomic layer, the clinical records from a hundred and fifty partners, the laboratory and trial results, and the external public databases. They join into forty-two thousand people times five genes each - two hundred and ten thousand rows.
The teal column in the middle is the evidence engine. Every row flows through it. For each of the twenty variants it runs a regression across seven blood markers and the disease outcome, and produces one score out of ten.
That feeds the selector - the amber block - which takes the budget and funds the six best-scoring programmes.
And on the right the model splits into three outcomes: the committee, the AI-led path, and the stress test. Zero point three eight, zero point six six and zero point three five approved medicines per billion dollars.
The charts on the right are the live output: the full distribution of ten thousand runs on top, and the sensitivity curve underneath.
And the bar along the bottom is the run status, exactly as the script reported it. Two hundred and ten thousand rows, ten thousand iterations per scenario, seed two thousand and twenty-six, eighty-one seconds.
I want you to see that nothing here is decoration. Every block is a real step in the code.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argument, and it is the flow of the whole idea in one line.
Problem: the evidence the industry uses does not predict the outcome it is deciding. Nine out of ten clinical candidates fail.
Data: replace that evidence with human genetics - three million sequenced people linked to their medical records. Two hundred and ten thousand rows in our working file.
Model: score every target by regression instead of by opinion. And we know the scoring works, because its ranking matches which genes already produced medicines, with an AUC of zero point nine one.
Decision: fund the evidence. Six programmes per cycle, all six genetically supported, instead of one point eight by luck.
Outcome: seventy-two per cent more approved medicines for the same billion dollars.
And then the return. The committee spends nine hundred and ten million and creates one point two six billion of value - a thirty-four per cent return. The AI-led path spends almost exactly the same and creates two point one six billion - a hundred and thirty-one per cent return.
The number in the green box is the one I would put in front of a board: nine hundred million dollars of additional expected value per billion dollar cycle, from changing the selection rule alone. Not from spending more. Not from hiring more scientists. From reading the evidence before writing the cheque.
And I am not hiding the risk. Fifty-two per cent of cycles still lose money even in the best case, and the ROI range is minus a hundred per cent to plus five hundred and forty-eight. This is a business where losing is the normal outcome. What the analytics change is how often you win.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206240" y="0"/>
            <a:ext cx="4937760" cy="5143500"/>
          </a:xfrm>
          <a:prstGeom prst="rect">
            <a:avLst/>
          </a:prstGeom>
        </p:spPr>
      </p:pic>
      <p:sp>
        <p:nvSpPr>
          <p:cNvPr id="3" name="Text 0"/>
          <p:cNvSpPr/>
          <p:nvPr/>
        </p:nvSpPr>
        <p:spPr>
          <a:xfrm>
            <a:off x="640080" y="932688"/>
            <a:ext cx="3383280" cy="201168"/>
          </a:xfrm>
          <a:prstGeom prst="rect">
            <a:avLst/>
          </a:prstGeom>
          <a:noFill/>
          <a:ln/>
        </p:spPr>
        <p:txBody>
          <a:bodyPr wrap="square" lIns="0" tIns="0" rIns="0" bIns="0" rtlCol="0" anchor="ctr"/>
          <a:lstStyle/>
          <a:p>
            <a:pPr marL="0" indent="0">
              <a:buNone/>
            </a:pPr>
            <a:r>
              <a:rPr lang="en-US" sz="850" b="1" kern="0" spc="180" dirty="0">
                <a:solidFill>
                  <a:srgbClr val="0B63CE"/>
                </a:solidFill>
                <a:latin typeface="Calibri" pitchFamily="34" charset="0"/>
                <a:ea typeface="Calibri" pitchFamily="34" charset="-122"/>
                <a:cs typeface="Calibri" pitchFamily="34" charset="-120"/>
              </a:rPr>
              <a:t>MBA CASE STUDY   ·   AI FOR BUSINESS</a:t>
            </a:r>
            <a:endParaRPr lang="en-US" sz="850" dirty="0"/>
          </a:p>
        </p:txBody>
      </p:sp>
      <p:sp>
        <p:nvSpPr>
          <p:cNvPr id="4" name="Text 1"/>
          <p:cNvSpPr/>
          <p:nvPr/>
        </p:nvSpPr>
        <p:spPr>
          <a:xfrm>
            <a:off x="640080" y="1243584"/>
            <a:ext cx="3383280" cy="1481328"/>
          </a:xfrm>
          <a:prstGeom prst="rect">
            <a:avLst/>
          </a:prstGeom>
          <a:noFill/>
          <a:ln/>
        </p:spPr>
        <p:txBody>
          <a:bodyPr wrap="square" lIns="0" tIns="0" rIns="0" bIns="0" rtlCol="0" anchor="t"/>
          <a:lstStyle/>
          <a:p>
            <a:pPr marL="0" indent="0">
              <a:lnSpc>
                <a:spcPts val="3600"/>
              </a:lnSpc>
              <a:buNone/>
            </a:pPr>
            <a:r>
              <a:rPr lang="en-US" sz="3100" b="1" dirty="0">
                <a:solidFill>
                  <a:srgbClr val="10243A"/>
                </a:solidFill>
                <a:latin typeface="Calibri" pitchFamily="34" charset="0"/>
                <a:ea typeface="Calibri" pitchFamily="34" charset="-122"/>
                <a:cs typeface="Calibri" pitchFamily="34" charset="-120"/>
              </a:rPr>
              <a:t>Drug Discovery
&amp; Development
</a:t>
            </a:r>
            <a:r>
              <a:rPr lang="en-US" sz="3100" b="1" dirty="0">
                <a:solidFill>
                  <a:srgbClr val="0B63CE"/>
                </a:solidFill>
                <a:latin typeface="Calibri" pitchFamily="34" charset="0"/>
                <a:ea typeface="Calibri" pitchFamily="34" charset="-122"/>
                <a:cs typeface="Calibri" pitchFamily="34" charset="-120"/>
              </a:rPr>
              <a:t>Using AI Models</a:t>
            </a:r>
            <a:endParaRPr lang="en-US" sz="3100" dirty="0"/>
          </a:p>
        </p:txBody>
      </p:sp>
      <p:sp>
        <p:nvSpPr>
          <p:cNvPr id="5" name="Text 2"/>
          <p:cNvSpPr/>
          <p:nvPr/>
        </p:nvSpPr>
        <p:spPr>
          <a:xfrm>
            <a:off x="640080" y="2798064"/>
            <a:ext cx="3200400" cy="566928"/>
          </a:xfrm>
          <a:prstGeom prst="rect">
            <a:avLst/>
          </a:prstGeom>
          <a:noFill/>
          <a:ln/>
        </p:spPr>
        <p:txBody>
          <a:bodyPr wrap="square" lIns="0" tIns="0" rIns="0" bIns="0" rtlCol="0" anchor="ctr"/>
          <a:lstStyle/>
          <a:p>
            <a:pPr marL="0" indent="0">
              <a:lnSpc>
                <a:spcPts val="1600"/>
              </a:lnSpc>
              <a:buNone/>
            </a:pPr>
            <a:r>
              <a:rPr lang="en-US" sz="1100" dirty="0">
                <a:solidFill>
                  <a:srgbClr val="55697C"/>
                </a:solidFill>
                <a:latin typeface="Calibri" pitchFamily="34" charset="0"/>
                <a:ea typeface="Calibri" pitchFamily="34" charset="-122"/>
                <a:cs typeface="Calibri" pitchFamily="34" charset="-120"/>
              </a:rPr>
              <a:t>When every laboratory can run the same AI models, the advantage belongs to whoever owns the human data.</a:t>
            </a:r>
            <a:endParaRPr lang="en-US" sz="1100" dirty="0"/>
          </a:p>
        </p:txBody>
      </p:sp>
      <p:sp>
        <p:nvSpPr>
          <p:cNvPr id="6" name="Text 3"/>
          <p:cNvSpPr/>
          <p:nvPr/>
        </p:nvSpPr>
        <p:spPr>
          <a:xfrm>
            <a:off x="640080" y="3529584"/>
            <a:ext cx="3200400" cy="164592"/>
          </a:xfrm>
          <a:prstGeom prst="rect">
            <a:avLst/>
          </a:prstGeom>
          <a:noFill/>
          <a:ln/>
        </p:spPr>
        <p:txBody>
          <a:bodyPr wrap="square" lIns="0" tIns="0" rIns="0" bIns="0" rtlCol="0" anchor="ctr"/>
          <a:lstStyle/>
          <a:p>
            <a:pPr marL="0" indent="0">
              <a:buNone/>
            </a:pPr>
            <a:r>
              <a:rPr lang="en-US" sz="750" b="1" kern="0" spc="160" dirty="0">
                <a:solidFill>
                  <a:srgbClr val="8FA1B2"/>
                </a:solidFill>
                <a:latin typeface="Calibri" pitchFamily="34" charset="0"/>
                <a:ea typeface="Calibri" pitchFamily="34" charset="-122"/>
                <a:cs typeface="Calibri" pitchFamily="34" charset="-120"/>
              </a:rPr>
              <a:t>CASE COMPANY</a:t>
            </a:r>
            <a:endParaRPr lang="en-US" sz="750" dirty="0"/>
          </a:p>
        </p:txBody>
      </p:sp>
      <p:sp>
        <p:nvSpPr>
          <p:cNvPr id="7" name="Text 4"/>
          <p:cNvSpPr/>
          <p:nvPr/>
        </p:nvSpPr>
        <p:spPr>
          <a:xfrm>
            <a:off x="640080" y="3694176"/>
            <a:ext cx="3200400" cy="219456"/>
          </a:xfrm>
          <a:prstGeom prst="rect">
            <a:avLst/>
          </a:prstGeom>
          <a:noFill/>
          <a:ln/>
        </p:spPr>
        <p:txBody>
          <a:bodyPr wrap="square" lIns="0" tIns="0" rIns="0" bIns="0" rtlCol="0" anchor="ctr"/>
          <a:lstStyle/>
          <a:p>
            <a:pPr marL="0" indent="0">
              <a:buNone/>
            </a:pPr>
            <a:r>
              <a:rPr lang="en-US" sz="1150" b="1" dirty="0">
                <a:solidFill>
                  <a:srgbClr val="10243A"/>
                </a:solidFill>
                <a:latin typeface="Calibri" pitchFamily="34" charset="0"/>
                <a:ea typeface="Calibri" pitchFamily="34" charset="-122"/>
                <a:cs typeface="Calibri" pitchFamily="34" charset="-120"/>
              </a:rPr>
              <a:t>Regeneron Pharmaceuticals, Inc.</a:t>
            </a:r>
            <a:endParaRPr lang="en-US" sz="1150" dirty="0"/>
          </a:p>
        </p:txBody>
      </p:sp>
      <p:sp>
        <p:nvSpPr>
          <p:cNvPr id="8" name="Text 5"/>
          <p:cNvSpPr/>
          <p:nvPr/>
        </p:nvSpPr>
        <p:spPr>
          <a:xfrm>
            <a:off x="640080" y="4096512"/>
            <a:ext cx="3200400" cy="256032"/>
          </a:xfrm>
          <a:prstGeom prst="rect">
            <a:avLst/>
          </a:prstGeom>
          <a:noFill/>
          <a:ln/>
        </p:spPr>
        <p:txBody>
          <a:bodyPr wrap="square" lIns="0" tIns="0" rIns="0" bIns="0" rtlCol="0" anchor="ctr"/>
          <a:lstStyle/>
          <a:p>
            <a:pPr marL="0" indent="0">
              <a:buNone/>
            </a:pPr>
            <a:r>
              <a:rPr lang="en-US" sz="1400" b="1" dirty="0">
                <a:solidFill>
                  <a:srgbClr val="10243A"/>
                </a:solidFill>
                <a:latin typeface="Calibri" pitchFamily="34" charset="0"/>
                <a:ea typeface="Calibri" pitchFamily="34" charset="-122"/>
                <a:cs typeface="Calibri" pitchFamily="34" charset="-120"/>
              </a:rPr>
              <a:t>Eslam Aly</a:t>
            </a:r>
            <a:endParaRPr lang="en-US" sz="1400" dirty="0"/>
          </a:p>
        </p:txBody>
      </p:sp>
      <p:sp>
        <p:nvSpPr>
          <p:cNvPr id="9" name="Text 6"/>
          <p:cNvSpPr/>
          <p:nvPr/>
        </p:nvSpPr>
        <p:spPr>
          <a:xfrm>
            <a:off x="640080" y="4352544"/>
            <a:ext cx="3291840" cy="182880"/>
          </a:xfrm>
          <a:prstGeom prst="rect">
            <a:avLst/>
          </a:prstGeom>
          <a:noFill/>
          <a:ln/>
        </p:spPr>
        <p:txBody>
          <a:bodyPr wrap="square" lIns="0" tIns="0" rIns="0" bIns="0" rtlCol="0" anchor="ctr"/>
          <a:lstStyle/>
          <a:p>
            <a:pPr marL="0" indent="0">
              <a:buNone/>
            </a:pPr>
            <a:r>
              <a:rPr lang="en-US" sz="950" dirty="0">
                <a:solidFill>
                  <a:srgbClr val="55697C"/>
                </a:solidFill>
                <a:latin typeface="Calibri" pitchFamily="34" charset="0"/>
                <a:ea typeface="Calibri" pitchFamily="34" charset="-122"/>
                <a:cs typeface="Calibri" pitchFamily="34" charset="-120"/>
              </a:rPr>
              <a:t>MBA Programme  ·  Smart Village Campus</a:t>
            </a:r>
            <a:endParaRPr lang="en-US" sz="950" dirty="0"/>
          </a:p>
        </p:txBody>
      </p:sp>
      <p:sp>
        <p:nvSpPr>
          <p:cNvPr id="10" name="Text 7"/>
          <p:cNvSpPr/>
          <p:nvPr/>
        </p:nvSpPr>
        <p:spPr>
          <a:xfrm>
            <a:off x="640080" y="4535424"/>
            <a:ext cx="3291840" cy="182880"/>
          </a:xfrm>
          <a:prstGeom prst="rect">
            <a:avLst/>
          </a:prstGeom>
          <a:noFill/>
          <a:ln/>
        </p:spPr>
        <p:txBody>
          <a:bodyPr wrap="square" lIns="0" tIns="0" rIns="0" bIns="0" rtlCol="0" anchor="ctr"/>
          <a:lstStyle/>
          <a:p>
            <a:pPr marL="0" indent="0">
              <a:buNone/>
            </a:pPr>
            <a:r>
              <a:rPr lang="en-US" sz="950" dirty="0">
                <a:solidFill>
                  <a:srgbClr val="8FA1B2"/>
                </a:solidFill>
                <a:latin typeface="Calibri" pitchFamily="34" charset="0"/>
                <a:ea typeface="Calibri" pitchFamily="34" charset="-122"/>
                <a:cs typeface="Calibri" pitchFamily="34" charset="-120"/>
              </a:rPr>
              <a:t>Presented to Dr. Ahmed Elseddawy  ·  August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365760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01   —   INTRODUCTION</a:t>
            </a:r>
            <a:endParaRPr lang="en-US" sz="850" dirty="0"/>
          </a:p>
        </p:txBody>
      </p:sp>
      <p:sp>
        <p:nvSpPr>
          <p:cNvPr id="4" name="Text 1"/>
          <p:cNvSpPr/>
          <p:nvPr/>
        </p:nvSpPr>
        <p:spPr>
          <a:xfrm>
            <a:off x="640080" y="676656"/>
            <a:ext cx="594360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Project purpose &amp; idea</a:t>
            </a:r>
            <a:endParaRPr lang="en-US" sz="2600" dirty="0"/>
          </a:p>
        </p:txBody>
      </p:sp>
      <p:sp>
        <p:nvSpPr>
          <p:cNvPr id="5" name="Text 2"/>
          <p:cNvSpPr/>
          <p:nvPr/>
        </p:nvSpPr>
        <p:spPr>
          <a:xfrm>
            <a:off x="640080" y="1133856"/>
            <a:ext cx="5120640" cy="420624"/>
          </a:xfrm>
          <a:prstGeom prst="rect">
            <a:avLst/>
          </a:prstGeom>
          <a:noFill/>
          <a:ln/>
        </p:spPr>
        <p:txBody>
          <a:bodyPr wrap="square" lIns="0" tIns="0" rIns="0" bIns="0" rtlCol="0" anchor="ctr"/>
          <a:lstStyle/>
          <a:p>
            <a:pPr marL="0" indent="0">
              <a:lnSpc>
                <a:spcPts val="1500"/>
              </a:lnSpc>
              <a:buNone/>
            </a:pPr>
            <a:r>
              <a:rPr lang="en-US" sz="1100" i="1" dirty="0">
                <a:solidFill>
                  <a:srgbClr val="55697C"/>
                </a:solidFill>
                <a:latin typeface="Calibri" pitchFamily="34" charset="0"/>
                <a:ea typeface="Calibri" pitchFamily="34" charset="-122"/>
                <a:cs typeface="Calibri" pitchFamily="34" charset="-120"/>
              </a:rPr>
              <a:t>Can artificial intelligence close the gap between what works in a mouse and what works in a human being — and what is closing it worth to a biotechnology company?</a:t>
            </a:r>
            <a:endParaRPr lang="en-US" sz="1100" dirty="0"/>
          </a:p>
        </p:txBody>
      </p:sp>
      <p:sp>
        <p:nvSpPr>
          <p:cNvPr id="6" name="Shape 3"/>
          <p:cNvSpPr/>
          <p:nvPr/>
        </p:nvSpPr>
        <p:spPr>
          <a:xfrm>
            <a:off x="640080" y="1664208"/>
            <a:ext cx="384048" cy="384048"/>
          </a:xfrm>
          <a:prstGeom prst="roundRect">
            <a:avLst>
              <a:gd name="adj" fmla="val 19048"/>
            </a:avLst>
          </a:prstGeom>
          <a:solidFill>
            <a:srgbClr val="E8F1FC"/>
          </a:solidFill>
          <a:ln w="9525">
            <a:solidFill>
              <a:srgbClr val="C9DFF6"/>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740664" y="1764792"/>
            <a:ext cx="182880" cy="182880"/>
          </a:xfrm>
          <a:prstGeom prst="rect">
            <a:avLst/>
          </a:prstGeom>
        </p:spPr>
      </p:pic>
      <p:sp>
        <p:nvSpPr>
          <p:cNvPr id="8" name="Text 4"/>
          <p:cNvSpPr/>
          <p:nvPr/>
        </p:nvSpPr>
        <p:spPr>
          <a:xfrm>
            <a:off x="1170432" y="1645920"/>
            <a:ext cx="4224528" cy="237744"/>
          </a:xfrm>
          <a:prstGeom prst="rect">
            <a:avLst/>
          </a:prstGeom>
          <a:noFill/>
          <a:ln/>
        </p:spPr>
        <p:txBody>
          <a:bodyPr wrap="square" lIns="0" tIns="0" rIns="0" bIns="0" rtlCol="0" anchor="ctr"/>
          <a:lstStyle/>
          <a:p>
            <a:pPr marL="0" indent="0">
              <a:buNone/>
            </a:pPr>
            <a:r>
              <a:rPr lang="en-US" sz="1250" b="1" dirty="0">
                <a:solidFill>
                  <a:srgbClr val="10243A"/>
                </a:solidFill>
                <a:latin typeface="Calibri" pitchFamily="34" charset="0"/>
                <a:ea typeface="Calibri" pitchFamily="34" charset="-122"/>
                <a:cs typeface="Calibri" pitchFamily="34" charset="-120"/>
              </a:rPr>
              <a:t>The problem: biology has no shortcut</a:t>
            </a:r>
            <a:endParaRPr lang="en-US" sz="1250" dirty="0"/>
          </a:p>
        </p:txBody>
      </p:sp>
      <p:sp>
        <p:nvSpPr>
          <p:cNvPr id="9" name="Text 5"/>
          <p:cNvSpPr/>
          <p:nvPr/>
        </p:nvSpPr>
        <p:spPr>
          <a:xfrm>
            <a:off x="1170432" y="1901952"/>
            <a:ext cx="4224528" cy="603504"/>
          </a:xfrm>
          <a:prstGeom prst="rect">
            <a:avLst/>
          </a:prstGeom>
          <a:noFill/>
          <a:ln/>
        </p:spPr>
        <p:txBody>
          <a:bodyPr wrap="square" lIns="0" tIns="0" rIns="0" bIns="0" rtlCol="0" anchor="t"/>
          <a:lstStyle/>
          <a:p>
            <a:pPr marL="0" indent="0">
              <a:lnSpc>
                <a:spcPts val="1350"/>
              </a:lnSpc>
              <a:buNone/>
            </a:pPr>
            <a:r>
              <a:rPr lang="en-US" sz="1000" dirty="0">
                <a:solidFill>
                  <a:srgbClr val="55697C"/>
                </a:solidFill>
                <a:latin typeface="Calibri" pitchFamily="34" charset="0"/>
                <a:ea typeface="Calibri" pitchFamily="34" charset="-122"/>
                <a:cs typeface="Calibri" pitchFamily="34" charset="-120"/>
              </a:rPr>
              <a:t>A medicine needs 10–15 years and about $2.6bn to reach a patient. Some 90% of drugs entering clinical trials fail — and the cost has doubled roughly every nine years since 1950.</a:t>
            </a:r>
            <a:endParaRPr lang="en-US" sz="1000" dirty="0"/>
          </a:p>
        </p:txBody>
      </p:sp>
      <p:sp>
        <p:nvSpPr>
          <p:cNvPr id="10" name="Shape 6"/>
          <p:cNvSpPr/>
          <p:nvPr/>
        </p:nvSpPr>
        <p:spPr>
          <a:xfrm>
            <a:off x="640080" y="2670048"/>
            <a:ext cx="384048" cy="384048"/>
          </a:xfrm>
          <a:prstGeom prst="roundRect">
            <a:avLst>
              <a:gd name="adj" fmla="val 19048"/>
            </a:avLst>
          </a:prstGeom>
          <a:solidFill>
            <a:srgbClr val="FDEDE9"/>
          </a:solidFill>
          <a:ln w="9525">
            <a:solidFill>
              <a:srgbClr val="F6C4B8"/>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740664" y="2770632"/>
            <a:ext cx="182880" cy="182880"/>
          </a:xfrm>
          <a:prstGeom prst="rect">
            <a:avLst/>
          </a:prstGeom>
        </p:spPr>
      </p:pic>
      <p:sp>
        <p:nvSpPr>
          <p:cNvPr id="12" name="Text 7"/>
          <p:cNvSpPr/>
          <p:nvPr/>
        </p:nvSpPr>
        <p:spPr>
          <a:xfrm>
            <a:off x="1170432" y="2651760"/>
            <a:ext cx="4224528" cy="237744"/>
          </a:xfrm>
          <a:prstGeom prst="rect">
            <a:avLst/>
          </a:prstGeom>
          <a:noFill/>
          <a:ln/>
        </p:spPr>
        <p:txBody>
          <a:bodyPr wrap="square" lIns="0" tIns="0" rIns="0" bIns="0" rtlCol="0" anchor="ctr"/>
          <a:lstStyle/>
          <a:p>
            <a:pPr marL="0" indent="0">
              <a:buNone/>
            </a:pPr>
            <a:r>
              <a:rPr lang="en-US" sz="1250" b="1" dirty="0">
                <a:solidFill>
                  <a:srgbClr val="10243A"/>
                </a:solidFill>
                <a:latin typeface="Calibri" pitchFamily="34" charset="0"/>
                <a:ea typeface="Calibri" pitchFamily="34" charset="-122"/>
                <a:cs typeface="Calibri" pitchFamily="34" charset="-120"/>
              </a:rPr>
              <a:t>Why the traditional playbook is insufficient</a:t>
            </a:r>
            <a:endParaRPr lang="en-US" sz="1250" dirty="0"/>
          </a:p>
        </p:txBody>
      </p:sp>
      <p:sp>
        <p:nvSpPr>
          <p:cNvPr id="13" name="Text 8"/>
          <p:cNvSpPr/>
          <p:nvPr/>
        </p:nvSpPr>
        <p:spPr>
          <a:xfrm>
            <a:off x="1170432" y="2907792"/>
            <a:ext cx="4224528" cy="603504"/>
          </a:xfrm>
          <a:prstGeom prst="rect">
            <a:avLst/>
          </a:prstGeom>
          <a:noFill/>
          <a:ln/>
        </p:spPr>
        <p:txBody>
          <a:bodyPr wrap="square" lIns="0" tIns="0" rIns="0" bIns="0" rtlCol="0" anchor="t"/>
          <a:lstStyle/>
          <a:p>
            <a:pPr marL="0" indent="0">
              <a:lnSpc>
                <a:spcPts val="1350"/>
              </a:lnSpc>
              <a:buNone/>
            </a:pPr>
            <a:r>
              <a:rPr lang="en-US" sz="1000" dirty="0">
                <a:solidFill>
                  <a:srgbClr val="55697C"/>
                </a:solidFill>
                <a:latin typeface="Calibri" pitchFamily="34" charset="0"/>
                <a:ea typeface="Calibri" pitchFamily="34" charset="-122"/>
                <a:cs typeface="Calibri" pitchFamily="34" charset="-120"/>
              </a:rPr>
              <a:t>The animal model is the weak link: a mouse is not a small human, so preclinical success rarely predicts human outcomes. AI inherits no human-accurate ground truth — the bottleneck is the data, not the algorithm.</a:t>
            </a:r>
            <a:endParaRPr lang="en-US" sz="1000" dirty="0"/>
          </a:p>
        </p:txBody>
      </p:sp>
      <p:sp>
        <p:nvSpPr>
          <p:cNvPr id="14" name="Shape 9"/>
          <p:cNvSpPr/>
          <p:nvPr/>
        </p:nvSpPr>
        <p:spPr>
          <a:xfrm>
            <a:off x="640080" y="3675888"/>
            <a:ext cx="384048" cy="384048"/>
          </a:xfrm>
          <a:prstGeom prst="roundRect">
            <a:avLst>
              <a:gd name="adj" fmla="val 19048"/>
            </a:avLst>
          </a:prstGeom>
          <a:solidFill>
            <a:srgbClr val="E0F4F2"/>
          </a:solidFill>
          <a:ln w="9525">
            <a:solidFill>
              <a:srgbClr val="A9E0DA"/>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740664" y="3776472"/>
            <a:ext cx="182880" cy="182880"/>
          </a:xfrm>
          <a:prstGeom prst="rect">
            <a:avLst/>
          </a:prstGeom>
        </p:spPr>
      </p:pic>
      <p:sp>
        <p:nvSpPr>
          <p:cNvPr id="16" name="Text 10"/>
          <p:cNvSpPr/>
          <p:nvPr/>
        </p:nvSpPr>
        <p:spPr>
          <a:xfrm>
            <a:off x="1170432" y="3657600"/>
            <a:ext cx="4224528" cy="237744"/>
          </a:xfrm>
          <a:prstGeom prst="rect">
            <a:avLst/>
          </a:prstGeom>
          <a:noFill/>
          <a:ln/>
        </p:spPr>
        <p:txBody>
          <a:bodyPr wrap="square" lIns="0" tIns="0" rIns="0" bIns="0" rtlCol="0" anchor="ctr"/>
          <a:lstStyle/>
          <a:p>
            <a:pPr marL="0" indent="0">
              <a:buNone/>
            </a:pPr>
            <a:r>
              <a:rPr lang="en-US" sz="1250" b="1" dirty="0">
                <a:solidFill>
                  <a:srgbClr val="10243A"/>
                </a:solidFill>
                <a:latin typeface="Calibri" pitchFamily="34" charset="0"/>
                <a:ea typeface="Calibri" pitchFamily="34" charset="-122"/>
                <a:cs typeface="Calibri" pitchFamily="34" charset="-120"/>
              </a:rPr>
              <a:t>The opportunity — and why Regeneron</a:t>
            </a:r>
            <a:endParaRPr lang="en-US" sz="1250" dirty="0"/>
          </a:p>
        </p:txBody>
      </p:sp>
      <p:sp>
        <p:nvSpPr>
          <p:cNvPr id="17" name="Text 11"/>
          <p:cNvSpPr/>
          <p:nvPr/>
        </p:nvSpPr>
        <p:spPr>
          <a:xfrm>
            <a:off x="1170432" y="3913632"/>
            <a:ext cx="4224528" cy="603504"/>
          </a:xfrm>
          <a:prstGeom prst="rect">
            <a:avLst/>
          </a:prstGeom>
          <a:noFill/>
          <a:ln/>
        </p:spPr>
        <p:txBody>
          <a:bodyPr wrap="square" lIns="0" tIns="0" rIns="0" bIns="0" rtlCol="0" anchor="t"/>
          <a:lstStyle/>
          <a:p>
            <a:pPr marL="0" indent="0">
              <a:lnSpc>
                <a:spcPts val="1350"/>
              </a:lnSpc>
              <a:buNone/>
            </a:pPr>
            <a:r>
              <a:rPr lang="en-US" sz="1000" dirty="0">
                <a:solidFill>
                  <a:srgbClr val="55697C"/>
                </a:solidFill>
                <a:latin typeface="Calibri" pitchFamily="34" charset="0"/>
                <a:ea typeface="Calibri" pitchFamily="34" charset="-122"/>
                <a:cs typeface="Calibri" pitchFamily="34" charset="-120"/>
              </a:rPr>
              <a:t>Regeneron starts from human biology: 3M+ sequenced exomes linked to health records, mined with AI for targets already validated in people — then engineered into medicines.</a:t>
            </a:r>
            <a:endParaRPr lang="en-US" sz="1000" dirty="0"/>
          </a:p>
        </p:txBody>
      </p:sp>
      <p:sp>
        <p:nvSpPr>
          <p:cNvPr id="18" name="Shape 12"/>
          <p:cNvSpPr/>
          <p:nvPr/>
        </p:nvSpPr>
        <p:spPr>
          <a:xfrm>
            <a:off x="5669280" y="1664208"/>
            <a:ext cx="2834640" cy="841248"/>
          </a:xfrm>
          <a:prstGeom prst="roundRect">
            <a:avLst>
              <a:gd name="adj" fmla="val 7609"/>
            </a:avLst>
          </a:prstGeom>
          <a:solidFill>
            <a:srgbClr val="F3F7FB"/>
          </a:solidFill>
          <a:ln w="9525">
            <a:solidFill>
              <a:srgbClr val="E3E9EF"/>
            </a:solidFill>
            <a:prstDash val="solid"/>
          </a:ln>
        </p:spPr>
        <p:txBody>
          <a:bodyPr/>
          <a:lstStyle/>
          <a:p>
            <a:endParaRPr lang="en-US"/>
          </a:p>
        </p:txBody>
      </p:sp>
      <p:sp>
        <p:nvSpPr>
          <p:cNvPr id="19" name="Text 13"/>
          <p:cNvSpPr/>
          <p:nvPr/>
        </p:nvSpPr>
        <p:spPr>
          <a:xfrm>
            <a:off x="5870448" y="1737360"/>
            <a:ext cx="2468880" cy="310896"/>
          </a:xfrm>
          <a:prstGeom prst="rect">
            <a:avLst/>
          </a:prstGeom>
          <a:noFill/>
          <a:ln/>
        </p:spPr>
        <p:txBody>
          <a:bodyPr wrap="square" lIns="0" tIns="0" rIns="0" bIns="0" rtlCol="0" anchor="ctr"/>
          <a:lstStyle/>
          <a:p>
            <a:pPr marL="0" indent="0">
              <a:buNone/>
            </a:pPr>
            <a:r>
              <a:rPr lang="en-US" sz="2200" b="1" dirty="0">
                <a:solidFill>
                  <a:srgbClr val="0B63CE"/>
                </a:solidFill>
                <a:latin typeface="Calibri" pitchFamily="34" charset="0"/>
                <a:ea typeface="Calibri" pitchFamily="34" charset="-122"/>
                <a:cs typeface="Calibri" pitchFamily="34" charset="-120"/>
              </a:rPr>
              <a:t>~90%</a:t>
            </a:r>
            <a:endParaRPr lang="en-US" sz="2200" dirty="0"/>
          </a:p>
        </p:txBody>
      </p:sp>
      <p:sp>
        <p:nvSpPr>
          <p:cNvPr id="20" name="Text 14"/>
          <p:cNvSpPr/>
          <p:nvPr/>
        </p:nvSpPr>
        <p:spPr>
          <a:xfrm>
            <a:off x="5870448" y="2066544"/>
            <a:ext cx="2450592" cy="365760"/>
          </a:xfrm>
          <a:prstGeom prst="rect">
            <a:avLst/>
          </a:prstGeom>
          <a:noFill/>
          <a:ln/>
        </p:spPr>
        <p:txBody>
          <a:bodyPr wrap="square" lIns="0" tIns="0" rIns="0" bIns="0" rtlCol="0" anchor="t"/>
          <a:lstStyle/>
          <a:p>
            <a:pPr marL="0" indent="0">
              <a:lnSpc>
                <a:spcPts val="1150"/>
              </a:lnSpc>
              <a:buNone/>
            </a:pPr>
            <a:r>
              <a:rPr lang="en-US" sz="900" dirty="0">
                <a:solidFill>
                  <a:srgbClr val="55697C"/>
                </a:solidFill>
                <a:latin typeface="Calibri" pitchFamily="34" charset="0"/>
                <a:ea typeface="Calibri" pitchFamily="34" charset="-122"/>
                <a:cs typeface="Calibri" pitchFamily="34" charset="-120"/>
              </a:rPr>
              <a:t>of drugs entering clinical trials never reach the market</a:t>
            </a:r>
            <a:endParaRPr lang="en-US" sz="900" dirty="0"/>
          </a:p>
        </p:txBody>
      </p:sp>
      <p:sp>
        <p:nvSpPr>
          <p:cNvPr id="21" name="Shape 15"/>
          <p:cNvSpPr/>
          <p:nvPr/>
        </p:nvSpPr>
        <p:spPr>
          <a:xfrm>
            <a:off x="5669280" y="2670048"/>
            <a:ext cx="2834640" cy="841248"/>
          </a:xfrm>
          <a:prstGeom prst="roundRect">
            <a:avLst>
              <a:gd name="adj" fmla="val 7609"/>
            </a:avLst>
          </a:prstGeom>
          <a:solidFill>
            <a:srgbClr val="F3F7FB"/>
          </a:solidFill>
          <a:ln w="9525">
            <a:solidFill>
              <a:srgbClr val="E3E9EF"/>
            </a:solidFill>
            <a:prstDash val="solid"/>
          </a:ln>
        </p:spPr>
        <p:txBody>
          <a:bodyPr/>
          <a:lstStyle/>
          <a:p>
            <a:endParaRPr lang="en-US"/>
          </a:p>
        </p:txBody>
      </p:sp>
      <p:sp>
        <p:nvSpPr>
          <p:cNvPr id="22" name="Text 16"/>
          <p:cNvSpPr/>
          <p:nvPr/>
        </p:nvSpPr>
        <p:spPr>
          <a:xfrm>
            <a:off x="5870448" y="2743200"/>
            <a:ext cx="2468880" cy="310896"/>
          </a:xfrm>
          <a:prstGeom prst="rect">
            <a:avLst/>
          </a:prstGeom>
          <a:noFill/>
          <a:ln/>
        </p:spPr>
        <p:txBody>
          <a:bodyPr wrap="square" lIns="0" tIns="0" rIns="0" bIns="0" rtlCol="0" anchor="ctr"/>
          <a:lstStyle/>
          <a:p>
            <a:pPr marL="0" indent="0">
              <a:buNone/>
            </a:pPr>
            <a:r>
              <a:rPr lang="en-US" sz="2200" b="1" dirty="0">
                <a:solidFill>
                  <a:srgbClr val="0B63CE"/>
                </a:solidFill>
                <a:latin typeface="Calibri" pitchFamily="34" charset="0"/>
                <a:ea typeface="Calibri" pitchFamily="34" charset="-122"/>
                <a:cs typeface="Calibri" pitchFamily="34" charset="-120"/>
              </a:rPr>
              <a:t>$2.6bn</a:t>
            </a:r>
            <a:endParaRPr lang="en-US" sz="2200" dirty="0"/>
          </a:p>
        </p:txBody>
      </p:sp>
      <p:sp>
        <p:nvSpPr>
          <p:cNvPr id="23" name="Text 17"/>
          <p:cNvSpPr/>
          <p:nvPr/>
        </p:nvSpPr>
        <p:spPr>
          <a:xfrm>
            <a:off x="5870448" y="3072384"/>
            <a:ext cx="2450592" cy="365760"/>
          </a:xfrm>
          <a:prstGeom prst="rect">
            <a:avLst/>
          </a:prstGeom>
          <a:noFill/>
          <a:ln/>
        </p:spPr>
        <p:txBody>
          <a:bodyPr wrap="square" lIns="0" tIns="0" rIns="0" bIns="0" rtlCol="0" anchor="t"/>
          <a:lstStyle/>
          <a:p>
            <a:pPr marL="0" indent="0">
              <a:lnSpc>
                <a:spcPts val="1150"/>
              </a:lnSpc>
              <a:buNone/>
            </a:pPr>
            <a:r>
              <a:rPr lang="en-US" sz="900" dirty="0">
                <a:solidFill>
                  <a:srgbClr val="55697C"/>
                </a:solidFill>
                <a:latin typeface="Calibri" pitchFamily="34" charset="0"/>
                <a:ea typeface="Calibri" pitchFamily="34" charset="-122"/>
                <a:cs typeface="Calibri" pitchFamily="34" charset="-120"/>
              </a:rPr>
              <a:t>average cost per approved medicine, over 10–15 years</a:t>
            </a:r>
            <a:endParaRPr lang="en-US" sz="900" dirty="0"/>
          </a:p>
        </p:txBody>
      </p:sp>
      <p:sp>
        <p:nvSpPr>
          <p:cNvPr id="24" name="Shape 18"/>
          <p:cNvSpPr/>
          <p:nvPr/>
        </p:nvSpPr>
        <p:spPr>
          <a:xfrm>
            <a:off x="5669280" y="3675888"/>
            <a:ext cx="2834640" cy="841248"/>
          </a:xfrm>
          <a:prstGeom prst="roundRect">
            <a:avLst>
              <a:gd name="adj" fmla="val 7609"/>
            </a:avLst>
          </a:prstGeom>
          <a:solidFill>
            <a:srgbClr val="F3F7FB"/>
          </a:solidFill>
          <a:ln w="9525">
            <a:solidFill>
              <a:srgbClr val="E3E9EF"/>
            </a:solidFill>
            <a:prstDash val="solid"/>
          </a:ln>
        </p:spPr>
        <p:txBody>
          <a:bodyPr/>
          <a:lstStyle/>
          <a:p>
            <a:endParaRPr lang="en-US"/>
          </a:p>
        </p:txBody>
      </p:sp>
      <p:sp>
        <p:nvSpPr>
          <p:cNvPr id="25" name="Text 19"/>
          <p:cNvSpPr/>
          <p:nvPr/>
        </p:nvSpPr>
        <p:spPr>
          <a:xfrm>
            <a:off x="5870448" y="3749040"/>
            <a:ext cx="2468880" cy="310896"/>
          </a:xfrm>
          <a:prstGeom prst="rect">
            <a:avLst/>
          </a:prstGeom>
          <a:noFill/>
          <a:ln/>
        </p:spPr>
        <p:txBody>
          <a:bodyPr wrap="square" lIns="0" tIns="0" rIns="0" bIns="0" rtlCol="0" anchor="ctr"/>
          <a:lstStyle/>
          <a:p>
            <a:pPr marL="0" indent="0">
              <a:buNone/>
            </a:pPr>
            <a:r>
              <a:rPr lang="en-US" sz="2200" b="1" dirty="0">
                <a:solidFill>
                  <a:srgbClr val="0B63CE"/>
                </a:solidFill>
                <a:latin typeface="Calibri" pitchFamily="34" charset="0"/>
                <a:ea typeface="Calibri" pitchFamily="34" charset="-122"/>
                <a:cs typeface="Calibri" pitchFamily="34" charset="-120"/>
              </a:rPr>
              <a:t>3M+</a:t>
            </a:r>
            <a:endParaRPr lang="en-US" sz="2200" dirty="0"/>
          </a:p>
        </p:txBody>
      </p:sp>
      <p:sp>
        <p:nvSpPr>
          <p:cNvPr id="26" name="Text 20"/>
          <p:cNvSpPr/>
          <p:nvPr/>
        </p:nvSpPr>
        <p:spPr>
          <a:xfrm>
            <a:off x="5870448" y="4078224"/>
            <a:ext cx="2450592" cy="365760"/>
          </a:xfrm>
          <a:prstGeom prst="rect">
            <a:avLst/>
          </a:prstGeom>
          <a:noFill/>
          <a:ln/>
        </p:spPr>
        <p:txBody>
          <a:bodyPr wrap="square" lIns="0" tIns="0" rIns="0" bIns="0" rtlCol="0" anchor="t"/>
          <a:lstStyle/>
          <a:p>
            <a:pPr marL="0" indent="0">
              <a:lnSpc>
                <a:spcPts val="1150"/>
              </a:lnSpc>
              <a:buNone/>
            </a:pPr>
            <a:r>
              <a:rPr lang="en-US" sz="900" dirty="0">
                <a:solidFill>
                  <a:srgbClr val="55697C"/>
                </a:solidFill>
                <a:latin typeface="Calibri" pitchFamily="34" charset="0"/>
                <a:ea typeface="Calibri" pitchFamily="34" charset="-122"/>
                <a:cs typeface="Calibri" pitchFamily="34" charset="-120"/>
              </a:rPr>
              <a:t>sequenced human exomes in Regeneron’s genetics database</a:t>
            </a:r>
            <a:endParaRPr lang="en-US" sz="900" dirty="0"/>
          </a:p>
        </p:txBody>
      </p:sp>
      <p:sp>
        <p:nvSpPr>
          <p:cNvPr id="27" name="Text 21"/>
          <p:cNvSpPr/>
          <p:nvPr/>
        </p:nvSpPr>
        <p:spPr>
          <a:xfrm>
            <a:off x="640080" y="4645152"/>
            <a:ext cx="7863840" cy="182880"/>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Sources: ASBMB (2022); DiMasi et al., Tufts CSDD; Scannell et al., Nat Rev Drug Discov (2012); Regeneron Genetics Center; U.S. FDA (April 2025).</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40233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02   —   THE CORE ARGUMENT</a:t>
            </a:r>
            <a:endParaRPr lang="en-US" sz="850" dirty="0"/>
          </a:p>
        </p:txBody>
      </p:sp>
      <p:sp>
        <p:nvSpPr>
          <p:cNvPr id="4" name="Text 1"/>
          <p:cNvSpPr/>
          <p:nvPr/>
        </p:nvSpPr>
        <p:spPr>
          <a:xfrm>
            <a:off x="640080" y="676656"/>
            <a:ext cx="731520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Two paths to a medicine </a:t>
            </a:r>
            <a:r>
              <a:rPr lang="en-US" sz="2600" b="1" dirty="0">
                <a:solidFill>
                  <a:srgbClr val="0B63CE"/>
                </a:solidFill>
                <a:latin typeface="Calibri" pitchFamily="34" charset="0"/>
                <a:ea typeface="Calibri" pitchFamily="34" charset="-122"/>
                <a:cs typeface="Calibri" pitchFamily="34" charset="-120"/>
              </a:rPr>
              <a:t>— one keeps failing</a:t>
            </a:r>
            <a:endParaRPr lang="en-US" sz="2600" dirty="0"/>
          </a:p>
        </p:txBody>
      </p:sp>
      <p:sp>
        <p:nvSpPr>
          <p:cNvPr id="5" name="Shape 2"/>
          <p:cNvSpPr/>
          <p:nvPr/>
        </p:nvSpPr>
        <p:spPr>
          <a:xfrm>
            <a:off x="640080" y="1170432"/>
            <a:ext cx="7863840" cy="548640"/>
          </a:xfrm>
          <a:prstGeom prst="roundRect">
            <a:avLst>
              <a:gd name="adj" fmla="val 11667"/>
            </a:avLst>
          </a:prstGeom>
          <a:solidFill>
            <a:srgbClr val="E8F1FC"/>
          </a:solidFill>
          <a:ln w="9525">
            <a:solidFill>
              <a:srgbClr val="C9DFF6"/>
            </a:solidFill>
            <a:prstDash val="solid"/>
          </a:ln>
        </p:spPr>
        <p:txBody>
          <a:bodyPr/>
          <a:lstStyle/>
          <a:p>
            <a:endParaRPr lang="en-US"/>
          </a:p>
        </p:txBody>
      </p:sp>
      <p:sp>
        <p:nvSpPr>
          <p:cNvPr id="6" name="Text 3"/>
          <p:cNvSpPr/>
          <p:nvPr/>
        </p:nvSpPr>
        <p:spPr>
          <a:xfrm>
            <a:off x="841248" y="1170432"/>
            <a:ext cx="7461504" cy="548640"/>
          </a:xfrm>
          <a:prstGeom prst="rect">
            <a:avLst/>
          </a:prstGeom>
          <a:noFill/>
          <a:ln/>
        </p:spPr>
        <p:txBody>
          <a:bodyPr wrap="square" lIns="0" tIns="0" rIns="0" bIns="0" rtlCol="0" anchor="ctr"/>
          <a:lstStyle/>
          <a:p>
            <a:pPr marL="0" indent="0">
              <a:lnSpc>
                <a:spcPts val="1250"/>
              </a:lnSpc>
              <a:buNone/>
            </a:pPr>
            <a:r>
              <a:rPr lang="en-US" sz="800" b="1" kern="0" spc="160" dirty="0">
                <a:solidFill>
                  <a:srgbClr val="0B63CE"/>
                </a:solidFill>
                <a:latin typeface="Calibri" pitchFamily="34" charset="0"/>
                <a:ea typeface="Calibri" pitchFamily="34" charset="-122"/>
                <a:cs typeface="Calibri" pitchFamily="34" charset="-120"/>
              </a:rPr>
              <a:t>RESEARCH QUESTION     </a:t>
            </a:r>
            <a:r>
              <a:rPr lang="en-US" sz="950" dirty="0">
                <a:solidFill>
                  <a:srgbClr val="10243A"/>
                </a:solidFill>
                <a:latin typeface="Calibri" pitchFamily="34" charset="0"/>
                <a:ea typeface="Calibri" pitchFamily="34" charset="-122"/>
                <a:cs typeface="Calibri" pitchFamily="34" charset="-120"/>
              </a:rPr>
              <a:t>If AI models are becoming a commodity, is a proprietary human-genetics dataset the last defensible advantage in drug discovery — and can it beat the animal-model paradigm that has made pharmaceutical R&amp;D less productive for sixty years?</a:t>
            </a:r>
            <a:endParaRPr lang="en-US" sz="800" dirty="0"/>
          </a:p>
        </p:txBody>
      </p:sp>
      <p:sp>
        <p:nvSpPr>
          <p:cNvPr id="7" name="lanelabel_A"/>
          <p:cNvSpPr/>
          <p:nvPr/>
        </p:nvSpPr>
        <p:spPr>
          <a:xfrm>
            <a:off x="640080" y="2103120"/>
            <a:ext cx="1133856" cy="201168"/>
          </a:xfrm>
          <a:prstGeom prst="rect">
            <a:avLst/>
          </a:prstGeom>
          <a:noFill/>
          <a:ln/>
        </p:spPr>
        <p:txBody>
          <a:bodyPr wrap="square" lIns="0" tIns="0" rIns="0" bIns="0" rtlCol="0" anchor="ctr"/>
          <a:lstStyle/>
          <a:p>
            <a:pPr marL="0" indent="0">
              <a:buNone/>
            </a:pPr>
            <a:r>
              <a:rPr lang="en-US" sz="1000" b="1" dirty="0">
                <a:solidFill>
                  <a:srgbClr val="D8452A"/>
                </a:solidFill>
                <a:latin typeface="Calibri" pitchFamily="34" charset="0"/>
                <a:ea typeface="Calibri" pitchFamily="34" charset="-122"/>
                <a:cs typeface="Calibri" pitchFamily="34" charset="-120"/>
              </a:rPr>
              <a:t>Traditional path</a:t>
            </a:r>
            <a:endParaRPr lang="en-US" sz="1000" dirty="0"/>
          </a:p>
        </p:txBody>
      </p:sp>
      <p:sp>
        <p:nvSpPr>
          <p:cNvPr id="8" name="lanesub_A"/>
          <p:cNvSpPr/>
          <p:nvPr/>
        </p:nvSpPr>
        <p:spPr>
          <a:xfrm>
            <a:off x="640080" y="2295144"/>
            <a:ext cx="1133856" cy="201168"/>
          </a:xfrm>
          <a:prstGeom prst="rect">
            <a:avLst/>
          </a:prstGeom>
          <a:noFill/>
          <a:ln/>
        </p:spPr>
        <p:txBody>
          <a:bodyPr wrap="square" lIns="0" tIns="0" rIns="0" bIns="0" rtlCol="0" anchor="ctr"/>
          <a:lstStyle/>
          <a:p>
            <a:pPr marL="0" indent="0">
              <a:lnSpc>
                <a:spcPts val="900"/>
              </a:lnSpc>
              <a:buNone/>
            </a:pPr>
            <a:r>
              <a:rPr lang="en-US" sz="750" dirty="0">
                <a:solidFill>
                  <a:srgbClr val="8FA1B2"/>
                </a:solidFill>
                <a:latin typeface="Calibri" pitchFamily="34" charset="0"/>
                <a:ea typeface="Calibri" pitchFamily="34" charset="-122"/>
                <a:cs typeface="Calibri" pitchFamily="34" charset="-120"/>
              </a:rPr>
              <a:t>animal models as the evidence base</a:t>
            </a:r>
            <a:endParaRPr lang="en-US" sz="750" dirty="0"/>
          </a:p>
        </p:txBody>
      </p:sp>
      <p:sp>
        <p:nvSpPr>
          <p:cNvPr id="9" name="chip_A_0"/>
          <p:cNvSpPr/>
          <p:nvPr/>
        </p:nvSpPr>
        <p:spPr>
          <a:xfrm>
            <a:off x="1883664" y="2011680"/>
            <a:ext cx="958291" cy="566928"/>
          </a:xfrm>
          <a:prstGeom prst="roundRect">
            <a:avLst>
              <a:gd name="adj" fmla="val 9677"/>
            </a:avLst>
          </a:prstGeom>
          <a:solidFill>
            <a:srgbClr val="F5F7F9"/>
          </a:solidFill>
          <a:ln w="9525">
            <a:solidFill>
              <a:srgbClr val="E3E9EF"/>
            </a:solidFill>
            <a:prstDash val="solid"/>
          </a:ln>
        </p:spPr>
        <p:txBody>
          <a:bodyPr/>
          <a:lstStyle/>
          <a:p>
            <a:endParaRPr lang="en-US"/>
          </a:p>
        </p:txBody>
      </p:sp>
      <p:sp>
        <p:nvSpPr>
          <p:cNvPr id="10" name="chiptext_A_0"/>
          <p:cNvSpPr/>
          <p:nvPr/>
        </p:nvSpPr>
        <p:spPr>
          <a:xfrm>
            <a:off x="1929384" y="2029968"/>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55697C"/>
                </a:solidFill>
                <a:latin typeface="Calibri" pitchFamily="34" charset="0"/>
                <a:ea typeface="Calibri" pitchFamily="34" charset="-122"/>
                <a:cs typeface="Calibri" pitchFamily="34" charset="-120"/>
              </a:rPr>
              <a:t>Target</a:t>
            </a:r>
            <a:endParaRPr lang="en-US" sz="850" dirty="0"/>
          </a:p>
          <a:p>
            <a:pPr marL="0" indent="0" algn="ctr">
              <a:lnSpc>
                <a:spcPts val="1050"/>
              </a:lnSpc>
              <a:buNone/>
            </a:pPr>
            <a:r>
              <a:rPr lang="en-US" sz="850" dirty="0">
                <a:solidFill>
                  <a:srgbClr val="55697C"/>
                </a:solidFill>
                <a:latin typeface="Calibri" pitchFamily="34" charset="0"/>
                <a:ea typeface="Calibri" pitchFamily="34" charset="-122"/>
                <a:cs typeface="Calibri" pitchFamily="34" charset="-120"/>
              </a:rPr>
              <a:t>hypothesis</a:t>
            </a:r>
            <a:endParaRPr lang="en-US" sz="850" dirty="0"/>
          </a:p>
        </p:txBody>
      </p:sp>
      <p:sp>
        <p:nvSpPr>
          <p:cNvPr id="11" name="arrow_A_0"/>
          <p:cNvSpPr/>
          <p:nvPr/>
        </p:nvSpPr>
        <p:spPr>
          <a:xfrm rot="5400000">
            <a:off x="2873959" y="2263140"/>
            <a:ext cx="64008" cy="64008"/>
          </a:xfrm>
          <a:prstGeom prst="triangle">
            <a:avLst/>
          </a:prstGeom>
          <a:solidFill>
            <a:srgbClr val="BCCBD8"/>
          </a:solidFill>
          <a:ln w="12700">
            <a:solidFill>
              <a:srgbClr val="BCCBD8"/>
            </a:solidFill>
            <a:prstDash val="solid"/>
          </a:ln>
        </p:spPr>
        <p:txBody>
          <a:bodyPr/>
          <a:lstStyle/>
          <a:p>
            <a:endParaRPr lang="en-US"/>
          </a:p>
        </p:txBody>
      </p:sp>
      <p:sp>
        <p:nvSpPr>
          <p:cNvPr id="12" name="chip_A_1"/>
          <p:cNvSpPr/>
          <p:nvPr/>
        </p:nvSpPr>
        <p:spPr>
          <a:xfrm>
            <a:off x="2969971" y="2011680"/>
            <a:ext cx="958291" cy="566928"/>
          </a:xfrm>
          <a:prstGeom prst="roundRect">
            <a:avLst>
              <a:gd name="adj" fmla="val 9677"/>
            </a:avLst>
          </a:prstGeom>
          <a:solidFill>
            <a:srgbClr val="F5F7F9"/>
          </a:solidFill>
          <a:ln w="9525">
            <a:solidFill>
              <a:srgbClr val="E3E9EF"/>
            </a:solidFill>
            <a:prstDash val="solid"/>
          </a:ln>
        </p:spPr>
        <p:txBody>
          <a:bodyPr/>
          <a:lstStyle/>
          <a:p>
            <a:endParaRPr lang="en-US"/>
          </a:p>
        </p:txBody>
      </p:sp>
      <p:sp>
        <p:nvSpPr>
          <p:cNvPr id="13" name="chiptext_A_1"/>
          <p:cNvSpPr/>
          <p:nvPr/>
        </p:nvSpPr>
        <p:spPr>
          <a:xfrm>
            <a:off x="3015691" y="2029968"/>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55697C"/>
                </a:solidFill>
                <a:latin typeface="Calibri" pitchFamily="34" charset="0"/>
                <a:ea typeface="Calibri" pitchFamily="34" charset="-122"/>
                <a:cs typeface="Calibri" pitchFamily="34" charset="-120"/>
              </a:rPr>
              <a:t>Cell assays</a:t>
            </a:r>
            <a:endParaRPr lang="en-US" sz="850" dirty="0"/>
          </a:p>
        </p:txBody>
      </p:sp>
      <p:sp>
        <p:nvSpPr>
          <p:cNvPr id="14" name="arrow_A_1"/>
          <p:cNvSpPr/>
          <p:nvPr/>
        </p:nvSpPr>
        <p:spPr>
          <a:xfrm rot="5400000">
            <a:off x="3960266" y="2263140"/>
            <a:ext cx="64008" cy="64008"/>
          </a:xfrm>
          <a:prstGeom prst="triangle">
            <a:avLst/>
          </a:prstGeom>
          <a:solidFill>
            <a:srgbClr val="BCCBD8"/>
          </a:solidFill>
          <a:ln w="12700">
            <a:solidFill>
              <a:srgbClr val="BCCBD8"/>
            </a:solidFill>
            <a:prstDash val="solid"/>
          </a:ln>
        </p:spPr>
        <p:txBody>
          <a:bodyPr/>
          <a:lstStyle/>
          <a:p>
            <a:endParaRPr lang="en-US"/>
          </a:p>
        </p:txBody>
      </p:sp>
      <p:sp>
        <p:nvSpPr>
          <p:cNvPr id="15" name="chip_A_2"/>
          <p:cNvSpPr/>
          <p:nvPr/>
        </p:nvSpPr>
        <p:spPr>
          <a:xfrm>
            <a:off x="4056278" y="2011680"/>
            <a:ext cx="958291" cy="566928"/>
          </a:xfrm>
          <a:prstGeom prst="roundRect">
            <a:avLst>
              <a:gd name="adj" fmla="val 9677"/>
            </a:avLst>
          </a:prstGeom>
          <a:solidFill>
            <a:srgbClr val="FDEDE9"/>
          </a:solidFill>
          <a:ln w="9525">
            <a:solidFill>
              <a:srgbClr val="F6C4B8"/>
            </a:solidFill>
            <a:prstDash val="solid"/>
          </a:ln>
        </p:spPr>
        <p:txBody>
          <a:bodyPr/>
          <a:lstStyle/>
          <a:p>
            <a:endParaRPr lang="en-US"/>
          </a:p>
        </p:txBody>
      </p:sp>
      <p:sp>
        <p:nvSpPr>
          <p:cNvPr id="16" name="chiptext_A_2"/>
          <p:cNvSpPr/>
          <p:nvPr/>
        </p:nvSpPr>
        <p:spPr>
          <a:xfrm>
            <a:off x="4101998" y="2029968"/>
            <a:ext cx="866851" cy="530352"/>
          </a:xfrm>
          <a:prstGeom prst="rect">
            <a:avLst/>
          </a:prstGeom>
          <a:noFill/>
          <a:ln/>
        </p:spPr>
        <p:txBody>
          <a:bodyPr wrap="square" lIns="0" tIns="0" rIns="0" bIns="0" rtlCol="0" anchor="ctr"/>
          <a:lstStyle/>
          <a:p>
            <a:pPr marL="0" indent="0" algn="ctr">
              <a:lnSpc>
                <a:spcPts val="1050"/>
              </a:lnSpc>
              <a:buNone/>
            </a:pPr>
            <a:r>
              <a:rPr lang="en-US" sz="850" b="1" dirty="0">
                <a:solidFill>
                  <a:srgbClr val="D8452A"/>
                </a:solidFill>
                <a:latin typeface="Calibri" pitchFamily="34" charset="0"/>
                <a:ea typeface="Calibri" pitchFamily="34" charset="-122"/>
                <a:cs typeface="Calibri" pitchFamily="34" charset="-120"/>
              </a:rPr>
              <a:t>Animal models</a:t>
            </a:r>
            <a:endParaRPr lang="en-US" sz="850" dirty="0"/>
          </a:p>
        </p:txBody>
      </p:sp>
      <p:sp>
        <p:nvSpPr>
          <p:cNvPr id="17" name="arrow_A_2"/>
          <p:cNvSpPr/>
          <p:nvPr/>
        </p:nvSpPr>
        <p:spPr>
          <a:xfrm rot="5400000">
            <a:off x="5046574" y="2263140"/>
            <a:ext cx="64008" cy="64008"/>
          </a:xfrm>
          <a:prstGeom prst="triangle">
            <a:avLst/>
          </a:prstGeom>
          <a:solidFill>
            <a:srgbClr val="BCCBD8"/>
          </a:solidFill>
          <a:ln w="12700">
            <a:solidFill>
              <a:srgbClr val="BCCBD8"/>
            </a:solidFill>
            <a:prstDash val="solid"/>
          </a:ln>
        </p:spPr>
        <p:txBody>
          <a:bodyPr/>
          <a:lstStyle/>
          <a:p>
            <a:endParaRPr lang="en-US"/>
          </a:p>
        </p:txBody>
      </p:sp>
      <p:sp>
        <p:nvSpPr>
          <p:cNvPr id="18" name="chip_A_3"/>
          <p:cNvSpPr/>
          <p:nvPr/>
        </p:nvSpPr>
        <p:spPr>
          <a:xfrm>
            <a:off x="5142586" y="2011680"/>
            <a:ext cx="958291" cy="566928"/>
          </a:xfrm>
          <a:prstGeom prst="roundRect">
            <a:avLst>
              <a:gd name="adj" fmla="val 9677"/>
            </a:avLst>
          </a:prstGeom>
          <a:solidFill>
            <a:srgbClr val="F5F7F9"/>
          </a:solidFill>
          <a:ln w="9525">
            <a:solidFill>
              <a:srgbClr val="E3E9EF"/>
            </a:solidFill>
            <a:prstDash val="solid"/>
          </a:ln>
        </p:spPr>
        <p:txBody>
          <a:bodyPr/>
          <a:lstStyle/>
          <a:p>
            <a:endParaRPr lang="en-US"/>
          </a:p>
        </p:txBody>
      </p:sp>
      <p:sp>
        <p:nvSpPr>
          <p:cNvPr id="19" name="chiptext_A_3"/>
          <p:cNvSpPr/>
          <p:nvPr/>
        </p:nvSpPr>
        <p:spPr>
          <a:xfrm>
            <a:off x="5188306" y="2029968"/>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55697C"/>
                </a:solidFill>
                <a:latin typeface="Calibri" pitchFamily="34" charset="0"/>
                <a:ea typeface="Calibri" pitchFamily="34" charset="-122"/>
                <a:cs typeface="Calibri" pitchFamily="34" charset="-120"/>
              </a:rPr>
              <a:t>Clinical trials</a:t>
            </a:r>
            <a:endParaRPr lang="en-US" sz="850" dirty="0"/>
          </a:p>
        </p:txBody>
      </p:sp>
      <p:sp>
        <p:nvSpPr>
          <p:cNvPr id="20" name="arrow_A_3"/>
          <p:cNvSpPr/>
          <p:nvPr/>
        </p:nvSpPr>
        <p:spPr>
          <a:xfrm rot="5400000">
            <a:off x="6132881" y="2263140"/>
            <a:ext cx="64008" cy="64008"/>
          </a:xfrm>
          <a:prstGeom prst="triangle">
            <a:avLst/>
          </a:prstGeom>
          <a:solidFill>
            <a:srgbClr val="BCCBD8"/>
          </a:solidFill>
          <a:ln w="12700">
            <a:solidFill>
              <a:srgbClr val="BCCBD8"/>
            </a:solidFill>
            <a:prstDash val="solid"/>
          </a:ln>
        </p:spPr>
        <p:txBody>
          <a:bodyPr/>
          <a:lstStyle/>
          <a:p>
            <a:endParaRPr lang="en-US"/>
          </a:p>
        </p:txBody>
      </p:sp>
      <p:sp>
        <p:nvSpPr>
          <p:cNvPr id="21" name="chip_A_4"/>
          <p:cNvSpPr/>
          <p:nvPr/>
        </p:nvSpPr>
        <p:spPr>
          <a:xfrm>
            <a:off x="6228893" y="2011680"/>
            <a:ext cx="958291" cy="566928"/>
          </a:xfrm>
          <a:prstGeom prst="roundRect">
            <a:avLst>
              <a:gd name="adj" fmla="val 9677"/>
            </a:avLst>
          </a:prstGeom>
          <a:solidFill>
            <a:srgbClr val="F5F7F9"/>
          </a:solidFill>
          <a:ln w="9525">
            <a:solidFill>
              <a:srgbClr val="E3E9EF"/>
            </a:solidFill>
            <a:prstDash val="solid"/>
          </a:ln>
        </p:spPr>
        <p:txBody>
          <a:bodyPr/>
          <a:lstStyle/>
          <a:p>
            <a:endParaRPr lang="en-US"/>
          </a:p>
        </p:txBody>
      </p:sp>
      <p:sp>
        <p:nvSpPr>
          <p:cNvPr id="22" name="chiptext_A_4"/>
          <p:cNvSpPr/>
          <p:nvPr/>
        </p:nvSpPr>
        <p:spPr>
          <a:xfrm>
            <a:off x="6274613" y="2029968"/>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55697C"/>
                </a:solidFill>
                <a:latin typeface="Calibri" pitchFamily="34" charset="0"/>
                <a:ea typeface="Calibri" pitchFamily="34" charset="-122"/>
                <a:cs typeface="Calibri" pitchFamily="34" charset="-120"/>
              </a:rPr>
              <a:t>Approval</a:t>
            </a:r>
            <a:endParaRPr lang="en-US" sz="850" dirty="0"/>
          </a:p>
        </p:txBody>
      </p:sp>
      <p:sp>
        <p:nvSpPr>
          <p:cNvPr id="23" name="gapMarker"/>
          <p:cNvSpPr/>
          <p:nvPr/>
        </p:nvSpPr>
        <p:spPr>
          <a:xfrm>
            <a:off x="1883664" y="2651760"/>
            <a:ext cx="5303520" cy="164592"/>
          </a:xfrm>
          <a:prstGeom prst="rect">
            <a:avLst/>
          </a:prstGeom>
          <a:noFill/>
          <a:ln/>
        </p:spPr>
        <p:txBody>
          <a:bodyPr wrap="square" lIns="0" tIns="0" rIns="0" bIns="0" rtlCol="0" anchor="ctr"/>
          <a:lstStyle/>
          <a:p>
            <a:pPr marL="0" indent="0" algn="ctr">
              <a:buNone/>
            </a:pPr>
            <a:r>
              <a:rPr lang="en-US" sz="800" b="1" dirty="0">
                <a:solidFill>
                  <a:srgbClr val="D8452A"/>
                </a:solidFill>
                <a:latin typeface="Calibri" pitchFamily="34" charset="0"/>
                <a:ea typeface="Calibri" pitchFamily="34" charset="-122"/>
                <a:cs typeface="Calibri" pitchFamily="34" charset="-120"/>
              </a:rPr>
              <a:t>▲   THE TRANSLATION GAP  —  where preclinical evidence stops predicting humans</a:t>
            </a:r>
            <a:endParaRPr lang="en-US" sz="800" dirty="0"/>
          </a:p>
        </p:txBody>
      </p:sp>
      <p:sp>
        <p:nvSpPr>
          <p:cNvPr id="24" name="lanelabel_B"/>
          <p:cNvSpPr/>
          <p:nvPr/>
        </p:nvSpPr>
        <p:spPr>
          <a:xfrm>
            <a:off x="640080" y="2999232"/>
            <a:ext cx="1133856" cy="201168"/>
          </a:xfrm>
          <a:prstGeom prst="rect">
            <a:avLst/>
          </a:prstGeom>
          <a:noFill/>
          <a:ln/>
        </p:spPr>
        <p:txBody>
          <a:bodyPr wrap="square" lIns="0" tIns="0" rIns="0" bIns="0" rtlCol="0" anchor="ctr"/>
          <a:lstStyle/>
          <a:p>
            <a:pPr marL="0" indent="0">
              <a:buNone/>
            </a:pPr>
            <a:r>
              <a:rPr lang="en-US" sz="1000" b="1" dirty="0">
                <a:solidFill>
                  <a:srgbClr val="0C8C83"/>
                </a:solidFill>
                <a:latin typeface="Calibri" pitchFamily="34" charset="0"/>
                <a:ea typeface="Calibri" pitchFamily="34" charset="-122"/>
                <a:cs typeface="Calibri" pitchFamily="34" charset="-120"/>
              </a:rPr>
              <a:t>Human-data path</a:t>
            </a:r>
            <a:endParaRPr lang="en-US" sz="1000" dirty="0"/>
          </a:p>
        </p:txBody>
      </p:sp>
      <p:sp>
        <p:nvSpPr>
          <p:cNvPr id="25" name="lanesub_B"/>
          <p:cNvSpPr/>
          <p:nvPr/>
        </p:nvSpPr>
        <p:spPr>
          <a:xfrm>
            <a:off x="640080" y="3191256"/>
            <a:ext cx="1133856" cy="201168"/>
          </a:xfrm>
          <a:prstGeom prst="rect">
            <a:avLst/>
          </a:prstGeom>
          <a:noFill/>
          <a:ln/>
        </p:spPr>
        <p:txBody>
          <a:bodyPr wrap="square" lIns="0" tIns="0" rIns="0" bIns="0" rtlCol="0" anchor="ctr"/>
          <a:lstStyle/>
          <a:p>
            <a:pPr marL="0" indent="0">
              <a:lnSpc>
                <a:spcPts val="900"/>
              </a:lnSpc>
              <a:buNone/>
            </a:pPr>
            <a:r>
              <a:rPr lang="en-US" sz="750" dirty="0">
                <a:solidFill>
                  <a:srgbClr val="8FA1B2"/>
                </a:solidFill>
                <a:latin typeface="Calibri" pitchFamily="34" charset="0"/>
                <a:ea typeface="Calibri" pitchFamily="34" charset="-122"/>
                <a:cs typeface="Calibri" pitchFamily="34" charset="-120"/>
              </a:rPr>
              <a:t>Regeneron Genetics Center</a:t>
            </a:r>
            <a:endParaRPr lang="en-US" sz="750" dirty="0"/>
          </a:p>
        </p:txBody>
      </p:sp>
      <p:sp>
        <p:nvSpPr>
          <p:cNvPr id="26" name="chip_B_0"/>
          <p:cNvSpPr/>
          <p:nvPr/>
        </p:nvSpPr>
        <p:spPr>
          <a:xfrm>
            <a:off x="1883664" y="2907792"/>
            <a:ext cx="958291" cy="566928"/>
          </a:xfrm>
          <a:prstGeom prst="roundRect">
            <a:avLst>
              <a:gd name="adj" fmla="val 9677"/>
            </a:avLst>
          </a:prstGeom>
          <a:solidFill>
            <a:srgbClr val="E0F4F2"/>
          </a:solidFill>
          <a:ln w="9525">
            <a:solidFill>
              <a:srgbClr val="A9E0DA"/>
            </a:solidFill>
            <a:prstDash val="solid"/>
          </a:ln>
        </p:spPr>
        <p:txBody>
          <a:bodyPr/>
          <a:lstStyle/>
          <a:p>
            <a:endParaRPr lang="en-US"/>
          </a:p>
        </p:txBody>
      </p:sp>
      <p:sp>
        <p:nvSpPr>
          <p:cNvPr id="27" name="chiptext_B_0"/>
          <p:cNvSpPr/>
          <p:nvPr/>
        </p:nvSpPr>
        <p:spPr>
          <a:xfrm>
            <a:off x="1929384" y="2926080"/>
            <a:ext cx="866851" cy="530352"/>
          </a:xfrm>
          <a:prstGeom prst="rect">
            <a:avLst/>
          </a:prstGeom>
          <a:noFill/>
          <a:ln/>
        </p:spPr>
        <p:txBody>
          <a:bodyPr wrap="square" lIns="0" tIns="0" rIns="0" bIns="0" rtlCol="0" anchor="ctr"/>
          <a:lstStyle/>
          <a:p>
            <a:pPr marL="0" indent="0" algn="ctr">
              <a:lnSpc>
                <a:spcPts val="1050"/>
              </a:lnSpc>
              <a:buNone/>
            </a:pPr>
            <a:r>
              <a:rPr lang="en-US" sz="850" b="1" dirty="0">
                <a:solidFill>
                  <a:srgbClr val="0C8C83"/>
                </a:solidFill>
                <a:latin typeface="Calibri" pitchFamily="34" charset="0"/>
                <a:ea typeface="Calibri" pitchFamily="34" charset="-122"/>
                <a:cs typeface="Calibri" pitchFamily="34" charset="-120"/>
              </a:rPr>
              <a:t>Human</a:t>
            </a:r>
            <a:endParaRPr lang="en-US" sz="850" dirty="0"/>
          </a:p>
          <a:p>
            <a:pPr marL="0" indent="0" algn="ctr">
              <a:lnSpc>
                <a:spcPts val="1050"/>
              </a:lnSpc>
              <a:buNone/>
            </a:pPr>
            <a:r>
              <a:rPr lang="en-US" sz="850" b="1" dirty="0">
                <a:solidFill>
                  <a:srgbClr val="0C8C83"/>
                </a:solidFill>
                <a:latin typeface="Calibri" pitchFamily="34" charset="0"/>
                <a:ea typeface="Calibri" pitchFamily="34" charset="-122"/>
                <a:cs typeface="Calibri" pitchFamily="34" charset="-120"/>
              </a:rPr>
              <a:t>genetics</a:t>
            </a:r>
            <a:endParaRPr lang="en-US" sz="850" dirty="0"/>
          </a:p>
        </p:txBody>
      </p:sp>
      <p:sp>
        <p:nvSpPr>
          <p:cNvPr id="28" name="arrow_B_0"/>
          <p:cNvSpPr/>
          <p:nvPr/>
        </p:nvSpPr>
        <p:spPr>
          <a:xfrm rot="5400000">
            <a:off x="2873959" y="3159252"/>
            <a:ext cx="64008" cy="64008"/>
          </a:xfrm>
          <a:prstGeom prst="triangle">
            <a:avLst/>
          </a:prstGeom>
          <a:solidFill>
            <a:srgbClr val="BCCBD8"/>
          </a:solidFill>
          <a:ln w="12700">
            <a:solidFill>
              <a:srgbClr val="BCCBD8"/>
            </a:solidFill>
            <a:prstDash val="solid"/>
          </a:ln>
        </p:spPr>
        <p:txBody>
          <a:bodyPr/>
          <a:lstStyle/>
          <a:p>
            <a:endParaRPr lang="en-US"/>
          </a:p>
        </p:txBody>
      </p:sp>
      <p:sp>
        <p:nvSpPr>
          <p:cNvPr id="29" name="chip_B_1"/>
          <p:cNvSpPr/>
          <p:nvPr/>
        </p:nvSpPr>
        <p:spPr>
          <a:xfrm>
            <a:off x="2969971" y="2907792"/>
            <a:ext cx="958291" cy="566928"/>
          </a:xfrm>
          <a:prstGeom prst="roundRect">
            <a:avLst>
              <a:gd name="adj" fmla="val 9677"/>
            </a:avLst>
          </a:prstGeom>
          <a:solidFill>
            <a:srgbClr val="E8F1FC"/>
          </a:solidFill>
          <a:ln w="9525">
            <a:solidFill>
              <a:srgbClr val="C9DFF6"/>
            </a:solidFill>
            <a:prstDash val="solid"/>
          </a:ln>
        </p:spPr>
        <p:txBody>
          <a:bodyPr/>
          <a:lstStyle/>
          <a:p>
            <a:endParaRPr lang="en-US"/>
          </a:p>
        </p:txBody>
      </p:sp>
      <p:sp>
        <p:nvSpPr>
          <p:cNvPr id="30" name="chiptext_B_1"/>
          <p:cNvSpPr/>
          <p:nvPr/>
        </p:nvSpPr>
        <p:spPr>
          <a:xfrm>
            <a:off x="3015691" y="2926080"/>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AI target</a:t>
            </a:r>
            <a:endParaRPr lang="en-US" sz="850" dirty="0"/>
          </a:p>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discovery</a:t>
            </a:r>
            <a:endParaRPr lang="en-US" sz="850" dirty="0"/>
          </a:p>
        </p:txBody>
      </p:sp>
      <p:sp>
        <p:nvSpPr>
          <p:cNvPr id="31" name="arrow_B_1"/>
          <p:cNvSpPr/>
          <p:nvPr/>
        </p:nvSpPr>
        <p:spPr>
          <a:xfrm rot="5400000">
            <a:off x="3960266" y="3159252"/>
            <a:ext cx="64008" cy="64008"/>
          </a:xfrm>
          <a:prstGeom prst="triangle">
            <a:avLst/>
          </a:prstGeom>
          <a:solidFill>
            <a:srgbClr val="BCCBD8"/>
          </a:solidFill>
          <a:ln w="12700">
            <a:solidFill>
              <a:srgbClr val="BCCBD8"/>
            </a:solidFill>
            <a:prstDash val="solid"/>
          </a:ln>
        </p:spPr>
        <p:txBody>
          <a:bodyPr/>
          <a:lstStyle/>
          <a:p>
            <a:endParaRPr lang="en-US"/>
          </a:p>
        </p:txBody>
      </p:sp>
      <p:sp>
        <p:nvSpPr>
          <p:cNvPr id="32" name="chip_B_2"/>
          <p:cNvSpPr/>
          <p:nvPr/>
        </p:nvSpPr>
        <p:spPr>
          <a:xfrm>
            <a:off x="4056278" y="2907792"/>
            <a:ext cx="958291" cy="566928"/>
          </a:xfrm>
          <a:prstGeom prst="roundRect">
            <a:avLst>
              <a:gd name="adj" fmla="val 9677"/>
            </a:avLst>
          </a:prstGeom>
          <a:solidFill>
            <a:srgbClr val="E8F1FC"/>
          </a:solidFill>
          <a:ln w="9525">
            <a:solidFill>
              <a:srgbClr val="C9DFF6"/>
            </a:solidFill>
            <a:prstDash val="solid"/>
          </a:ln>
        </p:spPr>
        <p:txBody>
          <a:bodyPr/>
          <a:lstStyle/>
          <a:p>
            <a:endParaRPr lang="en-US"/>
          </a:p>
        </p:txBody>
      </p:sp>
      <p:sp>
        <p:nvSpPr>
          <p:cNvPr id="33" name="chiptext_B_2"/>
          <p:cNvSpPr/>
          <p:nvPr/>
        </p:nvSpPr>
        <p:spPr>
          <a:xfrm>
            <a:off x="4101998" y="2926080"/>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Antibody /</a:t>
            </a:r>
            <a:endParaRPr lang="en-US" sz="850" dirty="0"/>
          </a:p>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RNAi design</a:t>
            </a:r>
            <a:endParaRPr lang="en-US" sz="850" dirty="0"/>
          </a:p>
        </p:txBody>
      </p:sp>
      <p:sp>
        <p:nvSpPr>
          <p:cNvPr id="34" name="arrow_B_2"/>
          <p:cNvSpPr/>
          <p:nvPr/>
        </p:nvSpPr>
        <p:spPr>
          <a:xfrm rot="5400000">
            <a:off x="5046574" y="3159252"/>
            <a:ext cx="64008" cy="64008"/>
          </a:xfrm>
          <a:prstGeom prst="triangle">
            <a:avLst/>
          </a:prstGeom>
          <a:solidFill>
            <a:srgbClr val="BCCBD8"/>
          </a:solidFill>
          <a:ln w="12700">
            <a:solidFill>
              <a:srgbClr val="BCCBD8"/>
            </a:solidFill>
            <a:prstDash val="solid"/>
          </a:ln>
        </p:spPr>
        <p:txBody>
          <a:bodyPr/>
          <a:lstStyle/>
          <a:p>
            <a:endParaRPr lang="en-US"/>
          </a:p>
        </p:txBody>
      </p:sp>
      <p:sp>
        <p:nvSpPr>
          <p:cNvPr id="35" name="chip_B_3"/>
          <p:cNvSpPr/>
          <p:nvPr/>
        </p:nvSpPr>
        <p:spPr>
          <a:xfrm>
            <a:off x="5142586" y="2907792"/>
            <a:ext cx="958291" cy="566928"/>
          </a:xfrm>
          <a:prstGeom prst="roundRect">
            <a:avLst>
              <a:gd name="adj" fmla="val 9677"/>
            </a:avLst>
          </a:prstGeom>
          <a:solidFill>
            <a:srgbClr val="E8F1FC"/>
          </a:solidFill>
          <a:ln w="9525">
            <a:solidFill>
              <a:srgbClr val="C9DFF6"/>
            </a:solidFill>
            <a:prstDash val="solid"/>
          </a:ln>
        </p:spPr>
        <p:txBody>
          <a:bodyPr/>
          <a:lstStyle/>
          <a:p>
            <a:endParaRPr lang="en-US"/>
          </a:p>
        </p:txBody>
      </p:sp>
      <p:sp>
        <p:nvSpPr>
          <p:cNvPr id="36" name="chiptext_B_3"/>
          <p:cNvSpPr/>
          <p:nvPr/>
        </p:nvSpPr>
        <p:spPr>
          <a:xfrm>
            <a:off x="5188306" y="2926080"/>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Clinical trials</a:t>
            </a:r>
            <a:endParaRPr lang="en-US" sz="850" dirty="0"/>
          </a:p>
        </p:txBody>
      </p:sp>
      <p:sp>
        <p:nvSpPr>
          <p:cNvPr id="37" name="arrow_B_3"/>
          <p:cNvSpPr/>
          <p:nvPr/>
        </p:nvSpPr>
        <p:spPr>
          <a:xfrm rot="5400000">
            <a:off x="6132881" y="3159252"/>
            <a:ext cx="64008" cy="64008"/>
          </a:xfrm>
          <a:prstGeom prst="triangle">
            <a:avLst/>
          </a:prstGeom>
          <a:solidFill>
            <a:srgbClr val="BCCBD8"/>
          </a:solidFill>
          <a:ln w="12700">
            <a:solidFill>
              <a:srgbClr val="BCCBD8"/>
            </a:solidFill>
            <a:prstDash val="solid"/>
          </a:ln>
        </p:spPr>
        <p:txBody>
          <a:bodyPr/>
          <a:lstStyle/>
          <a:p>
            <a:endParaRPr lang="en-US"/>
          </a:p>
        </p:txBody>
      </p:sp>
      <p:sp>
        <p:nvSpPr>
          <p:cNvPr id="38" name="chip_B_4"/>
          <p:cNvSpPr/>
          <p:nvPr/>
        </p:nvSpPr>
        <p:spPr>
          <a:xfrm>
            <a:off x="6228893" y="2907792"/>
            <a:ext cx="958291" cy="566928"/>
          </a:xfrm>
          <a:prstGeom prst="roundRect">
            <a:avLst>
              <a:gd name="adj" fmla="val 9677"/>
            </a:avLst>
          </a:prstGeom>
          <a:solidFill>
            <a:srgbClr val="E8F1FC"/>
          </a:solidFill>
          <a:ln w="9525">
            <a:solidFill>
              <a:srgbClr val="C9DFF6"/>
            </a:solidFill>
            <a:prstDash val="solid"/>
          </a:ln>
        </p:spPr>
        <p:txBody>
          <a:bodyPr/>
          <a:lstStyle/>
          <a:p>
            <a:endParaRPr lang="en-US"/>
          </a:p>
        </p:txBody>
      </p:sp>
      <p:sp>
        <p:nvSpPr>
          <p:cNvPr id="39" name="chiptext_B_4"/>
          <p:cNvSpPr/>
          <p:nvPr/>
        </p:nvSpPr>
        <p:spPr>
          <a:xfrm>
            <a:off x="6274613" y="2926080"/>
            <a:ext cx="866851" cy="530352"/>
          </a:xfrm>
          <a:prstGeom prst="rect">
            <a:avLst/>
          </a:prstGeom>
          <a:noFill/>
          <a:ln/>
        </p:spPr>
        <p:txBody>
          <a:bodyPr wrap="square" lIns="0" tIns="0" rIns="0" bIns="0" rtlCol="0" anchor="ctr"/>
          <a:lstStyle/>
          <a:p>
            <a:pPr marL="0" indent="0" algn="ctr">
              <a:lnSpc>
                <a:spcPts val="1050"/>
              </a:lnSpc>
              <a:buNone/>
            </a:pPr>
            <a:r>
              <a:rPr lang="en-US" sz="850" dirty="0">
                <a:solidFill>
                  <a:srgbClr val="0A3E7A"/>
                </a:solidFill>
                <a:latin typeface="Calibri" pitchFamily="34" charset="0"/>
                <a:ea typeface="Calibri" pitchFamily="34" charset="-122"/>
                <a:cs typeface="Calibri" pitchFamily="34" charset="-120"/>
              </a:rPr>
              <a:t>Approval</a:t>
            </a:r>
            <a:endParaRPr lang="en-US" sz="850" dirty="0"/>
          </a:p>
        </p:txBody>
      </p:sp>
      <p:sp>
        <p:nvSpPr>
          <p:cNvPr id="40" name="outA"/>
          <p:cNvSpPr/>
          <p:nvPr/>
        </p:nvSpPr>
        <p:spPr>
          <a:xfrm>
            <a:off x="7333488" y="2048256"/>
            <a:ext cx="1170432" cy="256032"/>
          </a:xfrm>
          <a:prstGeom prst="rect">
            <a:avLst/>
          </a:prstGeom>
          <a:noFill/>
          <a:ln/>
        </p:spPr>
        <p:txBody>
          <a:bodyPr wrap="square" lIns="0" tIns="0" rIns="0" bIns="0" rtlCol="0" anchor="ctr"/>
          <a:lstStyle/>
          <a:p>
            <a:pPr marL="0" indent="0">
              <a:buNone/>
            </a:pPr>
            <a:r>
              <a:rPr lang="en-US" sz="1500" b="1" dirty="0">
                <a:solidFill>
                  <a:srgbClr val="D8452A"/>
                </a:solidFill>
                <a:latin typeface="Calibri" pitchFamily="34" charset="0"/>
                <a:ea typeface="Calibri" pitchFamily="34" charset="-122"/>
                <a:cs typeface="Calibri" pitchFamily="34" charset="-120"/>
              </a:rPr>
              <a:t>≈1 in 10</a:t>
            </a:r>
            <a:endParaRPr lang="en-US" sz="1500" dirty="0"/>
          </a:p>
        </p:txBody>
      </p:sp>
      <p:sp>
        <p:nvSpPr>
          <p:cNvPr id="41" name="outAsub"/>
          <p:cNvSpPr/>
          <p:nvPr/>
        </p:nvSpPr>
        <p:spPr>
          <a:xfrm>
            <a:off x="7333488" y="2304288"/>
            <a:ext cx="1170432" cy="201168"/>
          </a:xfrm>
          <a:prstGeom prst="rect">
            <a:avLst/>
          </a:prstGeom>
          <a:noFill/>
          <a:ln/>
        </p:spPr>
        <p:txBody>
          <a:bodyPr wrap="square" lIns="0" tIns="0" rIns="0" bIns="0" rtlCol="0" anchor="ctr"/>
          <a:lstStyle/>
          <a:p>
            <a:pPr marL="0" indent="0">
              <a:buNone/>
            </a:pPr>
            <a:r>
              <a:rPr lang="en-US" sz="800" dirty="0">
                <a:solidFill>
                  <a:srgbClr val="55697C"/>
                </a:solidFill>
                <a:latin typeface="Calibri" pitchFamily="34" charset="0"/>
                <a:ea typeface="Calibri" pitchFamily="34" charset="-122"/>
                <a:cs typeface="Calibri" pitchFamily="34" charset="-120"/>
              </a:rPr>
              <a:t>reach approval</a:t>
            </a:r>
            <a:endParaRPr lang="en-US" sz="800" dirty="0"/>
          </a:p>
        </p:txBody>
      </p:sp>
      <p:sp>
        <p:nvSpPr>
          <p:cNvPr id="42" name="outB"/>
          <p:cNvSpPr/>
          <p:nvPr/>
        </p:nvSpPr>
        <p:spPr>
          <a:xfrm>
            <a:off x="7333488" y="2944368"/>
            <a:ext cx="1170432" cy="256032"/>
          </a:xfrm>
          <a:prstGeom prst="rect">
            <a:avLst/>
          </a:prstGeom>
          <a:noFill/>
          <a:ln/>
        </p:spPr>
        <p:txBody>
          <a:bodyPr wrap="square" lIns="0" tIns="0" rIns="0" bIns="0" rtlCol="0" anchor="ctr"/>
          <a:lstStyle/>
          <a:p>
            <a:pPr marL="0" indent="0">
              <a:buNone/>
            </a:pPr>
            <a:r>
              <a:rPr lang="en-US" sz="1500" b="1" dirty="0">
                <a:solidFill>
                  <a:srgbClr val="0C8C83"/>
                </a:solidFill>
                <a:latin typeface="Calibri" pitchFamily="34" charset="0"/>
                <a:ea typeface="Calibri" pitchFamily="34" charset="-122"/>
                <a:cs typeface="Calibri" pitchFamily="34" charset="-120"/>
              </a:rPr>
              <a:t>2.6×</a:t>
            </a:r>
            <a:endParaRPr lang="en-US" sz="1500" dirty="0"/>
          </a:p>
        </p:txBody>
      </p:sp>
      <p:sp>
        <p:nvSpPr>
          <p:cNvPr id="43" name="outBsub"/>
          <p:cNvSpPr/>
          <p:nvPr/>
        </p:nvSpPr>
        <p:spPr>
          <a:xfrm>
            <a:off x="7333488" y="3200400"/>
            <a:ext cx="1170432" cy="292608"/>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more likely to succeed</a:t>
            </a:r>
            <a:endParaRPr lang="en-US" sz="800" dirty="0"/>
          </a:p>
        </p:txBody>
      </p:sp>
      <p:sp>
        <p:nvSpPr>
          <p:cNvPr id="44" name="Shape 41"/>
          <p:cNvSpPr/>
          <p:nvPr/>
        </p:nvSpPr>
        <p:spPr>
          <a:xfrm>
            <a:off x="640080" y="3730752"/>
            <a:ext cx="7863840" cy="822960"/>
          </a:xfrm>
          <a:prstGeom prst="roundRect">
            <a:avLst>
              <a:gd name="adj" fmla="val 7778"/>
            </a:avLst>
          </a:prstGeom>
          <a:solidFill>
            <a:srgbClr val="F3F7FB"/>
          </a:solidFill>
          <a:ln w="9525">
            <a:solidFill>
              <a:srgbClr val="E3E9EF"/>
            </a:solidFill>
            <a:prstDash val="solid"/>
          </a:ln>
        </p:spPr>
        <p:txBody>
          <a:bodyPr/>
          <a:lstStyle/>
          <a:p>
            <a:endParaRPr lang="en-US"/>
          </a:p>
        </p:txBody>
      </p:sp>
      <p:sp>
        <p:nvSpPr>
          <p:cNvPr id="45" name="Text 42"/>
          <p:cNvSpPr/>
          <p:nvPr/>
        </p:nvSpPr>
        <p:spPr>
          <a:xfrm>
            <a:off x="841248" y="3822192"/>
            <a:ext cx="7498080" cy="164592"/>
          </a:xfrm>
          <a:prstGeom prst="rect">
            <a:avLst/>
          </a:prstGeom>
          <a:noFill/>
          <a:ln/>
        </p:spPr>
        <p:txBody>
          <a:bodyPr wrap="square" lIns="0" tIns="0" rIns="0" bIns="0" rtlCol="0" anchor="ctr"/>
          <a:lstStyle/>
          <a:p>
            <a:pPr marL="0" indent="0">
              <a:buNone/>
            </a:pPr>
            <a:r>
              <a:rPr lang="en-US" sz="750" b="1" kern="0" spc="160" dirty="0">
                <a:solidFill>
                  <a:srgbClr val="0B63CE"/>
                </a:solidFill>
                <a:latin typeface="Calibri" pitchFamily="34" charset="0"/>
                <a:ea typeface="Calibri" pitchFamily="34" charset="-122"/>
                <a:cs typeface="Calibri" pitchFamily="34" charset="-120"/>
              </a:rPr>
              <a:t>THE STRATEGIC INSIGHT THIS PROJECT TESTS</a:t>
            </a:r>
            <a:endParaRPr lang="en-US" sz="750" dirty="0"/>
          </a:p>
        </p:txBody>
      </p:sp>
      <p:sp>
        <p:nvSpPr>
          <p:cNvPr id="46" name="Text 43"/>
          <p:cNvSpPr/>
          <p:nvPr/>
        </p:nvSpPr>
        <p:spPr>
          <a:xfrm>
            <a:off x="841248" y="4005072"/>
            <a:ext cx="7498080" cy="237744"/>
          </a:xfrm>
          <a:prstGeom prst="rect">
            <a:avLst/>
          </a:prstGeom>
          <a:noFill/>
          <a:ln/>
        </p:spPr>
        <p:txBody>
          <a:bodyPr wrap="square" lIns="0" tIns="0" rIns="0" bIns="0" rtlCol="0" anchor="ctr"/>
          <a:lstStyle/>
          <a:p>
            <a:pPr marL="0" indent="0">
              <a:buNone/>
            </a:pPr>
            <a:r>
              <a:rPr lang="en-US" sz="1300" b="1" dirty="0">
                <a:solidFill>
                  <a:srgbClr val="10243A"/>
                </a:solidFill>
                <a:latin typeface="Calibri" pitchFamily="34" charset="0"/>
                <a:ea typeface="Calibri" pitchFamily="34" charset="-122"/>
                <a:cs typeface="Calibri" pitchFamily="34" charset="-120"/>
              </a:rPr>
              <a:t>In drug discovery the model is not the moat — the data is.</a:t>
            </a:r>
            <a:endParaRPr lang="en-US" sz="1300" dirty="0"/>
          </a:p>
        </p:txBody>
      </p:sp>
      <p:sp>
        <p:nvSpPr>
          <p:cNvPr id="47" name="Text 44"/>
          <p:cNvSpPr/>
          <p:nvPr/>
        </p:nvSpPr>
        <p:spPr>
          <a:xfrm>
            <a:off x="841248" y="4261104"/>
            <a:ext cx="7498080" cy="274320"/>
          </a:xfrm>
          <a:prstGeom prst="rect">
            <a:avLst/>
          </a:prstGeom>
          <a:noFill/>
          <a:ln/>
        </p:spPr>
        <p:txBody>
          <a:bodyPr wrap="square" lIns="0" tIns="0" rIns="0" bIns="0" rtlCol="0" anchor="ctr"/>
          <a:lstStyle/>
          <a:p>
            <a:pPr marL="0" indent="0">
              <a:buNone/>
            </a:pPr>
            <a:r>
              <a:rPr lang="en-US" sz="900" dirty="0">
                <a:solidFill>
                  <a:srgbClr val="55697C"/>
                </a:solidFill>
                <a:latin typeface="Calibri" pitchFamily="34" charset="0"/>
                <a:ea typeface="Calibri" pitchFamily="34" charset="-122"/>
                <a:cs typeface="Calibri" pitchFamily="34" charset="-120"/>
              </a:rPr>
              <a:t>Algorithms diffuse in months; a human-truthful dataset takes a decade and 150+ health-system partnerships to build. This study analyses Regeneron’s data strategy, not its algorithms.</a:t>
            </a:r>
            <a:endParaRPr lang="en-US" sz="900" dirty="0"/>
          </a:p>
        </p:txBody>
      </p:sp>
      <p:sp>
        <p:nvSpPr>
          <p:cNvPr id="48" name="Text 45"/>
          <p:cNvSpPr/>
          <p:nvPr/>
        </p:nvSpPr>
        <p:spPr>
          <a:xfrm>
            <a:off x="640080" y="4681728"/>
            <a:ext cx="7863840" cy="182880"/>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Sources: Scannell et al., Nat Rev Drug Discov (2012); Minikel et al., Nature (2024) — 2.6× genetic support; ASBMB (2022); Regeneron Genetics Center.</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Effect transition="in" filter="fade">
                                      <p:cBhvr>
                                        <p:cTn id="8" dur="500"/>
                                        <p:tgtEl>
                                          <p:spTgt spid="7"/>
                                        </p:tgtEl>
                                      </p:cBhvr>
                                    </p:animEffect>
                                  </p:childTnLst>
                                </p:cTn>
                              </p:par>
                            </p:childTnLst>
                          </p:cTn>
                        </p:par>
                        <p:par>
                          <p:cTn id="9" fill="hold">
                            <p:stCondLst>
                              <p:cond delay="0"/>
                            </p:stCondLst>
                            <p:childTnLst>
                              <p:par>
                                <p:cTn id="10" presetID="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Effect transition="in" filter="fade">
                                      <p:cBhvr>
                                        <p:cTn id="13" dur="500"/>
                                        <p:tgtEl>
                                          <p:spTgt spid="8"/>
                                        </p:tgtEl>
                                      </p:cBhvr>
                                    </p:animEffect>
                                  </p:childTnLst>
                                </p:cTn>
                              </p:par>
                            </p:childTnLst>
                          </p:cTn>
                        </p:par>
                        <p:par>
                          <p:cTn id="14" fill="hold">
                            <p:stCondLst>
                              <p:cond delay="250"/>
                            </p:stCondLst>
                            <p:childTnLst>
                              <p:par>
                                <p:cTn id="15" presetID="2" presetClass="entr" presetSubtype="8"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Effect transition="in" filter="fade">
                                      <p:cBhvr>
                                        <p:cTn id="18" dur="500"/>
                                        <p:tgtEl>
                                          <p:spTgt spid="9"/>
                                        </p:tgtEl>
                                      </p:cBhvr>
                                    </p:animEffect>
                                  </p:childTnLst>
                                </p:cTn>
                              </p:par>
                            </p:childTnLst>
                          </p:cTn>
                        </p:par>
                        <p:par>
                          <p:cTn id="19" fill="hold">
                            <p:stCondLst>
                              <p:cond delay="250"/>
                            </p:stCondLst>
                            <p:childTnLst>
                              <p:par>
                                <p:cTn id="20" presetID="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0-#ppt_w/2"/>
                                          </p:val>
                                        </p:tav>
                                        <p:tav tm="100000">
                                          <p:val>
                                            <p:strVal val="#ppt_x"/>
                                          </p:val>
                                        </p:tav>
                                      </p:tavLst>
                                    </p:anim>
                                    <p:animEffect transition="in" filter="fade">
                                      <p:cBhvr>
                                        <p:cTn id="23" dur="500"/>
                                        <p:tgtEl>
                                          <p:spTgt spid="10"/>
                                        </p:tgtEl>
                                      </p:cBhvr>
                                    </p:animEffect>
                                  </p:childTnLst>
                                </p:cTn>
                              </p:par>
                            </p:childTnLst>
                          </p:cTn>
                        </p:par>
                        <p:par>
                          <p:cTn id="24" fill="hold">
                            <p:stCondLst>
                              <p:cond delay="430"/>
                            </p:stCondLst>
                            <p:childTnLst>
                              <p:par>
                                <p:cTn id="25" presetID="2" presetClass="entr" presetSubtype="8"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Effect transition="in" filter="fade">
                                      <p:cBhvr>
                                        <p:cTn id="28" dur="500"/>
                                        <p:tgtEl>
                                          <p:spTgt spid="11"/>
                                        </p:tgtEl>
                                      </p:cBhvr>
                                    </p:animEffect>
                                  </p:childTnLst>
                                </p:cTn>
                              </p:par>
                            </p:childTnLst>
                          </p:cTn>
                        </p:par>
                        <p:par>
                          <p:cTn id="29" fill="hold">
                            <p:stCondLst>
                              <p:cond delay="530"/>
                            </p:stCondLst>
                            <p:childTnLst>
                              <p:par>
                                <p:cTn id="30" presetID="2" presetClass="entr" presetSubtype="8"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0-#ppt_w/2"/>
                                          </p:val>
                                        </p:tav>
                                        <p:tav tm="100000">
                                          <p:val>
                                            <p:strVal val="#ppt_x"/>
                                          </p:val>
                                        </p:tav>
                                      </p:tavLst>
                                    </p:anim>
                                    <p:animEffect transition="in" filter="fade">
                                      <p:cBhvr>
                                        <p:cTn id="33" dur="500"/>
                                        <p:tgtEl>
                                          <p:spTgt spid="12"/>
                                        </p:tgtEl>
                                      </p:cBhvr>
                                    </p:animEffect>
                                  </p:childTnLst>
                                </p:cTn>
                              </p:par>
                            </p:childTnLst>
                          </p:cTn>
                        </p:par>
                        <p:par>
                          <p:cTn id="34" fill="hold">
                            <p:stCondLst>
                              <p:cond delay="530"/>
                            </p:stCondLst>
                            <p:childTnLst>
                              <p:par>
                                <p:cTn id="35" presetID="2" presetClass="entr" presetSubtype="8"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Effect transition="in" filter="fade">
                                      <p:cBhvr>
                                        <p:cTn id="38" dur="500"/>
                                        <p:tgtEl>
                                          <p:spTgt spid="13"/>
                                        </p:tgtEl>
                                      </p:cBhvr>
                                    </p:animEffect>
                                  </p:childTnLst>
                                </p:cTn>
                              </p:par>
                            </p:childTnLst>
                          </p:cTn>
                        </p:par>
                        <p:par>
                          <p:cTn id="39" fill="hold">
                            <p:stCondLst>
                              <p:cond delay="710"/>
                            </p:stCondLst>
                            <p:childTnLst>
                              <p:par>
                                <p:cTn id="40" presetID="2" presetClass="entr" presetSubtype="8"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0-#ppt_w/2"/>
                                          </p:val>
                                        </p:tav>
                                        <p:tav tm="100000">
                                          <p:val>
                                            <p:strVal val="#ppt_x"/>
                                          </p:val>
                                        </p:tav>
                                      </p:tavLst>
                                    </p:anim>
                                    <p:animEffect transition="in" filter="fade">
                                      <p:cBhvr>
                                        <p:cTn id="43" dur="500"/>
                                        <p:tgtEl>
                                          <p:spTgt spid="14"/>
                                        </p:tgtEl>
                                      </p:cBhvr>
                                    </p:animEffect>
                                  </p:childTnLst>
                                </p:cTn>
                              </p:par>
                            </p:childTnLst>
                          </p:cTn>
                        </p:par>
                        <p:par>
                          <p:cTn id="44" fill="hold">
                            <p:stCondLst>
                              <p:cond delay="810"/>
                            </p:stCondLst>
                            <p:childTnLst>
                              <p:par>
                                <p:cTn id="45" presetID="2" presetClass="entr" presetSubtype="8"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Effect transition="in" filter="fade">
                                      <p:cBhvr>
                                        <p:cTn id="48" dur="500"/>
                                        <p:tgtEl>
                                          <p:spTgt spid="15"/>
                                        </p:tgtEl>
                                      </p:cBhvr>
                                    </p:animEffect>
                                  </p:childTnLst>
                                </p:cTn>
                              </p:par>
                            </p:childTnLst>
                          </p:cTn>
                        </p:par>
                        <p:par>
                          <p:cTn id="49" fill="hold">
                            <p:stCondLst>
                              <p:cond delay="810"/>
                            </p:stCondLst>
                            <p:childTnLst>
                              <p:par>
                                <p:cTn id="50" presetID="2" presetClass="entr" presetSubtype="8"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ppt_x</p:attrName>
                                        </p:attrNameLst>
                                      </p:cBhvr>
                                      <p:tavLst>
                                        <p:tav tm="0">
                                          <p:val>
                                            <p:strVal val="0-#ppt_w/2"/>
                                          </p:val>
                                        </p:tav>
                                        <p:tav tm="100000">
                                          <p:val>
                                            <p:strVal val="#ppt_x"/>
                                          </p:val>
                                        </p:tav>
                                      </p:tavLst>
                                    </p:anim>
                                    <p:animEffect transition="in" filter="fade">
                                      <p:cBhvr>
                                        <p:cTn id="53" dur="500"/>
                                        <p:tgtEl>
                                          <p:spTgt spid="16"/>
                                        </p:tgtEl>
                                      </p:cBhvr>
                                    </p:animEffect>
                                  </p:childTnLst>
                                </p:cTn>
                              </p:par>
                            </p:childTnLst>
                          </p:cTn>
                        </p:par>
                        <p:par>
                          <p:cTn id="54" fill="hold">
                            <p:stCondLst>
                              <p:cond delay="990"/>
                            </p:stCondLst>
                            <p:childTnLst>
                              <p:par>
                                <p:cTn id="55" presetID="2" presetClass="entr" presetSubtype="8"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ppt_x</p:attrName>
                                        </p:attrNameLst>
                                      </p:cBhvr>
                                      <p:tavLst>
                                        <p:tav tm="0">
                                          <p:val>
                                            <p:strVal val="0-#ppt_w/2"/>
                                          </p:val>
                                        </p:tav>
                                        <p:tav tm="100000">
                                          <p:val>
                                            <p:strVal val="#ppt_x"/>
                                          </p:val>
                                        </p:tav>
                                      </p:tavLst>
                                    </p:anim>
                                    <p:animEffect transition="in" filter="fade">
                                      <p:cBhvr>
                                        <p:cTn id="58" dur="500"/>
                                        <p:tgtEl>
                                          <p:spTgt spid="17"/>
                                        </p:tgtEl>
                                      </p:cBhvr>
                                    </p:animEffect>
                                  </p:childTnLst>
                                </p:cTn>
                              </p:par>
                            </p:childTnLst>
                          </p:cTn>
                        </p:par>
                        <p:par>
                          <p:cTn id="59" fill="hold">
                            <p:stCondLst>
                              <p:cond delay="1090"/>
                            </p:stCondLst>
                            <p:childTnLst>
                              <p:par>
                                <p:cTn id="60" presetID="2" presetClass="entr" presetSubtype="8"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ppt_x</p:attrName>
                                        </p:attrNameLst>
                                      </p:cBhvr>
                                      <p:tavLst>
                                        <p:tav tm="0">
                                          <p:val>
                                            <p:strVal val="0-#ppt_w/2"/>
                                          </p:val>
                                        </p:tav>
                                        <p:tav tm="100000">
                                          <p:val>
                                            <p:strVal val="#ppt_x"/>
                                          </p:val>
                                        </p:tav>
                                      </p:tavLst>
                                    </p:anim>
                                    <p:animEffect transition="in" filter="fade">
                                      <p:cBhvr>
                                        <p:cTn id="63" dur="500"/>
                                        <p:tgtEl>
                                          <p:spTgt spid="18"/>
                                        </p:tgtEl>
                                      </p:cBhvr>
                                    </p:animEffect>
                                  </p:childTnLst>
                                </p:cTn>
                              </p:par>
                            </p:childTnLst>
                          </p:cTn>
                        </p:par>
                        <p:par>
                          <p:cTn id="64" fill="hold">
                            <p:stCondLst>
                              <p:cond delay="1090"/>
                            </p:stCondLst>
                            <p:childTnLst>
                              <p:par>
                                <p:cTn id="65" presetID="2" presetClass="entr" presetSubtype="8"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0-#ppt_w/2"/>
                                          </p:val>
                                        </p:tav>
                                        <p:tav tm="100000">
                                          <p:val>
                                            <p:strVal val="#ppt_x"/>
                                          </p:val>
                                        </p:tav>
                                      </p:tavLst>
                                    </p:anim>
                                    <p:animEffect transition="in" filter="fade">
                                      <p:cBhvr>
                                        <p:cTn id="68" dur="500"/>
                                        <p:tgtEl>
                                          <p:spTgt spid="19"/>
                                        </p:tgtEl>
                                      </p:cBhvr>
                                    </p:animEffect>
                                  </p:childTnLst>
                                </p:cTn>
                              </p:par>
                            </p:childTnLst>
                          </p:cTn>
                        </p:par>
                        <p:par>
                          <p:cTn id="69" fill="hold">
                            <p:stCondLst>
                              <p:cond delay="1270"/>
                            </p:stCondLst>
                            <p:childTnLst>
                              <p:par>
                                <p:cTn id="70" presetID="2" presetClass="entr" presetSubtype="8" fill="hold"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0-#ppt_w/2"/>
                                          </p:val>
                                        </p:tav>
                                        <p:tav tm="100000">
                                          <p:val>
                                            <p:strVal val="#ppt_x"/>
                                          </p:val>
                                        </p:tav>
                                      </p:tavLst>
                                    </p:anim>
                                    <p:animEffect transition="in" filter="fade">
                                      <p:cBhvr>
                                        <p:cTn id="73" dur="500"/>
                                        <p:tgtEl>
                                          <p:spTgt spid="20"/>
                                        </p:tgtEl>
                                      </p:cBhvr>
                                    </p:animEffect>
                                  </p:childTnLst>
                                </p:cTn>
                              </p:par>
                            </p:childTnLst>
                          </p:cTn>
                        </p:par>
                        <p:par>
                          <p:cTn id="74" fill="hold">
                            <p:stCondLst>
                              <p:cond delay="1370"/>
                            </p:stCondLst>
                            <p:childTnLst>
                              <p:par>
                                <p:cTn id="75" presetID="2" presetClass="entr" presetSubtype="8"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0-#ppt_w/2"/>
                                          </p:val>
                                        </p:tav>
                                        <p:tav tm="100000">
                                          <p:val>
                                            <p:strVal val="#ppt_x"/>
                                          </p:val>
                                        </p:tav>
                                      </p:tavLst>
                                    </p:anim>
                                    <p:animEffect transition="in" filter="fade">
                                      <p:cBhvr>
                                        <p:cTn id="78" dur="500"/>
                                        <p:tgtEl>
                                          <p:spTgt spid="21"/>
                                        </p:tgtEl>
                                      </p:cBhvr>
                                    </p:animEffect>
                                  </p:childTnLst>
                                </p:cTn>
                              </p:par>
                            </p:childTnLst>
                          </p:cTn>
                        </p:par>
                        <p:par>
                          <p:cTn id="79" fill="hold">
                            <p:stCondLst>
                              <p:cond delay="1370"/>
                            </p:stCondLst>
                            <p:childTnLst>
                              <p:par>
                                <p:cTn id="80" presetID="2" presetClass="entr" presetSubtype="8" fill="hold"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00" fill="hold"/>
                                        <p:tgtEl>
                                          <p:spTgt spid="22"/>
                                        </p:tgtEl>
                                        <p:attrNameLst>
                                          <p:attrName>ppt_x</p:attrName>
                                        </p:attrNameLst>
                                      </p:cBhvr>
                                      <p:tavLst>
                                        <p:tav tm="0">
                                          <p:val>
                                            <p:strVal val="0-#ppt_w/2"/>
                                          </p:val>
                                        </p:tav>
                                        <p:tav tm="100000">
                                          <p:val>
                                            <p:strVal val="#ppt_x"/>
                                          </p:val>
                                        </p:tav>
                                      </p:tavLst>
                                    </p:anim>
                                    <p:animEffect transition="in" filter="fade">
                                      <p:cBhvr>
                                        <p:cTn id="83" dur="500"/>
                                        <p:tgtEl>
                                          <p:spTgt spid="22"/>
                                        </p:tgtEl>
                                      </p:cBhvr>
                                    </p:animEffect>
                                  </p:childTnLst>
                                </p:cTn>
                              </p:par>
                            </p:childTnLst>
                          </p:cTn>
                        </p:par>
                        <p:par>
                          <p:cTn id="84" fill="hold">
                            <p:stCondLst>
                              <p:cond delay="1650"/>
                            </p:stCondLst>
                            <p:childTnLst>
                              <p:par>
                                <p:cTn id="85" presetID="2" presetClass="entr" presetSubtype="8" fill="hold" nodeType="withEffect">
                                  <p:stCondLst>
                                    <p:cond delay="0"/>
                                  </p:stCondLst>
                                  <p:childTnLst>
                                    <p:set>
                                      <p:cBhvr>
                                        <p:cTn id="86" dur="1" fill="hold">
                                          <p:stCondLst>
                                            <p:cond delay="0"/>
                                          </p:stCondLst>
                                        </p:cTn>
                                        <p:tgtEl>
                                          <p:spTgt spid="40"/>
                                        </p:tgtEl>
                                        <p:attrNameLst>
                                          <p:attrName>style.visibility</p:attrName>
                                        </p:attrNameLst>
                                      </p:cBhvr>
                                      <p:to>
                                        <p:strVal val="visible"/>
                                      </p:to>
                                    </p:set>
                                    <p:anim calcmode="lin" valueType="num">
                                      <p:cBhvr additive="base">
                                        <p:cTn id="87" dur="500" fill="hold"/>
                                        <p:tgtEl>
                                          <p:spTgt spid="40"/>
                                        </p:tgtEl>
                                        <p:attrNameLst>
                                          <p:attrName>ppt_x</p:attrName>
                                        </p:attrNameLst>
                                      </p:cBhvr>
                                      <p:tavLst>
                                        <p:tav tm="0">
                                          <p:val>
                                            <p:strVal val="0-#ppt_w/2"/>
                                          </p:val>
                                        </p:tav>
                                        <p:tav tm="100000">
                                          <p:val>
                                            <p:strVal val="#ppt_x"/>
                                          </p:val>
                                        </p:tav>
                                      </p:tavLst>
                                    </p:anim>
                                    <p:animEffect transition="in" filter="fade">
                                      <p:cBhvr>
                                        <p:cTn id="88" dur="500"/>
                                        <p:tgtEl>
                                          <p:spTgt spid="40"/>
                                        </p:tgtEl>
                                      </p:cBhvr>
                                    </p:animEffect>
                                  </p:childTnLst>
                                </p:cTn>
                              </p:par>
                            </p:childTnLst>
                          </p:cTn>
                        </p:par>
                        <p:par>
                          <p:cTn id="89" fill="hold">
                            <p:stCondLst>
                              <p:cond delay="1650"/>
                            </p:stCondLst>
                            <p:childTnLst>
                              <p:par>
                                <p:cTn id="90" presetID="2" presetClass="entr" presetSubtype="8" fill="hold" nodeType="withEffect">
                                  <p:stCondLst>
                                    <p:cond delay="0"/>
                                  </p:stCondLst>
                                  <p:childTnLst>
                                    <p:set>
                                      <p:cBhvr>
                                        <p:cTn id="91" dur="1" fill="hold">
                                          <p:stCondLst>
                                            <p:cond delay="0"/>
                                          </p:stCondLst>
                                        </p:cTn>
                                        <p:tgtEl>
                                          <p:spTgt spid="41"/>
                                        </p:tgtEl>
                                        <p:attrNameLst>
                                          <p:attrName>style.visibility</p:attrName>
                                        </p:attrNameLst>
                                      </p:cBhvr>
                                      <p:to>
                                        <p:strVal val="visible"/>
                                      </p:to>
                                    </p:set>
                                    <p:anim calcmode="lin" valueType="num">
                                      <p:cBhvr additive="base">
                                        <p:cTn id="92" dur="500" fill="hold"/>
                                        <p:tgtEl>
                                          <p:spTgt spid="41"/>
                                        </p:tgtEl>
                                        <p:attrNameLst>
                                          <p:attrName>ppt_x</p:attrName>
                                        </p:attrNameLst>
                                      </p:cBhvr>
                                      <p:tavLst>
                                        <p:tav tm="0">
                                          <p:val>
                                            <p:strVal val="0-#ppt_w/2"/>
                                          </p:val>
                                        </p:tav>
                                        <p:tav tm="100000">
                                          <p:val>
                                            <p:strVal val="#ppt_x"/>
                                          </p:val>
                                        </p:tav>
                                      </p:tavLst>
                                    </p:anim>
                                    <p:animEffect transition="in" filter="fade">
                                      <p:cBhvr>
                                        <p:cTn id="93" dur="500"/>
                                        <p:tgtEl>
                                          <p:spTgt spid="41"/>
                                        </p:tgtEl>
                                      </p:cBhvr>
                                    </p:animEffect>
                                  </p:childTnLst>
                                </p:cTn>
                              </p:par>
                            </p:childTnLst>
                          </p:cTn>
                        </p:par>
                        <p:par>
                          <p:cTn id="94" fill="hold">
                            <p:stCondLst>
                              <p:cond delay="2100"/>
                            </p:stCondLst>
                            <p:childTnLst>
                              <p:par>
                                <p:cTn id="95" presetID="2" presetClass="entr" presetSubtype="1" fill="hold"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ppt_y</p:attrName>
                                        </p:attrNameLst>
                                      </p:cBhvr>
                                      <p:tavLst>
                                        <p:tav tm="0">
                                          <p:val>
                                            <p:strVal val="0-#ppt_h/2"/>
                                          </p:val>
                                        </p:tav>
                                        <p:tav tm="100000">
                                          <p:val>
                                            <p:strVal val="#ppt_y"/>
                                          </p:val>
                                        </p:tav>
                                      </p:tavLst>
                                    </p:anim>
                                    <p:animEffect transition="in" filter="fade">
                                      <p:cBhvr>
                                        <p:cTn id="98" dur="500"/>
                                        <p:tgtEl>
                                          <p:spTgt spid="23"/>
                                        </p:tgtEl>
                                      </p:cBhvr>
                                    </p:animEffect>
                                  </p:childTnLst>
                                </p:cTn>
                              </p:par>
                            </p:childTnLst>
                          </p:cTn>
                        </p:par>
                        <p:par>
                          <p:cTn id="99" fill="hold">
                            <p:stCondLst>
                              <p:cond delay="2650"/>
                            </p:stCondLst>
                            <p:childTnLst>
                              <p:par>
                                <p:cTn id="100" presetID="2" presetClass="entr" presetSubtype="8" fill="hold"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additive="base">
                                        <p:cTn id="102" dur="500" fill="hold"/>
                                        <p:tgtEl>
                                          <p:spTgt spid="24"/>
                                        </p:tgtEl>
                                        <p:attrNameLst>
                                          <p:attrName>ppt_x</p:attrName>
                                        </p:attrNameLst>
                                      </p:cBhvr>
                                      <p:tavLst>
                                        <p:tav tm="0">
                                          <p:val>
                                            <p:strVal val="0-#ppt_w/2"/>
                                          </p:val>
                                        </p:tav>
                                        <p:tav tm="100000">
                                          <p:val>
                                            <p:strVal val="#ppt_x"/>
                                          </p:val>
                                        </p:tav>
                                      </p:tavLst>
                                    </p:anim>
                                    <p:animEffect transition="in" filter="fade">
                                      <p:cBhvr>
                                        <p:cTn id="103" dur="500"/>
                                        <p:tgtEl>
                                          <p:spTgt spid="24"/>
                                        </p:tgtEl>
                                      </p:cBhvr>
                                    </p:animEffect>
                                  </p:childTnLst>
                                </p:cTn>
                              </p:par>
                            </p:childTnLst>
                          </p:cTn>
                        </p:par>
                        <p:par>
                          <p:cTn id="104" fill="hold">
                            <p:stCondLst>
                              <p:cond delay="2650"/>
                            </p:stCondLst>
                            <p:childTnLst>
                              <p:par>
                                <p:cTn id="105" presetID="2" presetClass="entr" presetSubtype="8"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additive="base">
                                        <p:cTn id="107" dur="500" fill="hold"/>
                                        <p:tgtEl>
                                          <p:spTgt spid="25"/>
                                        </p:tgtEl>
                                        <p:attrNameLst>
                                          <p:attrName>ppt_x</p:attrName>
                                        </p:attrNameLst>
                                      </p:cBhvr>
                                      <p:tavLst>
                                        <p:tav tm="0">
                                          <p:val>
                                            <p:strVal val="0-#ppt_w/2"/>
                                          </p:val>
                                        </p:tav>
                                        <p:tav tm="100000">
                                          <p:val>
                                            <p:strVal val="#ppt_x"/>
                                          </p:val>
                                        </p:tav>
                                      </p:tavLst>
                                    </p:anim>
                                    <p:animEffect transition="in" filter="fade">
                                      <p:cBhvr>
                                        <p:cTn id="108" dur="500"/>
                                        <p:tgtEl>
                                          <p:spTgt spid="25"/>
                                        </p:tgtEl>
                                      </p:cBhvr>
                                    </p:animEffect>
                                  </p:childTnLst>
                                </p:cTn>
                              </p:par>
                            </p:childTnLst>
                          </p:cTn>
                        </p:par>
                        <p:par>
                          <p:cTn id="109" fill="hold">
                            <p:stCondLst>
                              <p:cond delay="2900"/>
                            </p:stCondLst>
                            <p:childTnLst>
                              <p:par>
                                <p:cTn id="110" presetID="2" presetClass="entr" presetSubtype="8" fill="hold" nodeType="withEffect">
                                  <p:stCondLst>
                                    <p:cond delay="0"/>
                                  </p:stCondLst>
                                  <p:childTnLst>
                                    <p:set>
                                      <p:cBhvr>
                                        <p:cTn id="111" dur="1" fill="hold">
                                          <p:stCondLst>
                                            <p:cond delay="0"/>
                                          </p:stCondLst>
                                        </p:cTn>
                                        <p:tgtEl>
                                          <p:spTgt spid="26"/>
                                        </p:tgtEl>
                                        <p:attrNameLst>
                                          <p:attrName>style.visibility</p:attrName>
                                        </p:attrNameLst>
                                      </p:cBhvr>
                                      <p:to>
                                        <p:strVal val="visible"/>
                                      </p:to>
                                    </p:set>
                                    <p:anim calcmode="lin" valueType="num">
                                      <p:cBhvr additive="base">
                                        <p:cTn id="112" dur="500" fill="hold"/>
                                        <p:tgtEl>
                                          <p:spTgt spid="26"/>
                                        </p:tgtEl>
                                        <p:attrNameLst>
                                          <p:attrName>ppt_x</p:attrName>
                                        </p:attrNameLst>
                                      </p:cBhvr>
                                      <p:tavLst>
                                        <p:tav tm="0">
                                          <p:val>
                                            <p:strVal val="0-#ppt_w/2"/>
                                          </p:val>
                                        </p:tav>
                                        <p:tav tm="100000">
                                          <p:val>
                                            <p:strVal val="#ppt_x"/>
                                          </p:val>
                                        </p:tav>
                                      </p:tavLst>
                                    </p:anim>
                                    <p:animEffect transition="in" filter="fade">
                                      <p:cBhvr>
                                        <p:cTn id="113" dur="500"/>
                                        <p:tgtEl>
                                          <p:spTgt spid="26"/>
                                        </p:tgtEl>
                                      </p:cBhvr>
                                    </p:animEffect>
                                  </p:childTnLst>
                                </p:cTn>
                              </p:par>
                            </p:childTnLst>
                          </p:cTn>
                        </p:par>
                        <p:par>
                          <p:cTn id="114" fill="hold">
                            <p:stCondLst>
                              <p:cond delay="2900"/>
                            </p:stCondLst>
                            <p:childTnLst>
                              <p:par>
                                <p:cTn id="115" presetID="2" presetClass="entr" presetSubtype="8" fill="hold" nodeType="withEffect">
                                  <p:stCondLst>
                                    <p:cond delay="0"/>
                                  </p:stCondLst>
                                  <p:childTnLst>
                                    <p:set>
                                      <p:cBhvr>
                                        <p:cTn id="116" dur="1" fill="hold">
                                          <p:stCondLst>
                                            <p:cond delay="0"/>
                                          </p:stCondLst>
                                        </p:cTn>
                                        <p:tgtEl>
                                          <p:spTgt spid="27"/>
                                        </p:tgtEl>
                                        <p:attrNameLst>
                                          <p:attrName>style.visibility</p:attrName>
                                        </p:attrNameLst>
                                      </p:cBhvr>
                                      <p:to>
                                        <p:strVal val="visible"/>
                                      </p:to>
                                    </p:set>
                                    <p:anim calcmode="lin" valueType="num">
                                      <p:cBhvr additive="base">
                                        <p:cTn id="117" dur="500" fill="hold"/>
                                        <p:tgtEl>
                                          <p:spTgt spid="27"/>
                                        </p:tgtEl>
                                        <p:attrNameLst>
                                          <p:attrName>ppt_x</p:attrName>
                                        </p:attrNameLst>
                                      </p:cBhvr>
                                      <p:tavLst>
                                        <p:tav tm="0">
                                          <p:val>
                                            <p:strVal val="0-#ppt_w/2"/>
                                          </p:val>
                                        </p:tav>
                                        <p:tav tm="100000">
                                          <p:val>
                                            <p:strVal val="#ppt_x"/>
                                          </p:val>
                                        </p:tav>
                                      </p:tavLst>
                                    </p:anim>
                                    <p:animEffect transition="in" filter="fade">
                                      <p:cBhvr>
                                        <p:cTn id="118" dur="500"/>
                                        <p:tgtEl>
                                          <p:spTgt spid="27"/>
                                        </p:tgtEl>
                                      </p:cBhvr>
                                    </p:animEffect>
                                  </p:childTnLst>
                                </p:cTn>
                              </p:par>
                            </p:childTnLst>
                          </p:cTn>
                        </p:par>
                        <p:par>
                          <p:cTn id="119" fill="hold">
                            <p:stCondLst>
                              <p:cond delay="3080"/>
                            </p:stCondLst>
                            <p:childTnLst>
                              <p:par>
                                <p:cTn id="120" presetID="2" presetClass="entr" presetSubtype="8" fill="hold" nodeType="withEffect">
                                  <p:stCondLst>
                                    <p:cond delay="0"/>
                                  </p:stCondLst>
                                  <p:childTnLst>
                                    <p:set>
                                      <p:cBhvr>
                                        <p:cTn id="121" dur="1" fill="hold">
                                          <p:stCondLst>
                                            <p:cond delay="0"/>
                                          </p:stCondLst>
                                        </p:cTn>
                                        <p:tgtEl>
                                          <p:spTgt spid="28"/>
                                        </p:tgtEl>
                                        <p:attrNameLst>
                                          <p:attrName>style.visibility</p:attrName>
                                        </p:attrNameLst>
                                      </p:cBhvr>
                                      <p:to>
                                        <p:strVal val="visible"/>
                                      </p:to>
                                    </p:set>
                                    <p:anim calcmode="lin" valueType="num">
                                      <p:cBhvr additive="base">
                                        <p:cTn id="122" dur="500" fill="hold"/>
                                        <p:tgtEl>
                                          <p:spTgt spid="28"/>
                                        </p:tgtEl>
                                        <p:attrNameLst>
                                          <p:attrName>ppt_x</p:attrName>
                                        </p:attrNameLst>
                                      </p:cBhvr>
                                      <p:tavLst>
                                        <p:tav tm="0">
                                          <p:val>
                                            <p:strVal val="0-#ppt_w/2"/>
                                          </p:val>
                                        </p:tav>
                                        <p:tav tm="100000">
                                          <p:val>
                                            <p:strVal val="#ppt_x"/>
                                          </p:val>
                                        </p:tav>
                                      </p:tavLst>
                                    </p:anim>
                                    <p:animEffect transition="in" filter="fade">
                                      <p:cBhvr>
                                        <p:cTn id="123" dur="500"/>
                                        <p:tgtEl>
                                          <p:spTgt spid="28"/>
                                        </p:tgtEl>
                                      </p:cBhvr>
                                    </p:animEffect>
                                  </p:childTnLst>
                                </p:cTn>
                              </p:par>
                            </p:childTnLst>
                          </p:cTn>
                        </p:par>
                        <p:par>
                          <p:cTn id="124" fill="hold">
                            <p:stCondLst>
                              <p:cond delay="3180"/>
                            </p:stCondLst>
                            <p:childTnLst>
                              <p:par>
                                <p:cTn id="125" presetID="2" presetClass="entr" presetSubtype="8"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additive="base">
                                        <p:cTn id="127" dur="500" fill="hold"/>
                                        <p:tgtEl>
                                          <p:spTgt spid="29"/>
                                        </p:tgtEl>
                                        <p:attrNameLst>
                                          <p:attrName>ppt_x</p:attrName>
                                        </p:attrNameLst>
                                      </p:cBhvr>
                                      <p:tavLst>
                                        <p:tav tm="0">
                                          <p:val>
                                            <p:strVal val="0-#ppt_w/2"/>
                                          </p:val>
                                        </p:tav>
                                        <p:tav tm="100000">
                                          <p:val>
                                            <p:strVal val="#ppt_x"/>
                                          </p:val>
                                        </p:tav>
                                      </p:tavLst>
                                    </p:anim>
                                    <p:animEffect transition="in" filter="fade">
                                      <p:cBhvr>
                                        <p:cTn id="128" dur="500"/>
                                        <p:tgtEl>
                                          <p:spTgt spid="29"/>
                                        </p:tgtEl>
                                      </p:cBhvr>
                                    </p:animEffect>
                                  </p:childTnLst>
                                </p:cTn>
                              </p:par>
                            </p:childTnLst>
                          </p:cTn>
                        </p:par>
                        <p:par>
                          <p:cTn id="129" fill="hold">
                            <p:stCondLst>
                              <p:cond delay="3180"/>
                            </p:stCondLst>
                            <p:childTnLst>
                              <p:par>
                                <p:cTn id="130" presetID="2" presetClass="entr" presetSubtype="8" fill="hold"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additive="base">
                                        <p:cTn id="132" dur="500" fill="hold"/>
                                        <p:tgtEl>
                                          <p:spTgt spid="30"/>
                                        </p:tgtEl>
                                        <p:attrNameLst>
                                          <p:attrName>ppt_x</p:attrName>
                                        </p:attrNameLst>
                                      </p:cBhvr>
                                      <p:tavLst>
                                        <p:tav tm="0">
                                          <p:val>
                                            <p:strVal val="0-#ppt_w/2"/>
                                          </p:val>
                                        </p:tav>
                                        <p:tav tm="100000">
                                          <p:val>
                                            <p:strVal val="#ppt_x"/>
                                          </p:val>
                                        </p:tav>
                                      </p:tavLst>
                                    </p:anim>
                                    <p:animEffect transition="in" filter="fade">
                                      <p:cBhvr>
                                        <p:cTn id="133" dur="500"/>
                                        <p:tgtEl>
                                          <p:spTgt spid="30"/>
                                        </p:tgtEl>
                                      </p:cBhvr>
                                    </p:animEffect>
                                  </p:childTnLst>
                                </p:cTn>
                              </p:par>
                            </p:childTnLst>
                          </p:cTn>
                        </p:par>
                        <p:par>
                          <p:cTn id="134" fill="hold">
                            <p:stCondLst>
                              <p:cond delay="3360"/>
                            </p:stCondLst>
                            <p:childTnLst>
                              <p:par>
                                <p:cTn id="135" presetID="2" presetClass="entr" presetSubtype="8" fill="hold"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additive="base">
                                        <p:cTn id="137" dur="500" fill="hold"/>
                                        <p:tgtEl>
                                          <p:spTgt spid="31"/>
                                        </p:tgtEl>
                                        <p:attrNameLst>
                                          <p:attrName>ppt_x</p:attrName>
                                        </p:attrNameLst>
                                      </p:cBhvr>
                                      <p:tavLst>
                                        <p:tav tm="0">
                                          <p:val>
                                            <p:strVal val="0-#ppt_w/2"/>
                                          </p:val>
                                        </p:tav>
                                        <p:tav tm="100000">
                                          <p:val>
                                            <p:strVal val="#ppt_x"/>
                                          </p:val>
                                        </p:tav>
                                      </p:tavLst>
                                    </p:anim>
                                    <p:animEffect transition="in" filter="fade">
                                      <p:cBhvr>
                                        <p:cTn id="138" dur="500"/>
                                        <p:tgtEl>
                                          <p:spTgt spid="31"/>
                                        </p:tgtEl>
                                      </p:cBhvr>
                                    </p:animEffect>
                                  </p:childTnLst>
                                </p:cTn>
                              </p:par>
                            </p:childTnLst>
                          </p:cTn>
                        </p:par>
                        <p:par>
                          <p:cTn id="139" fill="hold">
                            <p:stCondLst>
                              <p:cond delay="3460"/>
                            </p:stCondLst>
                            <p:childTnLst>
                              <p:par>
                                <p:cTn id="140" presetID="2" presetClass="entr" presetSubtype="8" fill="hold"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additive="base">
                                        <p:cTn id="142" dur="500" fill="hold"/>
                                        <p:tgtEl>
                                          <p:spTgt spid="32"/>
                                        </p:tgtEl>
                                        <p:attrNameLst>
                                          <p:attrName>ppt_x</p:attrName>
                                        </p:attrNameLst>
                                      </p:cBhvr>
                                      <p:tavLst>
                                        <p:tav tm="0">
                                          <p:val>
                                            <p:strVal val="0-#ppt_w/2"/>
                                          </p:val>
                                        </p:tav>
                                        <p:tav tm="100000">
                                          <p:val>
                                            <p:strVal val="#ppt_x"/>
                                          </p:val>
                                        </p:tav>
                                      </p:tavLst>
                                    </p:anim>
                                    <p:animEffect transition="in" filter="fade">
                                      <p:cBhvr>
                                        <p:cTn id="143" dur="500"/>
                                        <p:tgtEl>
                                          <p:spTgt spid="32"/>
                                        </p:tgtEl>
                                      </p:cBhvr>
                                    </p:animEffect>
                                  </p:childTnLst>
                                </p:cTn>
                              </p:par>
                            </p:childTnLst>
                          </p:cTn>
                        </p:par>
                        <p:par>
                          <p:cTn id="144" fill="hold">
                            <p:stCondLst>
                              <p:cond delay="3460"/>
                            </p:stCondLst>
                            <p:childTnLst>
                              <p:par>
                                <p:cTn id="145" presetID="2" presetClass="entr" presetSubtype="8"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additive="base">
                                        <p:cTn id="147" dur="500" fill="hold"/>
                                        <p:tgtEl>
                                          <p:spTgt spid="33"/>
                                        </p:tgtEl>
                                        <p:attrNameLst>
                                          <p:attrName>ppt_x</p:attrName>
                                        </p:attrNameLst>
                                      </p:cBhvr>
                                      <p:tavLst>
                                        <p:tav tm="0">
                                          <p:val>
                                            <p:strVal val="0-#ppt_w/2"/>
                                          </p:val>
                                        </p:tav>
                                        <p:tav tm="100000">
                                          <p:val>
                                            <p:strVal val="#ppt_x"/>
                                          </p:val>
                                        </p:tav>
                                      </p:tavLst>
                                    </p:anim>
                                    <p:animEffect transition="in" filter="fade">
                                      <p:cBhvr>
                                        <p:cTn id="148" dur="500"/>
                                        <p:tgtEl>
                                          <p:spTgt spid="33"/>
                                        </p:tgtEl>
                                      </p:cBhvr>
                                    </p:animEffect>
                                  </p:childTnLst>
                                </p:cTn>
                              </p:par>
                            </p:childTnLst>
                          </p:cTn>
                        </p:par>
                        <p:par>
                          <p:cTn id="149" fill="hold">
                            <p:stCondLst>
                              <p:cond delay="3640"/>
                            </p:stCondLst>
                            <p:childTnLst>
                              <p:par>
                                <p:cTn id="150" presetID="2" presetClass="entr" presetSubtype="8" fill="hold" nodeType="with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additive="base">
                                        <p:cTn id="152" dur="500" fill="hold"/>
                                        <p:tgtEl>
                                          <p:spTgt spid="34"/>
                                        </p:tgtEl>
                                        <p:attrNameLst>
                                          <p:attrName>ppt_x</p:attrName>
                                        </p:attrNameLst>
                                      </p:cBhvr>
                                      <p:tavLst>
                                        <p:tav tm="0">
                                          <p:val>
                                            <p:strVal val="0-#ppt_w/2"/>
                                          </p:val>
                                        </p:tav>
                                        <p:tav tm="100000">
                                          <p:val>
                                            <p:strVal val="#ppt_x"/>
                                          </p:val>
                                        </p:tav>
                                      </p:tavLst>
                                    </p:anim>
                                    <p:animEffect transition="in" filter="fade">
                                      <p:cBhvr>
                                        <p:cTn id="153" dur="500"/>
                                        <p:tgtEl>
                                          <p:spTgt spid="34"/>
                                        </p:tgtEl>
                                      </p:cBhvr>
                                    </p:animEffect>
                                  </p:childTnLst>
                                </p:cTn>
                              </p:par>
                            </p:childTnLst>
                          </p:cTn>
                        </p:par>
                        <p:par>
                          <p:cTn id="154" fill="hold">
                            <p:stCondLst>
                              <p:cond delay="3740"/>
                            </p:stCondLst>
                            <p:childTnLst>
                              <p:par>
                                <p:cTn id="155" presetID="2" presetClass="entr" presetSubtype="8"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anim calcmode="lin" valueType="num">
                                      <p:cBhvr additive="base">
                                        <p:cTn id="157" dur="500" fill="hold"/>
                                        <p:tgtEl>
                                          <p:spTgt spid="35"/>
                                        </p:tgtEl>
                                        <p:attrNameLst>
                                          <p:attrName>ppt_x</p:attrName>
                                        </p:attrNameLst>
                                      </p:cBhvr>
                                      <p:tavLst>
                                        <p:tav tm="0">
                                          <p:val>
                                            <p:strVal val="0-#ppt_w/2"/>
                                          </p:val>
                                        </p:tav>
                                        <p:tav tm="100000">
                                          <p:val>
                                            <p:strVal val="#ppt_x"/>
                                          </p:val>
                                        </p:tav>
                                      </p:tavLst>
                                    </p:anim>
                                    <p:animEffect transition="in" filter="fade">
                                      <p:cBhvr>
                                        <p:cTn id="158" dur="500"/>
                                        <p:tgtEl>
                                          <p:spTgt spid="35"/>
                                        </p:tgtEl>
                                      </p:cBhvr>
                                    </p:animEffect>
                                  </p:childTnLst>
                                </p:cTn>
                              </p:par>
                            </p:childTnLst>
                          </p:cTn>
                        </p:par>
                        <p:par>
                          <p:cTn id="159" fill="hold">
                            <p:stCondLst>
                              <p:cond delay="3740"/>
                            </p:stCondLst>
                            <p:childTnLst>
                              <p:par>
                                <p:cTn id="160" presetID="2" presetClass="entr" presetSubtype="8" fill="hold" nodeType="withEffect">
                                  <p:stCondLst>
                                    <p:cond delay="0"/>
                                  </p:stCondLst>
                                  <p:childTnLst>
                                    <p:set>
                                      <p:cBhvr>
                                        <p:cTn id="161" dur="1" fill="hold">
                                          <p:stCondLst>
                                            <p:cond delay="0"/>
                                          </p:stCondLst>
                                        </p:cTn>
                                        <p:tgtEl>
                                          <p:spTgt spid="36"/>
                                        </p:tgtEl>
                                        <p:attrNameLst>
                                          <p:attrName>style.visibility</p:attrName>
                                        </p:attrNameLst>
                                      </p:cBhvr>
                                      <p:to>
                                        <p:strVal val="visible"/>
                                      </p:to>
                                    </p:set>
                                    <p:anim calcmode="lin" valueType="num">
                                      <p:cBhvr additive="base">
                                        <p:cTn id="162" dur="500" fill="hold"/>
                                        <p:tgtEl>
                                          <p:spTgt spid="36"/>
                                        </p:tgtEl>
                                        <p:attrNameLst>
                                          <p:attrName>ppt_x</p:attrName>
                                        </p:attrNameLst>
                                      </p:cBhvr>
                                      <p:tavLst>
                                        <p:tav tm="0">
                                          <p:val>
                                            <p:strVal val="0-#ppt_w/2"/>
                                          </p:val>
                                        </p:tav>
                                        <p:tav tm="100000">
                                          <p:val>
                                            <p:strVal val="#ppt_x"/>
                                          </p:val>
                                        </p:tav>
                                      </p:tavLst>
                                    </p:anim>
                                    <p:animEffect transition="in" filter="fade">
                                      <p:cBhvr>
                                        <p:cTn id="163" dur="500"/>
                                        <p:tgtEl>
                                          <p:spTgt spid="36"/>
                                        </p:tgtEl>
                                      </p:cBhvr>
                                    </p:animEffect>
                                  </p:childTnLst>
                                </p:cTn>
                              </p:par>
                            </p:childTnLst>
                          </p:cTn>
                        </p:par>
                        <p:par>
                          <p:cTn id="164" fill="hold">
                            <p:stCondLst>
                              <p:cond delay="3920"/>
                            </p:stCondLst>
                            <p:childTnLst>
                              <p:par>
                                <p:cTn id="165" presetID="2" presetClass="entr" presetSubtype="8" fill="hold" nodeType="with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additive="base">
                                        <p:cTn id="167" dur="500" fill="hold"/>
                                        <p:tgtEl>
                                          <p:spTgt spid="37"/>
                                        </p:tgtEl>
                                        <p:attrNameLst>
                                          <p:attrName>ppt_x</p:attrName>
                                        </p:attrNameLst>
                                      </p:cBhvr>
                                      <p:tavLst>
                                        <p:tav tm="0">
                                          <p:val>
                                            <p:strVal val="0-#ppt_w/2"/>
                                          </p:val>
                                        </p:tav>
                                        <p:tav tm="100000">
                                          <p:val>
                                            <p:strVal val="#ppt_x"/>
                                          </p:val>
                                        </p:tav>
                                      </p:tavLst>
                                    </p:anim>
                                    <p:animEffect transition="in" filter="fade">
                                      <p:cBhvr>
                                        <p:cTn id="168" dur="500"/>
                                        <p:tgtEl>
                                          <p:spTgt spid="37"/>
                                        </p:tgtEl>
                                      </p:cBhvr>
                                    </p:animEffect>
                                  </p:childTnLst>
                                </p:cTn>
                              </p:par>
                            </p:childTnLst>
                          </p:cTn>
                        </p:par>
                        <p:par>
                          <p:cTn id="169" fill="hold">
                            <p:stCondLst>
                              <p:cond delay="4020"/>
                            </p:stCondLst>
                            <p:childTnLst>
                              <p:par>
                                <p:cTn id="170" presetID="2" presetClass="entr" presetSubtype="8"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 calcmode="lin" valueType="num">
                                      <p:cBhvr additive="base">
                                        <p:cTn id="172" dur="500" fill="hold"/>
                                        <p:tgtEl>
                                          <p:spTgt spid="38"/>
                                        </p:tgtEl>
                                        <p:attrNameLst>
                                          <p:attrName>ppt_x</p:attrName>
                                        </p:attrNameLst>
                                      </p:cBhvr>
                                      <p:tavLst>
                                        <p:tav tm="0">
                                          <p:val>
                                            <p:strVal val="0-#ppt_w/2"/>
                                          </p:val>
                                        </p:tav>
                                        <p:tav tm="100000">
                                          <p:val>
                                            <p:strVal val="#ppt_x"/>
                                          </p:val>
                                        </p:tav>
                                      </p:tavLst>
                                    </p:anim>
                                    <p:animEffect transition="in" filter="fade">
                                      <p:cBhvr>
                                        <p:cTn id="173" dur="500"/>
                                        <p:tgtEl>
                                          <p:spTgt spid="38"/>
                                        </p:tgtEl>
                                      </p:cBhvr>
                                    </p:animEffect>
                                  </p:childTnLst>
                                </p:cTn>
                              </p:par>
                            </p:childTnLst>
                          </p:cTn>
                        </p:par>
                        <p:par>
                          <p:cTn id="174" fill="hold">
                            <p:stCondLst>
                              <p:cond delay="4020"/>
                            </p:stCondLst>
                            <p:childTnLst>
                              <p:par>
                                <p:cTn id="175" presetID="2" presetClass="entr" presetSubtype="8" fill="hold" nodeType="withEffect">
                                  <p:stCondLst>
                                    <p:cond delay="0"/>
                                  </p:stCondLst>
                                  <p:childTnLst>
                                    <p:set>
                                      <p:cBhvr>
                                        <p:cTn id="176" dur="1" fill="hold">
                                          <p:stCondLst>
                                            <p:cond delay="0"/>
                                          </p:stCondLst>
                                        </p:cTn>
                                        <p:tgtEl>
                                          <p:spTgt spid="39"/>
                                        </p:tgtEl>
                                        <p:attrNameLst>
                                          <p:attrName>style.visibility</p:attrName>
                                        </p:attrNameLst>
                                      </p:cBhvr>
                                      <p:to>
                                        <p:strVal val="visible"/>
                                      </p:to>
                                    </p:set>
                                    <p:anim calcmode="lin" valueType="num">
                                      <p:cBhvr additive="base">
                                        <p:cTn id="177" dur="500" fill="hold"/>
                                        <p:tgtEl>
                                          <p:spTgt spid="39"/>
                                        </p:tgtEl>
                                        <p:attrNameLst>
                                          <p:attrName>ppt_x</p:attrName>
                                        </p:attrNameLst>
                                      </p:cBhvr>
                                      <p:tavLst>
                                        <p:tav tm="0">
                                          <p:val>
                                            <p:strVal val="0-#ppt_w/2"/>
                                          </p:val>
                                        </p:tav>
                                        <p:tav tm="100000">
                                          <p:val>
                                            <p:strVal val="#ppt_x"/>
                                          </p:val>
                                        </p:tav>
                                      </p:tavLst>
                                    </p:anim>
                                    <p:animEffect transition="in" filter="fade">
                                      <p:cBhvr>
                                        <p:cTn id="178" dur="500"/>
                                        <p:tgtEl>
                                          <p:spTgt spid="39"/>
                                        </p:tgtEl>
                                      </p:cBhvr>
                                    </p:animEffect>
                                  </p:childTnLst>
                                </p:cTn>
                              </p:par>
                            </p:childTnLst>
                          </p:cTn>
                        </p:par>
                        <p:par>
                          <p:cTn id="179" fill="hold">
                            <p:stCondLst>
                              <p:cond delay="4300"/>
                            </p:stCondLst>
                            <p:childTnLst>
                              <p:par>
                                <p:cTn id="180" presetID="2" presetClass="entr" presetSubtype="8" fill="hold" nodeType="withEffect">
                                  <p:stCondLst>
                                    <p:cond delay="0"/>
                                  </p:stCondLst>
                                  <p:childTnLst>
                                    <p:set>
                                      <p:cBhvr>
                                        <p:cTn id="181" dur="1" fill="hold">
                                          <p:stCondLst>
                                            <p:cond delay="0"/>
                                          </p:stCondLst>
                                        </p:cTn>
                                        <p:tgtEl>
                                          <p:spTgt spid="42"/>
                                        </p:tgtEl>
                                        <p:attrNameLst>
                                          <p:attrName>style.visibility</p:attrName>
                                        </p:attrNameLst>
                                      </p:cBhvr>
                                      <p:to>
                                        <p:strVal val="visible"/>
                                      </p:to>
                                    </p:set>
                                    <p:anim calcmode="lin" valueType="num">
                                      <p:cBhvr additive="base">
                                        <p:cTn id="182" dur="500" fill="hold"/>
                                        <p:tgtEl>
                                          <p:spTgt spid="42"/>
                                        </p:tgtEl>
                                        <p:attrNameLst>
                                          <p:attrName>ppt_x</p:attrName>
                                        </p:attrNameLst>
                                      </p:cBhvr>
                                      <p:tavLst>
                                        <p:tav tm="0">
                                          <p:val>
                                            <p:strVal val="0-#ppt_w/2"/>
                                          </p:val>
                                        </p:tav>
                                        <p:tav tm="100000">
                                          <p:val>
                                            <p:strVal val="#ppt_x"/>
                                          </p:val>
                                        </p:tav>
                                      </p:tavLst>
                                    </p:anim>
                                    <p:animEffect transition="in" filter="fade">
                                      <p:cBhvr>
                                        <p:cTn id="183" dur="500"/>
                                        <p:tgtEl>
                                          <p:spTgt spid="42"/>
                                        </p:tgtEl>
                                      </p:cBhvr>
                                    </p:animEffect>
                                  </p:childTnLst>
                                </p:cTn>
                              </p:par>
                            </p:childTnLst>
                          </p:cTn>
                        </p:par>
                        <p:par>
                          <p:cTn id="184" fill="hold">
                            <p:stCondLst>
                              <p:cond delay="4300"/>
                            </p:stCondLst>
                            <p:childTnLst>
                              <p:par>
                                <p:cTn id="185" presetID="2" presetClass="entr" presetSubtype="8" fill="hold" nodeType="withEffect">
                                  <p:stCondLst>
                                    <p:cond delay="0"/>
                                  </p:stCondLst>
                                  <p:childTnLst>
                                    <p:set>
                                      <p:cBhvr>
                                        <p:cTn id="186" dur="1" fill="hold">
                                          <p:stCondLst>
                                            <p:cond delay="0"/>
                                          </p:stCondLst>
                                        </p:cTn>
                                        <p:tgtEl>
                                          <p:spTgt spid="43"/>
                                        </p:tgtEl>
                                        <p:attrNameLst>
                                          <p:attrName>style.visibility</p:attrName>
                                        </p:attrNameLst>
                                      </p:cBhvr>
                                      <p:to>
                                        <p:strVal val="visible"/>
                                      </p:to>
                                    </p:set>
                                    <p:anim calcmode="lin" valueType="num">
                                      <p:cBhvr additive="base">
                                        <p:cTn id="187" dur="500" fill="hold"/>
                                        <p:tgtEl>
                                          <p:spTgt spid="43"/>
                                        </p:tgtEl>
                                        <p:attrNameLst>
                                          <p:attrName>ppt_x</p:attrName>
                                        </p:attrNameLst>
                                      </p:cBhvr>
                                      <p:tavLst>
                                        <p:tav tm="0">
                                          <p:val>
                                            <p:strVal val="0-#ppt_w/2"/>
                                          </p:val>
                                        </p:tav>
                                        <p:tav tm="100000">
                                          <p:val>
                                            <p:strVal val="#ppt_x"/>
                                          </p:val>
                                        </p:tav>
                                      </p:tavLst>
                                    </p:anim>
                                    <p:animEffect transition="in" filter="fade">
                                      <p:cBhvr>
                                        <p:cTn id="18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aiArt" descr="preencoded.png"/>
          <p:cNvPicPr>
            <a:picLocks noChangeAspect="1"/>
          </p:cNvPicPr>
          <p:nvPr/>
        </p:nvPicPr>
        <p:blipFill>
          <a:blip r:embed="rId3"/>
          <a:stretch>
            <a:fillRect/>
          </a:stretch>
        </p:blipFill>
        <p:spPr>
          <a:xfrm>
            <a:off x="6382512" y="310896"/>
            <a:ext cx="2139696" cy="850392"/>
          </a:xfrm>
          <a:prstGeom prst="rect">
            <a:avLst/>
          </a:prstGeom>
        </p:spPr>
      </p:pic>
      <p:sp>
        <p:nvSpPr>
          <p:cNvPr id="3" name="Text 0"/>
          <p:cNvSpPr/>
          <p:nvPr/>
        </p:nvSpPr>
        <p:spPr>
          <a:xfrm>
            <a:off x="640080" y="384048"/>
            <a:ext cx="457200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03   —   THE AI STACK</a:t>
            </a:r>
            <a:endParaRPr lang="en-US" sz="850" dirty="0"/>
          </a:p>
        </p:txBody>
      </p:sp>
      <p:sp>
        <p:nvSpPr>
          <p:cNvPr id="4" name="Text 1"/>
          <p:cNvSpPr/>
          <p:nvPr/>
        </p:nvSpPr>
        <p:spPr>
          <a:xfrm>
            <a:off x="640080" y="566928"/>
            <a:ext cx="5486400" cy="384048"/>
          </a:xfrm>
          <a:prstGeom prst="rect">
            <a:avLst/>
          </a:prstGeom>
          <a:noFill/>
          <a:ln/>
        </p:spPr>
        <p:txBody>
          <a:bodyPr wrap="square" lIns="0" tIns="0" rIns="0" bIns="0" rtlCol="0" anchor="t"/>
          <a:lstStyle/>
          <a:p>
            <a:pPr marL="0" indent="0">
              <a:buNone/>
            </a:pPr>
            <a:r>
              <a:rPr lang="en-US" sz="2500" b="1" dirty="0">
                <a:solidFill>
                  <a:srgbClr val="10243A"/>
                </a:solidFill>
                <a:latin typeface="Calibri" pitchFamily="34" charset="0"/>
                <a:ea typeface="Calibri" pitchFamily="34" charset="-122"/>
                <a:cs typeface="Calibri" pitchFamily="34" charset="-120"/>
              </a:rPr>
              <a:t>Which AI, and </a:t>
            </a:r>
            <a:r>
              <a:rPr lang="en-US" sz="2500" b="1" dirty="0">
                <a:solidFill>
                  <a:srgbClr val="0B63CE"/>
                </a:solidFill>
                <a:latin typeface="Calibri" pitchFamily="34" charset="0"/>
                <a:ea typeface="Calibri" pitchFamily="34" charset="-122"/>
                <a:cs typeface="Calibri" pitchFamily="34" charset="-120"/>
              </a:rPr>
              <a:t>how I use it</a:t>
            </a:r>
            <a:endParaRPr lang="en-US" sz="2500" dirty="0"/>
          </a:p>
        </p:txBody>
      </p:sp>
      <p:sp>
        <p:nvSpPr>
          <p:cNvPr id="5" name="Text 2"/>
          <p:cNvSpPr/>
          <p:nvPr/>
        </p:nvSpPr>
        <p:spPr>
          <a:xfrm>
            <a:off x="640080" y="987552"/>
            <a:ext cx="5577840" cy="201168"/>
          </a:xfrm>
          <a:prstGeom prst="rect">
            <a:avLst/>
          </a:prstGeom>
          <a:noFill/>
          <a:ln/>
        </p:spPr>
        <p:txBody>
          <a:bodyPr wrap="square" lIns="0" tIns="0" rIns="0" bIns="0" rtlCol="0" anchor="ctr"/>
          <a:lstStyle/>
          <a:p>
            <a:pPr marL="0" indent="0">
              <a:buNone/>
            </a:pPr>
            <a:r>
              <a:rPr lang="en-US" sz="1000" i="1" dirty="0">
                <a:solidFill>
                  <a:srgbClr val="55697C"/>
                </a:solidFill>
                <a:latin typeface="Calibri" pitchFamily="34" charset="0"/>
                <a:ea typeface="Calibri" pitchFamily="34" charset="-122"/>
                <a:cs typeface="Calibri" pitchFamily="34" charset="-120"/>
              </a:rPr>
              <a:t>Six stages — each uses a different kind of AI, and I name the model, not the buzzword.</a:t>
            </a:r>
            <a:endParaRPr lang="en-US" sz="1000" dirty="0"/>
          </a:p>
        </p:txBody>
      </p:sp>
      <p:sp>
        <p:nvSpPr>
          <p:cNvPr id="6" name="Text 3"/>
          <p:cNvSpPr/>
          <p:nvPr/>
        </p:nvSpPr>
        <p:spPr>
          <a:xfrm>
            <a:off x="987552" y="1298448"/>
            <a:ext cx="1481328" cy="164592"/>
          </a:xfrm>
          <a:prstGeom prst="rect">
            <a:avLst/>
          </a:prstGeom>
          <a:noFill/>
          <a:ln/>
        </p:spPr>
        <p:txBody>
          <a:bodyPr wrap="square" lIns="0" tIns="0" rIns="0" bIns="0" rtlCol="0" anchor="ctr"/>
          <a:lstStyle/>
          <a:p>
            <a:pPr marL="0" indent="0">
              <a:buNone/>
            </a:pPr>
            <a:r>
              <a:rPr lang="en-US" sz="700" b="1" kern="0" spc="130" dirty="0">
                <a:solidFill>
                  <a:srgbClr val="8FA1B2"/>
                </a:solidFill>
                <a:latin typeface="Calibri" pitchFamily="34" charset="0"/>
                <a:ea typeface="Calibri" pitchFamily="34" charset="-122"/>
                <a:cs typeface="Calibri" pitchFamily="34" charset="-120"/>
              </a:rPr>
              <a:t>STAGE IN MY PROJECT</a:t>
            </a:r>
            <a:endParaRPr lang="en-US" sz="700" dirty="0"/>
          </a:p>
        </p:txBody>
      </p:sp>
      <p:sp>
        <p:nvSpPr>
          <p:cNvPr id="7" name="Text 4"/>
          <p:cNvSpPr/>
          <p:nvPr/>
        </p:nvSpPr>
        <p:spPr>
          <a:xfrm>
            <a:off x="2542032" y="1298448"/>
            <a:ext cx="1207008" cy="164592"/>
          </a:xfrm>
          <a:prstGeom prst="rect">
            <a:avLst/>
          </a:prstGeom>
          <a:noFill/>
          <a:ln/>
        </p:spPr>
        <p:txBody>
          <a:bodyPr wrap="square" lIns="0" tIns="0" rIns="0" bIns="0" rtlCol="0" anchor="ctr"/>
          <a:lstStyle/>
          <a:p>
            <a:pPr marL="0" indent="0">
              <a:buNone/>
            </a:pPr>
            <a:r>
              <a:rPr lang="en-US" sz="700" b="1" kern="0" spc="130" dirty="0">
                <a:solidFill>
                  <a:srgbClr val="8FA1B2"/>
                </a:solidFill>
                <a:latin typeface="Calibri" pitchFamily="34" charset="0"/>
                <a:ea typeface="Calibri" pitchFamily="34" charset="-122"/>
                <a:cs typeface="Calibri" pitchFamily="34" charset="-120"/>
              </a:rPr>
              <a:t>TYPE OF AI</a:t>
            </a:r>
            <a:endParaRPr lang="en-US" sz="700" dirty="0"/>
          </a:p>
        </p:txBody>
      </p:sp>
      <p:sp>
        <p:nvSpPr>
          <p:cNvPr id="8" name="Text 5"/>
          <p:cNvSpPr/>
          <p:nvPr/>
        </p:nvSpPr>
        <p:spPr>
          <a:xfrm>
            <a:off x="3822192" y="1298448"/>
            <a:ext cx="1572768" cy="164592"/>
          </a:xfrm>
          <a:prstGeom prst="rect">
            <a:avLst/>
          </a:prstGeom>
          <a:noFill/>
          <a:ln/>
        </p:spPr>
        <p:txBody>
          <a:bodyPr wrap="square" lIns="0" tIns="0" rIns="0" bIns="0" rtlCol="0" anchor="ctr"/>
          <a:lstStyle/>
          <a:p>
            <a:pPr marL="0" indent="0">
              <a:buNone/>
            </a:pPr>
            <a:r>
              <a:rPr lang="en-US" sz="700" b="1" kern="0" spc="130" dirty="0">
                <a:solidFill>
                  <a:srgbClr val="8FA1B2"/>
                </a:solidFill>
                <a:latin typeface="Calibri" pitchFamily="34" charset="0"/>
                <a:ea typeface="Calibri" pitchFamily="34" charset="-122"/>
                <a:cs typeface="Calibri" pitchFamily="34" charset="-120"/>
              </a:rPr>
              <a:t>MODEL I WILL USE</a:t>
            </a:r>
            <a:endParaRPr lang="en-US" sz="700" dirty="0"/>
          </a:p>
        </p:txBody>
      </p:sp>
      <p:sp>
        <p:nvSpPr>
          <p:cNvPr id="9" name="Text 6"/>
          <p:cNvSpPr/>
          <p:nvPr/>
        </p:nvSpPr>
        <p:spPr>
          <a:xfrm>
            <a:off x="5468112" y="1298448"/>
            <a:ext cx="3035808" cy="164592"/>
          </a:xfrm>
          <a:prstGeom prst="rect">
            <a:avLst/>
          </a:prstGeom>
          <a:noFill/>
          <a:ln/>
        </p:spPr>
        <p:txBody>
          <a:bodyPr wrap="square" lIns="0" tIns="0" rIns="0" bIns="0" rtlCol="0" anchor="ctr"/>
          <a:lstStyle/>
          <a:p>
            <a:pPr marL="0" indent="0">
              <a:buNone/>
            </a:pPr>
            <a:r>
              <a:rPr lang="en-US" sz="700" b="1" kern="0" spc="130" dirty="0">
                <a:solidFill>
                  <a:srgbClr val="8FA1B2"/>
                </a:solidFill>
                <a:latin typeface="Calibri" pitchFamily="34" charset="0"/>
                <a:ea typeface="Calibri" pitchFamily="34" charset="-122"/>
                <a:cs typeface="Calibri" pitchFamily="34" charset="-120"/>
              </a:rPr>
              <a:t>HOW I USE IT ON OUR DATA</a:t>
            </a:r>
            <a:endParaRPr lang="en-US" sz="700" dirty="0"/>
          </a:p>
        </p:txBody>
      </p:sp>
      <p:sp>
        <p:nvSpPr>
          <p:cNvPr id="10" name="row_nlp"/>
          <p:cNvSpPr/>
          <p:nvPr/>
        </p:nvSpPr>
        <p:spPr>
          <a:xfrm>
            <a:off x="640080" y="1499616"/>
            <a:ext cx="7863840" cy="475488"/>
          </a:xfrm>
          <a:prstGeom prst="roundRect">
            <a:avLst>
              <a:gd name="adj" fmla="val 9615"/>
            </a:avLst>
          </a:prstGeom>
          <a:solidFill>
            <a:srgbClr val="FFFFFF"/>
          </a:solidFill>
          <a:ln w="9525">
            <a:solidFill>
              <a:srgbClr val="E3E9EF"/>
            </a:solidFill>
            <a:prstDash val="solid"/>
          </a:ln>
        </p:spPr>
        <p:txBody>
          <a:bodyPr/>
          <a:lstStyle/>
          <a:p>
            <a:endParaRPr lang="en-US"/>
          </a:p>
        </p:txBody>
      </p:sp>
      <p:sp>
        <p:nvSpPr>
          <p:cNvPr id="11" name="rownb_nlp"/>
          <p:cNvSpPr/>
          <p:nvPr/>
        </p:nvSpPr>
        <p:spPr>
          <a:xfrm>
            <a:off x="731520" y="1618488"/>
            <a:ext cx="237744" cy="237744"/>
          </a:xfrm>
          <a:prstGeom prst="roundRect">
            <a:avLst>
              <a:gd name="adj" fmla="val 19231"/>
            </a:avLst>
          </a:prstGeom>
          <a:solidFill>
            <a:srgbClr val="FDEDE9"/>
          </a:solidFill>
          <a:ln w="7620">
            <a:solidFill>
              <a:srgbClr val="F6C4B8"/>
            </a:solidFill>
            <a:prstDash val="solid"/>
          </a:ln>
        </p:spPr>
        <p:txBody>
          <a:bodyPr/>
          <a:lstStyle/>
          <a:p>
            <a:endParaRPr lang="en-US"/>
          </a:p>
        </p:txBody>
      </p:sp>
      <p:sp>
        <p:nvSpPr>
          <p:cNvPr id="12" name="rown_nlp"/>
          <p:cNvSpPr/>
          <p:nvPr/>
        </p:nvSpPr>
        <p:spPr>
          <a:xfrm>
            <a:off x="731520" y="1618488"/>
            <a:ext cx="237744" cy="237744"/>
          </a:xfrm>
          <a:prstGeom prst="rect">
            <a:avLst/>
          </a:prstGeom>
          <a:noFill/>
          <a:ln/>
        </p:spPr>
        <p:txBody>
          <a:bodyPr wrap="square" lIns="0" tIns="0" rIns="0" bIns="0" rtlCol="0" anchor="ctr"/>
          <a:lstStyle/>
          <a:p>
            <a:pPr marL="0" indent="0" algn="ctr">
              <a:buNone/>
            </a:pPr>
            <a:r>
              <a:rPr lang="en-US" sz="900" b="1" dirty="0">
                <a:solidFill>
                  <a:srgbClr val="D8452A"/>
                </a:solidFill>
                <a:latin typeface="Calibri" pitchFamily="34" charset="0"/>
                <a:ea typeface="Calibri" pitchFamily="34" charset="-122"/>
                <a:cs typeface="Calibri" pitchFamily="34" charset="-120"/>
              </a:rPr>
              <a:t>1</a:t>
            </a:r>
            <a:endParaRPr lang="en-US" sz="900" dirty="0"/>
          </a:p>
        </p:txBody>
      </p:sp>
      <p:sp>
        <p:nvSpPr>
          <p:cNvPr id="13" name="rowstage_nlp"/>
          <p:cNvSpPr/>
          <p:nvPr/>
        </p:nvSpPr>
        <p:spPr>
          <a:xfrm>
            <a:off x="1097280" y="152704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Read the</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evidence</a:t>
            </a:r>
            <a:endParaRPr lang="en-US" sz="950" dirty="0"/>
          </a:p>
        </p:txBody>
      </p:sp>
      <p:sp>
        <p:nvSpPr>
          <p:cNvPr id="14" name="rowchipbg_nlp"/>
          <p:cNvSpPr/>
          <p:nvPr/>
        </p:nvSpPr>
        <p:spPr>
          <a:xfrm>
            <a:off x="2542032" y="1600200"/>
            <a:ext cx="1188720" cy="274320"/>
          </a:xfrm>
          <a:prstGeom prst="roundRect">
            <a:avLst>
              <a:gd name="adj" fmla="val 16667"/>
            </a:avLst>
          </a:prstGeom>
          <a:solidFill>
            <a:srgbClr val="FDEDE9"/>
          </a:solidFill>
          <a:ln w="7620">
            <a:solidFill>
              <a:srgbClr val="F6C4B8"/>
            </a:solidFill>
            <a:prstDash val="solid"/>
          </a:ln>
        </p:spPr>
        <p:txBody>
          <a:bodyPr/>
          <a:lstStyle/>
          <a:p>
            <a:endParaRPr lang="en-US"/>
          </a:p>
        </p:txBody>
      </p:sp>
      <p:sp>
        <p:nvSpPr>
          <p:cNvPr id="15" name="rowchip_nlp"/>
          <p:cNvSpPr/>
          <p:nvPr/>
        </p:nvSpPr>
        <p:spPr>
          <a:xfrm>
            <a:off x="2560320" y="160020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D8452A"/>
                </a:solidFill>
                <a:latin typeface="Calibri" pitchFamily="34" charset="0"/>
                <a:ea typeface="Calibri" pitchFamily="34" charset="-122"/>
                <a:cs typeface="Calibri" pitchFamily="34" charset="-120"/>
              </a:rPr>
              <a:t>NLP</a:t>
            </a:r>
            <a:endParaRPr lang="en-US" sz="750" dirty="0"/>
          </a:p>
        </p:txBody>
      </p:sp>
      <p:sp>
        <p:nvSpPr>
          <p:cNvPr id="16" name="rowmodel_nlp"/>
          <p:cNvSpPr/>
          <p:nvPr/>
        </p:nvSpPr>
        <p:spPr>
          <a:xfrm>
            <a:off x="3822192" y="152704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BERT-style clinical</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language model</a:t>
            </a:r>
            <a:endParaRPr lang="en-US" sz="850" dirty="0"/>
          </a:p>
        </p:txBody>
      </p:sp>
      <p:sp>
        <p:nvSpPr>
          <p:cNvPr id="17" name="rowhow_nlp"/>
          <p:cNvSpPr/>
          <p:nvPr/>
        </p:nvSpPr>
        <p:spPr>
          <a:xfrm>
            <a:off x="5468112" y="151790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Reads unstructured doctors’ notes and published papers, and extracts the phenotype — which disease each person actually had.</a:t>
            </a:r>
            <a:endParaRPr lang="en-US" sz="800" dirty="0"/>
          </a:p>
        </p:txBody>
      </p:sp>
      <p:sp>
        <p:nvSpPr>
          <p:cNvPr id="18" name="row_uns"/>
          <p:cNvSpPr/>
          <p:nvPr/>
        </p:nvSpPr>
        <p:spPr>
          <a:xfrm>
            <a:off x="640080" y="2025396"/>
            <a:ext cx="7863840" cy="475488"/>
          </a:xfrm>
          <a:prstGeom prst="roundRect">
            <a:avLst>
              <a:gd name="adj" fmla="val 9615"/>
            </a:avLst>
          </a:prstGeom>
          <a:solidFill>
            <a:srgbClr val="FFFFFF"/>
          </a:solidFill>
          <a:ln w="9525">
            <a:solidFill>
              <a:srgbClr val="E3E9EF"/>
            </a:solidFill>
            <a:prstDash val="solid"/>
          </a:ln>
        </p:spPr>
        <p:txBody>
          <a:bodyPr/>
          <a:lstStyle/>
          <a:p>
            <a:endParaRPr lang="en-US"/>
          </a:p>
        </p:txBody>
      </p:sp>
      <p:sp>
        <p:nvSpPr>
          <p:cNvPr id="19" name="rownb_uns"/>
          <p:cNvSpPr/>
          <p:nvPr/>
        </p:nvSpPr>
        <p:spPr>
          <a:xfrm>
            <a:off x="731520" y="2144268"/>
            <a:ext cx="237744" cy="237744"/>
          </a:xfrm>
          <a:prstGeom prst="roundRect">
            <a:avLst>
              <a:gd name="adj" fmla="val 19231"/>
            </a:avLst>
          </a:prstGeom>
          <a:solidFill>
            <a:srgbClr val="E0F4F2"/>
          </a:solidFill>
          <a:ln w="7620">
            <a:solidFill>
              <a:srgbClr val="A9E0DA"/>
            </a:solidFill>
            <a:prstDash val="solid"/>
          </a:ln>
        </p:spPr>
        <p:txBody>
          <a:bodyPr/>
          <a:lstStyle/>
          <a:p>
            <a:endParaRPr lang="en-US"/>
          </a:p>
        </p:txBody>
      </p:sp>
      <p:sp>
        <p:nvSpPr>
          <p:cNvPr id="20" name="rown_uns"/>
          <p:cNvSpPr/>
          <p:nvPr/>
        </p:nvSpPr>
        <p:spPr>
          <a:xfrm>
            <a:off x="731520" y="2144268"/>
            <a:ext cx="237744" cy="237744"/>
          </a:xfrm>
          <a:prstGeom prst="rect">
            <a:avLst/>
          </a:prstGeom>
          <a:noFill/>
          <a:ln/>
        </p:spPr>
        <p:txBody>
          <a:bodyPr wrap="square" lIns="0" tIns="0" rIns="0" bIns="0" rtlCol="0" anchor="ctr"/>
          <a:lstStyle/>
          <a:p>
            <a:pPr marL="0" indent="0" algn="ctr">
              <a:buNone/>
            </a:pPr>
            <a:r>
              <a:rPr lang="en-US" sz="900" b="1" dirty="0">
                <a:solidFill>
                  <a:srgbClr val="0C8C83"/>
                </a:solidFill>
                <a:latin typeface="Calibri" pitchFamily="34" charset="0"/>
                <a:ea typeface="Calibri" pitchFamily="34" charset="-122"/>
                <a:cs typeface="Calibri" pitchFamily="34" charset="-120"/>
              </a:rPr>
              <a:t>2</a:t>
            </a:r>
            <a:endParaRPr lang="en-US" sz="900" dirty="0"/>
          </a:p>
        </p:txBody>
      </p:sp>
      <p:sp>
        <p:nvSpPr>
          <p:cNvPr id="21" name="rowstage_uns"/>
          <p:cNvSpPr/>
          <p:nvPr/>
        </p:nvSpPr>
        <p:spPr>
          <a:xfrm>
            <a:off x="1097280" y="205282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Find hidden</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structure</a:t>
            </a:r>
            <a:endParaRPr lang="en-US" sz="950" dirty="0"/>
          </a:p>
        </p:txBody>
      </p:sp>
      <p:sp>
        <p:nvSpPr>
          <p:cNvPr id="22" name="rowchipbg_uns"/>
          <p:cNvSpPr/>
          <p:nvPr/>
        </p:nvSpPr>
        <p:spPr>
          <a:xfrm>
            <a:off x="2542032" y="2125980"/>
            <a:ext cx="1188720" cy="274320"/>
          </a:xfrm>
          <a:prstGeom prst="roundRect">
            <a:avLst>
              <a:gd name="adj" fmla="val 16667"/>
            </a:avLst>
          </a:prstGeom>
          <a:solidFill>
            <a:srgbClr val="E0F4F2"/>
          </a:solidFill>
          <a:ln w="7620">
            <a:solidFill>
              <a:srgbClr val="A9E0DA"/>
            </a:solidFill>
            <a:prstDash val="solid"/>
          </a:ln>
        </p:spPr>
        <p:txBody>
          <a:bodyPr/>
          <a:lstStyle/>
          <a:p>
            <a:endParaRPr lang="en-US"/>
          </a:p>
        </p:txBody>
      </p:sp>
      <p:sp>
        <p:nvSpPr>
          <p:cNvPr id="23" name="rowchip_uns"/>
          <p:cNvSpPr/>
          <p:nvPr/>
        </p:nvSpPr>
        <p:spPr>
          <a:xfrm>
            <a:off x="2560320" y="212598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0C8C83"/>
                </a:solidFill>
                <a:latin typeface="Calibri" pitchFamily="34" charset="0"/>
                <a:ea typeface="Calibri" pitchFamily="34" charset="-122"/>
                <a:cs typeface="Calibri" pitchFamily="34" charset="-120"/>
              </a:rPr>
              <a:t>Unsupervised ML</a:t>
            </a:r>
            <a:endParaRPr lang="en-US" sz="750" dirty="0"/>
          </a:p>
        </p:txBody>
      </p:sp>
      <p:sp>
        <p:nvSpPr>
          <p:cNvPr id="24" name="rowmodel_uns"/>
          <p:cNvSpPr/>
          <p:nvPr/>
        </p:nvSpPr>
        <p:spPr>
          <a:xfrm>
            <a:off x="3822192" y="205282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k-means clustering</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 UMAP</a:t>
            </a:r>
            <a:endParaRPr lang="en-US" sz="850" dirty="0"/>
          </a:p>
        </p:txBody>
      </p:sp>
      <p:sp>
        <p:nvSpPr>
          <p:cNvPr id="25" name="rowhow_uns"/>
          <p:cNvSpPr/>
          <p:nvPr/>
        </p:nvSpPr>
        <p:spPr>
          <a:xfrm>
            <a:off x="5468112" y="204368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No labels needed. Groups 3M+ people by genetic profile to expose disease sub-types and ancestry structure nobody asked about.</a:t>
            </a:r>
            <a:endParaRPr lang="en-US" sz="800" dirty="0"/>
          </a:p>
        </p:txBody>
      </p:sp>
      <p:sp>
        <p:nvSpPr>
          <p:cNvPr id="26" name="row_sup"/>
          <p:cNvSpPr/>
          <p:nvPr/>
        </p:nvSpPr>
        <p:spPr>
          <a:xfrm>
            <a:off x="640080" y="2551176"/>
            <a:ext cx="7863840" cy="475488"/>
          </a:xfrm>
          <a:prstGeom prst="roundRect">
            <a:avLst>
              <a:gd name="adj" fmla="val 9615"/>
            </a:avLst>
          </a:prstGeom>
          <a:solidFill>
            <a:srgbClr val="FFFFFF"/>
          </a:solidFill>
          <a:ln w="9525">
            <a:solidFill>
              <a:srgbClr val="E3E9EF"/>
            </a:solidFill>
            <a:prstDash val="solid"/>
          </a:ln>
        </p:spPr>
        <p:txBody>
          <a:bodyPr/>
          <a:lstStyle/>
          <a:p>
            <a:endParaRPr lang="en-US"/>
          </a:p>
        </p:txBody>
      </p:sp>
      <p:sp>
        <p:nvSpPr>
          <p:cNvPr id="27" name="rownb_sup"/>
          <p:cNvSpPr/>
          <p:nvPr/>
        </p:nvSpPr>
        <p:spPr>
          <a:xfrm>
            <a:off x="731520" y="2670048"/>
            <a:ext cx="237744" cy="237744"/>
          </a:xfrm>
          <a:prstGeom prst="roundRect">
            <a:avLst>
              <a:gd name="adj" fmla="val 19231"/>
            </a:avLst>
          </a:prstGeom>
          <a:solidFill>
            <a:srgbClr val="E8F1FC"/>
          </a:solidFill>
          <a:ln w="7620">
            <a:solidFill>
              <a:srgbClr val="C9DFF6"/>
            </a:solidFill>
            <a:prstDash val="solid"/>
          </a:ln>
        </p:spPr>
        <p:txBody>
          <a:bodyPr/>
          <a:lstStyle/>
          <a:p>
            <a:endParaRPr lang="en-US"/>
          </a:p>
        </p:txBody>
      </p:sp>
      <p:sp>
        <p:nvSpPr>
          <p:cNvPr id="28" name="rown_sup"/>
          <p:cNvSpPr/>
          <p:nvPr/>
        </p:nvSpPr>
        <p:spPr>
          <a:xfrm>
            <a:off x="731520" y="2670048"/>
            <a:ext cx="237744" cy="237744"/>
          </a:xfrm>
          <a:prstGeom prst="rect">
            <a:avLst/>
          </a:prstGeom>
          <a:noFill/>
          <a:ln/>
        </p:spPr>
        <p:txBody>
          <a:bodyPr wrap="square" lIns="0" tIns="0" rIns="0" bIns="0" rtlCol="0" anchor="ctr"/>
          <a:lstStyle/>
          <a:p>
            <a:pPr marL="0" indent="0" algn="ctr">
              <a:buNone/>
            </a:pPr>
            <a:r>
              <a:rPr lang="en-US" sz="900" b="1" dirty="0">
                <a:solidFill>
                  <a:srgbClr val="0B63CE"/>
                </a:solidFill>
                <a:latin typeface="Calibri" pitchFamily="34" charset="0"/>
                <a:ea typeface="Calibri" pitchFamily="34" charset="-122"/>
                <a:cs typeface="Calibri" pitchFamily="34" charset="-120"/>
              </a:rPr>
              <a:t>3</a:t>
            </a:r>
            <a:endParaRPr lang="en-US" sz="900" dirty="0"/>
          </a:p>
        </p:txBody>
      </p:sp>
      <p:sp>
        <p:nvSpPr>
          <p:cNvPr id="29" name="rowstage_sup"/>
          <p:cNvSpPr/>
          <p:nvPr/>
        </p:nvSpPr>
        <p:spPr>
          <a:xfrm>
            <a:off x="1097280" y="257860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Score every</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target</a:t>
            </a:r>
            <a:endParaRPr lang="en-US" sz="950" dirty="0"/>
          </a:p>
        </p:txBody>
      </p:sp>
      <p:sp>
        <p:nvSpPr>
          <p:cNvPr id="30" name="rowchipbg_sup"/>
          <p:cNvSpPr/>
          <p:nvPr/>
        </p:nvSpPr>
        <p:spPr>
          <a:xfrm>
            <a:off x="2542032" y="2651760"/>
            <a:ext cx="1188720" cy="274320"/>
          </a:xfrm>
          <a:prstGeom prst="roundRect">
            <a:avLst>
              <a:gd name="adj" fmla="val 16667"/>
            </a:avLst>
          </a:prstGeom>
          <a:solidFill>
            <a:srgbClr val="E8F1FC"/>
          </a:solidFill>
          <a:ln w="7620">
            <a:solidFill>
              <a:srgbClr val="C9DFF6"/>
            </a:solidFill>
            <a:prstDash val="solid"/>
          </a:ln>
        </p:spPr>
        <p:txBody>
          <a:bodyPr/>
          <a:lstStyle/>
          <a:p>
            <a:endParaRPr lang="en-US"/>
          </a:p>
        </p:txBody>
      </p:sp>
      <p:sp>
        <p:nvSpPr>
          <p:cNvPr id="31" name="rowchip_sup"/>
          <p:cNvSpPr/>
          <p:nvPr/>
        </p:nvSpPr>
        <p:spPr>
          <a:xfrm>
            <a:off x="2560320" y="265176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0B63CE"/>
                </a:solidFill>
                <a:latin typeface="Calibri" pitchFamily="34" charset="0"/>
                <a:ea typeface="Calibri" pitchFamily="34" charset="-122"/>
                <a:cs typeface="Calibri" pitchFamily="34" charset="-120"/>
              </a:rPr>
              <a:t>Supervised ML</a:t>
            </a:r>
            <a:endParaRPr lang="en-US" sz="750" dirty="0"/>
          </a:p>
        </p:txBody>
      </p:sp>
      <p:sp>
        <p:nvSpPr>
          <p:cNvPr id="32" name="rowmodel_sup"/>
          <p:cNvSpPr/>
          <p:nvPr/>
        </p:nvSpPr>
        <p:spPr>
          <a:xfrm>
            <a:off x="3822192" y="257860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XGBoost</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(gradient boosting)</a:t>
            </a:r>
            <a:endParaRPr lang="en-US" sz="850" dirty="0"/>
          </a:p>
        </p:txBody>
      </p:sp>
      <p:sp>
        <p:nvSpPr>
          <p:cNvPr id="33" name="rowhow_sup"/>
          <p:cNvSpPr/>
          <p:nvPr/>
        </p:nvSpPr>
        <p:spPr>
          <a:xfrm>
            <a:off x="5468112" y="256946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Trains on past programmes we already know succeeded or failed, then predicts a probability of clinical success for each new target.</a:t>
            </a:r>
            <a:endParaRPr lang="en-US" sz="800" dirty="0"/>
          </a:p>
        </p:txBody>
      </p:sp>
      <p:sp>
        <p:nvSpPr>
          <p:cNvPr id="34" name="row_semi"/>
          <p:cNvSpPr/>
          <p:nvPr/>
        </p:nvSpPr>
        <p:spPr>
          <a:xfrm>
            <a:off x="640080" y="3076956"/>
            <a:ext cx="7863840" cy="475488"/>
          </a:xfrm>
          <a:prstGeom prst="roundRect">
            <a:avLst>
              <a:gd name="adj" fmla="val 9615"/>
            </a:avLst>
          </a:prstGeom>
          <a:solidFill>
            <a:srgbClr val="FFFFFF"/>
          </a:solidFill>
          <a:ln w="9525">
            <a:solidFill>
              <a:srgbClr val="E3E9EF"/>
            </a:solidFill>
            <a:prstDash val="solid"/>
          </a:ln>
        </p:spPr>
        <p:txBody>
          <a:bodyPr/>
          <a:lstStyle/>
          <a:p>
            <a:endParaRPr lang="en-US"/>
          </a:p>
        </p:txBody>
      </p:sp>
      <p:sp>
        <p:nvSpPr>
          <p:cNvPr id="35" name="rownb_semi"/>
          <p:cNvSpPr/>
          <p:nvPr/>
        </p:nvSpPr>
        <p:spPr>
          <a:xfrm>
            <a:off x="731520" y="3195828"/>
            <a:ext cx="237744" cy="237744"/>
          </a:xfrm>
          <a:prstGeom prst="roundRect">
            <a:avLst>
              <a:gd name="adj" fmla="val 19231"/>
            </a:avLst>
          </a:prstGeom>
          <a:solidFill>
            <a:srgbClr val="FDF2E0"/>
          </a:solidFill>
          <a:ln w="7620">
            <a:solidFill>
              <a:srgbClr val="F2D9A8"/>
            </a:solidFill>
            <a:prstDash val="solid"/>
          </a:ln>
        </p:spPr>
        <p:txBody>
          <a:bodyPr/>
          <a:lstStyle/>
          <a:p>
            <a:endParaRPr lang="en-US"/>
          </a:p>
        </p:txBody>
      </p:sp>
      <p:sp>
        <p:nvSpPr>
          <p:cNvPr id="36" name="rown_semi"/>
          <p:cNvSpPr/>
          <p:nvPr/>
        </p:nvSpPr>
        <p:spPr>
          <a:xfrm>
            <a:off x="731520" y="3195828"/>
            <a:ext cx="237744" cy="237744"/>
          </a:xfrm>
          <a:prstGeom prst="rect">
            <a:avLst/>
          </a:prstGeom>
          <a:noFill/>
          <a:ln/>
        </p:spPr>
        <p:txBody>
          <a:bodyPr wrap="square" lIns="0" tIns="0" rIns="0" bIns="0" rtlCol="0" anchor="ctr"/>
          <a:lstStyle/>
          <a:p>
            <a:pPr marL="0" indent="0" algn="ctr">
              <a:buNone/>
            </a:pPr>
            <a:r>
              <a:rPr lang="en-US" sz="900" b="1" dirty="0">
                <a:solidFill>
                  <a:srgbClr val="C77A0A"/>
                </a:solidFill>
                <a:latin typeface="Calibri" pitchFamily="34" charset="0"/>
                <a:ea typeface="Calibri" pitchFamily="34" charset="-122"/>
                <a:cs typeface="Calibri" pitchFamily="34" charset="-120"/>
              </a:rPr>
              <a:t>4</a:t>
            </a:r>
            <a:endParaRPr lang="en-US" sz="900" dirty="0"/>
          </a:p>
        </p:txBody>
      </p:sp>
      <p:sp>
        <p:nvSpPr>
          <p:cNvPr id="37" name="rowstage_semi"/>
          <p:cNvSpPr/>
          <p:nvPr/>
        </p:nvSpPr>
        <p:spPr>
          <a:xfrm>
            <a:off x="1097280" y="310438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Fill the</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label gap</a:t>
            </a:r>
            <a:endParaRPr lang="en-US" sz="950" dirty="0"/>
          </a:p>
        </p:txBody>
      </p:sp>
      <p:sp>
        <p:nvSpPr>
          <p:cNvPr id="38" name="rowchipbg_semi"/>
          <p:cNvSpPr/>
          <p:nvPr/>
        </p:nvSpPr>
        <p:spPr>
          <a:xfrm>
            <a:off x="2542032" y="3177540"/>
            <a:ext cx="1188720" cy="274320"/>
          </a:xfrm>
          <a:prstGeom prst="roundRect">
            <a:avLst>
              <a:gd name="adj" fmla="val 16667"/>
            </a:avLst>
          </a:prstGeom>
          <a:solidFill>
            <a:srgbClr val="FDF2E0"/>
          </a:solidFill>
          <a:ln w="7620">
            <a:solidFill>
              <a:srgbClr val="F2D9A8"/>
            </a:solidFill>
            <a:prstDash val="solid"/>
          </a:ln>
        </p:spPr>
        <p:txBody>
          <a:bodyPr/>
          <a:lstStyle/>
          <a:p>
            <a:endParaRPr lang="en-US"/>
          </a:p>
        </p:txBody>
      </p:sp>
      <p:sp>
        <p:nvSpPr>
          <p:cNvPr id="39" name="rowchip_semi"/>
          <p:cNvSpPr/>
          <p:nvPr/>
        </p:nvSpPr>
        <p:spPr>
          <a:xfrm>
            <a:off x="2560320" y="317754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C77A0A"/>
                </a:solidFill>
                <a:latin typeface="Calibri" pitchFamily="34" charset="0"/>
                <a:ea typeface="Calibri" pitchFamily="34" charset="-122"/>
                <a:cs typeface="Calibri" pitchFamily="34" charset="-120"/>
              </a:rPr>
              <a:t>Semi-supervised ML</a:t>
            </a:r>
            <a:endParaRPr lang="en-US" sz="750" dirty="0"/>
          </a:p>
        </p:txBody>
      </p:sp>
      <p:sp>
        <p:nvSpPr>
          <p:cNvPr id="40" name="rowmodel_semi"/>
          <p:cNvSpPr/>
          <p:nvPr/>
        </p:nvSpPr>
        <p:spPr>
          <a:xfrm>
            <a:off x="3822192" y="310438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Label propagation</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(self-training)</a:t>
            </a:r>
            <a:endParaRPr lang="en-US" sz="850" dirty="0"/>
          </a:p>
        </p:txBody>
      </p:sp>
      <p:sp>
        <p:nvSpPr>
          <p:cNvPr id="41" name="rowhow_semi"/>
          <p:cNvSpPr/>
          <p:nvPr/>
        </p:nvSpPr>
        <p:spPr>
          <a:xfrm>
            <a:off x="5468112" y="309524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Only a few thousand drugs were ever approved, but millions of variants exist. Spreads the few known outcomes across the unlabelled genome.</a:t>
            </a:r>
            <a:endParaRPr lang="en-US" sz="800" dirty="0"/>
          </a:p>
        </p:txBody>
      </p:sp>
      <p:sp>
        <p:nvSpPr>
          <p:cNvPr id="42" name="row_deep"/>
          <p:cNvSpPr/>
          <p:nvPr/>
        </p:nvSpPr>
        <p:spPr>
          <a:xfrm>
            <a:off x="640080" y="3602736"/>
            <a:ext cx="7863840" cy="475488"/>
          </a:xfrm>
          <a:prstGeom prst="roundRect">
            <a:avLst>
              <a:gd name="adj" fmla="val 9615"/>
            </a:avLst>
          </a:prstGeom>
          <a:solidFill>
            <a:srgbClr val="FFFFFF"/>
          </a:solidFill>
          <a:ln w="9525">
            <a:solidFill>
              <a:srgbClr val="E3E9EF"/>
            </a:solidFill>
            <a:prstDash val="solid"/>
          </a:ln>
        </p:spPr>
        <p:txBody>
          <a:bodyPr/>
          <a:lstStyle/>
          <a:p>
            <a:endParaRPr lang="en-US"/>
          </a:p>
        </p:txBody>
      </p:sp>
      <p:sp>
        <p:nvSpPr>
          <p:cNvPr id="43" name="rownb_deep"/>
          <p:cNvSpPr/>
          <p:nvPr/>
        </p:nvSpPr>
        <p:spPr>
          <a:xfrm>
            <a:off x="731520" y="3721608"/>
            <a:ext cx="237744" cy="237744"/>
          </a:xfrm>
          <a:prstGeom prst="roundRect">
            <a:avLst>
              <a:gd name="adj" fmla="val 19231"/>
            </a:avLst>
          </a:prstGeom>
          <a:solidFill>
            <a:srgbClr val="E4EDF7"/>
          </a:solidFill>
          <a:ln w="7620">
            <a:solidFill>
              <a:srgbClr val="BBD2E8"/>
            </a:solidFill>
            <a:prstDash val="solid"/>
          </a:ln>
        </p:spPr>
        <p:txBody>
          <a:bodyPr/>
          <a:lstStyle/>
          <a:p>
            <a:endParaRPr lang="en-US"/>
          </a:p>
        </p:txBody>
      </p:sp>
      <p:sp>
        <p:nvSpPr>
          <p:cNvPr id="44" name="rown_deep"/>
          <p:cNvSpPr/>
          <p:nvPr/>
        </p:nvSpPr>
        <p:spPr>
          <a:xfrm>
            <a:off x="731520" y="3721608"/>
            <a:ext cx="237744" cy="237744"/>
          </a:xfrm>
          <a:prstGeom prst="rect">
            <a:avLst/>
          </a:prstGeom>
          <a:noFill/>
          <a:ln/>
        </p:spPr>
        <p:txBody>
          <a:bodyPr wrap="square" lIns="0" tIns="0" rIns="0" bIns="0" rtlCol="0" anchor="ctr"/>
          <a:lstStyle/>
          <a:p>
            <a:pPr marL="0" indent="0" algn="ctr">
              <a:buNone/>
            </a:pPr>
            <a:r>
              <a:rPr lang="en-US" sz="900" b="1" dirty="0">
                <a:solidFill>
                  <a:srgbClr val="0A3E7A"/>
                </a:solidFill>
                <a:latin typeface="Calibri" pitchFamily="34" charset="0"/>
                <a:ea typeface="Calibri" pitchFamily="34" charset="-122"/>
                <a:cs typeface="Calibri" pitchFamily="34" charset="-120"/>
              </a:rPr>
              <a:t>5</a:t>
            </a:r>
            <a:endParaRPr lang="en-US" sz="900" dirty="0"/>
          </a:p>
        </p:txBody>
      </p:sp>
      <p:sp>
        <p:nvSpPr>
          <p:cNvPr id="45" name="rowstage_deep"/>
          <p:cNvSpPr/>
          <p:nvPr/>
        </p:nvSpPr>
        <p:spPr>
          <a:xfrm>
            <a:off x="1097280" y="363016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Design the</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molecule</a:t>
            </a:r>
            <a:endParaRPr lang="en-US" sz="950" dirty="0"/>
          </a:p>
        </p:txBody>
      </p:sp>
      <p:sp>
        <p:nvSpPr>
          <p:cNvPr id="46" name="rowchipbg_deep"/>
          <p:cNvSpPr/>
          <p:nvPr/>
        </p:nvSpPr>
        <p:spPr>
          <a:xfrm>
            <a:off x="2542032" y="3703320"/>
            <a:ext cx="1188720" cy="274320"/>
          </a:xfrm>
          <a:prstGeom prst="roundRect">
            <a:avLst>
              <a:gd name="adj" fmla="val 16667"/>
            </a:avLst>
          </a:prstGeom>
          <a:solidFill>
            <a:srgbClr val="E4EDF7"/>
          </a:solidFill>
          <a:ln w="7620">
            <a:solidFill>
              <a:srgbClr val="BBD2E8"/>
            </a:solidFill>
            <a:prstDash val="solid"/>
          </a:ln>
        </p:spPr>
        <p:txBody>
          <a:bodyPr/>
          <a:lstStyle/>
          <a:p>
            <a:endParaRPr lang="en-US"/>
          </a:p>
        </p:txBody>
      </p:sp>
      <p:sp>
        <p:nvSpPr>
          <p:cNvPr id="47" name="rowchip_deep"/>
          <p:cNvSpPr/>
          <p:nvPr/>
        </p:nvSpPr>
        <p:spPr>
          <a:xfrm>
            <a:off x="2560320" y="370332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0A3E7A"/>
                </a:solidFill>
                <a:latin typeface="Calibri" pitchFamily="34" charset="0"/>
                <a:ea typeface="Calibri" pitchFamily="34" charset="-122"/>
                <a:cs typeface="Calibri" pitchFamily="34" charset="-120"/>
              </a:rPr>
              <a:t>Deep learning</a:t>
            </a:r>
            <a:endParaRPr lang="en-US" sz="750" dirty="0"/>
          </a:p>
          <a:p>
            <a:pPr marL="0" indent="0" algn="ctr">
              <a:lnSpc>
                <a:spcPts val="850"/>
              </a:lnSpc>
              <a:buNone/>
            </a:pPr>
            <a:r>
              <a:rPr lang="en-US" sz="750" b="1" dirty="0">
                <a:solidFill>
                  <a:srgbClr val="0A3E7A"/>
                </a:solidFill>
                <a:latin typeface="Calibri" pitchFamily="34" charset="0"/>
                <a:ea typeface="Calibri" pitchFamily="34" charset="-122"/>
                <a:cs typeface="Calibri" pitchFamily="34" charset="-120"/>
              </a:rPr>
              <a:t>(generative)</a:t>
            </a:r>
            <a:endParaRPr lang="en-US" sz="750" dirty="0"/>
          </a:p>
        </p:txBody>
      </p:sp>
      <p:sp>
        <p:nvSpPr>
          <p:cNvPr id="48" name="rowmodel_deep"/>
          <p:cNvSpPr/>
          <p:nvPr/>
        </p:nvSpPr>
        <p:spPr>
          <a:xfrm>
            <a:off x="3822192" y="363016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Protein language model</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 structure prediction</a:t>
            </a:r>
            <a:endParaRPr lang="en-US" sz="850" dirty="0"/>
          </a:p>
        </p:txBody>
      </p:sp>
      <p:sp>
        <p:nvSpPr>
          <p:cNvPr id="49" name="rowhow_deep"/>
          <p:cNvSpPr/>
          <p:nvPr/>
        </p:nvSpPr>
        <p:spPr>
          <a:xfrm>
            <a:off x="5468112" y="362102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Predicts what a mutation does to the protein, then generates the antibody sequence that copies nature’s protective effect.</a:t>
            </a:r>
            <a:endParaRPr lang="en-US" sz="800" dirty="0"/>
          </a:p>
        </p:txBody>
      </p:sp>
      <p:sp>
        <p:nvSpPr>
          <p:cNvPr id="50" name="row_rpa"/>
          <p:cNvSpPr/>
          <p:nvPr/>
        </p:nvSpPr>
        <p:spPr>
          <a:xfrm>
            <a:off x="640080" y="4128516"/>
            <a:ext cx="7863840" cy="475488"/>
          </a:xfrm>
          <a:prstGeom prst="roundRect">
            <a:avLst>
              <a:gd name="adj" fmla="val 9615"/>
            </a:avLst>
          </a:prstGeom>
          <a:solidFill>
            <a:srgbClr val="F3F7FB"/>
          </a:solidFill>
          <a:ln w="9525">
            <a:solidFill>
              <a:srgbClr val="E3E9EF"/>
            </a:solidFill>
            <a:prstDash val="solid"/>
          </a:ln>
        </p:spPr>
        <p:txBody>
          <a:bodyPr/>
          <a:lstStyle/>
          <a:p>
            <a:endParaRPr lang="en-US"/>
          </a:p>
        </p:txBody>
      </p:sp>
      <p:sp>
        <p:nvSpPr>
          <p:cNvPr id="51" name="rownb_rpa"/>
          <p:cNvSpPr/>
          <p:nvPr/>
        </p:nvSpPr>
        <p:spPr>
          <a:xfrm>
            <a:off x="731520" y="4247388"/>
            <a:ext cx="237744" cy="237744"/>
          </a:xfrm>
          <a:prstGeom prst="roundRect">
            <a:avLst>
              <a:gd name="adj" fmla="val 19231"/>
            </a:avLst>
          </a:prstGeom>
          <a:solidFill>
            <a:srgbClr val="F5F7F9"/>
          </a:solidFill>
          <a:ln w="7620">
            <a:solidFill>
              <a:srgbClr val="E3E9EF"/>
            </a:solidFill>
            <a:prstDash val="solid"/>
          </a:ln>
        </p:spPr>
        <p:txBody>
          <a:bodyPr/>
          <a:lstStyle/>
          <a:p>
            <a:endParaRPr lang="en-US"/>
          </a:p>
        </p:txBody>
      </p:sp>
      <p:sp>
        <p:nvSpPr>
          <p:cNvPr id="52" name="rown_rpa"/>
          <p:cNvSpPr/>
          <p:nvPr/>
        </p:nvSpPr>
        <p:spPr>
          <a:xfrm>
            <a:off x="731520" y="4247388"/>
            <a:ext cx="237744" cy="237744"/>
          </a:xfrm>
          <a:prstGeom prst="rect">
            <a:avLst/>
          </a:prstGeom>
          <a:noFill/>
          <a:ln/>
        </p:spPr>
        <p:txBody>
          <a:bodyPr wrap="square" lIns="0" tIns="0" rIns="0" bIns="0" rtlCol="0" anchor="ctr"/>
          <a:lstStyle/>
          <a:p>
            <a:pPr marL="0" indent="0" algn="ctr">
              <a:buNone/>
            </a:pPr>
            <a:r>
              <a:rPr lang="en-US" sz="900" b="1" dirty="0">
                <a:solidFill>
                  <a:srgbClr val="8FA1B2"/>
                </a:solidFill>
                <a:latin typeface="Calibri" pitchFamily="34" charset="0"/>
                <a:ea typeface="Calibri" pitchFamily="34" charset="-122"/>
                <a:cs typeface="Calibri" pitchFamily="34" charset="-120"/>
              </a:rPr>
              <a:t>6</a:t>
            </a:r>
            <a:endParaRPr lang="en-US" sz="900" dirty="0"/>
          </a:p>
        </p:txBody>
      </p:sp>
      <p:sp>
        <p:nvSpPr>
          <p:cNvPr id="53" name="rowstage_rpa"/>
          <p:cNvSpPr/>
          <p:nvPr/>
        </p:nvSpPr>
        <p:spPr>
          <a:xfrm>
            <a:off x="1097280" y="4155948"/>
            <a:ext cx="1389888" cy="420624"/>
          </a:xfrm>
          <a:prstGeom prst="rect">
            <a:avLst/>
          </a:prstGeom>
          <a:noFill/>
          <a:ln/>
        </p:spPr>
        <p:txBody>
          <a:bodyPr wrap="square" lIns="0" tIns="0" rIns="0" bIns="0" rtlCol="0" anchor="ctr"/>
          <a:lstStyle/>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Run the</a:t>
            </a:r>
            <a:endParaRPr lang="en-US" sz="950" dirty="0"/>
          </a:p>
          <a:p>
            <a:pPr marL="0" indent="0">
              <a:lnSpc>
                <a:spcPts val="1100"/>
              </a:lnSpc>
              <a:buNone/>
            </a:pPr>
            <a:r>
              <a:rPr lang="en-US" sz="950" b="1" dirty="0">
                <a:solidFill>
                  <a:srgbClr val="10243A"/>
                </a:solidFill>
                <a:latin typeface="Calibri" pitchFamily="34" charset="0"/>
                <a:ea typeface="Calibri" pitchFamily="34" charset="-122"/>
                <a:cs typeface="Calibri" pitchFamily="34" charset="-120"/>
              </a:rPr>
              <a:t>pipeline</a:t>
            </a:r>
            <a:endParaRPr lang="en-US" sz="950" dirty="0"/>
          </a:p>
        </p:txBody>
      </p:sp>
      <p:sp>
        <p:nvSpPr>
          <p:cNvPr id="54" name="rowchipbg_rpa"/>
          <p:cNvSpPr/>
          <p:nvPr/>
        </p:nvSpPr>
        <p:spPr>
          <a:xfrm>
            <a:off x="2542032" y="4229100"/>
            <a:ext cx="1188720" cy="274320"/>
          </a:xfrm>
          <a:prstGeom prst="roundRect">
            <a:avLst>
              <a:gd name="adj" fmla="val 16667"/>
            </a:avLst>
          </a:prstGeom>
          <a:solidFill>
            <a:srgbClr val="F5F7F9"/>
          </a:solidFill>
          <a:ln w="7620">
            <a:solidFill>
              <a:srgbClr val="E3E9EF"/>
            </a:solidFill>
            <a:prstDash val="solid"/>
          </a:ln>
        </p:spPr>
        <p:txBody>
          <a:bodyPr/>
          <a:lstStyle/>
          <a:p>
            <a:endParaRPr lang="en-US"/>
          </a:p>
        </p:txBody>
      </p:sp>
      <p:sp>
        <p:nvSpPr>
          <p:cNvPr id="55" name="rowchip_rpa"/>
          <p:cNvSpPr/>
          <p:nvPr/>
        </p:nvSpPr>
        <p:spPr>
          <a:xfrm>
            <a:off x="2560320" y="4229100"/>
            <a:ext cx="1152144" cy="274320"/>
          </a:xfrm>
          <a:prstGeom prst="rect">
            <a:avLst/>
          </a:prstGeom>
          <a:noFill/>
          <a:ln/>
        </p:spPr>
        <p:txBody>
          <a:bodyPr wrap="square" lIns="0" tIns="0" rIns="0" bIns="0" rtlCol="0" anchor="ctr"/>
          <a:lstStyle/>
          <a:p>
            <a:pPr marL="0" indent="0" algn="ctr">
              <a:lnSpc>
                <a:spcPts val="850"/>
              </a:lnSpc>
              <a:buNone/>
            </a:pPr>
            <a:r>
              <a:rPr lang="en-US" sz="750" b="1" dirty="0">
                <a:solidFill>
                  <a:srgbClr val="8FA1B2"/>
                </a:solidFill>
                <a:latin typeface="Calibri" pitchFamily="34" charset="0"/>
                <a:ea typeface="Calibri" pitchFamily="34" charset="-122"/>
                <a:cs typeface="Calibri" pitchFamily="34" charset="-120"/>
              </a:rPr>
              <a:t>RPA (automation)</a:t>
            </a:r>
            <a:endParaRPr lang="en-US" sz="750" dirty="0"/>
          </a:p>
        </p:txBody>
      </p:sp>
      <p:sp>
        <p:nvSpPr>
          <p:cNvPr id="56" name="rowmodel_rpa"/>
          <p:cNvSpPr/>
          <p:nvPr/>
        </p:nvSpPr>
        <p:spPr>
          <a:xfrm>
            <a:off x="3822192" y="4155948"/>
            <a:ext cx="1591056" cy="420624"/>
          </a:xfrm>
          <a:prstGeom prst="rect">
            <a:avLst/>
          </a:prstGeom>
          <a:noFill/>
          <a:ln/>
        </p:spPr>
        <p:txBody>
          <a:bodyPr wrap="square" lIns="0" tIns="0" rIns="0" bIns="0" rtlCol="0" anchor="ctr"/>
          <a:lstStyle/>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Rule-based software</a:t>
            </a:r>
            <a:endParaRPr lang="en-US" sz="850" dirty="0"/>
          </a:p>
          <a:p>
            <a:pPr marL="0" indent="0">
              <a:lnSpc>
                <a:spcPts val="1000"/>
              </a:lnSpc>
              <a:buNone/>
            </a:pPr>
            <a:r>
              <a:rPr lang="en-US" sz="850" b="1" dirty="0">
                <a:solidFill>
                  <a:srgbClr val="0A3E7A"/>
                </a:solidFill>
                <a:latin typeface="Calibri" pitchFamily="34" charset="0"/>
                <a:ea typeface="Calibri" pitchFamily="34" charset="-122"/>
                <a:cs typeface="Calibri" pitchFamily="34" charset="-120"/>
              </a:rPr>
              <a:t>bots</a:t>
            </a:r>
            <a:endParaRPr lang="en-US" sz="850" dirty="0"/>
          </a:p>
        </p:txBody>
      </p:sp>
      <p:sp>
        <p:nvSpPr>
          <p:cNvPr id="57" name="rowhow_rpa"/>
          <p:cNvSpPr/>
          <p:nvPr/>
        </p:nvSpPr>
        <p:spPr>
          <a:xfrm>
            <a:off x="5468112" y="4146804"/>
            <a:ext cx="2962656"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Ingests partner health-record feeds, de-identifies, runs QC and assembles the dataset. No analyst touches it: 3 weeks → 2 days.</a:t>
            </a:r>
            <a:endParaRPr lang="en-US" sz="800" dirty="0"/>
          </a:p>
        </p:txBody>
      </p:sp>
      <p:sp>
        <p:nvSpPr>
          <p:cNvPr id="58" name="Text 55"/>
          <p:cNvSpPr/>
          <p:nvPr/>
        </p:nvSpPr>
        <p:spPr>
          <a:xfrm>
            <a:off x="640080" y="4681728"/>
            <a:ext cx="7863840" cy="201168"/>
          </a:xfrm>
          <a:prstGeom prst="rect">
            <a:avLst/>
          </a:prstGeom>
          <a:noFill/>
          <a:ln/>
        </p:spPr>
        <p:txBody>
          <a:bodyPr wrap="square" lIns="0" tIns="0" rIns="0" bIns="0" rtlCol="0" anchor="ctr"/>
          <a:lstStyle/>
          <a:p>
            <a:pPr marL="0" indent="0">
              <a:buNone/>
            </a:pPr>
            <a:r>
              <a:rPr lang="en-US" sz="750" b="1" kern="0" spc="130" dirty="0">
                <a:solidFill>
                  <a:srgbClr val="0B63CE"/>
                </a:solidFill>
                <a:latin typeface="Calibri" pitchFamily="34" charset="0"/>
                <a:ea typeface="Calibri" pitchFamily="34" charset="-122"/>
                <a:cs typeface="Calibri" pitchFamily="34" charset="-120"/>
              </a:rPr>
              <a:t>SDLC     </a:t>
            </a:r>
            <a:r>
              <a:rPr lang="en-US" sz="800" dirty="0">
                <a:solidFill>
                  <a:srgbClr val="55697C"/>
                </a:solidFill>
                <a:latin typeface="Calibri" pitchFamily="34" charset="0"/>
                <a:ea typeface="Calibri" pitchFamily="34" charset="-122"/>
                <a:cs typeface="Calibri" pitchFamily="34" charset="-120"/>
              </a:rPr>
              <a:t>All six run inside one Agile / CRISP-DM loop — business understanding → data prep → modelling → evaluation → deployment — re-run each quarter as new cohorts arrive.</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Effect transition="in" filter="fade">
                                      <p:cBhvr>
                                        <p:cTn id="8" dur="500"/>
                                        <p:tgtEl>
                                          <p:spTgt spid="2"/>
                                        </p:tgtEl>
                                      </p:cBhvr>
                                    </p:animEffect>
                                  </p:childTnLst>
                                </p:cTn>
                              </p:par>
                            </p:childTnLst>
                          </p:cTn>
                        </p:par>
                        <p:par>
                          <p:cTn id="9" fill="hold">
                            <p:stCondLst>
                              <p:cond delay="400"/>
                            </p:stCondLst>
                            <p:childTnLst>
                              <p:par>
                                <p:cTn id="10" presetID="2" presetClass="entr" presetSubtype="8"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Effect transition="in" filter="fade">
                                      <p:cBhvr>
                                        <p:cTn id="13" dur="500"/>
                                        <p:tgtEl>
                                          <p:spTgt spid="10"/>
                                        </p:tgtEl>
                                      </p:cBhvr>
                                    </p:animEffect>
                                  </p:childTnLst>
                                </p:cTn>
                              </p:par>
                            </p:childTnLst>
                          </p:cTn>
                        </p:par>
                        <p:par>
                          <p:cTn id="14" fill="hold">
                            <p:stCondLst>
                              <p:cond delay="400"/>
                            </p:stCondLst>
                            <p:childTnLst>
                              <p:par>
                                <p:cTn id="15" presetID="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Effect transition="in" filter="fade">
                                      <p:cBhvr>
                                        <p:cTn id="18" dur="500"/>
                                        <p:tgtEl>
                                          <p:spTgt spid="11"/>
                                        </p:tgtEl>
                                      </p:cBhvr>
                                    </p:animEffect>
                                  </p:childTnLst>
                                </p:cTn>
                              </p:par>
                            </p:childTnLst>
                          </p:cTn>
                        </p:par>
                        <p:par>
                          <p:cTn id="19" fill="hold">
                            <p:stCondLst>
                              <p:cond delay="400"/>
                            </p:stCondLst>
                            <p:childTnLst>
                              <p:par>
                                <p:cTn id="20" presetID="2" presetClass="entr" presetSubtype="8"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0-#ppt_w/2"/>
                                          </p:val>
                                        </p:tav>
                                        <p:tav tm="100000">
                                          <p:val>
                                            <p:strVal val="#ppt_x"/>
                                          </p:val>
                                        </p:tav>
                                      </p:tavLst>
                                    </p:anim>
                                    <p:animEffect transition="in" filter="fade">
                                      <p:cBhvr>
                                        <p:cTn id="23" dur="500"/>
                                        <p:tgtEl>
                                          <p:spTgt spid="12"/>
                                        </p:tgtEl>
                                      </p:cBhvr>
                                    </p:animEffect>
                                  </p:childTnLst>
                                </p:cTn>
                              </p:par>
                            </p:childTnLst>
                          </p:cTn>
                        </p:par>
                        <p:par>
                          <p:cTn id="24" fill="hold">
                            <p:stCondLst>
                              <p:cond delay="400"/>
                            </p:stCondLst>
                            <p:childTnLst>
                              <p:par>
                                <p:cTn id="25" presetID="2" presetClass="entr" presetSubtype="8"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Effect transition="in" filter="fade">
                                      <p:cBhvr>
                                        <p:cTn id="28" dur="500"/>
                                        <p:tgtEl>
                                          <p:spTgt spid="13"/>
                                        </p:tgtEl>
                                      </p:cBhvr>
                                    </p:animEffect>
                                  </p:childTnLst>
                                </p:cTn>
                              </p:par>
                            </p:childTnLst>
                          </p:cTn>
                        </p:par>
                        <p:par>
                          <p:cTn id="29" fill="hold">
                            <p:stCondLst>
                              <p:cond delay="580"/>
                            </p:stCondLst>
                            <p:childTnLst>
                              <p:par>
                                <p:cTn id="30" presetID="2" presetClass="entr" presetSubtype="8"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0-#ppt_w/2"/>
                                          </p:val>
                                        </p:tav>
                                        <p:tav tm="100000">
                                          <p:val>
                                            <p:strVal val="#ppt_x"/>
                                          </p:val>
                                        </p:tav>
                                      </p:tavLst>
                                    </p:anim>
                                    <p:animEffect transition="in" filter="fade">
                                      <p:cBhvr>
                                        <p:cTn id="33" dur="500"/>
                                        <p:tgtEl>
                                          <p:spTgt spid="14"/>
                                        </p:tgtEl>
                                      </p:cBhvr>
                                    </p:animEffect>
                                  </p:childTnLst>
                                </p:cTn>
                              </p:par>
                            </p:childTnLst>
                          </p:cTn>
                        </p:par>
                        <p:par>
                          <p:cTn id="34" fill="hold">
                            <p:stCondLst>
                              <p:cond delay="580"/>
                            </p:stCondLst>
                            <p:childTnLst>
                              <p:par>
                                <p:cTn id="35" presetID="2" presetClass="entr" presetSubtype="8"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0-#ppt_w/2"/>
                                          </p:val>
                                        </p:tav>
                                        <p:tav tm="100000">
                                          <p:val>
                                            <p:strVal val="#ppt_x"/>
                                          </p:val>
                                        </p:tav>
                                      </p:tavLst>
                                    </p:anim>
                                    <p:animEffect transition="in" filter="fade">
                                      <p:cBhvr>
                                        <p:cTn id="38" dur="500"/>
                                        <p:tgtEl>
                                          <p:spTgt spid="15"/>
                                        </p:tgtEl>
                                      </p:cBhvr>
                                    </p:animEffect>
                                  </p:childTnLst>
                                </p:cTn>
                              </p:par>
                            </p:childTnLst>
                          </p:cTn>
                        </p:par>
                        <p:par>
                          <p:cTn id="39" fill="hold">
                            <p:stCondLst>
                              <p:cond delay="720"/>
                            </p:stCondLst>
                            <p:childTnLst>
                              <p:par>
                                <p:cTn id="40" presetID="2" presetClass="entr" presetSubtype="8"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0-#ppt_w/2"/>
                                          </p:val>
                                        </p:tav>
                                        <p:tav tm="100000">
                                          <p:val>
                                            <p:strVal val="#ppt_x"/>
                                          </p:val>
                                        </p:tav>
                                      </p:tavLst>
                                    </p:anim>
                                    <p:animEffect transition="in" filter="fade">
                                      <p:cBhvr>
                                        <p:cTn id="43" dur="500"/>
                                        <p:tgtEl>
                                          <p:spTgt spid="16"/>
                                        </p:tgtEl>
                                      </p:cBhvr>
                                    </p:animEffect>
                                  </p:childTnLst>
                                </p:cTn>
                              </p:par>
                            </p:childTnLst>
                          </p:cTn>
                        </p:par>
                        <p:par>
                          <p:cTn id="44" fill="hold">
                            <p:stCondLst>
                              <p:cond delay="860"/>
                            </p:stCondLst>
                            <p:childTnLst>
                              <p:par>
                                <p:cTn id="45" presetID="2" presetClass="entr" presetSubtype="2"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1+#ppt_w/2"/>
                                          </p:val>
                                        </p:tav>
                                        <p:tav tm="100000">
                                          <p:val>
                                            <p:strVal val="#ppt_x"/>
                                          </p:val>
                                        </p:tav>
                                      </p:tavLst>
                                    </p:anim>
                                    <p:animEffect transition="in" filter="fade">
                                      <p:cBhvr>
                                        <p:cTn id="48" dur="500"/>
                                        <p:tgtEl>
                                          <p:spTgt spid="17"/>
                                        </p:tgtEl>
                                      </p:cBhvr>
                                    </p:animEffect>
                                  </p:childTnLst>
                                </p:cTn>
                              </p:par>
                            </p:childTnLst>
                          </p:cTn>
                        </p:par>
                        <p:par>
                          <p:cTn id="49" fill="hold">
                            <p:stCondLst>
                              <p:cond delay="1160"/>
                            </p:stCondLst>
                            <p:childTnLst>
                              <p:par>
                                <p:cTn id="50" presetID="2" presetClass="entr" presetSubtype="8"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0-#ppt_w/2"/>
                                          </p:val>
                                        </p:tav>
                                        <p:tav tm="100000">
                                          <p:val>
                                            <p:strVal val="#ppt_x"/>
                                          </p:val>
                                        </p:tav>
                                      </p:tavLst>
                                    </p:anim>
                                    <p:animEffect transition="in" filter="fade">
                                      <p:cBhvr>
                                        <p:cTn id="53" dur="500"/>
                                        <p:tgtEl>
                                          <p:spTgt spid="18"/>
                                        </p:tgtEl>
                                      </p:cBhvr>
                                    </p:animEffect>
                                  </p:childTnLst>
                                </p:cTn>
                              </p:par>
                            </p:childTnLst>
                          </p:cTn>
                        </p:par>
                        <p:par>
                          <p:cTn id="54" fill="hold">
                            <p:stCondLst>
                              <p:cond delay="1160"/>
                            </p:stCondLst>
                            <p:childTnLst>
                              <p:par>
                                <p:cTn id="55" presetID="2" presetClass="entr" presetSubtype="8"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0-#ppt_w/2"/>
                                          </p:val>
                                        </p:tav>
                                        <p:tav tm="100000">
                                          <p:val>
                                            <p:strVal val="#ppt_x"/>
                                          </p:val>
                                        </p:tav>
                                      </p:tavLst>
                                    </p:anim>
                                    <p:animEffect transition="in" filter="fade">
                                      <p:cBhvr>
                                        <p:cTn id="58" dur="500"/>
                                        <p:tgtEl>
                                          <p:spTgt spid="19"/>
                                        </p:tgtEl>
                                      </p:cBhvr>
                                    </p:animEffect>
                                  </p:childTnLst>
                                </p:cTn>
                              </p:par>
                            </p:childTnLst>
                          </p:cTn>
                        </p:par>
                        <p:par>
                          <p:cTn id="59" fill="hold">
                            <p:stCondLst>
                              <p:cond delay="1160"/>
                            </p:stCondLst>
                            <p:childTnLst>
                              <p:par>
                                <p:cTn id="60" presetID="2" presetClass="entr" presetSubtype="8"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0-#ppt_w/2"/>
                                          </p:val>
                                        </p:tav>
                                        <p:tav tm="100000">
                                          <p:val>
                                            <p:strVal val="#ppt_x"/>
                                          </p:val>
                                        </p:tav>
                                      </p:tavLst>
                                    </p:anim>
                                    <p:animEffect transition="in" filter="fade">
                                      <p:cBhvr>
                                        <p:cTn id="63" dur="500"/>
                                        <p:tgtEl>
                                          <p:spTgt spid="20"/>
                                        </p:tgtEl>
                                      </p:cBhvr>
                                    </p:animEffect>
                                  </p:childTnLst>
                                </p:cTn>
                              </p:par>
                            </p:childTnLst>
                          </p:cTn>
                        </p:par>
                        <p:par>
                          <p:cTn id="64" fill="hold">
                            <p:stCondLst>
                              <p:cond delay="1160"/>
                            </p:stCondLst>
                            <p:childTnLst>
                              <p:par>
                                <p:cTn id="65" presetID="2" presetClass="entr" presetSubtype="8"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0-#ppt_w/2"/>
                                          </p:val>
                                        </p:tav>
                                        <p:tav tm="100000">
                                          <p:val>
                                            <p:strVal val="#ppt_x"/>
                                          </p:val>
                                        </p:tav>
                                      </p:tavLst>
                                    </p:anim>
                                    <p:animEffect transition="in" filter="fade">
                                      <p:cBhvr>
                                        <p:cTn id="68" dur="500"/>
                                        <p:tgtEl>
                                          <p:spTgt spid="21"/>
                                        </p:tgtEl>
                                      </p:cBhvr>
                                    </p:animEffect>
                                  </p:childTnLst>
                                </p:cTn>
                              </p:par>
                            </p:childTnLst>
                          </p:cTn>
                        </p:par>
                        <p:par>
                          <p:cTn id="69" fill="hold">
                            <p:stCondLst>
                              <p:cond delay="1340"/>
                            </p:stCondLst>
                            <p:childTnLst>
                              <p:par>
                                <p:cTn id="70" presetID="2" presetClass="entr" presetSubtype="8" fill="hold"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0-#ppt_w/2"/>
                                          </p:val>
                                        </p:tav>
                                        <p:tav tm="100000">
                                          <p:val>
                                            <p:strVal val="#ppt_x"/>
                                          </p:val>
                                        </p:tav>
                                      </p:tavLst>
                                    </p:anim>
                                    <p:animEffect transition="in" filter="fade">
                                      <p:cBhvr>
                                        <p:cTn id="73" dur="500"/>
                                        <p:tgtEl>
                                          <p:spTgt spid="22"/>
                                        </p:tgtEl>
                                      </p:cBhvr>
                                    </p:animEffect>
                                  </p:childTnLst>
                                </p:cTn>
                              </p:par>
                            </p:childTnLst>
                          </p:cTn>
                        </p:par>
                        <p:par>
                          <p:cTn id="74" fill="hold">
                            <p:stCondLst>
                              <p:cond delay="1340"/>
                            </p:stCondLst>
                            <p:childTnLst>
                              <p:par>
                                <p:cTn id="75" presetID="2" presetClass="entr" presetSubtype="8"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0-#ppt_w/2"/>
                                          </p:val>
                                        </p:tav>
                                        <p:tav tm="100000">
                                          <p:val>
                                            <p:strVal val="#ppt_x"/>
                                          </p:val>
                                        </p:tav>
                                      </p:tavLst>
                                    </p:anim>
                                    <p:animEffect transition="in" filter="fade">
                                      <p:cBhvr>
                                        <p:cTn id="78" dur="500"/>
                                        <p:tgtEl>
                                          <p:spTgt spid="23"/>
                                        </p:tgtEl>
                                      </p:cBhvr>
                                    </p:animEffect>
                                  </p:childTnLst>
                                </p:cTn>
                              </p:par>
                            </p:childTnLst>
                          </p:cTn>
                        </p:par>
                        <p:par>
                          <p:cTn id="79" fill="hold">
                            <p:stCondLst>
                              <p:cond delay="1480"/>
                            </p:stCondLst>
                            <p:childTnLst>
                              <p:par>
                                <p:cTn id="80" presetID="2" presetClass="entr" presetSubtype="8" fill="hold"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0-#ppt_w/2"/>
                                          </p:val>
                                        </p:tav>
                                        <p:tav tm="100000">
                                          <p:val>
                                            <p:strVal val="#ppt_x"/>
                                          </p:val>
                                        </p:tav>
                                      </p:tavLst>
                                    </p:anim>
                                    <p:animEffect transition="in" filter="fade">
                                      <p:cBhvr>
                                        <p:cTn id="83" dur="500"/>
                                        <p:tgtEl>
                                          <p:spTgt spid="24"/>
                                        </p:tgtEl>
                                      </p:cBhvr>
                                    </p:animEffect>
                                  </p:childTnLst>
                                </p:cTn>
                              </p:par>
                            </p:childTnLst>
                          </p:cTn>
                        </p:par>
                        <p:par>
                          <p:cTn id="84" fill="hold">
                            <p:stCondLst>
                              <p:cond delay="1620"/>
                            </p:stCondLst>
                            <p:childTnLst>
                              <p:par>
                                <p:cTn id="85" presetID="2" presetClass="entr" presetSubtype="2" fill="hold"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1+#ppt_w/2"/>
                                          </p:val>
                                        </p:tav>
                                        <p:tav tm="100000">
                                          <p:val>
                                            <p:strVal val="#ppt_x"/>
                                          </p:val>
                                        </p:tav>
                                      </p:tavLst>
                                    </p:anim>
                                    <p:animEffect transition="in" filter="fade">
                                      <p:cBhvr>
                                        <p:cTn id="88" dur="500"/>
                                        <p:tgtEl>
                                          <p:spTgt spid="25"/>
                                        </p:tgtEl>
                                      </p:cBhvr>
                                    </p:animEffect>
                                  </p:childTnLst>
                                </p:cTn>
                              </p:par>
                            </p:childTnLst>
                          </p:cTn>
                        </p:par>
                        <p:par>
                          <p:cTn id="89" fill="hold">
                            <p:stCondLst>
                              <p:cond delay="1920"/>
                            </p:stCondLst>
                            <p:childTnLst>
                              <p:par>
                                <p:cTn id="90" presetID="2" presetClass="entr" presetSubtype="8" fill="hold" nodeType="withEffect">
                                  <p:stCondLst>
                                    <p:cond delay="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0-#ppt_w/2"/>
                                          </p:val>
                                        </p:tav>
                                        <p:tav tm="100000">
                                          <p:val>
                                            <p:strVal val="#ppt_x"/>
                                          </p:val>
                                        </p:tav>
                                      </p:tavLst>
                                    </p:anim>
                                    <p:animEffect transition="in" filter="fade">
                                      <p:cBhvr>
                                        <p:cTn id="93" dur="500"/>
                                        <p:tgtEl>
                                          <p:spTgt spid="26"/>
                                        </p:tgtEl>
                                      </p:cBhvr>
                                    </p:animEffect>
                                  </p:childTnLst>
                                </p:cTn>
                              </p:par>
                            </p:childTnLst>
                          </p:cTn>
                        </p:par>
                        <p:par>
                          <p:cTn id="94" fill="hold">
                            <p:stCondLst>
                              <p:cond delay="1920"/>
                            </p:stCondLst>
                            <p:childTnLst>
                              <p:par>
                                <p:cTn id="95" presetID="2" presetClass="entr" presetSubtype="8" fill="hold"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0-#ppt_w/2"/>
                                          </p:val>
                                        </p:tav>
                                        <p:tav tm="100000">
                                          <p:val>
                                            <p:strVal val="#ppt_x"/>
                                          </p:val>
                                        </p:tav>
                                      </p:tavLst>
                                    </p:anim>
                                    <p:animEffect transition="in" filter="fade">
                                      <p:cBhvr>
                                        <p:cTn id="98" dur="500"/>
                                        <p:tgtEl>
                                          <p:spTgt spid="27"/>
                                        </p:tgtEl>
                                      </p:cBhvr>
                                    </p:animEffect>
                                  </p:childTnLst>
                                </p:cTn>
                              </p:par>
                            </p:childTnLst>
                          </p:cTn>
                        </p:par>
                        <p:par>
                          <p:cTn id="99" fill="hold">
                            <p:stCondLst>
                              <p:cond delay="1920"/>
                            </p:stCondLst>
                            <p:childTnLst>
                              <p:par>
                                <p:cTn id="100" presetID="2" presetClass="entr" presetSubtype="8" fill="hold" nodeType="withEffect">
                                  <p:stCondLst>
                                    <p:cond delay="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0-#ppt_w/2"/>
                                          </p:val>
                                        </p:tav>
                                        <p:tav tm="100000">
                                          <p:val>
                                            <p:strVal val="#ppt_x"/>
                                          </p:val>
                                        </p:tav>
                                      </p:tavLst>
                                    </p:anim>
                                    <p:animEffect transition="in" filter="fade">
                                      <p:cBhvr>
                                        <p:cTn id="103" dur="500"/>
                                        <p:tgtEl>
                                          <p:spTgt spid="28"/>
                                        </p:tgtEl>
                                      </p:cBhvr>
                                    </p:animEffect>
                                  </p:childTnLst>
                                </p:cTn>
                              </p:par>
                            </p:childTnLst>
                          </p:cTn>
                        </p:par>
                        <p:par>
                          <p:cTn id="104" fill="hold">
                            <p:stCondLst>
                              <p:cond delay="1920"/>
                            </p:stCondLst>
                            <p:childTnLst>
                              <p:par>
                                <p:cTn id="105" presetID="2" presetClass="entr" presetSubtype="8" fill="hold" nodeType="withEffect">
                                  <p:stCondLst>
                                    <p:cond delay="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0-#ppt_w/2"/>
                                          </p:val>
                                        </p:tav>
                                        <p:tav tm="100000">
                                          <p:val>
                                            <p:strVal val="#ppt_x"/>
                                          </p:val>
                                        </p:tav>
                                      </p:tavLst>
                                    </p:anim>
                                    <p:animEffect transition="in" filter="fade">
                                      <p:cBhvr>
                                        <p:cTn id="108" dur="500"/>
                                        <p:tgtEl>
                                          <p:spTgt spid="29"/>
                                        </p:tgtEl>
                                      </p:cBhvr>
                                    </p:animEffect>
                                  </p:childTnLst>
                                </p:cTn>
                              </p:par>
                            </p:childTnLst>
                          </p:cTn>
                        </p:par>
                        <p:par>
                          <p:cTn id="109" fill="hold">
                            <p:stCondLst>
                              <p:cond delay="2100"/>
                            </p:stCondLst>
                            <p:childTnLst>
                              <p:par>
                                <p:cTn id="110" presetID="2" presetClass="entr" presetSubtype="8" fill="hold" nodeType="withEffect">
                                  <p:stCondLst>
                                    <p:cond delay="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0-#ppt_w/2"/>
                                          </p:val>
                                        </p:tav>
                                        <p:tav tm="100000">
                                          <p:val>
                                            <p:strVal val="#ppt_x"/>
                                          </p:val>
                                        </p:tav>
                                      </p:tavLst>
                                    </p:anim>
                                    <p:animEffect transition="in" filter="fade">
                                      <p:cBhvr>
                                        <p:cTn id="113" dur="500"/>
                                        <p:tgtEl>
                                          <p:spTgt spid="30"/>
                                        </p:tgtEl>
                                      </p:cBhvr>
                                    </p:animEffect>
                                  </p:childTnLst>
                                </p:cTn>
                              </p:par>
                            </p:childTnLst>
                          </p:cTn>
                        </p:par>
                        <p:par>
                          <p:cTn id="114" fill="hold">
                            <p:stCondLst>
                              <p:cond delay="2100"/>
                            </p:stCondLst>
                            <p:childTnLst>
                              <p:par>
                                <p:cTn id="115" presetID="2" presetClass="entr" presetSubtype="8" fill="hold" nodeType="with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0-#ppt_w/2"/>
                                          </p:val>
                                        </p:tav>
                                        <p:tav tm="100000">
                                          <p:val>
                                            <p:strVal val="#ppt_x"/>
                                          </p:val>
                                        </p:tav>
                                      </p:tavLst>
                                    </p:anim>
                                    <p:animEffect transition="in" filter="fade">
                                      <p:cBhvr>
                                        <p:cTn id="118" dur="500"/>
                                        <p:tgtEl>
                                          <p:spTgt spid="31"/>
                                        </p:tgtEl>
                                      </p:cBhvr>
                                    </p:animEffect>
                                  </p:childTnLst>
                                </p:cTn>
                              </p:par>
                            </p:childTnLst>
                          </p:cTn>
                        </p:par>
                        <p:par>
                          <p:cTn id="119" fill="hold">
                            <p:stCondLst>
                              <p:cond delay="2240"/>
                            </p:stCondLst>
                            <p:childTnLst>
                              <p:par>
                                <p:cTn id="120" presetID="2" presetClass="entr" presetSubtype="8" fill="hold" nodeType="withEffect">
                                  <p:stCondLst>
                                    <p:cond delay="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0-#ppt_w/2"/>
                                          </p:val>
                                        </p:tav>
                                        <p:tav tm="100000">
                                          <p:val>
                                            <p:strVal val="#ppt_x"/>
                                          </p:val>
                                        </p:tav>
                                      </p:tavLst>
                                    </p:anim>
                                    <p:animEffect transition="in" filter="fade">
                                      <p:cBhvr>
                                        <p:cTn id="123" dur="500"/>
                                        <p:tgtEl>
                                          <p:spTgt spid="32"/>
                                        </p:tgtEl>
                                      </p:cBhvr>
                                    </p:animEffect>
                                  </p:childTnLst>
                                </p:cTn>
                              </p:par>
                            </p:childTnLst>
                          </p:cTn>
                        </p:par>
                        <p:par>
                          <p:cTn id="124" fill="hold">
                            <p:stCondLst>
                              <p:cond delay="2380"/>
                            </p:stCondLst>
                            <p:childTnLst>
                              <p:par>
                                <p:cTn id="125" presetID="2" presetClass="entr" presetSubtype="2" fill="hold" nodeType="with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1+#ppt_w/2"/>
                                          </p:val>
                                        </p:tav>
                                        <p:tav tm="100000">
                                          <p:val>
                                            <p:strVal val="#ppt_x"/>
                                          </p:val>
                                        </p:tav>
                                      </p:tavLst>
                                    </p:anim>
                                    <p:animEffect transition="in" filter="fade">
                                      <p:cBhvr>
                                        <p:cTn id="128" dur="500"/>
                                        <p:tgtEl>
                                          <p:spTgt spid="33"/>
                                        </p:tgtEl>
                                      </p:cBhvr>
                                    </p:animEffect>
                                  </p:childTnLst>
                                </p:cTn>
                              </p:par>
                            </p:childTnLst>
                          </p:cTn>
                        </p:par>
                        <p:par>
                          <p:cTn id="129" fill="hold">
                            <p:stCondLst>
                              <p:cond delay="2680"/>
                            </p:stCondLst>
                            <p:childTnLst>
                              <p:par>
                                <p:cTn id="130" presetID="2" presetClass="entr" presetSubtype="8" fill="hold" nodeType="withEffect">
                                  <p:stCondLst>
                                    <p:cond delay="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0-#ppt_w/2"/>
                                          </p:val>
                                        </p:tav>
                                        <p:tav tm="100000">
                                          <p:val>
                                            <p:strVal val="#ppt_x"/>
                                          </p:val>
                                        </p:tav>
                                      </p:tavLst>
                                    </p:anim>
                                    <p:animEffect transition="in" filter="fade">
                                      <p:cBhvr>
                                        <p:cTn id="133" dur="500"/>
                                        <p:tgtEl>
                                          <p:spTgt spid="34"/>
                                        </p:tgtEl>
                                      </p:cBhvr>
                                    </p:animEffect>
                                  </p:childTnLst>
                                </p:cTn>
                              </p:par>
                            </p:childTnLst>
                          </p:cTn>
                        </p:par>
                        <p:par>
                          <p:cTn id="134" fill="hold">
                            <p:stCondLst>
                              <p:cond delay="2680"/>
                            </p:stCondLst>
                            <p:childTnLst>
                              <p:par>
                                <p:cTn id="135" presetID="2" presetClass="entr" presetSubtype="8" fill="hold" nodeType="with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0-#ppt_w/2"/>
                                          </p:val>
                                        </p:tav>
                                        <p:tav tm="100000">
                                          <p:val>
                                            <p:strVal val="#ppt_x"/>
                                          </p:val>
                                        </p:tav>
                                      </p:tavLst>
                                    </p:anim>
                                    <p:animEffect transition="in" filter="fade">
                                      <p:cBhvr>
                                        <p:cTn id="138" dur="500"/>
                                        <p:tgtEl>
                                          <p:spTgt spid="35"/>
                                        </p:tgtEl>
                                      </p:cBhvr>
                                    </p:animEffect>
                                  </p:childTnLst>
                                </p:cTn>
                              </p:par>
                            </p:childTnLst>
                          </p:cTn>
                        </p:par>
                        <p:par>
                          <p:cTn id="139" fill="hold">
                            <p:stCondLst>
                              <p:cond delay="2680"/>
                            </p:stCondLst>
                            <p:childTnLst>
                              <p:par>
                                <p:cTn id="140" presetID="2" presetClass="entr" presetSubtype="8" fill="hold" nodeType="withEffect">
                                  <p:stCondLst>
                                    <p:cond delay="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0-#ppt_w/2"/>
                                          </p:val>
                                        </p:tav>
                                        <p:tav tm="100000">
                                          <p:val>
                                            <p:strVal val="#ppt_x"/>
                                          </p:val>
                                        </p:tav>
                                      </p:tavLst>
                                    </p:anim>
                                    <p:animEffect transition="in" filter="fade">
                                      <p:cBhvr>
                                        <p:cTn id="143" dur="500"/>
                                        <p:tgtEl>
                                          <p:spTgt spid="36"/>
                                        </p:tgtEl>
                                      </p:cBhvr>
                                    </p:animEffect>
                                  </p:childTnLst>
                                </p:cTn>
                              </p:par>
                            </p:childTnLst>
                          </p:cTn>
                        </p:par>
                        <p:par>
                          <p:cTn id="144" fill="hold">
                            <p:stCondLst>
                              <p:cond delay="2680"/>
                            </p:stCondLst>
                            <p:childTnLst>
                              <p:par>
                                <p:cTn id="145" presetID="2" presetClass="entr" presetSubtype="8"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0-#ppt_w/2"/>
                                          </p:val>
                                        </p:tav>
                                        <p:tav tm="100000">
                                          <p:val>
                                            <p:strVal val="#ppt_x"/>
                                          </p:val>
                                        </p:tav>
                                      </p:tavLst>
                                    </p:anim>
                                    <p:animEffect transition="in" filter="fade">
                                      <p:cBhvr>
                                        <p:cTn id="148" dur="500"/>
                                        <p:tgtEl>
                                          <p:spTgt spid="37"/>
                                        </p:tgtEl>
                                      </p:cBhvr>
                                    </p:animEffect>
                                  </p:childTnLst>
                                </p:cTn>
                              </p:par>
                            </p:childTnLst>
                          </p:cTn>
                        </p:par>
                        <p:par>
                          <p:cTn id="149" fill="hold">
                            <p:stCondLst>
                              <p:cond delay="2860"/>
                            </p:stCondLst>
                            <p:childTnLst>
                              <p:par>
                                <p:cTn id="150" presetID="2" presetClass="entr" presetSubtype="8" fill="hold" nodeType="withEffect">
                                  <p:stCondLst>
                                    <p:cond delay="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0-#ppt_w/2"/>
                                          </p:val>
                                        </p:tav>
                                        <p:tav tm="100000">
                                          <p:val>
                                            <p:strVal val="#ppt_x"/>
                                          </p:val>
                                        </p:tav>
                                      </p:tavLst>
                                    </p:anim>
                                    <p:animEffect transition="in" filter="fade">
                                      <p:cBhvr>
                                        <p:cTn id="153" dur="500"/>
                                        <p:tgtEl>
                                          <p:spTgt spid="38"/>
                                        </p:tgtEl>
                                      </p:cBhvr>
                                    </p:animEffect>
                                  </p:childTnLst>
                                </p:cTn>
                              </p:par>
                            </p:childTnLst>
                          </p:cTn>
                        </p:par>
                        <p:par>
                          <p:cTn id="154" fill="hold">
                            <p:stCondLst>
                              <p:cond delay="2860"/>
                            </p:stCondLst>
                            <p:childTnLst>
                              <p:par>
                                <p:cTn id="155" presetID="2" presetClass="entr" presetSubtype="8" fill="hold" nodeType="with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0-#ppt_w/2"/>
                                          </p:val>
                                        </p:tav>
                                        <p:tav tm="100000">
                                          <p:val>
                                            <p:strVal val="#ppt_x"/>
                                          </p:val>
                                        </p:tav>
                                      </p:tavLst>
                                    </p:anim>
                                    <p:animEffect transition="in" filter="fade">
                                      <p:cBhvr>
                                        <p:cTn id="158" dur="500"/>
                                        <p:tgtEl>
                                          <p:spTgt spid="39"/>
                                        </p:tgtEl>
                                      </p:cBhvr>
                                    </p:animEffect>
                                  </p:childTnLst>
                                </p:cTn>
                              </p:par>
                            </p:childTnLst>
                          </p:cTn>
                        </p:par>
                        <p:par>
                          <p:cTn id="159" fill="hold">
                            <p:stCondLst>
                              <p:cond delay="3000"/>
                            </p:stCondLst>
                            <p:childTnLst>
                              <p:par>
                                <p:cTn id="160" presetID="2" presetClass="entr" presetSubtype="8" fill="hold" nodeType="withEffect">
                                  <p:stCondLst>
                                    <p:cond delay="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0-#ppt_w/2"/>
                                          </p:val>
                                        </p:tav>
                                        <p:tav tm="100000">
                                          <p:val>
                                            <p:strVal val="#ppt_x"/>
                                          </p:val>
                                        </p:tav>
                                      </p:tavLst>
                                    </p:anim>
                                    <p:animEffect transition="in" filter="fade">
                                      <p:cBhvr>
                                        <p:cTn id="163" dur="500"/>
                                        <p:tgtEl>
                                          <p:spTgt spid="40"/>
                                        </p:tgtEl>
                                      </p:cBhvr>
                                    </p:animEffect>
                                  </p:childTnLst>
                                </p:cTn>
                              </p:par>
                            </p:childTnLst>
                          </p:cTn>
                        </p:par>
                        <p:par>
                          <p:cTn id="164" fill="hold">
                            <p:stCondLst>
                              <p:cond delay="3140"/>
                            </p:stCondLst>
                            <p:childTnLst>
                              <p:par>
                                <p:cTn id="165" presetID="2" presetClass="entr" presetSubtype="2" fill="hold" nodeType="withEffect">
                                  <p:stCondLst>
                                    <p:cond delay="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1+#ppt_w/2"/>
                                          </p:val>
                                        </p:tav>
                                        <p:tav tm="100000">
                                          <p:val>
                                            <p:strVal val="#ppt_x"/>
                                          </p:val>
                                        </p:tav>
                                      </p:tavLst>
                                    </p:anim>
                                    <p:animEffect transition="in" filter="fade">
                                      <p:cBhvr>
                                        <p:cTn id="168" dur="500"/>
                                        <p:tgtEl>
                                          <p:spTgt spid="41"/>
                                        </p:tgtEl>
                                      </p:cBhvr>
                                    </p:animEffect>
                                  </p:childTnLst>
                                </p:cTn>
                              </p:par>
                            </p:childTnLst>
                          </p:cTn>
                        </p:par>
                        <p:par>
                          <p:cTn id="169" fill="hold">
                            <p:stCondLst>
                              <p:cond delay="3440"/>
                            </p:stCondLst>
                            <p:childTnLst>
                              <p:par>
                                <p:cTn id="170" presetID="2" presetClass="entr" presetSubtype="8" fill="hold" nodeType="withEffect">
                                  <p:stCondLst>
                                    <p:cond delay="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0-#ppt_w/2"/>
                                          </p:val>
                                        </p:tav>
                                        <p:tav tm="100000">
                                          <p:val>
                                            <p:strVal val="#ppt_x"/>
                                          </p:val>
                                        </p:tav>
                                      </p:tavLst>
                                    </p:anim>
                                    <p:animEffect transition="in" filter="fade">
                                      <p:cBhvr>
                                        <p:cTn id="173" dur="500"/>
                                        <p:tgtEl>
                                          <p:spTgt spid="42"/>
                                        </p:tgtEl>
                                      </p:cBhvr>
                                    </p:animEffect>
                                  </p:childTnLst>
                                </p:cTn>
                              </p:par>
                            </p:childTnLst>
                          </p:cTn>
                        </p:par>
                        <p:par>
                          <p:cTn id="174" fill="hold">
                            <p:stCondLst>
                              <p:cond delay="3440"/>
                            </p:stCondLst>
                            <p:childTnLst>
                              <p:par>
                                <p:cTn id="175" presetID="2" presetClass="entr" presetSubtype="8" fill="hold" nodeType="withEffect">
                                  <p:stCondLst>
                                    <p:cond delay="0"/>
                                  </p:stCondLst>
                                  <p:childTnLst>
                                    <p:set>
                                      <p:cBhvr>
                                        <p:cTn id="176" dur="1" fill="hold">
                                          <p:stCondLst>
                                            <p:cond delay="0"/>
                                          </p:stCondLst>
                                        </p:cTn>
                                        <p:tgtEl>
                                          <p:spTgt spid="43"/>
                                        </p:tgtEl>
                                        <p:attrNameLst>
                                          <p:attrName>style.visibility</p:attrName>
                                        </p:attrNameLst>
                                      </p:cBhvr>
                                      <p:to>
                                        <p:strVal val="visible"/>
                                      </p:to>
                                    </p:set>
                                    <p:anim calcmode="lin" valueType="num">
                                      <p:cBhvr additive="base">
                                        <p:cTn id="177" dur="500" fill="hold"/>
                                        <p:tgtEl>
                                          <p:spTgt spid="43"/>
                                        </p:tgtEl>
                                        <p:attrNameLst>
                                          <p:attrName>ppt_x</p:attrName>
                                        </p:attrNameLst>
                                      </p:cBhvr>
                                      <p:tavLst>
                                        <p:tav tm="0">
                                          <p:val>
                                            <p:strVal val="0-#ppt_w/2"/>
                                          </p:val>
                                        </p:tav>
                                        <p:tav tm="100000">
                                          <p:val>
                                            <p:strVal val="#ppt_x"/>
                                          </p:val>
                                        </p:tav>
                                      </p:tavLst>
                                    </p:anim>
                                    <p:animEffect transition="in" filter="fade">
                                      <p:cBhvr>
                                        <p:cTn id="178" dur="500"/>
                                        <p:tgtEl>
                                          <p:spTgt spid="43"/>
                                        </p:tgtEl>
                                      </p:cBhvr>
                                    </p:animEffect>
                                  </p:childTnLst>
                                </p:cTn>
                              </p:par>
                            </p:childTnLst>
                          </p:cTn>
                        </p:par>
                        <p:par>
                          <p:cTn id="179" fill="hold">
                            <p:stCondLst>
                              <p:cond delay="3440"/>
                            </p:stCondLst>
                            <p:childTnLst>
                              <p:par>
                                <p:cTn id="180" presetID="2" presetClass="entr" presetSubtype="8" fill="hold" nodeType="withEffect">
                                  <p:stCondLst>
                                    <p:cond delay="0"/>
                                  </p:stCondLst>
                                  <p:childTnLst>
                                    <p:set>
                                      <p:cBhvr>
                                        <p:cTn id="181" dur="1" fill="hold">
                                          <p:stCondLst>
                                            <p:cond delay="0"/>
                                          </p:stCondLst>
                                        </p:cTn>
                                        <p:tgtEl>
                                          <p:spTgt spid="44"/>
                                        </p:tgtEl>
                                        <p:attrNameLst>
                                          <p:attrName>style.visibility</p:attrName>
                                        </p:attrNameLst>
                                      </p:cBhvr>
                                      <p:to>
                                        <p:strVal val="visible"/>
                                      </p:to>
                                    </p:set>
                                    <p:anim calcmode="lin" valueType="num">
                                      <p:cBhvr additive="base">
                                        <p:cTn id="182" dur="500" fill="hold"/>
                                        <p:tgtEl>
                                          <p:spTgt spid="44"/>
                                        </p:tgtEl>
                                        <p:attrNameLst>
                                          <p:attrName>ppt_x</p:attrName>
                                        </p:attrNameLst>
                                      </p:cBhvr>
                                      <p:tavLst>
                                        <p:tav tm="0">
                                          <p:val>
                                            <p:strVal val="0-#ppt_w/2"/>
                                          </p:val>
                                        </p:tav>
                                        <p:tav tm="100000">
                                          <p:val>
                                            <p:strVal val="#ppt_x"/>
                                          </p:val>
                                        </p:tav>
                                      </p:tavLst>
                                    </p:anim>
                                    <p:animEffect transition="in" filter="fade">
                                      <p:cBhvr>
                                        <p:cTn id="183" dur="500"/>
                                        <p:tgtEl>
                                          <p:spTgt spid="44"/>
                                        </p:tgtEl>
                                      </p:cBhvr>
                                    </p:animEffect>
                                  </p:childTnLst>
                                </p:cTn>
                              </p:par>
                            </p:childTnLst>
                          </p:cTn>
                        </p:par>
                        <p:par>
                          <p:cTn id="184" fill="hold">
                            <p:stCondLst>
                              <p:cond delay="3440"/>
                            </p:stCondLst>
                            <p:childTnLst>
                              <p:par>
                                <p:cTn id="185" presetID="2" presetClass="entr" presetSubtype="8" fill="hold" nodeType="withEffect">
                                  <p:stCondLst>
                                    <p:cond delay="0"/>
                                  </p:stCondLst>
                                  <p:childTnLst>
                                    <p:set>
                                      <p:cBhvr>
                                        <p:cTn id="186" dur="1" fill="hold">
                                          <p:stCondLst>
                                            <p:cond delay="0"/>
                                          </p:stCondLst>
                                        </p:cTn>
                                        <p:tgtEl>
                                          <p:spTgt spid="45"/>
                                        </p:tgtEl>
                                        <p:attrNameLst>
                                          <p:attrName>style.visibility</p:attrName>
                                        </p:attrNameLst>
                                      </p:cBhvr>
                                      <p:to>
                                        <p:strVal val="visible"/>
                                      </p:to>
                                    </p:set>
                                    <p:anim calcmode="lin" valueType="num">
                                      <p:cBhvr additive="base">
                                        <p:cTn id="187" dur="500" fill="hold"/>
                                        <p:tgtEl>
                                          <p:spTgt spid="45"/>
                                        </p:tgtEl>
                                        <p:attrNameLst>
                                          <p:attrName>ppt_x</p:attrName>
                                        </p:attrNameLst>
                                      </p:cBhvr>
                                      <p:tavLst>
                                        <p:tav tm="0">
                                          <p:val>
                                            <p:strVal val="0-#ppt_w/2"/>
                                          </p:val>
                                        </p:tav>
                                        <p:tav tm="100000">
                                          <p:val>
                                            <p:strVal val="#ppt_x"/>
                                          </p:val>
                                        </p:tav>
                                      </p:tavLst>
                                    </p:anim>
                                    <p:animEffect transition="in" filter="fade">
                                      <p:cBhvr>
                                        <p:cTn id="188" dur="500"/>
                                        <p:tgtEl>
                                          <p:spTgt spid="45"/>
                                        </p:tgtEl>
                                      </p:cBhvr>
                                    </p:animEffect>
                                  </p:childTnLst>
                                </p:cTn>
                              </p:par>
                            </p:childTnLst>
                          </p:cTn>
                        </p:par>
                        <p:par>
                          <p:cTn id="189" fill="hold">
                            <p:stCondLst>
                              <p:cond delay="3620"/>
                            </p:stCondLst>
                            <p:childTnLst>
                              <p:par>
                                <p:cTn id="190" presetID="2" presetClass="entr" presetSubtype="8" fill="hold" nodeType="withEffect">
                                  <p:stCondLst>
                                    <p:cond delay="0"/>
                                  </p:stCondLst>
                                  <p:childTnLst>
                                    <p:set>
                                      <p:cBhvr>
                                        <p:cTn id="191" dur="1" fill="hold">
                                          <p:stCondLst>
                                            <p:cond delay="0"/>
                                          </p:stCondLst>
                                        </p:cTn>
                                        <p:tgtEl>
                                          <p:spTgt spid="46"/>
                                        </p:tgtEl>
                                        <p:attrNameLst>
                                          <p:attrName>style.visibility</p:attrName>
                                        </p:attrNameLst>
                                      </p:cBhvr>
                                      <p:to>
                                        <p:strVal val="visible"/>
                                      </p:to>
                                    </p:set>
                                    <p:anim calcmode="lin" valueType="num">
                                      <p:cBhvr additive="base">
                                        <p:cTn id="192" dur="500" fill="hold"/>
                                        <p:tgtEl>
                                          <p:spTgt spid="46"/>
                                        </p:tgtEl>
                                        <p:attrNameLst>
                                          <p:attrName>ppt_x</p:attrName>
                                        </p:attrNameLst>
                                      </p:cBhvr>
                                      <p:tavLst>
                                        <p:tav tm="0">
                                          <p:val>
                                            <p:strVal val="0-#ppt_w/2"/>
                                          </p:val>
                                        </p:tav>
                                        <p:tav tm="100000">
                                          <p:val>
                                            <p:strVal val="#ppt_x"/>
                                          </p:val>
                                        </p:tav>
                                      </p:tavLst>
                                    </p:anim>
                                    <p:animEffect transition="in" filter="fade">
                                      <p:cBhvr>
                                        <p:cTn id="193" dur="500"/>
                                        <p:tgtEl>
                                          <p:spTgt spid="46"/>
                                        </p:tgtEl>
                                      </p:cBhvr>
                                    </p:animEffect>
                                  </p:childTnLst>
                                </p:cTn>
                              </p:par>
                            </p:childTnLst>
                          </p:cTn>
                        </p:par>
                        <p:par>
                          <p:cTn id="194" fill="hold">
                            <p:stCondLst>
                              <p:cond delay="3620"/>
                            </p:stCondLst>
                            <p:childTnLst>
                              <p:par>
                                <p:cTn id="195" presetID="2" presetClass="entr" presetSubtype="8" fill="hold" nodeType="withEffect">
                                  <p:stCondLst>
                                    <p:cond delay="0"/>
                                  </p:stCondLst>
                                  <p:childTnLst>
                                    <p:set>
                                      <p:cBhvr>
                                        <p:cTn id="196" dur="1" fill="hold">
                                          <p:stCondLst>
                                            <p:cond delay="0"/>
                                          </p:stCondLst>
                                        </p:cTn>
                                        <p:tgtEl>
                                          <p:spTgt spid="47"/>
                                        </p:tgtEl>
                                        <p:attrNameLst>
                                          <p:attrName>style.visibility</p:attrName>
                                        </p:attrNameLst>
                                      </p:cBhvr>
                                      <p:to>
                                        <p:strVal val="visible"/>
                                      </p:to>
                                    </p:set>
                                    <p:anim calcmode="lin" valueType="num">
                                      <p:cBhvr additive="base">
                                        <p:cTn id="197" dur="500" fill="hold"/>
                                        <p:tgtEl>
                                          <p:spTgt spid="47"/>
                                        </p:tgtEl>
                                        <p:attrNameLst>
                                          <p:attrName>ppt_x</p:attrName>
                                        </p:attrNameLst>
                                      </p:cBhvr>
                                      <p:tavLst>
                                        <p:tav tm="0">
                                          <p:val>
                                            <p:strVal val="0-#ppt_w/2"/>
                                          </p:val>
                                        </p:tav>
                                        <p:tav tm="100000">
                                          <p:val>
                                            <p:strVal val="#ppt_x"/>
                                          </p:val>
                                        </p:tav>
                                      </p:tavLst>
                                    </p:anim>
                                    <p:animEffect transition="in" filter="fade">
                                      <p:cBhvr>
                                        <p:cTn id="198" dur="500"/>
                                        <p:tgtEl>
                                          <p:spTgt spid="47"/>
                                        </p:tgtEl>
                                      </p:cBhvr>
                                    </p:animEffect>
                                  </p:childTnLst>
                                </p:cTn>
                              </p:par>
                            </p:childTnLst>
                          </p:cTn>
                        </p:par>
                        <p:par>
                          <p:cTn id="199" fill="hold">
                            <p:stCondLst>
                              <p:cond delay="3760"/>
                            </p:stCondLst>
                            <p:childTnLst>
                              <p:par>
                                <p:cTn id="200" presetID="2" presetClass="entr" presetSubtype="8" fill="hold" nodeType="withEffect">
                                  <p:stCondLst>
                                    <p:cond delay="0"/>
                                  </p:stCondLst>
                                  <p:childTnLst>
                                    <p:set>
                                      <p:cBhvr>
                                        <p:cTn id="201" dur="1" fill="hold">
                                          <p:stCondLst>
                                            <p:cond delay="0"/>
                                          </p:stCondLst>
                                        </p:cTn>
                                        <p:tgtEl>
                                          <p:spTgt spid="48"/>
                                        </p:tgtEl>
                                        <p:attrNameLst>
                                          <p:attrName>style.visibility</p:attrName>
                                        </p:attrNameLst>
                                      </p:cBhvr>
                                      <p:to>
                                        <p:strVal val="visible"/>
                                      </p:to>
                                    </p:set>
                                    <p:anim calcmode="lin" valueType="num">
                                      <p:cBhvr additive="base">
                                        <p:cTn id="202" dur="500" fill="hold"/>
                                        <p:tgtEl>
                                          <p:spTgt spid="48"/>
                                        </p:tgtEl>
                                        <p:attrNameLst>
                                          <p:attrName>ppt_x</p:attrName>
                                        </p:attrNameLst>
                                      </p:cBhvr>
                                      <p:tavLst>
                                        <p:tav tm="0">
                                          <p:val>
                                            <p:strVal val="0-#ppt_w/2"/>
                                          </p:val>
                                        </p:tav>
                                        <p:tav tm="100000">
                                          <p:val>
                                            <p:strVal val="#ppt_x"/>
                                          </p:val>
                                        </p:tav>
                                      </p:tavLst>
                                    </p:anim>
                                    <p:animEffect transition="in" filter="fade">
                                      <p:cBhvr>
                                        <p:cTn id="203" dur="500"/>
                                        <p:tgtEl>
                                          <p:spTgt spid="48"/>
                                        </p:tgtEl>
                                      </p:cBhvr>
                                    </p:animEffect>
                                  </p:childTnLst>
                                </p:cTn>
                              </p:par>
                            </p:childTnLst>
                          </p:cTn>
                        </p:par>
                        <p:par>
                          <p:cTn id="204" fill="hold">
                            <p:stCondLst>
                              <p:cond delay="3900"/>
                            </p:stCondLst>
                            <p:childTnLst>
                              <p:par>
                                <p:cTn id="205" presetID="2" presetClass="entr" presetSubtype="2" fill="hold" nodeType="withEffect">
                                  <p:stCondLst>
                                    <p:cond delay="0"/>
                                  </p:stCondLst>
                                  <p:childTnLst>
                                    <p:set>
                                      <p:cBhvr>
                                        <p:cTn id="206" dur="1" fill="hold">
                                          <p:stCondLst>
                                            <p:cond delay="0"/>
                                          </p:stCondLst>
                                        </p:cTn>
                                        <p:tgtEl>
                                          <p:spTgt spid="49"/>
                                        </p:tgtEl>
                                        <p:attrNameLst>
                                          <p:attrName>style.visibility</p:attrName>
                                        </p:attrNameLst>
                                      </p:cBhvr>
                                      <p:to>
                                        <p:strVal val="visible"/>
                                      </p:to>
                                    </p:set>
                                    <p:anim calcmode="lin" valueType="num">
                                      <p:cBhvr additive="base">
                                        <p:cTn id="207" dur="500" fill="hold"/>
                                        <p:tgtEl>
                                          <p:spTgt spid="49"/>
                                        </p:tgtEl>
                                        <p:attrNameLst>
                                          <p:attrName>ppt_x</p:attrName>
                                        </p:attrNameLst>
                                      </p:cBhvr>
                                      <p:tavLst>
                                        <p:tav tm="0">
                                          <p:val>
                                            <p:strVal val="1+#ppt_w/2"/>
                                          </p:val>
                                        </p:tav>
                                        <p:tav tm="100000">
                                          <p:val>
                                            <p:strVal val="#ppt_x"/>
                                          </p:val>
                                        </p:tav>
                                      </p:tavLst>
                                    </p:anim>
                                    <p:animEffect transition="in" filter="fade">
                                      <p:cBhvr>
                                        <p:cTn id="208" dur="500"/>
                                        <p:tgtEl>
                                          <p:spTgt spid="49"/>
                                        </p:tgtEl>
                                      </p:cBhvr>
                                    </p:animEffect>
                                  </p:childTnLst>
                                </p:cTn>
                              </p:par>
                            </p:childTnLst>
                          </p:cTn>
                        </p:par>
                        <p:par>
                          <p:cTn id="209" fill="hold">
                            <p:stCondLst>
                              <p:cond delay="4200"/>
                            </p:stCondLst>
                            <p:childTnLst>
                              <p:par>
                                <p:cTn id="210" presetID="2" presetClass="entr" presetSubtype="8" fill="hold" nodeType="withEffect">
                                  <p:stCondLst>
                                    <p:cond delay="0"/>
                                  </p:stCondLst>
                                  <p:childTnLst>
                                    <p:set>
                                      <p:cBhvr>
                                        <p:cTn id="211" dur="1" fill="hold">
                                          <p:stCondLst>
                                            <p:cond delay="0"/>
                                          </p:stCondLst>
                                        </p:cTn>
                                        <p:tgtEl>
                                          <p:spTgt spid="50"/>
                                        </p:tgtEl>
                                        <p:attrNameLst>
                                          <p:attrName>style.visibility</p:attrName>
                                        </p:attrNameLst>
                                      </p:cBhvr>
                                      <p:to>
                                        <p:strVal val="visible"/>
                                      </p:to>
                                    </p:set>
                                    <p:anim calcmode="lin" valueType="num">
                                      <p:cBhvr additive="base">
                                        <p:cTn id="212" dur="500" fill="hold"/>
                                        <p:tgtEl>
                                          <p:spTgt spid="50"/>
                                        </p:tgtEl>
                                        <p:attrNameLst>
                                          <p:attrName>ppt_x</p:attrName>
                                        </p:attrNameLst>
                                      </p:cBhvr>
                                      <p:tavLst>
                                        <p:tav tm="0">
                                          <p:val>
                                            <p:strVal val="0-#ppt_w/2"/>
                                          </p:val>
                                        </p:tav>
                                        <p:tav tm="100000">
                                          <p:val>
                                            <p:strVal val="#ppt_x"/>
                                          </p:val>
                                        </p:tav>
                                      </p:tavLst>
                                    </p:anim>
                                    <p:animEffect transition="in" filter="fade">
                                      <p:cBhvr>
                                        <p:cTn id="213" dur="500"/>
                                        <p:tgtEl>
                                          <p:spTgt spid="50"/>
                                        </p:tgtEl>
                                      </p:cBhvr>
                                    </p:animEffect>
                                  </p:childTnLst>
                                </p:cTn>
                              </p:par>
                            </p:childTnLst>
                          </p:cTn>
                        </p:par>
                        <p:par>
                          <p:cTn id="214" fill="hold">
                            <p:stCondLst>
                              <p:cond delay="4200"/>
                            </p:stCondLst>
                            <p:childTnLst>
                              <p:par>
                                <p:cTn id="215" presetID="2" presetClass="entr" presetSubtype="8" fill="hold" nodeType="withEffect">
                                  <p:stCondLst>
                                    <p:cond delay="0"/>
                                  </p:stCondLst>
                                  <p:childTnLst>
                                    <p:set>
                                      <p:cBhvr>
                                        <p:cTn id="216" dur="1" fill="hold">
                                          <p:stCondLst>
                                            <p:cond delay="0"/>
                                          </p:stCondLst>
                                        </p:cTn>
                                        <p:tgtEl>
                                          <p:spTgt spid="51"/>
                                        </p:tgtEl>
                                        <p:attrNameLst>
                                          <p:attrName>style.visibility</p:attrName>
                                        </p:attrNameLst>
                                      </p:cBhvr>
                                      <p:to>
                                        <p:strVal val="visible"/>
                                      </p:to>
                                    </p:set>
                                    <p:anim calcmode="lin" valueType="num">
                                      <p:cBhvr additive="base">
                                        <p:cTn id="217" dur="500" fill="hold"/>
                                        <p:tgtEl>
                                          <p:spTgt spid="51"/>
                                        </p:tgtEl>
                                        <p:attrNameLst>
                                          <p:attrName>ppt_x</p:attrName>
                                        </p:attrNameLst>
                                      </p:cBhvr>
                                      <p:tavLst>
                                        <p:tav tm="0">
                                          <p:val>
                                            <p:strVal val="0-#ppt_w/2"/>
                                          </p:val>
                                        </p:tav>
                                        <p:tav tm="100000">
                                          <p:val>
                                            <p:strVal val="#ppt_x"/>
                                          </p:val>
                                        </p:tav>
                                      </p:tavLst>
                                    </p:anim>
                                    <p:animEffect transition="in" filter="fade">
                                      <p:cBhvr>
                                        <p:cTn id="218" dur="500"/>
                                        <p:tgtEl>
                                          <p:spTgt spid="51"/>
                                        </p:tgtEl>
                                      </p:cBhvr>
                                    </p:animEffect>
                                  </p:childTnLst>
                                </p:cTn>
                              </p:par>
                            </p:childTnLst>
                          </p:cTn>
                        </p:par>
                        <p:par>
                          <p:cTn id="219" fill="hold">
                            <p:stCondLst>
                              <p:cond delay="4200"/>
                            </p:stCondLst>
                            <p:childTnLst>
                              <p:par>
                                <p:cTn id="220" presetID="2" presetClass="entr" presetSubtype="8" fill="hold" nodeType="withEffect">
                                  <p:stCondLst>
                                    <p:cond delay="0"/>
                                  </p:stCondLst>
                                  <p:childTnLst>
                                    <p:set>
                                      <p:cBhvr>
                                        <p:cTn id="221" dur="1" fill="hold">
                                          <p:stCondLst>
                                            <p:cond delay="0"/>
                                          </p:stCondLst>
                                        </p:cTn>
                                        <p:tgtEl>
                                          <p:spTgt spid="52"/>
                                        </p:tgtEl>
                                        <p:attrNameLst>
                                          <p:attrName>style.visibility</p:attrName>
                                        </p:attrNameLst>
                                      </p:cBhvr>
                                      <p:to>
                                        <p:strVal val="visible"/>
                                      </p:to>
                                    </p:set>
                                    <p:anim calcmode="lin" valueType="num">
                                      <p:cBhvr additive="base">
                                        <p:cTn id="222" dur="500" fill="hold"/>
                                        <p:tgtEl>
                                          <p:spTgt spid="52"/>
                                        </p:tgtEl>
                                        <p:attrNameLst>
                                          <p:attrName>ppt_x</p:attrName>
                                        </p:attrNameLst>
                                      </p:cBhvr>
                                      <p:tavLst>
                                        <p:tav tm="0">
                                          <p:val>
                                            <p:strVal val="0-#ppt_w/2"/>
                                          </p:val>
                                        </p:tav>
                                        <p:tav tm="100000">
                                          <p:val>
                                            <p:strVal val="#ppt_x"/>
                                          </p:val>
                                        </p:tav>
                                      </p:tavLst>
                                    </p:anim>
                                    <p:animEffect transition="in" filter="fade">
                                      <p:cBhvr>
                                        <p:cTn id="223" dur="500"/>
                                        <p:tgtEl>
                                          <p:spTgt spid="52"/>
                                        </p:tgtEl>
                                      </p:cBhvr>
                                    </p:animEffect>
                                  </p:childTnLst>
                                </p:cTn>
                              </p:par>
                            </p:childTnLst>
                          </p:cTn>
                        </p:par>
                        <p:par>
                          <p:cTn id="224" fill="hold">
                            <p:stCondLst>
                              <p:cond delay="4200"/>
                            </p:stCondLst>
                            <p:childTnLst>
                              <p:par>
                                <p:cTn id="225" presetID="2" presetClass="entr" presetSubtype="8" fill="hold" nodeType="withEffect">
                                  <p:stCondLst>
                                    <p:cond delay="0"/>
                                  </p:stCondLst>
                                  <p:childTnLst>
                                    <p:set>
                                      <p:cBhvr>
                                        <p:cTn id="226" dur="1" fill="hold">
                                          <p:stCondLst>
                                            <p:cond delay="0"/>
                                          </p:stCondLst>
                                        </p:cTn>
                                        <p:tgtEl>
                                          <p:spTgt spid="53"/>
                                        </p:tgtEl>
                                        <p:attrNameLst>
                                          <p:attrName>style.visibility</p:attrName>
                                        </p:attrNameLst>
                                      </p:cBhvr>
                                      <p:to>
                                        <p:strVal val="visible"/>
                                      </p:to>
                                    </p:set>
                                    <p:anim calcmode="lin" valueType="num">
                                      <p:cBhvr additive="base">
                                        <p:cTn id="227" dur="500" fill="hold"/>
                                        <p:tgtEl>
                                          <p:spTgt spid="53"/>
                                        </p:tgtEl>
                                        <p:attrNameLst>
                                          <p:attrName>ppt_x</p:attrName>
                                        </p:attrNameLst>
                                      </p:cBhvr>
                                      <p:tavLst>
                                        <p:tav tm="0">
                                          <p:val>
                                            <p:strVal val="0-#ppt_w/2"/>
                                          </p:val>
                                        </p:tav>
                                        <p:tav tm="100000">
                                          <p:val>
                                            <p:strVal val="#ppt_x"/>
                                          </p:val>
                                        </p:tav>
                                      </p:tavLst>
                                    </p:anim>
                                    <p:animEffect transition="in" filter="fade">
                                      <p:cBhvr>
                                        <p:cTn id="228" dur="500"/>
                                        <p:tgtEl>
                                          <p:spTgt spid="53"/>
                                        </p:tgtEl>
                                      </p:cBhvr>
                                    </p:animEffect>
                                  </p:childTnLst>
                                </p:cTn>
                              </p:par>
                            </p:childTnLst>
                          </p:cTn>
                        </p:par>
                        <p:par>
                          <p:cTn id="229" fill="hold">
                            <p:stCondLst>
                              <p:cond delay="4380"/>
                            </p:stCondLst>
                            <p:childTnLst>
                              <p:par>
                                <p:cTn id="230" presetID="2" presetClass="entr" presetSubtype="8" fill="hold" nodeType="withEffect">
                                  <p:stCondLst>
                                    <p:cond delay="0"/>
                                  </p:stCondLst>
                                  <p:childTnLst>
                                    <p:set>
                                      <p:cBhvr>
                                        <p:cTn id="231" dur="1" fill="hold">
                                          <p:stCondLst>
                                            <p:cond delay="0"/>
                                          </p:stCondLst>
                                        </p:cTn>
                                        <p:tgtEl>
                                          <p:spTgt spid="54"/>
                                        </p:tgtEl>
                                        <p:attrNameLst>
                                          <p:attrName>style.visibility</p:attrName>
                                        </p:attrNameLst>
                                      </p:cBhvr>
                                      <p:to>
                                        <p:strVal val="visible"/>
                                      </p:to>
                                    </p:set>
                                    <p:anim calcmode="lin" valueType="num">
                                      <p:cBhvr additive="base">
                                        <p:cTn id="232" dur="500" fill="hold"/>
                                        <p:tgtEl>
                                          <p:spTgt spid="54"/>
                                        </p:tgtEl>
                                        <p:attrNameLst>
                                          <p:attrName>ppt_x</p:attrName>
                                        </p:attrNameLst>
                                      </p:cBhvr>
                                      <p:tavLst>
                                        <p:tav tm="0">
                                          <p:val>
                                            <p:strVal val="0-#ppt_w/2"/>
                                          </p:val>
                                        </p:tav>
                                        <p:tav tm="100000">
                                          <p:val>
                                            <p:strVal val="#ppt_x"/>
                                          </p:val>
                                        </p:tav>
                                      </p:tavLst>
                                    </p:anim>
                                    <p:animEffect transition="in" filter="fade">
                                      <p:cBhvr>
                                        <p:cTn id="233" dur="500"/>
                                        <p:tgtEl>
                                          <p:spTgt spid="54"/>
                                        </p:tgtEl>
                                      </p:cBhvr>
                                    </p:animEffect>
                                  </p:childTnLst>
                                </p:cTn>
                              </p:par>
                            </p:childTnLst>
                          </p:cTn>
                        </p:par>
                        <p:par>
                          <p:cTn id="234" fill="hold">
                            <p:stCondLst>
                              <p:cond delay="4380"/>
                            </p:stCondLst>
                            <p:childTnLst>
                              <p:par>
                                <p:cTn id="235" presetID="2" presetClass="entr" presetSubtype="8" fill="hold" nodeType="withEffect">
                                  <p:stCondLst>
                                    <p:cond delay="0"/>
                                  </p:stCondLst>
                                  <p:childTnLst>
                                    <p:set>
                                      <p:cBhvr>
                                        <p:cTn id="236" dur="1" fill="hold">
                                          <p:stCondLst>
                                            <p:cond delay="0"/>
                                          </p:stCondLst>
                                        </p:cTn>
                                        <p:tgtEl>
                                          <p:spTgt spid="55"/>
                                        </p:tgtEl>
                                        <p:attrNameLst>
                                          <p:attrName>style.visibility</p:attrName>
                                        </p:attrNameLst>
                                      </p:cBhvr>
                                      <p:to>
                                        <p:strVal val="visible"/>
                                      </p:to>
                                    </p:set>
                                    <p:anim calcmode="lin" valueType="num">
                                      <p:cBhvr additive="base">
                                        <p:cTn id="237" dur="500" fill="hold"/>
                                        <p:tgtEl>
                                          <p:spTgt spid="55"/>
                                        </p:tgtEl>
                                        <p:attrNameLst>
                                          <p:attrName>ppt_x</p:attrName>
                                        </p:attrNameLst>
                                      </p:cBhvr>
                                      <p:tavLst>
                                        <p:tav tm="0">
                                          <p:val>
                                            <p:strVal val="0-#ppt_w/2"/>
                                          </p:val>
                                        </p:tav>
                                        <p:tav tm="100000">
                                          <p:val>
                                            <p:strVal val="#ppt_x"/>
                                          </p:val>
                                        </p:tav>
                                      </p:tavLst>
                                    </p:anim>
                                    <p:animEffect transition="in" filter="fade">
                                      <p:cBhvr>
                                        <p:cTn id="238" dur="500"/>
                                        <p:tgtEl>
                                          <p:spTgt spid="55"/>
                                        </p:tgtEl>
                                      </p:cBhvr>
                                    </p:animEffect>
                                  </p:childTnLst>
                                </p:cTn>
                              </p:par>
                            </p:childTnLst>
                          </p:cTn>
                        </p:par>
                        <p:par>
                          <p:cTn id="239" fill="hold">
                            <p:stCondLst>
                              <p:cond delay="4520"/>
                            </p:stCondLst>
                            <p:childTnLst>
                              <p:par>
                                <p:cTn id="240" presetID="2" presetClass="entr" presetSubtype="8" fill="hold" nodeType="withEffect">
                                  <p:stCondLst>
                                    <p:cond delay="0"/>
                                  </p:stCondLst>
                                  <p:childTnLst>
                                    <p:set>
                                      <p:cBhvr>
                                        <p:cTn id="241" dur="1" fill="hold">
                                          <p:stCondLst>
                                            <p:cond delay="0"/>
                                          </p:stCondLst>
                                        </p:cTn>
                                        <p:tgtEl>
                                          <p:spTgt spid="56"/>
                                        </p:tgtEl>
                                        <p:attrNameLst>
                                          <p:attrName>style.visibility</p:attrName>
                                        </p:attrNameLst>
                                      </p:cBhvr>
                                      <p:to>
                                        <p:strVal val="visible"/>
                                      </p:to>
                                    </p:set>
                                    <p:anim calcmode="lin" valueType="num">
                                      <p:cBhvr additive="base">
                                        <p:cTn id="242" dur="500" fill="hold"/>
                                        <p:tgtEl>
                                          <p:spTgt spid="56"/>
                                        </p:tgtEl>
                                        <p:attrNameLst>
                                          <p:attrName>ppt_x</p:attrName>
                                        </p:attrNameLst>
                                      </p:cBhvr>
                                      <p:tavLst>
                                        <p:tav tm="0">
                                          <p:val>
                                            <p:strVal val="0-#ppt_w/2"/>
                                          </p:val>
                                        </p:tav>
                                        <p:tav tm="100000">
                                          <p:val>
                                            <p:strVal val="#ppt_x"/>
                                          </p:val>
                                        </p:tav>
                                      </p:tavLst>
                                    </p:anim>
                                    <p:animEffect transition="in" filter="fade">
                                      <p:cBhvr>
                                        <p:cTn id="243" dur="500"/>
                                        <p:tgtEl>
                                          <p:spTgt spid="56"/>
                                        </p:tgtEl>
                                      </p:cBhvr>
                                    </p:animEffect>
                                  </p:childTnLst>
                                </p:cTn>
                              </p:par>
                            </p:childTnLst>
                          </p:cTn>
                        </p:par>
                        <p:par>
                          <p:cTn id="244" fill="hold">
                            <p:stCondLst>
                              <p:cond delay="4660"/>
                            </p:stCondLst>
                            <p:childTnLst>
                              <p:par>
                                <p:cTn id="245" presetID="2" presetClass="entr" presetSubtype="2" fill="hold" nodeType="withEffect">
                                  <p:stCondLst>
                                    <p:cond delay="0"/>
                                  </p:stCondLst>
                                  <p:childTnLst>
                                    <p:set>
                                      <p:cBhvr>
                                        <p:cTn id="246" dur="1" fill="hold">
                                          <p:stCondLst>
                                            <p:cond delay="0"/>
                                          </p:stCondLst>
                                        </p:cTn>
                                        <p:tgtEl>
                                          <p:spTgt spid="57"/>
                                        </p:tgtEl>
                                        <p:attrNameLst>
                                          <p:attrName>style.visibility</p:attrName>
                                        </p:attrNameLst>
                                      </p:cBhvr>
                                      <p:to>
                                        <p:strVal val="visible"/>
                                      </p:to>
                                    </p:set>
                                    <p:anim calcmode="lin" valueType="num">
                                      <p:cBhvr additive="base">
                                        <p:cTn id="247" dur="500" fill="hold"/>
                                        <p:tgtEl>
                                          <p:spTgt spid="57"/>
                                        </p:tgtEl>
                                        <p:attrNameLst>
                                          <p:attrName>ppt_x</p:attrName>
                                        </p:attrNameLst>
                                      </p:cBhvr>
                                      <p:tavLst>
                                        <p:tav tm="0">
                                          <p:val>
                                            <p:strVal val="1+#ppt_w/2"/>
                                          </p:val>
                                        </p:tav>
                                        <p:tav tm="100000">
                                          <p:val>
                                            <p:strVal val="#ppt_x"/>
                                          </p:val>
                                        </p:tav>
                                      </p:tavLst>
                                    </p:anim>
                                    <p:animEffect transition="in" filter="fade">
                                      <p:cBhvr>
                                        <p:cTn id="24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49377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04   —   WHY THE OLD METHOD WAS INSUFFICIENT</a:t>
            </a:r>
            <a:endParaRPr lang="en-US" sz="850" dirty="0"/>
          </a:p>
        </p:txBody>
      </p:sp>
      <p:sp>
        <p:nvSpPr>
          <p:cNvPr id="4" name="Text 1"/>
          <p:cNvSpPr/>
          <p:nvPr/>
        </p:nvSpPr>
        <p:spPr>
          <a:xfrm>
            <a:off x="640080" y="676656"/>
            <a:ext cx="768096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Four decision methods that </a:t>
            </a:r>
            <a:r>
              <a:rPr lang="en-US" sz="2600" b="1" dirty="0">
                <a:solidFill>
                  <a:srgbClr val="0B63CE"/>
                </a:solidFill>
                <a:latin typeface="Calibri" pitchFamily="34" charset="0"/>
                <a:ea typeface="Calibri" pitchFamily="34" charset="-122"/>
                <a:cs typeface="Calibri" pitchFamily="34" charset="-120"/>
              </a:rPr>
              <a:t>no longer work</a:t>
            </a:r>
            <a:endParaRPr lang="en-US" sz="2600" dirty="0"/>
          </a:p>
        </p:txBody>
      </p:sp>
      <p:sp>
        <p:nvSpPr>
          <p:cNvPr id="5" name="Text 2"/>
          <p:cNvSpPr/>
          <p:nvPr/>
        </p:nvSpPr>
        <p:spPr>
          <a:xfrm>
            <a:off x="640080" y="1115568"/>
            <a:ext cx="7680960" cy="219456"/>
          </a:xfrm>
          <a:prstGeom prst="rect">
            <a:avLst/>
          </a:prstGeom>
          <a:noFill/>
          <a:ln/>
        </p:spPr>
        <p:txBody>
          <a:bodyPr wrap="square" lIns="0" tIns="0" rIns="0" bIns="0" rtlCol="0" anchor="ctr"/>
          <a:lstStyle/>
          <a:p>
            <a:pPr marL="0" indent="0">
              <a:buNone/>
            </a:pPr>
            <a:r>
              <a:rPr lang="en-US" sz="1050" i="1" dirty="0">
                <a:solidFill>
                  <a:srgbClr val="55697C"/>
                </a:solidFill>
                <a:latin typeface="Calibri" pitchFamily="34" charset="0"/>
                <a:ea typeface="Calibri" pitchFamily="34" charset="-122"/>
                <a:cs typeface="Calibri" pitchFamily="34" charset="-120"/>
              </a:rPr>
              <a:t>Drug discovery did not fail for lack of effort. It failed because the way targets were chosen could not keep up with the size of the problem.</a:t>
            </a:r>
            <a:endParaRPr lang="en-US" sz="1050" dirty="0"/>
          </a:p>
        </p:txBody>
      </p:sp>
      <p:sp>
        <p:nvSpPr>
          <p:cNvPr id="6" name="Text 3"/>
          <p:cNvSpPr/>
          <p:nvPr/>
        </p:nvSpPr>
        <p:spPr>
          <a:xfrm>
            <a:off x="640080" y="1517904"/>
            <a:ext cx="3291840" cy="164592"/>
          </a:xfrm>
          <a:prstGeom prst="rect">
            <a:avLst/>
          </a:prstGeom>
          <a:noFill/>
          <a:ln/>
        </p:spPr>
        <p:txBody>
          <a:bodyPr wrap="square" lIns="0" tIns="0" rIns="0" bIns="0" rtlCol="0" anchor="ctr"/>
          <a:lstStyle/>
          <a:p>
            <a:pPr marL="0" indent="0">
              <a:buNone/>
            </a:pPr>
            <a:r>
              <a:rPr lang="en-US" sz="750" b="1" kern="0" spc="160" dirty="0">
                <a:solidFill>
                  <a:srgbClr val="8FA1B2"/>
                </a:solidFill>
                <a:latin typeface="Calibri" pitchFamily="34" charset="0"/>
                <a:ea typeface="Calibri" pitchFamily="34" charset="-122"/>
                <a:cs typeface="Calibri" pitchFamily="34" charset="-120"/>
              </a:rPr>
              <a:t>HOW THE DECISION WAS MADE</a:t>
            </a:r>
            <a:endParaRPr lang="en-US" sz="750" dirty="0"/>
          </a:p>
        </p:txBody>
      </p:sp>
      <p:sp>
        <p:nvSpPr>
          <p:cNvPr id="7" name="Text 4"/>
          <p:cNvSpPr/>
          <p:nvPr/>
        </p:nvSpPr>
        <p:spPr>
          <a:xfrm>
            <a:off x="4370832" y="1517904"/>
            <a:ext cx="4133088" cy="164592"/>
          </a:xfrm>
          <a:prstGeom prst="rect">
            <a:avLst/>
          </a:prstGeom>
          <a:noFill/>
          <a:ln/>
        </p:spPr>
        <p:txBody>
          <a:bodyPr wrap="square" lIns="0" tIns="0" rIns="0" bIns="0" rtlCol="0" anchor="ctr"/>
          <a:lstStyle/>
          <a:p>
            <a:pPr marL="0" indent="0">
              <a:buNone/>
            </a:pPr>
            <a:r>
              <a:rPr lang="en-US" sz="750" b="1" kern="0" spc="160" dirty="0">
                <a:solidFill>
                  <a:srgbClr val="D8452A"/>
                </a:solidFill>
                <a:latin typeface="Calibri" pitchFamily="34" charset="0"/>
                <a:ea typeface="Calibri" pitchFamily="34" charset="-122"/>
                <a:cs typeface="Calibri" pitchFamily="34" charset="-120"/>
              </a:rPr>
              <a:t>WHY IT WAS INSUFFICIENT</a:t>
            </a:r>
            <a:endParaRPr lang="en-US" sz="750" dirty="0"/>
          </a:p>
        </p:txBody>
      </p:sp>
      <p:sp>
        <p:nvSpPr>
          <p:cNvPr id="8" name="oldm_0"/>
          <p:cNvSpPr/>
          <p:nvPr/>
        </p:nvSpPr>
        <p:spPr>
          <a:xfrm>
            <a:off x="640080" y="1737360"/>
            <a:ext cx="3291840" cy="658368"/>
          </a:xfrm>
          <a:prstGeom prst="roundRect">
            <a:avLst>
              <a:gd name="adj" fmla="val 8333"/>
            </a:avLst>
          </a:prstGeom>
          <a:solidFill>
            <a:srgbClr val="F5F7F9"/>
          </a:solidFill>
          <a:ln w="9525">
            <a:solidFill>
              <a:srgbClr val="E3E9EF"/>
            </a:solidFill>
            <a:prstDash val="solid"/>
          </a:ln>
        </p:spPr>
        <p:txBody>
          <a:bodyPr/>
          <a:lstStyle/>
          <a:p>
            <a:endParaRPr lang="en-US"/>
          </a:p>
        </p:txBody>
      </p:sp>
      <p:sp>
        <p:nvSpPr>
          <p:cNvPr id="9" name="oldn_0"/>
          <p:cNvSpPr/>
          <p:nvPr/>
        </p:nvSpPr>
        <p:spPr>
          <a:xfrm>
            <a:off x="786384" y="1938528"/>
            <a:ext cx="292608" cy="256032"/>
          </a:xfrm>
          <a:prstGeom prst="rect">
            <a:avLst/>
          </a:prstGeom>
          <a:noFill/>
          <a:ln/>
        </p:spPr>
        <p:txBody>
          <a:bodyPr wrap="square" lIns="0" tIns="0" rIns="0" bIns="0" rtlCol="0" anchor="ctr"/>
          <a:lstStyle/>
          <a:p>
            <a:pPr marL="0" indent="0">
              <a:buNone/>
            </a:pPr>
            <a:r>
              <a:rPr lang="en-US" sz="1100" b="1" dirty="0">
                <a:solidFill>
                  <a:srgbClr val="8FA1B2"/>
                </a:solidFill>
                <a:latin typeface="Calibri" pitchFamily="34" charset="0"/>
                <a:ea typeface="Calibri" pitchFamily="34" charset="-122"/>
                <a:cs typeface="Calibri" pitchFamily="34" charset="-120"/>
              </a:rPr>
              <a:t>01</a:t>
            </a:r>
            <a:endParaRPr lang="en-US" sz="1100" dirty="0"/>
          </a:p>
        </p:txBody>
      </p:sp>
      <p:sp>
        <p:nvSpPr>
          <p:cNvPr id="10" name="oldt_0"/>
          <p:cNvSpPr/>
          <p:nvPr/>
        </p:nvSpPr>
        <p:spPr>
          <a:xfrm>
            <a:off x="1133856" y="1792224"/>
            <a:ext cx="2688336" cy="548640"/>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Evidence from animal models</a:t>
            </a:r>
            <a:endParaRPr lang="en-US" sz="1100" dirty="0"/>
          </a:p>
        </p:txBody>
      </p:sp>
      <p:sp>
        <p:nvSpPr>
          <p:cNvPr id="11" name="oldarrow_0"/>
          <p:cNvSpPr/>
          <p:nvPr/>
        </p:nvSpPr>
        <p:spPr>
          <a:xfrm rot="5400000">
            <a:off x="4041648" y="2029968"/>
            <a:ext cx="82296" cy="82296"/>
          </a:xfrm>
          <a:prstGeom prst="triangle">
            <a:avLst/>
          </a:prstGeom>
          <a:solidFill>
            <a:srgbClr val="BCCBD8"/>
          </a:solidFill>
          <a:ln w="12700">
            <a:solidFill>
              <a:srgbClr val="BCCBD8"/>
            </a:solidFill>
            <a:prstDash val="solid"/>
          </a:ln>
        </p:spPr>
        <p:txBody>
          <a:bodyPr/>
          <a:lstStyle/>
          <a:p>
            <a:endParaRPr lang="en-US"/>
          </a:p>
        </p:txBody>
      </p:sp>
      <p:sp>
        <p:nvSpPr>
          <p:cNvPr id="12" name="whym_0"/>
          <p:cNvSpPr/>
          <p:nvPr/>
        </p:nvSpPr>
        <p:spPr>
          <a:xfrm>
            <a:off x="4370832" y="1737360"/>
            <a:ext cx="4133088" cy="658368"/>
          </a:xfrm>
          <a:prstGeom prst="roundRect">
            <a:avLst>
              <a:gd name="adj" fmla="val 8333"/>
            </a:avLst>
          </a:prstGeom>
          <a:solidFill>
            <a:srgbClr val="FDEDE9"/>
          </a:solidFill>
          <a:ln w="9525">
            <a:solidFill>
              <a:srgbClr val="F6C4B8"/>
            </a:solidFill>
            <a:prstDash val="solid"/>
          </a:ln>
        </p:spPr>
        <p:txBody>
          <a:bodyPr/>
          <a:lstStyle/>
          <a:p>
            <a:endParaRPr lang="en-US"/>
          </a:p>
        </p:txBody>
      </p:sp>
      <p:sp>
        <p:nvSpPr>
          <p:cNvPr id="13" name="whyt_0"/>
          <p:cNvSpPr/>
          <p:nvPr/>
        </p:nvSpPr>
        <p:spPr>
          <a:xfrm>
            <a:off x="4517136" y="1783080"/>
            <a:ext cx="3840480" cy="566928"/>
          </a:xfrm>
          <a:prstGeom prst="rect">
            <a:avLst/>
          </a:prstGeom>
          <a:noFill/>
          <a:ln/>
        </p:spPr>
        <p:txBody>
          <a:bodyPr wrap="square" lIns="0" tIns="0" rIns="0" bIns="0" rtlCol="0" anchor="ctr"/>
          <a:lstStyle/>
          <a:p>
            <a:pPr marL="0" indent="0">
              <a:lnSpc>
                <a:spcPts val="1150"/>
              </a:lnSpc>
              <a:buNone/>
            </a:pPr>
            <a:r>
              <a:rPr lang="en-US" sz="900" dirty="0">
                <a:solidFill>
                  <a:srgbClr val="10243A"/>
                </a:solidFill>
                <a:latin typeface="Calibri" pitchFamily="34" charset="0"/>
                <a:ea typeface="Calibri" pitchFamily="34" charset="-122"/>
                <a:cs typeface="Calibri" pitchFamily="34" charset="-120"/>
              </a:rPr>
              <a:t>A mouse is not a human. Preclinical success rarely predicts the patient — so the evidence gating a $2.6bn decision was never predictive of the outcome that matters.</a:t>
            </a:r>
            <a:endParaRPr lang="en-US" sz="900" dirty="0"/>
          </a:p>
        </p:txBody>
      </p:sp>
      <p:sp>
        <p:nvSpPr>
          <p:cNvPr id="14" name="oldm_1"/>
          <p:cNvSpPr/>
          <p:nvPr/>
        </p:nvSpPr>
        <p:spPr>
          <a:xfrm>
            <a:off x="640080" y="2468880"/>
            <a:ext cx="3291840" cy="658368"/>
          </a:xfrm>
          <a:prstGeom prst="roundRect">
            <a:avLst>
              <a:gd name="adj" fmla="val 8333"/>
            </a:avLst>
          </a:prstGeom>
          <a:solidFill>
            <a:srgbClr val="F5F7F9"/>
          </a:solidFill>
          <a:ln w="9525">
            <a:solidFill>
              <a:srgbClr val="E3E9EF"/>
            </a:solidFill>
            <a:prstDash val="solid"/>
          </a:ln>
        </p:spPr>
        <p:txBody>
          <a:bodyPr/>
          <a:lstStyle/>
          <a:p>
            <a:endParaRPr lang="en-US"/>
          </a:p>
        </p:txBody>
      </p:sp>
      <p:sp>
        <p:nvSpPr>
          <p:cNvPr id="15" name="oldn_1"/>
          <p:cNvSpPr/>
          <p:nvPr/>
        </p:nvSpPr>
        <p:spPr>
          <a:xfrm>
            <a:off x="786384" y="2670048"/>
            <a:ext cx="292608" cy="256032"/>
          </a:xfrm>
          <a:prstGeom prst="rect">
            <a:avLst/>
          </a:prstGeom>
          <a:noFill/>
          <a:ln/>
        </p:spPr>
        <p:txBody>
          <a:bodyPr wrap="square" lIns="0" tIns="0" rIns="0" bIns="0" rtlCol="0" anchor="ctr"/>
          <a:lstStyle/>
          <a:p>
            <a:pPr marL="0" indent="0">
              <a:buNone/>
            </a:pPr>
            <a:r>
              <a:rPr lang="en-US" sz="1100" b="1" dirty="0">
                <a:solidFill>
                  <a:srgbClr val="8FA1B2"/>
                </a:solidFill>
                <a:latin typeface="Calibri" pitchFamily="34" charset="0"/>
                <a:ea typeface="Calibri" pitchFamily="34" charset="-122"/>
                <a:cs typeface="Calibri" pitchFamily="34" charset="-120"/>
              </a:rPr>
              <a:t>02</a:t>
            </a:r>
            <a:endParaRPr lang="en-US" sz="1100" dirty="0"/>
          </a:p>
        </p:txBody>
      </p:sp>
      <p:sp>
        <p:nvSpPr>
          <p:cNvPr id="16" name="oldt_1"/>
          <p:cNvSpPr/>
          <p:nvPr/>
        </p:nvSpPr>
        <p:spPr>
          <a:xfrm>
            <a:off x="1133856" y="2523744"/>
            <a:ext cx="2688336" cy="548640"/>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Targets chosen by expert committee</a:t>
            </a:r>
            <a:endParaRPr lang="en-US" sz="1100" dirty="0"/>
          </a:p>
        </p:txBody>
      </p:sp>
      <p:sp>
        <p:nvSpPr>
          <p:cNvPr id="17" name="oldarrow_1"/>
          <p:cNvSpPr/>
          <p:nvPr/>
        </p:nvSpPr>
        <p:spPr>
          <a:xfrm rot="5400000">
            <a:off x="4041648" y="2761488"/>
            <a:ext cx="82296" cy="82296"/>
          </a:xfrm>
          <a:prstGeom prst="triangle">
            <a:avLst/>
          </a:prstGeom>
          <a:solidFill>
            <a:srgbClr val="BCCBD8"/>
          </a:solidFill>
          <a:ln w="12700">
            <a:solidFill>
              <a:srgbClr val="BCCBD8"/>
            </a:solidFill>
            <a:prstDash val="solid"/>
          </a:ln>
        </p:spPr>
        <p:txBody>
          <a:bodyPr/>
          <a:lstStyle/>
          <a:p>
            <a:endParaRPr lang="en-US"/>
          </a:p>
        </p:txBody>
      </p:sp>
      <p:sp>
        <p:nvSpPr>
          <p:cNvPr id="18" name="whym_1"/>
          <p:cNvSpPr/>
          <p:nvPr/>
        </p:nvSpPr>
        <p:spPr>
          <a:xfrm>
            <a:off x="4370832" y="2468880"/>
            <a:ext cx="4133088" cy="658368"/>
          </a:xfrm>
          <a:prstGeom prst="roundRect">
            <a:avLst>
              <a:gd name="adj" fmla="val 8333"/>
            </a:avLst>
          </a:prstGeom>
          <a:solidFill>
            <a:srgbClr val="FDEDE9"/>
          </a:solidFill>
          <a:ln w="9525">
            <a:solidFill>
              <a:srgbClr val="F6C4B8"/>
            </a:solidFill>
            <a:prstDash val="solid"/>
          </a:ln>
        </p:spPr>
        <p:txBody>
          <a:bodyPr/>
          <a:lstStyle/>
          <a:p>
            <a:endParaRPr lang="en-US"/>
          </a:p>
        </p:txBody>
      </p:sp>
      <p:sp>
        <p:nvSpPr>
          <p:cNvPr id="19" name="whyt_1"/>
          <p:cNvSpPr/>
          <p:nvPr/>
        </p:nvSpPr>
        <p:spPr>
          <a:xfrm>
            <a:off x="4517136" y="2514600"/>
            <a:ext cx="3840480" cy="566928"/>
          </a:xfrm>
          <a:prstGeom prst="rect">
            <a:avLst/>
          </a:prstGeom>
          <a:noFill/>
          <a:ln/>
        </p:spPr>
        <p:txBody>
          <a:bodyPr wrap="square" lIns="0" tIns="0" rIns="0" bIns="0" rtlCol="0" anchor="ctr"/>
          <a:lstStyle/>
          <a:p>
            <a:pPr marL="0" indent="0">
              <a:lnSpc>
                <a:spcPts val="1150"/>
              </a:lnSpc>
              <a:buNone/>
            </a:pPr>
            <a:r>
              <a:rPr lang="en-US" sz="900" dirty="0">
                <a:solidFill>
                  <a:srgbClr val="10243A"/>
                </a:solidFill>
                <a:latin typeface="Calibri" pitchFamily="34" charset="0"/>
                <a:ea typeface="Calibri" pitchFamily="34" charset="-122"/>
                <a:cs typeface="Calibri" pitchFamily="34" charset="-120"/>
              </a:rPr>
              <a:t>Judgement follows publications and seniority, and the literature is biased toward well-studied genes. The industry kept re-exploring the same small share of the genome.</a:t>
            </a:r>
            <a:endParaRPr lang="en-US" sz="900" dirty="0"/>
          </a:p>
        </p:txBody>
      </p:sp>
      <p:sp>
        <p:nvSpPr>
          <p:cNvPr id="20" name="oldm_2"/>
          <p:cNvSpPr/>
          <p:nvPr/>
        </p:nvSpPr>
        <p:spPr>
          <a:xfrm>
            <a:off x="640080" y="3200400"/>
            <a:ext cx="3291840" cy="658368"/>
          </a:xfrm>
          <a:prstGeom prst="roundRect">
            <a:avLst>
              <a:gd name="adj" fmla="val 8333"/>
            </a:avLst>
          </a:prstGeom>
          <a:solidFill>
            <a:srgbClr val="F5F7F9"/>
          </a:solidFill>
          <a:ln w="9525">
            <a:solidFill>
              <a:srgbClr val="E3E9EF"/>
            </a:solidFill>
            <a:prstDash val="solid"/>
          </a:ln>
        </p:spPr>
        <p:txBody>
          <a:bodyPr/>
          <a:lstStyle/>
          <a:p>
            <a:endParaRPr lang="en-US"/>
          </a:p>
        </p:txBody>
      </p:sp>
      <p:sp>
        <p:nvSpPr>
          <p:cNvPr id="21" name="oldn_2"/>
          <p:cNvSpPr/>
          <p:nvPr/>
        </p:nvSpPr>
        <p:spPr>
          <a:xfrm>
            <a:off x="786384" y="3401568"/>
            <a:ext cx="292608" cy="256032"/>
          </a:xfrm>
          <a:prstGeom prst="rect">
            <a:avLst/>
          </a:prstGeom>
          <a:noFill/>
          <a:ln/>
        </p:spPr>
        <p:txBody>
          <a:bodyPr wrap="square" lIns="0" tIns="0" rIns="0" bIns="0" rtlCol="0" anchor="ctr"/>
          <a:lstStyle/>
          <a:p>
            <a:pPr marL="0" indent="0">
              <a:buNone/>
            </a:pPr>
            <a:r>
              <a:rPr lang="en-US" sz="1100" b="1" dirty="0">
                <a:solidFill>
                  <a:srgbClr val="8FA1B2"/>
                </a:solidFill>
                <a:latin typeface="Calibri" pitchFamily="34" charset="0"/>
                <a:ea typeface="Calibri" pitchFamily="34" charset="-122"/>
                <a:cs typeface="Calibri" pitchFamily="34" charset="-120"/>
              </a:rPr>
              <a:t>03</a:t>
            </a:r>
            <a:endParaRPr lang="en-US" sz="1100" dirty="0"/>
          </a:p>
        </p:txBody>
      </p:sp>
      <p:sp>
        <p:nvSpPr>
          <p:cNvPr id="22" name="oldt_2"/>
          <p:cNvSpPr/>
          <p:nvPr/>
        </p:nvSpPr>
        <p:spPr>
          <a:xfrm>
            <a:off x="1133856" y="3255264"/>
            <a:ext cx="2688336" cy="548640"/>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One hypothesis tested at a time</a:t>
            </a:r>
            <a:endParaRPr lang="en-US" sz="1100" dirty="0"/>
          </a:p>
        </p:txBody>
      </p:sp>
      <p:sp>
        <p:nvSpPr>
          <p:cNvPr id="23" name="oldarrow_2"/>
          <p:cNvSpPr/>
          <p:nvPr/>
        </p:nvSpPr>
        <p:spPr>
          <a:xfrm rot="5400000">
            <a:off x="4041648" y="3493008"/>
            <a:ext cx="82296" cy="82296"/>
          </a:xfrm>
          <a:prstGeom prst="triangle">
            <a:avLst/>
          </a:prstGeom>
          <a:solidFill>
            <a:srgbClr val="BCCBD8"/>
          </a:solidFill>
          <a:ln w="12700">
            <a:solidFill>
              <a:srgbClr val="BCCBD8"/>
            </a:solidFill>
            <a:prstDash val="solid"/>
          </a:ln>
        </p:spPr>
        <p:txBody>
          <a:bodyPr/>
          <a:lstStyle/>
          <a:p>
            <a:endParaRPr lang="en-US"/>
          </a:p>
        </p:txBody>
      </p:sp>
      <p:sp>
        <p:nvSpPr>
          <p:cNvPr id="24" name="whym_2"/>
          <p:cNvSpPr/>
          <p:nvPr/>
        </p:nvSpPr>
        <p:spPr>
          <a:xfrm>
            <a:off x="4370832" y="3200400"/>
            <a:ext cx="4133088" cy="658368"/>
          </a:xfrm>
          <a:prstGeom prst="roundRect">
            <a:avLst>
              <a:gd name="adj" fmla="val 8333"/>
            </a:avLst>
          </a:prstGeom>
          <a:solidFill>
            <a:srgbClr val="FDEDE9"/>
          </a:solidFill>
          <a:ln w="9525">
            <a:solidFill>
              <a:srgbClr val="F6C4B8"/>
            </a:solidFill>
            <a:prstDash val="solid"/>
          </a:ln>
        </p:spPr>
        <p:txBody>
          <a:bodyPr/>
          <a:lstStyle/>
          <a:p>
            <a:endParaRPr lang="en-US"/>
          </a:p>
        </p:txBody>
      </p:sp>
      <p:sp>
        <p:nvSpPr>
          <p:cNvPr id="25" name="whyt_2"/>
          <p:cNvSpPr/>
          <p:nvPr/>
        </p:nvSpPr>
        <p:spPr>
          <a:xfrm>
            <a:off x="4517136" y="3246120"/>
            <a:ext cx="3840480" cy="566928"/>
          </a:xfrm>
          <a:prstGeom prst="rect">
            <a:avLst/>
          </a:prstGeom>
          <a:noFill/>
          <a:ln/>
        </p:spPr>
        <p:txBody>
          <a:bodyPr wrap="square" lIns="0" tIns="0" rIns="0" bIns="0" rtlCol="0" anchor="ctr"/>
          <a:lstStyle/>
          <a:p>
            <a:pPr marL="0" indent="0">
              <a:lnSpc>
                <a:spcPts val="1150"/>
              </a:lnSpc>
              <a:buNone/>
            </a:pPr>
            <a:r>
              <a:rPr lang="en-US" sz="900" dirty="0">
                <a:solidFill>
                  <a:srgbClr val="10243A"/>
                </a:solidFill>
                <a:latin typeface="Calibri" pitchFamily="34" charset="0"/>
                <a:ea typeface="Calibri" pitchFamily="34" charset="-122"/>
                <a:cs typeface="Calibri" pitchFamily="34" charset="-120"/>
              </a:rPr>
              <a:t>Classical statistics on one gene per study cannot search 20,000 genes against thousands of diseases. The search space was simply larger than the method.</a:t>
            </a:r>
            <a:endParaRPr lang="en-US" sz="900" dirty="0"/>
          </a:p>
        </p:txBody>
      </p:sp>
      <p:sp>
        <p:nvSpPr>
          <p:cNvPr id="26" name="oldm_3"/>
          <p:cNvSpPr/>
          <p:nvPr/>
        </p:nvSpPr>
        <p:spPr>
          <a:xfrm>
            <a:off x="640080" y="3931920"/>
            <a:ext cx="3291840" cy="658368"/>
          </a:xfrm>
          <a:prstGeom prst="roundRect">
            <a:avLst>
              <a:gd name="adj" fmla="val 8333"/>
            </a:avLst>
          </a:prstGeom>
          <a:solidFill>
            <a:srgbClr val="F5F7F9"/>
          </a:solidFill>
          <a:ln w="9525">
            <a:solidFill>
              <a:srgbClr val="E3E9EF"/>
            </a:solidFill>
            <a:prstDash val="solid"/>
          </a:ln>
        </p:spPr>
        <p:txBody>
          <a:bodyPr/>
          <a:lstStyle/>
          <a:p>
            <a:endParaRPr lang="en-US"/>
          </a:p>
        </p:txBody>
      </p:sp>
      <p:sp>
        <p:nvSpPr>
          <p:cNvPr id="27" name="oldn_3"/>
          <p:cNvSpPr/>
          <p:nvPr/>
        </p:nvSpPr>
        <p:spPr>
          <a:xfrm>
            <a:off x="786384" y="4133088"/>
            <a:ext cx="292608" cy="256032"/>
          </a:xfrm>
          <a:prstGeom prst="rect">
            <a:avLst/>
          </a:prstGeom>
          <a:noFill/>
          <a:ln/>
        </p:spPr>
        <p:txBody>
          <a:bodyPr wrap="square" lIns="0" tIns="0" rIns="0" bIns="0" rtlCol="0" anchor="ctr"/>
          <a:lstStyle/>
          <a:p>
            <a:pPr marL="0" indent="0">
              <a:buNone/>
            </a:pPr>
            <a:r>
              <a:rPr lang="en-US" sz="1100" b="1" dirty="0">
                <a:solidFill>
                  <a:srgbClr val="8FA1B2"/>
                </a:solidFill>
                <a:latin typeface="Calibri" pitchFamily="34" charset="0"/>
                <a:ea typeface="Calibri" pitchFamily="34" charset="-122"/>
                <a:cs typeface="Calibri" pitchFamily="34" charset="-120"/>
              </a:rPr>
              <a:t>04</a:t>
            </a:r>
            <a:endParaRPr lang="en-US" sz="1100" dirty="0"/>
          </a:p>
        </p:txBody>
      </p:sp>
      <p:sp>
        <p:nvSpPr>
          <p:cNvPr id="28" name="oldt_3"/>
          <p:cNvSpPr/>
          <p:nvPr/>
        </p:nvSpPr>
        <p:spPr>
          <a:xfrm>
            <a:off x="1133856" y="3986784"/>
            <a:ext cx="2688336" cy="548640"/>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Siloed systems, batch reporting</a:t>
            </a:r>
            <a:endParaRPr lang="en-US" sz="1100" dirty="0"/>
          </a:p>
        </p:txBody>
      </p:sp>
      <p:sp>
        <p:nvSpPr>
          <p:cNvPr id="29" name="oldarrow_3"/>
          <p:cNvSpPr/>
          <p:nvPr/>
        </p:nvSpPr>
        <p:spPr>
          <a:xfrm rot="5400000">
            <a:off x="4041648" y="4224528"/>
            <a:ext cx="82296" cy="82296"/>
          </a:xfrm>
          <a:prstGeom prst="triangle">
            <a:avLst/>
          </a:prstGeom>
          <a:solidFill>
            <a:srgbClr val="BCCBD8"/>
          </a:solidFill>
          <a:ln w="12700">
            <a:solidFill>
              <a:srgbClr val="BCCBD8"/>
            </a:solidFill>
            <a:prstDash val="solid"/>
          </a:ln>
        </p:spPr>
        <p:txBody>
          <a:bodyPr/>
          <a:lstStyle/>
          <a:p>
            <a:endParaRPr lang="en-US"/>
          </a:p>
        </p:txBody>
      </p:sp>
      <p:sp>
        <p:nvSpPr>
          <p:cNvPr id="30" name="whym_3"/>
          <p:cNvSpPr/>
          <p:nvPr/>
        </p:nvSpPr>
        <p:spPr>
          <a:xfrm>
            <a:off x="4370832" y="3931920"/>
            <a:ext cx="4133088" cy="658368"/>
          </a:xfrm>
          <a:prstGeom prst="roundRect">
            <a:avLst>
              <a:gd name="adj" fmla="val 8333"/>
            </a:avLst>
          </a:prstGeom>
          <a:solidFill>
            <a:srgbClr val="FDEDE9"/>
          </a:solidFill>
          <a:ln w="9525">
            <a:solidFill>
              <a:srgbClr val="F6C4B8"/>
            </a:solidFill>
            <a:prstDash val="solid"/>
          </a:ln>
        </p:spPr>
        <p:txBody>
          <a:bodyPr/>
          <a:lstStyle/>
          <a:p>
            <a:endParaRPr lang="en-US"/>
          </a:p>
        </p:txBody>
      </p:sp>
      <p:sp>
        <p:nvSpPr>
          <p:cNvPr id="31" name="whyt_3"/>
          <p:cNvSpPr/>
          <p:nvPr/>
        </p:nvSpPr>
        <p:spPr>
          <a:xfrm>
            <a:off x="4517136" y="3977640"/>
            <a:ext cx="3840480" cy="566928"/>
          </a:xfrm>
          <a:prstGeom prst="rect">
            <a:avLst/>
          </a:prstGeom>
          <a:noFill/>
          <a:ln/>
        </p:spPr>
        <p:txBody>
          <a:bodyPr wrap="square" lIns="0" tIns="0" rIns="0" bIns="0" rtlCol="0" anchor="ctr"/>
          <a:lstStyle/>
          <a:p>
            <a:pPr marL="0" indent="0">
              <a:lnSpc>
                <a:spcPts val="1150"/>
              </a:lnSpc>
              <a:buNone/>
            </a:pPr>
            <a:r>
              <a:rPr lang="en-US" sz="900" dirty="0">
                <a:solidFill>
                  <a:srgbClr val="10243A"/>
                </a:solidFill>
                <a:latin typeface="Calibri" pitchFamily="34" charset="0"/>
                <a:ea typeface="Calibri" pitchFamily="34" charset="-122"/>
                <a:cs typeface="Calibri" pitchFamily="34" charset="-120"/>
              </a:rPr>
              <a:t>Three weeks to assemble a dataset. When a question costs three weeks, scientists stop asking — and decisions quietly default back to opinion.</a:t>
            </a:r>
            <a:endParaRPr lang="en-US" sz="900" dirty="0"/>
          </a:p>
        </p:txBody>
      </p:sp>
      <p:sp>
        <p:nvSpPr>
          <p:cNvPr id="32" name="Text 29"/>
          <p:cNvSpPr/>
          <p:nvPr/>
        </p:nvSpPr>
        <p:spPr>
          <a:xfrm>
            <a:off x="640080" y="4718304"/>
            <a:ext cx="7863840" cy="164592"/>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Sources: Scannell et al., Nat Rev Drug Discov (2012); Marshall et al. (2023) on animal-model translatability; Databricks Regeneron case study.</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Effect transition="in" filter="fade">
                                      <p:cBhvr>
                                        <p:cTn id="8" dur="500"/>
                                        <p:tgtEl>
                                          <p:spTgt spid="8"/>
                                        </p:tgtEl>
                                      </p:cBhvr>
                                    </p:animEffect>
                                  </p:childTnLst>
                                </p:cTn>
                              </p:par>
                            </p:childTnLst>
                          </p:cTn>
                        </p:par>
                        <p:par>
                          <p:cTn id="9" fill="hold">
                            <p:stCondLst>
                              <p:cond delay="0"/>
                            </p:stCondLst>
                            <p:childTnLst>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Effect transition="in" filter="fade">
                                      <p:cBhvr>
                                        <p:cTn id="13" dur="500"/>
                                        <p:tgtEl>
                                          <p:spTgt spid="9"/>
                                        </p:tgtEl>
                                      </p:cBhvr>
                                    </p:animEffect>
                                  </p:childTnLst>
                                </p:cTn>
                              </p:par>
                            </p:childTnLst>
                          </p:cTn>
                        </p:par>
                        <p:par>
                          <p:cTn id="14" fill="hold">
                            <p:stCondLst>
                              <p:cond delay="0"/>
                            </p:stCondLst>
                            <p:childTnLst>
                              <p:par>
                                <p:cTn id="15" presetID="2" presetClass="entr" presetSubtype="8"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Effect transition="in" filter="fade">
                                      <p:cBhvr>
                                        <p:cTn id="18" dur="500"/>
                                        <p:tgtEl>
                                          <p:spTgt spid="10"/>
                                        </p:tgtEl>
                                      </p:cBhvr>
                                    </p:animEffect>
                                  </p:childTnLst>
                                </p:cTn>
                              </p:par>
                            </p:childTnLst>
                          </p:cTn>
                        </p:par>
                        <p:par>
                          <p:cTn id="19" fill="hold">
                            <p:stCondLst>
                              <p:cond delay="250"/>
                            </p:stCondLst>
                            <p:childTnLst>
                              <p:par>
                                <p:cTn id="20" presetID="2" presetClass="entr" presetSubtype="8"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0-#ppt_w/2"/>
                                          </p:val>
                                        </p:tav>
                                        <p:tav tm="100000">
                                          <p:val>
                                            <p:strVal val="#ppt_x"/>
                                          </p:val>
                                        </p:tav>
                                      </p:tavLst>
                                    </p:anim>
                                    <p:animEffect transition="in" filter="fade">
                                      <p:cBhvr>
                                        <p:cTn id="23" dur="500"/>
                                        <p:tgtEl>
                                          <p:spTgt spid="11"/>
                                        </p:tgtEl>
                                      </p:cBhvr>
                                    </p:animEffect>
                                  </p:childTnLst>
                                </p:cTn>
                              </p:par>
                            </p:childTnLst>
                          </p:cTn>
                        </p:par>
                        <p:par>
                          <p:cTn id="24" fill="hold">
                            <p:stCondLst>
                              <p:cond delay="400"/>
                            </p:stCondLst>
                            <p:childTnLst>
                              <p:par>
                                <p:cTn id="25" presetID="2" presetClass="entr" presetSubtype="2"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Effect transition="in" filter="fade">
                                      <p:cBhvr>
                                        <p:cTn id="28" dur="500"/>
                                        <p:tgtEl>
                                          <p:spTgt spid="12"/>
                                        </p:tgtEl>
                                      </p:cBhvr>
                                    </p:animEffect>
                                  </p:childTnLst>
                                </p:cTn>
                              </p:par>
                            </p:childTnLst>
                          </p:cTn>
                        </p:par>
                        <p:par>
                          <p:cTn id="29" fill="hold">
                            <p:stCondLst>
                              <p:cond delay="400"/>
                            </p:stCondLst>
                            <p:childTnLst>
                              <p:par>
                                <p:cTn id="30" presetID="2" presetClass="entr" presetSubtype="2"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Effect transition="in" filter="fade">
                                      <p:cBhvr>
                                        <p:cTn id="33" dur="500"/>
                                        <p:tgtEl>
                                          <p:spTgt spid="13"/>
                                        </p:tgtEl>
                                      </p:cBhvr>
                                    </p:animEffect>
                                  </p:childTnLst>
                                </p:cTn>
                              </p:par>
                            </p:childTnLst>
                          </p:cTn>
                        </p:par>
                        <p:par>
                          <p:cTn id="34" fill="hold">
                            <p:stCondLst>
                              <p:cond delay="900"/>
                            </p:stCondLst>
                            <p:childTnLst>
                              <p:par>
                                <p:cTn id="35" presetID="2" presetClass="entr" presetSubtype="8"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0-#ppt_w/2"/>
                                          </p:val>
                                        </p:tav>
                                        <p:tav tm="100000">
                                          <p:val>
                                            <p:strVal val="#ppt_x"/>
                                          </p:val>
                                        </p:tav>
                                      </p:tavLst>
                                    </p:anim>
                                    <p:animEffect transition="in" filter="fade">
                                      <p:cBhvr>
                                        <p:cTn id="38" dur="500"/>
                                        <p:tgtEl>
                                          <p:spTgt spid="14"/>
                                        </p:tgtEl>
                                      </p:cBhvr>
                                    </p:animEffect>
                                  </p:childTnLst>
                                </p:cTn>
                              </p:par>
                            </p:childTnLst>
                          </p:cTn>
                        </p:par>
                        <p:par>
                          <p:cTn id="39" fill="hold">
                            <p:stCondLst>
                              <p:cond delay="900"/>
                            </p:stCondLst>
                            <p:childTnLst>
                              <p:par>
                                <p:cTn id="40" presetID="2" presetClass="entr" presetSubtype="8"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0-#ppt_w/2"/>
                                          </p:val>
                                        </p:tav>
                                        <p:tav tm="100000">
                                          <p:val>
                                            <p:strVal val="#ppt_x"/>
                                          </p:val>
                                        </p:tav>
                                      </p:tavLst>
                                    </p:anim>
                                    <p:animEffect transition="in" filter="fade">
                                      <p:cBhvr>
                                        <p:cTn id="43" dur="500"/>
                                        <p:tgtEl>
                                          <p:spTgt spid="15"/>
                                        </p:tgtEl>
                                      </p:cBhvr>
                                    </p:animEffect>
                                  </p:childTnLst>
                                </p:cTn>
                              </p:par>
                            </p:childTnLst>
                          </p:cTn>
                        </p:par>
                        <p:par>
                          <p:cTn id="44" fill="hold">
                            <p:stCondLst>
                              <p:cond delay="900"/>
                            </p:stCondLst>
                            <p:childTnLst>
                              <p:par>
                                <p:cTn id="45" presetID="2" presetClass="entr" presetSubtype="8"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0-#ppt_w/2"/>
                                          </p:val>
                                        </p:tav>
                                        <p:tav tm="100000">
                                          <p:val>
                                            <p:strVal val="#ppt_x"/>
                                          </p:val>
                                        </p:tav>
                                      </p:tavLst>
                                    </p:anim>
                                    <p:animEffect transition="in" filter="fade">
                                      <p:cBhvr>
                                        <p:cTn id="48" dur="500"/>
                                        <p:tgtEl>
                                          <p:spTgt spid="16"/>
                                        </p:tgtEl>
                                      </p:cBhvr>
                                    </p:animEffect>
                                  </p:childTnLst>
                                </p:cTn>
                              </p:par>
                            </p:childTnLst>
                          </p:cTn>
                        </p:par>
                        <p:par>
                          <p:cTn id="49" fill="hold">
                            <p:stCondLst>
                              <p:cond delay="1150"/>
                            </p:stCondLst>
                            <p:childTnLst>
                              <p:par>
                                <p:cTn id="50" presetID="2" presetClass="entr" presetSubtype="8"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0-#ppt_w/2"/>
                                          </p:val>
                                        </p:tav>
                                        <p:tav tm="100000">
                                          <p:val>
                                            <p:strVal val="#ppt_x"/>
                                          </p:val>
                                        </p:tav>
                                      </p:tavLst>
                                    </p:anim>
                                    <p:animEffect transition="in" filter="fade">
                                      <p:cBhvr>
                                        <p:cTn id="53" dur="500"/>
                                        <p:tgtEl>
                                          <p:spTgt spid="17"/>
                                        </p:tgtEl>
                                      </p:cBhvr>
                                    </p:animEffect>
                                  </p:childTnLst>
                                </p:cTn>
                              </p:par>
                            </p:childTnLst>
                          </p:cTn>
                        </p:par>
                        <p:par>
                          <p:cTn id="54" fill="hold">
                            <p:stCondLst>
                              <p:cond delay="1300"/>
                            </p:stCondLst>
                            <p:childTnLst>
                              <p:par>
                                <p:cTn id="55" presetID="2" presetClass="entr" presetSubtype="2"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1+#ppt_w/2"/>
                                          </p:val>
                                        </p:tav>
                                        <p:tav tm="100000">
                                          <p:val>
                                            <p:strVal val="#ppt_x"/>
                                          </p:val>
                                        </p:tav>
                                      </p:tavLst>
                                    </p:anim>
                                    <p:animEffect transition="in" filter="fade">
                                      <p:cBhvr>
                                        <p:cTn id="58" dur="500"/>
                                        <p:tgtEl>
                                          <p:spTgt spid="18"/>
                                        </p:tgtEl>
                                      </p:cBhvr>
                                    </p:animEffect>
                                  </p:childTnLst>
                                </p:cTn>
                              </p:par>
                            </p:childTnLst>
                          </p:cTn>
                        </p:par>
                        <p:par>
                          <p:cTn id="59" fill="hold">
                            <p:stCondLst>
                              <p:cond delay="1300"/>
                            </p:stCondLst>
                            <p:childTnLst>
                              <p:par>
                                <p:cTn id="60" presetID="2" presetClass="entr" presetSubtype="2"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1+#ppt_w/2"/>
                                          </p:val>
                                        </p:tav>
                                        <p:tav tm="100000">
                                          <p:val>
                                            <p:strVal val="#ppt_x"/>
                                          </p:val>
                                        </p:tav>
                                      </p:tavLst>
                                    </p:anim>
                                    <p:animEffect transition="in" filter="fade">
                                      <p:cBhvr>
                                        <p:cTn id="63" dur="500"/>
                                        <p:tgtEl>
                                          <p:spTgt spid="19"/>
                                        </p:tgtEl>
                                      </p:cBhvr>
                                    </p:animEffect>
                                  </p:childTnLst>
                                </p:cTn>
                              </p:par>
                            </p:childTnLst>
                          </p:cTn>
                        </p:par>
                        <p:par>
                          <p:cTn id="64" fill="hold">
                            <p:stCondLst>
                              <p:cond delay="1800"/>
                            </p:stCondLst>
                            <p:childTnLst>
                              <p:par>
                                <p:cTn id="65" presetID="2" presetClass="entr" presetSubtype="8"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Effect transition="in" filter="fade">
                                      <p:cBhvr>
                                        <p:cTn id="68" dur="500"/>
                                        <p:tgtEl>
                                          <p:spTgt spid="20"/>
                                        </p:tgtEl>
                                      </p:cBhvr>
                                    </p:animEffect>
                                  </p:childTnLst>
                                </p:cTn>
                              </p:par>
                            </p:childTnLst>
                          </p:cTn>
                        </p:par>
                        <p:par>
                          <p:cTn id="69" fill="hold">
                            <p:stCondLst>
                              <p:cond delay="1800"/>
                            </p:stCondLst>
                            <p:childTnLst>
                              <p:par>
                                <p:cTn id="70" presetID="2" presetClass="entr" presetSubtype="8"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0-#ppt_w/2"/>
                                          </p:val>
                                        </p:tav>
                                        <p:tav tm="100000">
                                          <p:val>
                                            <p:strVal val="#ppt_x"/>
                                          </p:val>
                                        </p:tav>
                                      </p:tavLst>
                                    </p:anim>
                                    <p:animEffect transition="in" filter="fade">
                                      <p:cBhvr>
                                        <p:cTn id="73" dur="500"/>
                                        <p:tgtEl>
                                          <p:spTgt spid="21"/>
                                        </p:tgtEl>
                                      </p:cBhvr>
                                    </p:animEffect>
                                  </p:childTnLst>
                                </p:cTn>
                              </p:par>
                            </p:childTnLst>
                          </p:cTn>
                        </p:par>
                        <p:par>
                          <p:cTn id="74" fill="hold">
                            <p:stCondLst>
                              <p:cond delay="1800"/>
                            </p:stCondLst>
                            <p:childTnLst>
                              <p:par>
                                <p:cTn id="75" presetID="2" presetClass="entr" presetSubtype="8" fill="hold"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0-#ppt_w/2"/>
                                          </p:val>
                                        </p:tav>
                                        <p:tav tm="100000">
                                          <p:val>
                                            <p:strVal val="#ppt_x"/>
                                          </p:val>
                                        </p:tav>
                                      </p:tavLst>
                                    </p:anim>
                                    <p:animEffect transition="in" filter="fade">
                                      <p:cBhvr>
                                        <p:cTn id="78" dur="500"/>
                                        <p:tgtEl>
                                          <p:spTgt spid="22"/>
                                        </p:tgtEl>
                                      </p:cBhvr>
                                    </p:animEffect>
                                  </p:childTnLst>
                                </p:cTn>
                              </p:par>
                            </p:childTnLst>
                          </p:cTn>
                        </p:par>
                        <p:par>
                          <p:cTn id="79" fill="hold">
                            <p:stCondLst>
                              <p:cond delay="2050"/>
                            </p:stCondLst>
                            <p:childTnLst>
                              <p:par>
                                <p:cTn id="80" presetID="2" presetClass="entr" presetSubtype="8" fill="hold" nodeType="with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0-#ppt_w/2"/>
                                          </p:val>
                                        </p:tav>
                                        <p:tav tm="100000">
                                          <p:val>
                                            <p:strVal val="#ppt_x"/>
                                          </p:val>
                                        </p:tav>
                                      </p:tavLst>
                                    </p:anim>
                                    <p:animEffect transition="in" filter="fade">
                                      <p:cBhvr>
                                        <p:cTn id="83" dur="500"/>
                                        <p:tgtEl>
                                          <p:spTgt spid="23"/>
                                        </p:tgtEl>
                                      </p:cBhvr>
                                    </p:animEffect>
                                  </p:childTnLst>
                                </p:cTn>
                              </p:par>
                            </p:childTnLst>
                          </p:cTn>
                        </p:par>
                        <p:par>
                          <p:cTn id="84" fill="hold">
                            <p:stCondLst>
                              <p:cond delay="2200"/>
                            </p:stCondLst>
                            <p:childTnLst>
                              <p:par>
                                <p:cTn id="85" presetID="2" presetClass="entr" presetSubtype="2"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1+#ppt_w/2"/>
                                          </p:val>
                                        </p:tav>
                                        <p:tav tm="100000">
                                          <p:val>
                                            <p:strVal val="#ppt_x"/>
                                          </p:val>
                                        </p:tav>
                                      </p:tavLst>
                                    </p:anim>
                                    <p:animEffect transition="in" filter="fade">
                                      <p:cBhvr>
                                        <p:cTn id="88" dur="500"/>
                                        <p:tgtEl>
                                          <p:spTgt spid="24"/>
                                        </p:tgtEl>
                                      </p:cBhvr>
                                    </p:animEffect>
                                  </p:childTnLst>
                                </p:cTn>
                              </p:par>
                            </p:childTnLst>
                          </p:cTn>
                        </p:par>
                        <p:par>
                          <p:cTn id="89" fill="hold">
                            <p:stCondLst>
                              <p:cond delay="2200"/>
                            </p:stCondLst>
                            <p:childTnLst>
                              <p:par>
                                <p:cTn id="90" presetID="2" presetClass="entr" presetSubtype="2" fill="hold" nodeType="withEffect">
                                  <p:stCondLst>
                                    <p:cond delay="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1+#ppt_w/2"/>
                                          </p:val>
                                        </p:tav>
                                        <p:tav tm="100000">
                                          <p:val>
                                            <p:strVal val="#ppt_x"/>
                                          </p:val>
                                        </p:tav>
                                      </p:tavLst>
                                    </p:anim>
                                    <p:animEffect transition="in" filter="fade">
                                      <p:cBhvr>
                                        <p:cTn id="93" dur="500"/>
                                        <p:tgtEl>
                                          <p:spTgt spid="25"/>
                                        </p:tgtEl>
                                      </p:cBhvr>
                                    </p:animEffect>
                                  </p:childTnLst>
                                </p:cTn>
                              </p:par>
                            </p:childTnLst>
                          </p:cTn>
                        </p:par>
                        <p:par>
                          <p:cTn id="94" fill="hold">
                            <p:stCondLst>
                              <p:cond delay="2700"/>
                            </p:stCondLst>
                            <p:childTnLst>
                              <p:par>
                                <p:cTn id="95" presetID="2" presetClass="entr" presetSubtype="8" fill="hold" nodeType="with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0-#ppt_w/2"/>
                                          </p:val>
                                        </p:tav>
                                        <p:tav tm="100000">
                                          <p:val>
                                            <p:strVal val="#ppt_x"/>
                                          </p:val>
                                        </p:tav>
                                      </p:tavLst>
                                    </p:anim>
                                    <p:animEffect transition="in" filter="fade">
                                      <p:cBhvr>
                                        <p:cTn id="98" dur="500"/>
                                        <p:tgtEl>
                                          <p:spTgt spid="26"/>
                                        </p:tgtEl>
                                      </p:cBhvr>
                                    </p:animEffect>
                                  </p:childTnLst>
                                </p:cTn>
                              </p:par>
                            </p:childTnLst>
                          </p:cTn>
                        </p:par>
                        <p:par>
                          <p:cTn id="99" fill="hold">
                            <p:stCondLst>
                              <p:cond delay="2700"/>
                            </p:stCondLst>
                            <p:childTnLst>
                              <p:par>
                                <p:cTn id="100" presetID="2" presetClass="entr" presetSubtype="8" fill="hold" nodeType="withEffect">
                                  <p:stCondLst>
                                    <p:cond delay="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0-#ppt_w/2"/>
                                          </p:val>
                                        </p:tav>
                                        <p:tav tm="100000">
                                          <p:val>
                                            <p:strVal val="#ppt_x"/>
                                          </p:val>
                                        </p:tav>
                                      </p:tavLst>
                                    </p:anim>
                                    <p:animEffect transition="in" filter="fade">
                                      <p:cBhvr>
                                        <p:cTn id="103" dur="500"/>
                                        <p:tgtEl>
                                          <p:spTgt spid="27"/>
                                        </p:tgtEl>
                                      </p:cBhvr>
                                    </p:animEffect>
                                  </p:childTnLst>
                                </p:cTn>
                              </p:par>
                            </p:childTnLst>
                          </p:cTn>
                        </p:par>
                        <p:par>
                          <p:cTn id="104" fill="hold">
                            <p:stCondLst>
                              <p:cond delay="2700"/>
                            </p:stCondLst>
                            <p:childTnLst>
                              <p:par>
                                <p:cTn id="105" presetID="2" presetClass="entr" presetSubtype="8" fill="hold" nodeType="with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0-#ppt_w/2"/>
                                          </p:val>
                                        </p:tav>
                                        <p:tav tm="100000">
                                          <p:val>
                                            <p:strVal val="#ppt_x"/>
                                          </p:val>
                                        </p:tav>
                                      </p:tavLst>
                                    </p:anim>
                                    <p:animEffect transition="in" filter="fade">
                                      <p:cBhvr>
                                        <p:cTn id="108" dur="500"/>
                                        <p:tgtEl>
                                          <p:spTgt spid="28"/>
                                        </p:tgtEl>
                                      </p:cBhvr>
                                    </p:animEffect>
                                  </p:childTnLst>
                                </p:cTn>
                              </p:par>
                            </p:childTnLst>
                          </p:cTn>
                        </p:par>
                        <p:par>
                          <p:cTn id="109" fill="hold">
                            <p:stCondLst>
                              <p:cond delay="2950"/>
                            </p:stCondLst>
                            <p:childTnLst>
                              <p:par>
                                <p:cTn id="110" presetID="2" presetClass="entr" presetSubtype="8" fill="hold" nodeType="withEffect">
                                  <p:stCondLst>
                                    <p:cond delay="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0-#ppt_w/2"/>
                                          </p:val>
                                        </p:tav>
                                        <p:tav tm="100000">
                                          <p:val>
                                            <p:strVal val="#ppt_x"/>
                                          </p:val>
                                        </p:tav>
                                      </p:tavLst>
                                    </p:anim>
                                    <p:animEffect transition="in" filter="fade">
                                      <p:cBhvr>
                                        <p:cTn id="113" dur="500"/>
                                        <p:tgtEl>
                                          <p:spTgt spid="29"/>
                                        </p:tgtEl>
                                      </p:cBhvr>
                                    </p:animEffect>
                                  </p:childTnLst>
                                </p:cTn>
                              </p:par>
                            </p:childTnLst>
                          </p:cTn>
                        </p:par>
                        <p:par>
                          <p:cTn id="114" fill="hold">
                            <p:stCondLst>
                              <p:cond delay="3100"/>
                            </p:stCondLst>
                            <p:childTnLst>
                              <p:par>
                                <p:cTn id="115" presetID="2" presetClass="entr" presetSubtype="2" fill="hold" nodeType="with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1+#ppt_w/2"/>
                                          </p:val>
                                        </p:tav>
                                        <p:tav tm="100000">
                                          <p:val>
                                            <p:strVal val="#ppt_x"/>
                                          </p:val>
                                        </p:tav>
                                      </p:tavLst>
                                    </p:anim>
                                    <p:animEffect transition="in" filter="fade">
                                      <p:cBhvr>
                                        <p:cTn id="118" dur="500"/>
                                        <p:tgtEl>
                                          <p:spTgt spid="30"/>
                                        </p:tgtEl>
                                      </p:cBhvr>
                                    </p:animEffect>
                                  </p:childTnLst>
                                </p:cTn>
                              </p:par>
                            </p:childTnLst>
                          </p:cTn>
                        </p:par>
                        <p:par>
                          <p:cTn id="119" fill="hold">
                            <p:stCondLst>
                              <p:cond delay="3100"/>
                            </p:stCondLst>
                            <p:childTnLst>
                              <p:par>
                                <p:cTn id="120" presetID="2" presetClass="entr" presetSubtype="2" fill="hold" nodeType="withEffect">
                                  <p:stCondLst>
                                    <p:cond delay="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1+#ppt_w/2"/>
                                          </p:val>
                                        </p:tav>
                                        <p:tav tm="100000">
                                          <p:val>
                                            <p:strVal val="#ppt_x"/>
                                          </p:val>
                                        </p:tav>
                                      </p:tavLst>
                                    </p:anim>
                                    <p:animEffect transition="in" filter="fade">
                                      <p:cBhvr>
                                        <p:cTn id="12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49377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05   —   GAP ANALYSIS</a:t>
            </a:r>
            <a:endParaRPr lang="en-US" sz="850" dirty="0"/>
          </a:p>
        </p:txBody>
      </p:sp>
      <p:sp>
        <p:nvSpPr>
          <p:cNvPr id="4" name="Text 1"/>
          <p:cNvSpPr/>
          <p:nvPr/>
        </p:nvSpPr>
        <p:spPr>
          <a:xfrm>
            <a:off x="640080" y="676656"/>
            <a:ext cx="768096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The operational, strategic and </a:t>
            </a:r>
            <a:r>
              <a:rPr lang="en-US" sz="2600" b="1" dirty="0">
                <a:solidFill>
                  <a:srgbClr val="0B63CE"/>
                </a:solidFill>
                <a:latin typeface="Calibri" pitchFamily="34" charset="0"/>
                <a:ea typeface="Calibri" pitchFamily="34" charset="-122"/>
                <a:cs typeface="Calibri" pitchFamily="34" charset="-120"/>
              </a:rPr>
              <a:t>financial gaps</a:t>
            </a:r>
            <a:endParaRPr lang="en-US" sz="2600" dirty="0"/>
          </a:p>
        </p:txBody>
      </p:sp>
      <p:sp>
        <p:nvSpPr>
          <p:cNvPr id="5" name="Text 2"/>
          <p:cNvSpPr/>
          <p:nvPr/>
        </p:nvSpPr>
        <p:spPr>
          <a:xfrm>
            <a:off x="640080" y="1115568"/>
            <a:ext cx="7680960" cy="219456"/>
          </a:xfrm>
          <a:prstGeom prst="rect">
            <a:avLst/>
          </a:prstGeom>
          <a:noFill/>
          <a:ln/>
        </p:spPr>
        <p:txBody>
          <a:bodyPr wrap="square" lIns="0" tIns="0" rIns="0" bIns="0" rtlCol="0" anchor="ctr"/>
          <a:lstStyle/>
          <a:p>
            <a:pPr marL="0" indent="0">
              <a:buNone/>
            </a:pPr>
            <a:r>
              <a:rPr lang="en-US" sz="1050" i="1" dirty="0">
                <a:solidFill>
                  <a:srgbClr val="55697C"/>
                </a:solidFill>
                <a:latin typeface="Calibri" pitchFamily="34" charset="0"/>
                <a:ea typeface="Calibri" pitchFamily="34" charset="-122"/>
                <a:cs typeface="Calibri" pitchFamily="34" charset="-120"/>
              </a:rPr>
              <a:t>Those four failures do not stay in the laboratory. They show up as lost capacity, a missing competitive advantage, and capital destroyed.</a:t>
            </a:r>
            <a:endParaRPr lang="en-US" sz="1050" dirty="0"/>
          </a:p>
        </p:txBody>
      </p:sp>
      <p:sp>
        <p:nvSpPr>
          <p:cNvPr id="6" name="gapcard_op"/>
          <p:cNvSpPr/>
          <p:nvPr/>
        </p:nvSpPr>
        <p:spPr>
          <a:xfrm>
            <a:off x="640080" y="1591056"/>
            <a:ext cx="2505456" cy="2615184"/>
          </a:xfrm>
          <a:prstGeom prst="roundRect">
            <a:avLst>
              <a:gd name="adj" fmla="val 2555"/>
            </a:avLst>
          </a:prstGeom>
          <a:solidFill>
            <a:srgbClr val="FFFFFF"/>
          </a:solidFill>
          <a:ln w="11430">
            <a:solidFill>
              <a:srgbClr val="C9DFF6"/>
            </a:solidFill>
            <a:prstDash val="solid"/>
          </a:ln>
          <a:effectLst>
            <a:outerShdw blurRad="101600" dist="25400" dir="5400000" algn="bl" rotWithShape="0">
              <a:srgbClr val="AFC0CE">
                <a:alpha val="28000"/>
              </a:srgbClr>
            </a:outerShdw>
          </a:effectLst>
        </p:spPr>
        <p:txBody>
          <a:bodyPr/>
          <a:lstStyle/>
          <a:p>
            <a:endParaRPr lang="en-US"/>
          </a:p>
        </p:txBody>
      </p:sp>
      <p:sp>
        <p:nvSpPr>
          <p:cNvPr id="7" name="gapicon_op"/>
          <p:cNvSpPr/>
          <p:nvPr/>
        </p:nvSpPr>
        <p:spPr>
          <a:xfrm>
            <a:off x="786384" y="1719072"/>
            <a:ext cx="292608" cy="292608"/>
          </a:xfrm>
          <a:prstGeom prst="roundRect">
            <a:avLst>
              <a:gd name="adj" fmla="val 18750"/>
            </a:avLst>
          </a:prstGeom>
          <a:solidFill>
            <a:srgbClr val="E8F1FC"/>
          </a:solidFill>
          <a:ln w="9525">
            <a:solidFill>
              <a:srgbClr val="C9DFF6"/>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64108" y="1796796"/>
            <a:ext cx="155448" cy="155448"/>
          </a:xfrm>
          <a:prstGeom prst="rect">
            <a:avLst/>
          </a:prstGeom>
        </p:spPr>
      </p:pic>
      <p:sp>
        <p:nvSpPr>
          <p:cNvPr id="9" name="gapkick_op"/>
          <p:cNvSpPr/>
          <p:nvPr/>
        </p:nvSpPr>
        <p:spPr>
          <a:xfrm>
            <a:off x="1152144" y="1719072"/>
            <a:ext cx="1865376" cy="292608"/>
          </a:xfrm>
          <a:prstGeom prst="rect">
            <a:avLst/>
          </a:prstGeom>
          <a:noFill/>
          <a:ln/>
        </p:spPr>
        <p:txBody>
          <a:bodyPr wrap="square" lIns="0" tIns="0" rIns="0" bIns="0" rtlCol="0" anchor="ctr"/>
          <a:lstStyle/>
          <a:p>
            <a:pPr marL="0" indent="0">
              <a:buNone/>
            </a:pPr>
            <a:r>
              <a:rPr lang="en-US" sz="750" b="1" kern="0" spc="140" dirty="0">
                <a:solidFill>
                  <a:srgbClr val="0B63CE"/>
                </a:solidFill>
                <a:latin typeface="Calibri" pitchFamily="34" charset="0"/>
                <a:ea typeface="Calibri" pitchFamily="34" charset="-122"/>
                <a:cs typeface="Calibri" pitchFamily="34" charset="-120"/>
              </a:rPr>
              <a:t>OPERATIONAL GAP</a:t>
            </a:r>
            <a:endParaRPr lang="en-US" sz="750" dirty="0"/>
          </a:p>
        </p:txBody>
      </p:sp>
      <p:sp>
        <p:nvSpPr>
          <p:cNvPr id="10" name="gaptitle_op"/>
          <p:cNvSpPr/>
          <p:nvPr/>
        </p:nvSpPr>
        <p:spPr>
          <a:xfrm>
            <a:off x="786384" y="2066544"/>
            <a:ext cx="2212848" cy="438912"/>
          </a:xfrm>
          <a:prstGeom prst="rect">
            <a:avLst/>
          </a:prstGeom>
          <a:noFill/>
          <a:ln/>
        </p:spPr>
        <p:txBody>
          <a:bodyPr wrap="square" lIns="0" tIns="0" rIns="0" bIns="0" rtlCol="0" anchor="ctr"/>
          <a:lstStyle/>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Capacity spent on</a:t>
            </a:r>
            <a:endParaRPr lang="en-US" sz="1250" dirty="0"/>
          </a:p>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candidates that fail</a:t>
            </a:r>
            <a:endParaRPr lang="en-US" sz="1250" dirty="0"/>
          </a:p>
        </p:txBody>
      </p:sp>
      <p:sp>
        <p:nvSpPr>
          <p:cNvPr id="11" name="gapdot_op_0"/>
          <p:cNvSpPr/>
          <p:nvPr/>
        </p:nvSpPr>
        <p:spPr>
          <a:xfrm>
            <a:off x="795528" y="2610612"/>
            <a:ext cx="68580" cy="68580"/>
          </a:xfrm>
          <a:prstGeom prst="roundRect">
            <a:avLst>
              <a:gd name="adj" fmla="val 26667"/>
            </a:avLst>
          </a:prstGeom>
          <a:solidFill>
            <a:srgbClr val="0B63CE"/>
          </a:solidFill>
          <a:ln w="12700">
            <a:solidFill>
              <a:srgbClr val="0B63CE"/>
            </a:solidFill>
            <a:prstDash val="solid"/>
          </a:ln>
        </p:spPr>
        <p:txBody>
          <a:bodyPr/>
          <a:lstStyle/>
          <a:p>
            <a:endParaRPr lang="en-US"/>
          </a:p>
        </p:txBody>
      </p:sp>
      <p:sp>
        <p:nvSpPr>
          <p:cNvPr id="12" name="gapitem_op_0"/>
          <p:cNvSpPr/>
          <p:nvPr/>
        </p:nvSpPr>
        <p:spPr>
          <a:xfrm>
            <a:off x="969264" y="2542032"/>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Three weeks to assemble one analysis dataset</a:t>
            </a:r>
            <a:endParaRPr lang="en-US" sz="850" dirty="0"/>
          </a:p>
        </p:txBody>
      </p:sp>
      <p:sp>
        <p:nvSpPr>
          <p:cNvPr id="13" name="gapdot_op_1"/>
          <p:cNvSpPr/>
          <p:nvPr/>
        </p:nvSpPr>
        <p:spPr>
          <a:xfrm>
            <a:off x="795528" y="3012948"/>
            <a:ext cx="68580" cy="68580"/>
          </a:xfrm>
          <a:prstGeom prst="roundRect">
            <a:avLst>
              <a:gd name="adj" fmla="val 26667"/>
            </a:avLst>
          </a:prstGeom>
          <a:solidFill>
            <a:srgbClr val="0B63CE"/>
          </a:solidFill>
          <a:ln w="12700">
            <a:solidFill>
              <a:srgbClr val="0B63CE"/>
            </a:solidFill>
            <a:prstDash val="solid"/>
          </a:ln>
        </p:spPr>
        <p:txBody>
          <a:bodyPr/>
          <a:lstStyle/>
          <a:p>
            <a:endParaRPr lang="en-US"/>
          </a:p>
        </p:txBody>
      </p:sp>
      <p:sp>
        <p:nvSpPr>
          <p:cNvPr id="14" name="gapitem_op_1"/>
          <p:cNvSpPr/>
          <p:nvPr/>
        </p:nvSpPr>
        <p:spPr>
          <a:xfrm>
            <a:off x="969264" y="2944368"/>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~18 months from question to a validated target</a:t>
            </a:r>
            <a:endParaRPr lang="en-US" sz="850" dirty="0"/>
          </a:p>
        </p:txBody>
      </p:sp>
      <p:sp>
        <p:nvSpPr>
          <p:cNvPr id="15" name="gapdot_op_2"/>
          <p:cNvSpPr/>
          <p:nvPr/>
        </p:nvSpPr>
        <p:spPr>
          <a:xfrm>
            <a:off x="795528" y="3415284"/>
            <a:ext cx="68580" cy="68580"/>
          </a:xfrm>
          <a:prstGeom prst="roundRect">
            <a:avLst>
              <a:gd name="adj" fmla="val 26667"/>
            </a:avLst>
          </a:prstGeom>
          <a:solidFill>
            <a:srgbClr val="0B63CE"/>
          </a:solidFill>
          <a:ln w="12700">
            <a:solidFill>
              <a:srgbClr val="0B63CE"/>
            </a:solidFill>
            <a:prstDash val="solid"/>
          </a:ln>
        </p:spPr>
        <p:txBody>
          <a:bodyPr/>
          <a:lstStyle/>
          <a:p>
            <a:endParaRPr lang="en-US"/>
          </a:p>
        </p:txBody>
      </p:sp>
      <p:sp>
        <p:nvSpPr>
          <p:cNvPr id="16" name="gapitem_op_2"/>
          <p:cNvSpPr/>
          <p:nvPr/>
        </p:nvSpPr>
        <p:spPr>
          <a:xfrm>
            <a:off x="969264" y="3346704"/>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Years of laboratory capacity consumed by candidates that will not reach a patient</a:t>
            </a:r>
            <a:endParaRPr lang="en-US" sz="850" dirty="0"/>
          </a:p>
        </p:txBody>
      </p:sp>
      <p:sp>
        <p:nvSpPr>
          <p:cNvPr id="17" name="gapstatbg_op"/>
          <p:cNvSpPr/>
          <p:nvPr/>
        </p:nvSpPr>
        <p:spPr>
          <a:xfrm>
            <a:off x="786384" y="3776472"/>
            <a:ext cx="2212848" cy="365760"/>
          </a:xfrm>
          <a:prstGeom prst="roundRect">
            <a:avLst>
              <a:gd name="adj" fmla="val 12500"/>
            </a:avLst>
          </a:prstGeom>
          <a:solidFill>
            <a:srgbClr val="E8F1FC"/>
          </a:solidFill>
          <a:ln w="12700">
            <a:solidFill>
              <a:srgbClr val="C9DFF6"/>
            </a:solidFill>
            <a:prstDash val="solid"/>
          </a:ln>
        </p:spPr>
        <p:txBody>
          <a:bodyPr/>
          <a:lstStyle/>
          <a:p>
            <a:endParaRPr lang="en-US"/>
          </a:p>
        </p:txBody>
      </p:sp>
      <p:sp>
        <p:nvSpPr>
          <p:cNvPr id="18" name="gapstat_op"/>
          <p:cNvSpPr/>
          <p:nvPr/>
        </p:nvSpPr>
        <p:spPr>
          <a:xfrm>
            <a:off x="896112" y="3776472"/>
            <a:ext cx="2029968" cy="365760"/>
          </a:xfrm>
          <a:prstGeom prst="rect">
            <a:avLst/>
          </a:prstGeom>
          <a:noFill/>
          <a:ln/>
        </p:spPr>
        <p:txBody>
          <a:bodyPr wrap="square" lIns="0" tIns="0" rIns="0" bIns="0" rtlCol="0" anchor="ctr"/>
          <a:lstStyle/>
          <a:p>
            <a:pPr marL="0" indent="0">
              <a:lnSpc>
                <a:spcPts val="1100"/>
              </a:lnSpc>
              <a:buNone/>
            </a:pPr>
            <a:r>
              <a:rPr lang="en-US" sz="1300" b="1" dirty="0">
                <a:solidFill>
                  <a:srgbClr val="0B63CE"/>
                </a:solidFill>
                <a:latin typeface="Calibri" pitchFamily="34" charset="0"/>
                <a:ea typeface="Calibri" pitchFamily="34" charset="-122"/>
                <a:cs typeface="Calibri" pitchFamily="34" charset="-120"/>
              </a:rPr>
              <a:t>3 weeks</a:t>
            </a:r>
            <a:r>
              <a:rPr lang="en-US" sz="750" dirty="0">
                <a:solidFill>
                  <a:srgbClr val="55697C"/>
                </a:solidFill>
                <a:latin typeface="Calibri" pitchFamily="34" charset="0"/>
                <a:ea typeface="Calibri" pitchFamily="34" charset="-122"/>
                <a:cs typeface="Calibri" pitchFamily="34" charset="-120"/>
              </a:rPr>
              <a:t>   to answer one question</a:t>
            </a:r>
            <a:endParaRPr lang="en-US" sz="1300" dirty="0"/>
          </a:p>
        </p:txBody>
      </p:sp>
      <p:sp>
        <p:nvSpPr>
          <p:cNvPr id="19" name="gapcard_st"/>
          <p:cNvSpPr/>
          <p:nvPr/>
        </p:nvSpPr>
        <p:spPr>
          <a:xfrm>
            <a:off x="3319272" y="1591056"/>
            <a:ext cx="2505456" cy="2615184"/>
          </a:xfrm>
          <a:prstGeom prst="roundRect">
            <a:avLst>
              <a:gd name="adj" fmla="val 2555"/>
            </a:avLst>
          </a:prstGeom>
          <a:solidFill>
            <a:srgbClr val="FFFFFF"/>
          </a:solidFill>
          <a:ln w="11430">
            <a:solidFill>
              <a:srgbClr val="A9E0DA"/>
            </a:solidFill>
            <a:prstDash val="solid"/>
          </a:ln>
          <a:effectLst>
            <a:outerShdw blurRad="101600" dist="25400" dir="5400000" algn="bl" rotWithShape="0">
              <a:srgbClr val="AFC0CE">
                <a:alpha val="28000"/>
              </a:srgbClr>
            </a:outerShdw>
          </a:effectLst>
        </p:spPr>
        <p:txBody>
          <a:bodyPr/>
          <a:lstStyle/>
          <a:p>
            <a:endParaRPr lang="en-US"/>
          </a:p>
        </p:txBody>
      </p:sp>
      <p:sp>
        <p:nvSpPr>
          <p:cNvPr id="20" name="gapicon_st"/>
          <p:cNvSpPr/>
          <p:nvPr/>
        </p:nvSpPr>
        <p:spPr>
          <a:xfrm>
            <a:off x="3465576" y="1719072"/>
            <a:ext cx="292608" cy="292608"/>
          </a:xfrm>
          <a:prstGeom prst="roundRect">
            <a:avLst>
              <a:gd name="adj" fmla="val 18750"/>
            </a:avLst>
          </a:prstGeom>
          <a:solidFill>
            <a:srgbClr val="E0F4F2"/>
          </a:solidFill>
          <a:ln w="9525">
            <a:solidFill>
              <a:srgbClr val="A9E0DA"/>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543300" y="1796796"/>
            <a:ext cx="155448" cy="155448"/>
          </a:xfrm>
          <a:prstGeom prst="rect">
            <a:avLst/>
          </a:prstGeom>
        </p:spPr>
      </p:pic>
      <p:sp>
        <p:nvSpPr>
          <p:cNvPr id="22" name="gapkick_st"/>
          <p:cNvSpPr/>
          <p:nvPr/>
        </p:nvSpPr>
        <p:spPr>
          <a:xfrm>
            <a:off x="3831336" y="1719072"/>
            <a:ext cx="1865376" cy="292608"/>
          </a:xfrm>
          <a:prstGeom prst="rect">
            <a:avLst/>
          </a:prstGeom>
          <a:noFill/>
          <a:ln/>
        </p:spPr>
        <p:txBody>
          <a:bodyPr wrap="square" lIns="0" tIns="0" rIns="0" bIns="0" rtlCol="0" anchor="ctr"/>
          <a:lstStyle/>
          <a:p>
            <a:pPr marL="0" indent="0">
              <a:buNone/>
            </a:pPr>
            <a:r>
              <a:rPr lang="en-US" sz="750" b="1" kern="0" spc="140" dirty="0">
                <a:solidFill>
                  <a:srgbClr val="0C8C83"/>
                </a:solidFill>
                <a:latin typeface="Calibri" pitchFamily="34" charset="0"/>
                <a:ea typeface="Calibri" pitchFamily="34" charset="-122"/>
                <a:cs typeface="Calibri" pitchFamily="34" charset="-120"/>
              </a:rPr>
              <a:t>STRATEGIC GAP</a:t>
            </a:r>
            <a:endParaRPr lang="en-US" sz="750" dirty="0"/>
          </a:p>
        </p:txBody>
      </p:sp>
      <p:sp>
        <p:nvSpPr>
          <p:cNvPr id="23" name="gaptitle_st"/>
          <p:cNvSpPr/>
          <p:nvPr/>
        </p:nvSpPr>
        <p:spPr>
          <a:xfrm>
            <a:off x="3465576" y="2066544"/>
            <a:ext cx="2212848" cy="438912"/>
          </a:xfrm>
          <a:prstGeom prst="rect">
            <a:avLst/>
          </a:prstGeom>
          <a:noFill/>
          <a:ln/>
        </p:spPr>
        <p:txBody>
          <a:bodyPr wrap="square" lIns="0" tIns="0" rIns="0" bIns="0" rtlCol="0" anchor="ctr"/>
          <a:lstStyle/>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No defensible</a:t>
            </a:r>
            <a:endParaRPr lang="en-US" sz="1250" dirty="0"/>
          </a:p>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advantage in AI</a:t>
            </a:r>
            <a:endParaRPr lang="en-US" sz="1250" dirty="0"/>
          </a:p>
        </p:txBody>
      </p:sp>
      <p:sp>
        <p:nvSpPr>
          <p:cNvPr id="24" name="gapdot_st_0"/>
          <p:cNvSpPr/>
          <p:nvPr/>
        </p:nvSpPr>
        <p:spPr>
          <a:xfrm>
            <a:off x="3474720" y="2610612"/>
            <a:ext cx="68580" cy="68580"/>
          </a:xfrm>
          <a:prstGeom prst="roundRect">
            <a:avLst>
              <a:gd name="adj" fmla="val 26667"/>
            </a:avLst>
          </a:prstGeom>
          <a:solidFill>
            <a:srgbClr val="0C8C83"/>
          </a:solidFill>
          <a:ln w="12700">
            <a:solidFill>
              <a:srgbClr val="0C8C83"/>
            </a:solidFill>
            <a:prstDash val="solid"/>
          </a:ln>
        </p:spPr>
        <p:txBody>
          <a:bodyPr/>
          <a:lstStyle/>
          <a:p>
            <a:endParaRPr lang="en-US"/>
          </a:p>
        </p:txBody>
      </p:sp>
      <p:sp>
        <p:nvSpPr>
          <p:cNvPr id="25" name="gapitem_st_0"/>
          <p:cNvSpPr/>
          <p:nvPr/>
        </p:nvSpPr>
        <p:spPr>
          <a:xfrm>
            <a:off x="3648456" y="2542032"/>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Same public data and same models as every competitor</a:t>
            </a:r>
            <a:endParaRPr lang="en-US" sz="850" dirty="0"/>
          </a:p>
        </p:txBody>
      </p:sp>
      <p:sp>
        <p:nvSpPr>
          <p:cNvPr id="26" name="gapdot_st_1"/>
          <p:cNvSpPr/>
          <p:nvPr/>
        </p:nvSpPr>
        <p:spPr>
          <a:xfrm>
            <a:off x="3474720" y="3012948"/>
            <a:ext cx="68580" cy="68580"/>
          </a:xfrm>
          <a:prstGeom prst="roundRect">
            <a:avLst>
              <a:gd name="adj" fmla="val 26667"/>
            </a:avLst>
          </a:prstGeom>
          <a:solidFill>
            <a:srgbClr val="0C8C83"/>
          </a:solidFill>
          <a:ln w="12700">
            <a:solidFill>
              <a:srgbClr val="0C8C83"/>
            </a:solidFill>
            <a:prstDash val="solid"/>
          </a:ln>
        </p:spPr>
        <p:txBody>
          <a:bodyPr/>
          <a:lstStyle/>
          <a:p>
            <a:endParaRPr lang="en-US"/>
          </a:p>
        </p:txBody>
      </p:sp>
      <p:sp>
        <p:nvSpPr>
          <p:cNvPr id="27" name="gapitem_st_1"/>
          <p:cNvSpPr/>
          <p:nvPr/>
        </p:nvSpPr>
        <p:spPr>
          <a:xfrm>
            <a:off x="3648456" y="2944368"/>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Portfolio set by committee opinion, not by weight of evidence</a:t>
            </a:r>
            <a:endParaRPr lang="en-US" sz="850" dirty="0"/>
          </a:p>
        </p:txBody>
      </p:sp>
      <p:sp>
        <p:nvSpPr>
          <p:cNvPr id="28" name="gapdot_st_2"/>
          <p:cNvSpPr/>
          <p:nvPr/>
        </p:nvSpPr>
        <p:spPr>
          <a:xfrm>
            <a:off x="3474720" y="3415284"/>
            <a:ext cx="68580" cy="68580"/>
          </a:xfrm>
          <a:prstGeom prst="roundRect">
            <a:avLst>
              <a:gd name="adj" fmla="val 26667"/>
            </a:avLst>
          </a:prstGeom>
          <a:solidFill>
            <a:srgbClr val="0C8C83"/>
          </a:solidFill>
          <a:ln w="12700">
            <a:solidFill>
              <a:srgbClr val="0C8C83"/>
            </a:solidFill>
            <a:prstDash val="solid"/>
          </a:ln>
        </p:spPr>
        <p:txBody>
          <a:bodyPr/>
          <a:lstStyle/>
          <a:p>
            <a:endParaRPr lang="en-US"/>
          </a:p>
        </p:txBody>
      </p:sp>
      <p:sp>
        <p:nvSpPr>
          <p:cNvPr id="29" name="gapitem_st_2"/>
          <p:cNvSpPr/>
          <p:nvPr/>
        </p:nvSpPr>
        <p:spPr>
          <a:xfrm>
            <a:off x="3648456" y="3346704"/>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FDA’s April 2025 shift rewards human-data-first firms and exposes the rest</a:t>
            </a:r>
            <a:endParaRPr lang="en-US" sz="850" dirty="0"/>
          </a:p>
        </p:txBody>
      </p:sp>
      <p:sp>
        <p:nvSpPr>
          <p:cNvPr id="30" name="gapstatbg_st"/>
          <p:cNvSpPr/>
          <p:nvPr/>
        </p:nvSpPr>
        <p:spPr>
          <a:xfrm>
            <a:off x="3465576" y="3776472"/>
            <a:ext cx="2212848" cy="365760"/>
          </a:xfrm>
          <a:prstGeom prst="roundRect">
            <a:avLst>
              <a:gd name="adj" fmla="val 12500"/>
            </a:avLst>
          </a:prstGeom>
          <a:solidFill>
            <a:srgbClr val="E0F4F2"/>
          </a:solidFill>
          <a:ln w="12700">
            <a:solidFill>
              <a:srgbClr val="A9E0DA"/>
            </a:solidFill>
            <a:prstDash val="solid"/>
          </a:ln>
        </p:spPr>
        <p:txBody>
          <a:bodyPr/>
          <a:lstStyle/>
          <a:p>
            <a:endParaRPr lang="en-US"/>
          </a:p>
        </p:txBody>
      </p:sp>
      <p:sp>
        <p:nvSpPr>
          <p:cNvPr id="31" name="gapstat_st"/>
          <p:cNvSpPr/>
          <p:nvPr/>
        </p:nvSpPr>
        <p:spPr>
          <a:xfrm>
            <a:off x="3575304" y="3776472"/>
            <a:ext cx="2029968" cy="365760"/>
          </a:xfrm>
          <a:prstGeom prst="rect">
            <a:avLst/>
          </a:prstGeom>
          <a:noFill/>
          <a:ln/>
        </p:spPr>
        <p:txBody>
          <a:bodyPr wrap="square" lIns="0" tIns="0" rIns="0" bIns="0" rtlCol="0" anchor="ctr"/>
          <a:lstStyle/>
          <a:p>
            <a:pPr marL="0" indent="0">
              <a:lnSpc>
                <a:spcPts val="1100"/>
              </a:lnSpc>
              <a:buNone/>
            </a:pPr>
            <a:r>
              <a:rPr lang="en-US" sz="1300" b="1" dirty="0">
                <a:solidFill>
                  <a:srgbClr val="0C8C83"/>
                </a:solidFill>
                <a:latin typeface="Calibri" pitchFamily="34" charset="0"/>
                <a:ea typeface="Calibri" pitchFamily="34" charset="-122"/>
                <a:cs typeface="Calibri" pitchFamily="34" charset="-120"/>
              </a:rPr>
              <a:t>2.6×</a:t>
            </a:r>
            <a:r>
              <a:rPr lang="en-US" sz="750" dirty="0">
                <a:solidFill>
                  <a:srgbClr val="55697C"/>
                </a:solidFill>
                <a:latin typeface="Calibri" pitchFamily="34" charset="0"/>
                <a:ea typeface="Calibri" pitchFamily="34" charset="-122"/>
                <a:cs typeface="Calibri" pitchFamily="34" charset="-120"/>
              </a:rPr>
              <a:t>   success gap not captured</a:t>
            </a:r>
            <a:endParaRPr lang="en-US" sz="1300" dirty="0"/>
          </a:p>
        </p:txBody>
      </p:sp>
      <p:sp>
        <p:nvSpPr>
          <p:cNvPr id="32" name="gapcard_fi"/>
          <p:cNvSpPr/>
          <p:nvPr/>
        </p:nvSpPr>
        <p:spPr>
          <a:xfrm>
            <a:off x="5998464" y="1591056"/>
            <a:ext cx="2505456" cy="2615184"/>
          </a:xfrm>
          <a:prstGeom prst="roundRect">
            <a:avLst>
              <a:gd name="adj" fmla="val 2555"/>
            </a:avLst>
          </a:prstGeom>
          <a:solidFill>
            <a:srgbClr val="FFFFFF"/>
          </a:solidFill>
          <a:ln w="11430">
            <a:solidFill>
              <a:srgbClr val="F6C4B8"/>
            </a:solidFill>
            <a:prstDash val="solid"/>
          </a:ln>
          <a:effectLst>
            <a:outerShdw blurRad="101600" dist="25400" dir="5400000" algn="bl" rotWithShape="0">
              <a:srgbClr val="AFC0CE">
                <a:alpha val="28000"/>
              </a:srgbClr>
            </a:outerShdw>
          </a:effectLst>
        </p:spPr>
        <p:txBody>
          <a:bodyPr/>
          <a:lstStyle/>
          <a:p>
            <a:endParaRPr lang="en-US"/>
          </a:p>
        </p:txBody>
      </p:sp>
      <p:sp>
        <p:nvSpPr>
          <p:cNvPr id="33" name="gapicon_fi"/>
          <p:cNvSpPr/>
          <p:nvPr/>
        </p:nvSpPr>
        <p:spPr>
          <a:xfrm>
            <a:off x="6144768" y="1719072"/>
            <a:ext cx="292608" cy="292608"/>
          </a:xfrm>
          <a:prstGeom prst="roundRect">
            <a:avLst>
              <a:gd name="adj" fmla="val 18750"/>
            </a:avLst>
          </a:prstGeom>
          <a:solidFill>
            <a:srgbClr val="FDEDE9"/>
          </a:solidFill>
          <a:ln w="9525">
            <a:solidFill>
              <a:srgbClr val="F6C4B8"/>
            </a:solidFill>
            <a:prstDash val="solid"/>
          </a:ln>
        </p:spPr>
        <p:txBody>
          <a:bodyPr/>
          <a:lstStyle/>
          <a:p>
            <a:endParaRPr lang="en-US"/>
          </a:p>
        </p:txBody>
      </p:sp>
      <p:pic>
        <p:nvPicPr>
          <p:cNvPr id="34" name="Image 3" descr="preencoded.png"/>
          <p:cNvPicPr>
            <a:picLocks noChangeAspect="1"/>
          </p:cNvPicPr>
          <p:nvPr/>
        </p:nvPicPr>
        <p:blipFill>
          <a:blip r:embed="rId6"/>
          <a:stretch>
            <a:fillRect/>
          </a:stretch>
        </p:blipFill>
        <p:spPr>
          <a:xfrm>
            <a:off x="6222492" y="1796796"/>
            <a:ext cx="155448" cy="155448"/>
          </a:xfrm>
          <a:prstGeom prst="rect">
            <a:avLst/>
          </a:prstGeom>
        </p:spPr>
      </p:pic>
      <p:sp>
        <p:nvSpPr>
          <p:cNvPr id="35" name="gapkick_fi"/>
          <p:cNvSpPr/>
          <p:nvPr/>
        </p:nvSpPr>
        <p:spPr>
          <a:xfrm>
            <a:off x="6510528" y="1719072"/>
            <a:ext cx="1865376" cy="292608"/>
          </a:xfrm>
          <a:prstGeom prst="rect">
            <a:avLst/>
          </a:prstGeom>
          <a:noFill/>
          <a:ln/>
        </p:spPr>
        <p:txBody>
          <a:bodyPr wrap="square" lIns="0" tIns="0" rIns="0" bIns="0" rtlCol="0" anchor="ctr"/>
          <a:lstStyle/>
          <a:p>
            <a:pPr marL="0" indent="0">
              <a:buNone/>
            </a:pPr>
            <a:r>
              <a:rPr lang="en-US" sz="750" b="1" kern="0" spc="140" dirty="0">
                <a:solidFill>
                  <a:srgbClr val="D8452A"/>
                </a:solidFill>
                <a:latin typeface="Calibri" pitchFamily="34" charset="0"/>
                <a:ea typeface="Calibri" pitchFamily="34" charset="-122"/>
                <a:cs typeface="Calibri" pitchFamily="34" charset="-120"/>
              </a:rPr>
              <a:t>FINANCIAL GAP</a:t>
            </a:r>
            <a:endParaRPr lang="en-US" sz="750" dirty="0"/>
          </a:p>
        </p:txBody>
      </p:sp>
      <p:sp>
        <p:nvSpPr>
          <p:cNvPr id="36" name="gaptitle_fi"/>
          <p:cNvSpPr/>
          <p:nvPr/>
        </p:nvSpPr>
        <p:spPr>
          <a:xfrm>
            <a:off x="6144768" y="2066544"/>
            <a:ext cx="2212848" cy="438912"/>
          </a:xfrm>
          <a:prstGeom prst="rect">
            <a:avLst/>
          </a:prstGeom>
          <a:noFill/>
          <a:ln/>
        </p:spPr>
        <p:txBody>
          <a:bodyPr wrap="square" lIns="0" tIns="0" rIns="0" bIns="0" rtlCol="0" anchor="ctr"/>
          <a:lstStyle/>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Capital locked up,</a:t>
            </a:r>
            <a:endParaRPr lang="en-US" sz="1250" dirty="0"/>
          </a:p>
          <a:p>
            <a:pPr marL="0" indent="0">
              <a:lnSpc>
                <a:spcPts val="1500"/>
              </a:lnSpc>
              <a:buNone/>
            </a:pPr>
            <a:r>
              <a:rPr lang="en-US" sz="1250" b="1" dirty="0">
                <a:solidFill>
                  <a:srgbClr val="10243A"/>
                </a:solidFill>
                <a:latin typeface="Calibri" pitchFamily="34" charset="0"/>
                <a:ea typeface="Calibri" pitchFamily="34" charset="-122"/>
                <a:cs typeface="Calibri" pitchFamily="34" charset="-120"/>
              </a:rPr>
              <a:t>mostly in failures</a:t>
            </a:r>
            <a:endParaRPr lang="en-US" sz="1250" dirty="0"/>
          </a:p>
        </p:txBody>
      </p:sp>
      <p:sp>
        <p:nvSpPr>
          <p:cNvPr id="37" name="gapdot_fi_0"/>
          <p:cNvSpPr/>
          <p:nvPr/>
        </p:nvSpPr>
        <p:spPr>
          <a:xfrm>
            <a:off x="6153912" y="2610612"/>
            <a:ext cx="68580" cy="68580"/>
          </a:xfrm>
          <a:prstGeom prst="roundRect">
            <a:avLst>
              <a:gd name="adj" fmla="val 26667"/>
            </a:avLst>
          </a:prstGeom>
          <a:solidFill>
            <a:srgbClr val="D8452A"/>
          </a:solidFill>
          <a:ln w="12700">
            <a:solidFill>
              <a:srgbClr val="D8452A"/>
            </a:solidFill>
            <a:prstDash val="solid"/>
          </a:ln>
        </p:spPr>
        <p:txBody>
          <a:bodyPr/>
          <a:lstStyle/>
          <a:p>
            <a:endParaRPr lang="en-US"/>
          </a:p>
        </p:txBody>
      </p:sp>
      <p:sp>
        <p:nvSpPr>
          <p:cNvPr id="38" name="gapitem_fi_0"/>
          <p:cNvSpPr/>
          <p:nvPr/>
        </p:nvSpPr>
        <p:spPr>
          <a:xfrm>
            <a:off x="6327648" y="2542032"/>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Roughly 90% of clinical spend goes to candidates that never launch</a:t>
            </a:r>
            <a:endParaRPr lang="en-US" sz="850" dirty="0"/>
          </a:p>
        </p:txBody>
      </p:sp>
      <p:sp>
        <p:nvSpPr>
          <p:cNvPr id="39" name="gapdot_fi_1"/>
          <p:cNvSpPr/>
          <p:nvPr/>
        </p:nvSpPr>
        <p:spPr>
          <a:xfrm>
            <a:off x="6153912" y="3012948"/>
            <a:ext cx="68580" cy="68580"/>
          </a:xfrm>
          <a:prstGeom prst="roundRect">
            <a:avLst>
              <a:gd name="adj" fmla="val 26667"/>
            </a:avLst>
          </a:prstGeom>
          <a:solidFill>
            <a:srgbClr val="D8452A"/>
          </a:solidFill>
          <a:ln w="12700">
            <a:solidFill>
              <a:srgbClr val="D8452A"/>
            </a:solidFill>
            <a:prstDash val="solid"/>
          </a:ln>
        </p:spPr>
        <p:txBody>
          <a:bodyPr/>
          <a:lstStyle/>
          <a:p>
            <a:endParaRPr lang="en-US"/>
          </a:p>
        </p:txBody>
      </p:sp>
      <p:sp>
        <p:nvSpPr>
          <p:cNvPr id="40" name="gapitem_fi_1"/>
          <p:cNvSpPr/>
          <p:nvPr/>
        </p:nvSpPr>
        <p:spPr>
          <a:xfrm>
            <a:off x="6327648" y="2944368"/>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Capital tied up 10–15 years before any return</a:t>
            </a:r>
            <a:endParaRPr lang="en-US" sz="850" dirty="0"/>
          </a:p>
        </p:txBody>
      </p:sp>
      <p:sp>
        <p:nvSpPr>
          <p:cNvPr id="41" name="gapdot_fi_2"/>
          <p:cNvSpPr/>
          <p:nvPr/>
        </p:nvSpPr>
        <p:spPr>
          <a:xfrm>
            <a:off x="6153912" y="3415284"/>
            <a:ext cx="68580" cy="68580"/>
          </a:xfrm>
          <a:prstGeom prst="roundRect">
            <a:avLst>
              <a:gd name="adj" fmla="val 26667"/>
            </a:avLst>
          </a:prstGeom>
          <a:solidFill>
            <a:srgbClr val="D8452A"/>
          </a:solidFill>
          <a:ln w="12700">
            <a:solidFill>
              <a:srgbClr val="D8452A"/>
            </a:solidFill>
            <a:prstDash val="solid"/>
          </a:ln>
        </p:spPr>
        <p:txBody>
          <a:bodyPr/>
          <a:lstStyle/>
          <a:p>
            <a:endParaRPr lang="en-US"/>
          </a:p>
        </p:txBody>
      </p:sp>
      <p:sp>
        <p:nvSpPr>
          <p:cNvPr id="42" name="gapitem_fi_2"/>
          <p:cNvSpPr/>
          <p:nvPr/>
        </p:nvSpPr>
        <p:spPr>
          <a:xfrm>
            <a:off x="6327648" y="3346704"/>
            <a:ext cx="2029968" cy="420624"/>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Eroom’s Law: real cost per approval has doubled about every nine years</a:t>
            </a:r>
            <a:endParaRPr lang="en-US" sz="850" dirty="0"/>
          </a:p>
        </p:txBody>
      </p:sp>
      <p:sp>
        <p:nvSpPr>
          <p:cNvPr id="43" name="gapstatbg_fi"/>
          <p:cNvSpPr/>
          <p:nvPr/>
        </p:nvSpPr>
        <p:spPr>
          <a:xfrm>
            <a:off x="6144768" y="3776472"/>
            <a:ext cx="2212848" cy="365760"/>
          </a:xfrm>
          <a:prstGeom prst="roundRect">
            <a:avLst>
              <a:gd name="adj" fmla="val 12500"/>
            </a:avLst>
          </a:prstGeom>
          <a:solidFill>
            <a:srgbClr val="FDEDE9"/>
          </a:solidFill>
          <a:ln w="12700">
            <a:solidFill>
              <a:srgbClr val="F6C4B8"/>
            </a:solidFill>
            <a:prstDash val="solid"/>
          </a:ln>
        </p:spPr>
        <p:txBody>
          <a:bodyPr/>
          <a:lstStyle/>
          <a:p>
            <a:endParaRPr lang="en-US"/>
          </a:p>
        </p:txBody>
      </p:sp>
      <p:sp>
        <p:nvSpPr>
          <p:cNvPr id="44" name="gapstat_fi"/>
          <p:cNvSpPr/>
          <p:nvPr/>
        </p:nvSpPr>
        <p:spPr>
          <a:xfrm>
            <a:off x="6254496" y="3776472"/>
            <a:ext cx="2029968" cy="365760"/>
          </a:xfrm>
          <a:prstGeom prst="rect">
            <a:avLst/>
          </a:prstGeom>
          <a:noFill/>
          <a:ln/>
        </p:spPr>
        <p:txBody>
          <a:bodyPr wrap="square" lIns="0" tIns="0" rIns="0" bIns="0" rtlCol="0" anchor="ctr"/>
          <a:lstStyle/>
          <a:p>
            <a:pPr marL="0" indent="0">
              <a:lnSpc>
                <a:spcPts val="1100"/>
              </a:lnSpc>
              <a:buNone/>
            </a:pPr>
            <a:r>
              <a:rPr lang="en-US" sz="1300" b="1" dirty="0">
                <a:solidFill>
                  <a:srgbClr val="D8452A"/>
                </a:solidFill>
                <a:latin typeface="Calibri" pitchFamily="34" charset="0"/>
                <a:ea typeface="Calibri" pitchFamily="34" charset="-122"/>
                <a:cs typeface="Calibri" pitchFamily="34" charset="-120"/>
              </a:rPr>
              <a:t>$2.6bn</a:t>
            </a:r>
            <a:r>
              <a:rPr lang="en-US" sz="750" dirty="0">
                <a:solidFill>
                  <a:srgbClr val="55697C"/>
                </a:solidFill>
                <a:latin typeface="Calibri" pitchFamily="34" charset="0"/>
                <a:ea typeface="Calibri" pitchFamily="34" charset="-122"/>
                <a:cs typeface="Calibri" pitchFamily="34" charset="-120"/>
              </a:rPr>
              <a:t>   per approved medicine</a:t>
            </a:r>
            <a:endParaRPr lang="en-US" sz="1300" dirty="0"/>
          </a:p>
        </p:txBody>
      </p:sp>
      <p:sp>
        <p:nvSpPr>
          <p:cNvPr id="45" name="gapBar"/>
          <p:cNvSpPr/>
          <p:nvPr/>
        </p:nvSpPr>
        <p:spPr>
          <a:xfrm>
            <a:off x="640080" y="4315968"/>
            <a:ext cx="7863840" cy="420624"/>
          </a:xfrm>
          <a:prstGeom prst="roundRect">
            <a:avLst>
              <a:gd name="adj" fmla="val 15217"/>
            </a:avLst>
          </a:prstGeom>
          <a:solidFill>
            <a:srgbClr val="F3F7FB"/>
          </a:solidFill>
          <a:ln w="9525">
            <a:solidFill>
              <a:srgbClr val="E3E9EF"/>
            </a:solidFill>
            <a:prstDash val="solid"/>
          </a:ln>
        </p:spPr>
        <p:txBody>
          <a:bodyPr/>
          <a:lstStyle/>
          <a:p>
            <a:endParaRPr lang="en-US"/>
          </a:p>
        </p:txBody>
      </p:sp>
      <p:sp>
        <p:nvSpPr>
          <p:cNvPr id="46" name="gapBarText"/>
          <p:cNvSpPr/>
          <p:nvPr/>
        </p:nvSpPr>
        <p:spPr>
          <a:xfrm>
            <a:off x="841248" y="4315968"/>
            <a:ext cx="7461504" cy="420624"/>
          </a:xfrm>
          <a:prstGeom prst="rect">
            <a:avLst/>
          </a:prstGeom>
          <a:noFill/>
          <a:ln/>
        </p:spPr>
        <p:txBody>
          <a:bodyPr wrap="square" lIns="0" tIns="0" rIns="0" bIns="0" rtlCol="0" anchor="ctr"/>
          <a:lstStyle/>
          <a:p>
            <a:pPr marL="0" indent="0">
              <a:buNone/>
            </a:pPr>
            <a:r>
              <a:rPr lang="en-US" sz="800" b="1" kern="0" spc="150" dirty="0">
                <a:solidFill>
                  <a:srgbClr val="0B63CE"/>
                </a:solidFill>
                <a:latin typeface="Calibri" pitchFamily="34" charset="0"/>
                <a:ea typeface="Calibri" pitchFamily="34" charset="-122"/>
                <a:cs typeface="Calibri" pitchFamily="34" charset="-120"/>
              </a:rPr>
              <a:t>THE GAP IN ONE LINE     </a:t>
            </a:r>
            <a:r>
              <a:rPr lang="en-US" sz="950" dirty="0">
                <a:solidFill>
                  <a:srgbClr val="10243A"/>
                </a:solidFill>
                <a:latin typeface="Calibri" pitchFamily="34" charset="0"/>
                <a:ea typeface="Calibri" pitchFamily="34" charset="-122"/>
                <a:cs typeface="Calibri" pitchFamily="34" charset="-120"/>
              </a:rPr>
              <a:t>The company was spending like a data business and deciding like a laboratory — the money scaled, the evidence did not.</a:t>
            </a:r>
            <a:endParaRPr lang="en-US" sz="800" dirty="0"/>
          </a:p>
        </p:txBody>
      </p:sp>
      <p:sp>
        <p:nvSpPr>
          <p:cNvPr id="47" name="Text 41"/>
          <p:cNvSpPr/>
          <p:nvPr/>
        </p:nvSpPr>
        <p:spPr>
          <a:xfrm>
            <a:off x="640080" y="4809744"/>
            <a:ext cx="7863840" cy="164592"/>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Sources: DiMasi et al., Tufts CSDD; ASBMB (2022); Scannell et al. (2012); Minikel et al., Nature (2024); U.S. FDA (April 2025); Databricks. Cycle-time figures illustrative.</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ppt_y</p:attrName>
                                        </p:attrNameLst>
                                      </p:cBhvr>
                                      <p:tavLst>
                                        <p:tav tm="0">
                                          <p:val>
                                            <p:strVal val="1+#ppt_h/2"/>
                                          </p:val>
                                        </p:tav>
                                        <p:tav tm="100000">
                                          <p:val>
                                            <p:strVal val="#ppt_y"/>
                                          </p:val>
                                        </p:tav>
                                      </p:tavLst>
                                    </p:anim>
                                    <p:animEffect transition="in" filter="fade">
                                      <p:cBhvr>
                                        <p:cTn id="8" dur="500"/>
                                        <p:tgtEl>
                                          <p:spTgt spid="6"/>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ppt_y</p:attrName>
                                        </p:attrNameLst>
                                      </p:cBhvr>
                                      <p:tavLst>
                                        <p:tav tm="0">
                                          <p:val>
                                            <p:strVal val="1+#ppt_h/2"/>
                                          </p:val>
                                        </p:tav>
                                        <p:tav tm="100000">
                                          <p:val>
                                            <p:strVal val="#ppt_y"/>
                                          </p:val>
                                        </p:tav>
                                      </p:tavLst>
                                    </p:anim>
                                    <p:animEffect transition="in" filter="fade">
                                      <p:cBhvr>
                                        <p:cTn id="13" dur="500"/>
                                        <p:tgtEl>
                                          <p:spTgt spid="7"/>
                                        </p:tgtEl>
                                      </p:cBhvr>
                                    </p:animEffect>
                                  </p:childTnLst>
                                </p:cTn>
                              </p:par>
                            </p:childTnLst>
                          </p:cTn>
                        </p:par>
                        <p:par>
                          <p:cTn id="14" fill="hold">
                            <p:stCondLst>
                              <p:cond delay="0"/>
                            </p:stCondLst>
                            <p:childTnLst>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ppt_y</p:attrName>
                                        </p:attrNameLst>
                                      </p:cBhvr>
                                      <p:tavLst>
                                        <p:tav tm="0">
                                          <p:val>
                                            <p:strVal val="1+#ppt_h/2"/>
                                          </p:val>
                                        </p:tav>
                                        <p:tav tm="100000">
                                          <p:val>
                                            <p:strVal val="#ppt_y"/>
                                          </p:val>
                                        </p:tav>
                                      </p:tavLst>
                                    </p:anim>
                                    <p:animEffect transition="in" filter="fade">
                                      <p:cBhvr>
                                        <p:cTn id="18" dur="500"/>
                                        <p:tgtEl>
                                          <p:spTgt spid="9"/>
                                        </p:tgtEl>
                                      </p:cBhvr>
                                    </p:animEffect>
                                  </p:childTnLst>
                                </p:cTn>
                              </p:par>
                            </p:childTnLst>
                          </p:cTn>
                        </p:par>
                        <p:par>
                          <p:cTn id="19" fill="hold">
                            <p:stCondLst>
                              <p:cond delay="0"/>
                            </p:stCondLst>
                            <p:childTnLst>
                              <p:par>
                                <p:cTn id="20" presetID="2" presetClass="entr" presetSubtype="4"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ppt_y</p:attrName>
                                        </p:attrNameLst>
                                      </p:cBhvr>
                                      <p:tavLst>
                                        <p:tav tm="0">
                                          <p:val>
                                            <p:strVal val="1+#ppt_h/2"/>
                                          </p:val>
                                        </p:tav>
                                        <p:tav tm="100000">
                                          <p:val>
                                            <p:strVal val="#ppt_y"/>
                                          </p:val>
                                        </p:tav>
                                      </p:tavLst>
                                    </p:anim>
                                    <p:animEffect transition="in" filter="fade">
                                      <p:cBhvr>
                                        <p:cTn id="23" dur="500"/>
                                        <p:tgtEl>
                                          <p:spTgt spid="10"/>
                                        </p:tgtEl>
                                      </p:cBhvr>
                                    </p:animEffect>
                                  </p:childTnLst>
                                </p:cTn>
                              </p:par>
                            </p:childTnLst>
                          </p:cTn>
                        </p:par>
                        <p:par>
                          <p:cTn id="24" fill="hold">
                            <p:stCondLst>
                              <p:cond delay="260"/>
                            </p:stCondLst>
                            <p:childTnLst>
                              <p:par>
                                <p:cTn id="25" presetID="2" presetClass="entr" presetSubtype="8"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Effect transition="in" filter="fade">
                                      <p:cBhvr>
                                        <p:cTn id="28" dur="500"/>
                                        <p:tgtEl>
                                          <p:spTgt spid="11"/>
                                        </p:tgtEl>
                                      </p:cBhvr>
                                    </p:animEffect>
                                  </p:childTnLst>
                                </p:cTn>
                              </p:par>
                            </p:childTnLst>
                          </p:cTn>
                        </p:par>
                        <p:par>
                          <p:cTn id="29" fill="hold">
                            <p:stCondLst>
                              <p:cond delay="260"/>
                            </p:stCondLst>
                            <p:childTnLst>
                              <p:par>
                                <p:cTn id="30" presetID="2" presetClass="entr" presetSubtype="8"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0-#ppt_w/2"/>
                                          </p:val>
                                        </p:tav>
                                        <p:tav tm="100000">
                                          <p:val>
                                            <p:strVal val="#ppt_x"/>
                                          </p:val>
                                        </p:tav>
                                      </p:tavLst>
                                    </p:anim>
                                    <p:animEffect transition="in" filter="fade">
                                      <p:cBhvr>
                                        <p:cTn id="33" dur="500"/>
                                        <p:tgtEl>
                                          <p:spTgt spid="12"/>
                                        </p:tgtEl>
                                      </p:cBhvr>
                                    </p:animEffect>
                                  </p:childTnLst>
                                </p:cTn>
                              </p:par>
                            </p:childTnLst>
                          </p:cTn>
                        </p:par>
                        <p:par>
                          <p:cTn id="34" fill="hold">
                            <p:stCondLst>
                              <p:cond delay="440"/>
                            </p:stCondLst>
                            <p:childTnLst>
                              <p:par>
                                <p:cTn id="35" presetID="2" presetClass="entr" presetSubtype="8"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Effect transition="in" filter="fade">
                                      <p:cBhvr>
                                        <p:cTn id="38" dur="500"/>
                                        <p:tgtEl>
                                          <p:spTgt spid="13"/>
                                        </p:tgtEl>
                                      </p:cBhvr>
                                    </p:animEffect>
                                  </p:childTnLst>
                                </p:cTn>
                              </p:par>
                            </p:childTnLst>
                          </p:cTn>
                        </p:par>
                        <p:par>
                          <p:cTn id="39" fill="hold">
                            <p:stCondLst>
                              <p:cond delay="440"/>
                            </p:stCondLst>
                            <p:childTnLst>
                              <p:par>
                                <p:cTn id="40" presetID="2" presetClass="entr" presetSubtype="8"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0-#ppt_w/2"/>
                                          </p:val>
                                        </p:tav>
                                        <p:tav tm="100000">
                                          <p:val>
                                            <p:strVal val="#ppt_x"/>
                                          </p:val>
                                        </p:tav>
                                      </p:tavLst>
                                    </p:anim>
                                    <p:animEffect transition="in" filter="fade">
                                      <p:cBhvr>
                                        <p:cTn id="43" dur="500"/>
                                        <p:tgtEl>
                                          <p:spTgt spid="14"/>
                                        </p:tgtEl>
                                      </p:cBhvr>
                                    </p:animEffect>
                                  </p:childTnLst>
                                </p:cTn>
                              </p:par>
                            </p:childTnLst>
                          </p:cTn>
                        </p:par>
                        <p:par>
                          <p:cTn id="44" fill="hold">
                            <p:stCondLst>
                              <p:cond delay="620"/>
                            </p:stCondLst>
                            <p:childTnLst>
                              <p:par>
                                <p:cTn id="45" presetID="2" presetClass="entr" presetSubtype="8"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Effect transition="in" filter="fade">
                                      <p:cBhvr>
                                        <p:cTn id="48" dur="500"/>
                                        <p:tgtEl>
                                          <p:spTgt spid="15"/>
                                        </p:tgtEl>
                                      </p:cBhvr>
                                    </p:animEffect>
                                  </p:childTnLst>
                                </p:cTn>
                              </p:par>
                            </p:childTnLst>
                          </p:cTn>
                        </p:par>
                        <p:par>
                          <p:cTn id="49" fill="hold">
                            <p:stCondLst>
                              <p:cond delay="620"/>
                            </p:stCondLst>
                            <p:childTnLst>
                              <p:par>
                                <p:cTn id="50" presetID="2" presetClass="entr" presetSubtype="8"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ppt_x</p:attrName>
                                        </p:attrNameLst>
                                      </p:cBhvr>
                                      <p:tavLst>
                                        <p:tav tm="0">
                                          <p:val>
                                            <p:strVal val="0-#ppt_w/2"/>
                                          </p:val>
                                        </p:tav>
                                        <p:tav tm="100000">
                                          <p:val>
                                            <p:strVal val="#ppt_x"/>
                                          </p:val>
                                        </p:tav>
                                      </p:tavLst>
                                    </p:anim>
                                    <p:animEffect transition="in" filter="fade">
                                      <p:cBhvr>
                                        <p:cTn id="53" dur="500"/>
                                        <p:tgtEl>
                                          <p:spTgt spid="16"/>
                                        </p:tgtEl>
                                      </p:cBhvr>
                                    </p:animEffect>
                                  </p:childTnLst>
                                </p:cTn>
                              </p:par>
                            </p:childTnLst>
                          </p:cTn>
                        </p:par>
                        <p:par>
                          <p:cTn id="54" fill="hold">
                            <p:stCondLst>
                              <p:cond delay="880"/>
                            </p:stCondLst>
                            <p:childTnLst>
                              <p:par>
                                <p:cTn id="55" presetID="2" presetClass="entr" presetSubtype="4"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ppt_y</p:attrName>
                                        </p:attrNameLst>
                                      </p:cBhvr>
                                      <p:tavLst>
                                        <p:tav tm="0">
                                          <p:val>
                                            <p:strVal val="1+#ppt_h/2"/>
                                          </p:val>
                                        </p:tav>
                                        <p:tav tm="100000">
                                          <p:val>
                                            <p:strVal val="#ppt_y"/>
                                          </p:val>
                                        </p:tav>
                                      </p:tavLst>
                                    </p:anim>
                                    <p:animEffect transition="in" filter="fade">
                                      <p:cBhvr>
                                        <p:cTn id="58" dur="500"/>
                                        <p:tgtEl>
                                          <p:spTgt spid="17"/>
                                        </p:tgtEl>
                                      </p:cBhvr>
                                    </p:animEffect>
                                  </p:childTnLst>
                                </p:cTn>
                              </p:par>
                            </p:childTnLst>
                          </p:cTn>
                        </p:par>
                        <p:par>
                          <p:cTn id="59" fill="hold">
                            <p:stCondLst>
                              <p:cond delay="880"/>
                            </p:stCondLst>
                            <p:childTnLst>
                              <p:par>
                                <p:cTn id="60" presetID="2" presetClass="entr" presetSubtype="4"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ppt_y</p:attrName>
                                        </p:attrNameLst>
                                      </p:cBhvr>
                                      <p:tavLst>
                                        <p:tav tm="0">
                                          <p:val>
                                            <p:strVal val="1+#ppt_h/2"/>
                                          </p:val>
                                        </p:tav>
                                        <p:tav tm="100000">
                                          <p:val>
                                            <p:strVal val="#ppt_y"/>
                                          </p:val>
                                        </p:tav>
                                      </p:tavLst>
                                    </p:anim>
                                    <p:animEffect transition="in" filter="fade">
                                      <p:cBhvr>
                                        <p:cTn id="63" dur="500"/>
                                        <p:tgtEl>
                                          <p:spTgt spid="18"/>
                                        </p:tgtEl>
                                      </p:cBhvr>
                                    </p:animEffect>
                                  </p:childTnLst>
                                </p:cTn>
                              </p:par>
                            </p:childTnLst>
                          </p:cTn>
                        </p:par>
                        <p:par>
                          <p:cTn id="64" fill="hold">
                            <p:stCondLst>
                              <p:cond delay="1250"/>
                            </p:stCondLst>
                            <p:childTnLst>
                              <p:par>
                                <p:cTn id="65" presetID="2" presetClass="entr" presetSubtype="4"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ppt_y</p:attrName>
                                        </p:attrNameLst>
                                      </p:cBhvr>
                                      <p:tavLst>
                                        <p:tav tm="0">
                                          <p:val>
                                            <p:strVal val="1+#ppt_h/2"/>
                                          </p:val>
                                        </p:tav>
                                        <p:tav tm="100000">
                                          <p:val>
                                            <p:strVal val="#ppt_y"/>
                                          </p:val>
                                        </p:tav>
                                      </p:tavLst>
                                    </p:anim>
                                    <p:animEffect transition="in" filter="fade">
                                      <p:cBhvr>
                                        <p:cTn id="68" dur="500"/>
                                        <p:tgtEl>
                                          <p:spTgt spid="19"/>
                                        </p:tgtEl>
                                      </p:cBhvr>
                                    </p:animEffect>
                                  </p:childTnLst>
                                </p:cTn>
                              </p:par>
                            </p:childTnLst>
                          </p:cTn>
                        </p:par>
                        <p:par>
                          <p:cTn id="69" fill="hold">
                            <p:stCondLst>
                              <p:cond delay="1250"/>
                            </p:stCondLst>
                            <p:childTnLst>
                              <p:par>
                                <p:cTn id="70" presetID="2" presetClass="entr" presetSubtype="4" fill="hold"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ppt_y</p:attrName>
                                        </p:attrNameLst>
                                      </p:cBhvr>
                                      <p:tavLst>
                                        <p:tav tm="0">
                                          <p:val>
                                            <p:strVal val="1+#ppt_h/2"/>
                                          </p:val>
                                        </p:tav>
                                        <p:tav tm="100000">
                                          <p:val>
                                            <p:strVal val="#ppt_y"/>
                                          </p:val>
                                        </p:tav>
                                      </p:tavLst>
                                    </p:anim>
                                    <p:animEffect transition="in" filter="fade">
                                      <p:cBhvr>
                                        <p:cTn id="73" dur="500"/>
                                        <p:tgtEl>
                                          <p:spTgt spid="20"/>
                                        </p:tgtEl>
                                      </p:cBhvr>
                                    </p:animEffect>
                                  </p:childTnLst>
                                </p:cTn>
                              </p:par>
                            </p:childTnLst>
                          </p:cTn>
                        </p:par>
                        <p:par>
                          <p:cTn id="74" fill="hold">
                            <p:stCondLst>
                              <p:cond delay="1250"/>
                            </p:stCondLst>
                            <p:childTnLst>
                              <p:par>
                                <p:cTn id="75" presetID="2" presetClass="entr" presetSubtype="4" fill="hold"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ppt_y</p:attrName>
                                        </p:attrNameLst>
                                      </p:cBhvr>
                                      <p:tavLst>
                                        <p:tav tm="0">
                                          <p:val>
                                            <p:strVal val="1+#ppt_h/2"/>
                                          </p:val>
                                        </p:tav>
                                        <p:tav tm="100000">
                                          <p:val>
                                            <p:strVal val="#ppt_y"/>
                                          </p:val>
                                        </p:tav>
                                      </p:tavLst>
                                    </p:anim>
                                    <p:animEffect transition="in" filter="fade">
                                      <p:cBhvr>
                                        <p:cTn id="78" dur="500"/>
                                        <p:tgtEl>
                                          <p:spTgt spid="22"/>
                                        </p:tgtEl>
                                      </p:cBhvr>
                                    </p:animEffect>
                                  </p:childTnLst>
                                </p:cTn>
                              </p:par>
                            </p:childTnLst>
                          </p:cTn>
                        </p:par>
                        <p:par>
                          <p:cTn id="79" fill="hold">
                            <p:stCondLst>
                              <p:cond delay="1250"/>
                            </p:stCondLst>
                            <p:childTnLst>
                              <p:par>
                                <p:cTn id="80" presetID="2" presetClass="entr" presetSubtype="4" fill="hold" nodeType="with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ppt_y</p:attrName>
                                        </p:attrNameLst>
                                      </p:cBhvr>
                                      <p:tavLst>
                                        <p:tav tm="0">
                                          <p:val>
                                            <p:strVal val="1+#ppt_h/2"/>
                                          </p:val>
                                        </p:tav>
                                        <p:tav tm="100000">
                                          <p:val>
                                            <p:strVal val="#ppt_y"/>
                                          </p:val>
                                        </p:tav>
                                      </p:tavLst>
                                    </p:anim>
                                    <p:animEffect transition="in" filter="fade">
                                      <p:cBhvr>
                                        <p:cTn id="83" dur="500"/>
                                        <p:tgtEl>
                                          <p:spTgt spid="23"/>
                                        </p:tgtEl>
                                      </p:cBhvr>
                                    </p:animEffect>
                                  </p:childTnLst>
                                </p:cTn>
                              </p:par>
                            </p:childTnLst>
                          </p:cTn>
                        </p:par>
                        <p:par>
                          <p:cTn id="84" fill="hold">
                            <p:stCondLst>
                              <p:cond delay="1510"/>
                            </p:stCondLst>
                            <p:childTnLst>
                              <p:par>
                                <p:cTn id="85" presetID="2" presetClass="entr" presetSubtype="8"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0-#ppt_w/2"/>
                                          </p:val>
                                        </p:tav>
                                        <p:tav tm="100000">
                                          <p:val>
                                            <p:strVal val="#ppt_x"/>
                                          </p:val>
                                        </p:tav>
                                      </p:tavLst>
                                    </p:anim>
                                    <p:animEffect transition="in" filter="fade">
                                      <p:cBhvr>
                                        <p:cTn id="88" dur="500"/>
                                        <p:tgtEl>
                                          <p:spTgt spid="24"/>
                                        </p:tgtEl>
                                      </p:cBhvr>
                                    </p:animEffect>
                                  </p:childTnLst>
                                </p:cTn>
                              </p:par>
                            </p:childTnLst>
                          </p:cTn>
                        </p:par>
                        <p:par>
                          <p:cTn id="89" fill="hold">
                            <p:stCondLst>
                              <p:cond delay="1510"/>
                            </p:stCondLst>
                            <p:childTnLst>
                              <p:par>
                                <p:cTn id="90" presetID="2" presetClass="entr" presetSubtype="8" fill="hold" nodeType="withEffect">
                                  <p:stCondLst>
                                    <p:cond delay="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0-#ppt_w/2"/>
                                          </p:val>
                                        </p:tav>
                                        <p:tav tm="100000">
                                          <p:val>
                                            <p:strVal val="#ppt_x"/>
                                          </p:val>
                                        </p:tav>
                                      </p:tavLst>
                                    </p:anim>
                                    <p:animEffect transition="in" filter="fade">
                                      <p:cBhvr>
                                        <p:cTn id="93" dur="500"/>
                                        <p:tgtEl>
                                          <p:spTgt spid="25"/>
                                        </p:tgtEl>
                                      </p:cBhvr>
                                    </p:animEffect>
                                  </p:childTnLst>
                                </p:cTn>
                              </p:par>
                            </p:childTnLst>
                          </p:cTn>
                        </p:par>
                        <p:par>
                          <p:cTn id="94" fill="hold">
                            <p:stCondLst>
                              <p:cond delay="1690"/>
                            </p:stCondLst>
                            <p:childTnLst>
                              <p:par>
                                <p:cTn id="95" presetID="2" presetClass="entr" presetSubtype="8" fill="hold" nodeType="with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0-#ppt_w/2"/>
                                          </p:val>
                                        </p:tav>
                                        <p:tav tm="100000">
                                          <p:val>
                                            <p:strVal val="#ppt_x"/>
                                          </p:val>
                                        </p:tav>
                                      </p:tavLst>
                                    </p:anim>
                                    <p:animEffect transition="in" filter="fade">
                                      <p:cBhvr>
                                        <p:cTn id="98" dur="500"/>
                                        <p:tgtEl>
                                          <p:spTgt spid="26"/>
                                        </p:tgtEl>
                                      </p:cBhvr>
                                    </p:animEffect>
                                  </p:childTnLst>
                                </p:cTn>
                              </p:par>
                            </p:childTnLst>
                          </p:cTn>
                        </p:par>
                        <p:par>
                          <p:cTn id="99" fill="hold">
                            <p:stCondLst>
                              <p:cond delay="1690"/>
                            </p:stCondLst>
                            <p:childTnLst>
                              <p:par>
                                <p:cTn id="100" presetID="2" presetClass="entr" presetSubtype="8" fill="hold" nodeType="withEffect">
                                  <p:stCondLst>
                                    <p:cond delay="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0-#ppt_w/2"/>
                                          </p:val>
                                        </p:tav>
                                        <p:tav tm="100000">
                                          <p:val>
                                            <p:strVal val="#ppt_x"/>
                                          </p:val>
                                        </p:tav>
                                      </p:tavLst>
                                    </p:anim>
                                    <p:animEffect transition="in" filter="fade">
                                      <p:cBhvr>
                                        <p:cTn id="103" dur="500"/>
                                        <p:tgtEl>
                                          <p:spTgt spid="27"/>
                                        </p:tgtEl>
                                      </p:cBhvr>
                                    </p:animEffect>
                                  </p:childTnLst>
                                </p:cTn>
                              </p:par>
                            </p:childTnLst>
                          </p:cTn>
                        </p:par>
                        <p:par>
                          <p:cTn id="104" fill="hold">
                            <p:stCondLst>
                              <p:cond delay="1870"/>
                            </p:stCondLst>
                            <p:childTnLst>
                              <p:par>
                                <p:cTn id="105" presetID="2" presetClass="entr" presetSubtype="8" fill="hold" nodeType="with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0-#ppt_w/2"/>
                                          </p:val>
                                        </p:tav>
                                        <p:tav tm="100000">
                                          <p:val>
                                            <p:strVal val="#ppt_x"/>
                                          </p:val>
                                        </p:tav>
                                      </p:tavLst>
                                    </p:anim>
                                    <p:animEffect transition="in" filter="fade">
                                      <p:cBhvr>
                                        <p:cTn id="108" dur="500"/>
                                        <p:tgtEl>
                                          <p:spTgt spid="28"/>
                                        </p:tgtEl>
                                      </p:cBhvr>
                                    </p:animEffect>
                                  </p:childTnLst>
                                </p:cTn>
                              </p:par>
                            </p:childTnLst>
                          </p:cTn>
                        </p:par>
                        <p:par>
                          <p:cTn id="109" fill="hold">
                            <p:stCondLst>
                              <p:cond delay="1870"/>
                            </p:stCondLst>
                            <p:childTnLst>
                              <p:par>
                                <p:cTn id="110" presetID="2" presetClass="entr" presetSubtype="8" fill="hold" nodeType="withEffect">
                                  <p:stCondLst>
                                    <p:cond delay="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0-#ppt_w/2"/>
                                          </p:val>
                                        </p:tav>
                                        <p:tav tm="100000">
                                          <p:val>
                                            <p:strVal val="#ppt_x"/>
                                          </p:val>
                                        </p:tav>
                                      </p:tavLst>
                                    </p:anim>
                                    <p:animEffect transition="in" filter="fade">
                                      <p:cBhvr>
                                        <p:cTn id="113" dur="500"/>
                                        <p:tgtEl>
                                          <p:spTgt spid="29"/>
                                        </p:tgtEl>
                                      </p:cBhvr>
                                    </p:animEffect>
                                  </p:childTnLst>
                                </p:cTn>
                              </p:par>
                            </p:childTnLst>
                          </p:cTn>
                        </p:par>
                        <p:par>
                          <p:cTn id="114" fill="hold">
                            <p:stCondLst>
                              <p:cond delay="2130"/>
                            </p:stCondLst>
                            <p:childTnLst>
                              <p:par>
                                <p:cTn id="115" presetID="2" presetClass="entr" presetSubtype="4" fill="hold" nodeType="with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ppt_y</p:attrName>
                                        </p:attrNameLst>
                                      </p:cBhvr>
                                      <p:tavLst>
                                        <p:tav tm="0">
                                          <p:val>
                                            <p:strVal val="1+#ppt_h/2"/>
                                          </p:val>
                                        </p:tav>
                                        <p:tav tm="100000">
                                          <p:val>
                                            <p:strVal val="#ppt_y"/>
                                          </p:val>
                                        </p:tav>
                                      </p:tavLst>
                                    </p:anim>
                                    <p:animEffect transition="in" filter="fade">
                                      <p:cBhvr>
                                        <p:cTn id="118" dur="500"/>
                                        <p:tgtEl>
                                          <p:spTgt spid="30"/>
                                        </p:tgtEl>
                                      </p:cBhvr>
                                    </p:animEffect>
                                  </p:childTnLst>
                                </p:cTn>
                              </p:par>
                            </p:childTnLst>
                          </p:cTn>
                        </p:par>
                        <p:par>
                          <p:cTn id="119" fill="hold">
                            <p:stCondLst>
                              <p:cond delay="2130"/>
                            </p:stCondLst>
                            <p:childTnLst>
                              <p:par>
                                <p:cTn id="120" presetID="2" presetClass="entr" presetSubtype="4" fill="hold" nodeType="withEffect">
                                  <p:stCondLst>
                                    <p:cond delay="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ppt_y</p:attrName>
                                        </p:attrNameLst>
                                      </p:cBhvr>
                                      <p:tavLst>
                                        <p:tav tm="0">
                                          <p:val>
                                            <p:strVal val="1+#ppt_h/2"/>
                                          </p:val>
                                        </p:tav>
                                        <p:tav tm="100000">
                                          <p:val>
                                            <p:strVal val="#ppt_y"/>
                                          </p:val>
                                        </p:tav>
                                      </p:tavLst>
                                    </p:anim>
                                    <p:animEffect transition="in" filter="fade">
                                      <p:cBhvr>
                                        <p:cTn id="123" dur="500"/>
                                        <p:tgtEl>
                                          <p:spTgt spid="31"/>
                                        </p:tgtEl>
                                      </p:cBhvr>
                                    </p:animEffect>
                                  </p:childTnLst>
                                </p:cTn>
                              </p:par>
                            </p:childTnLst>
                          </p:cTn>
                        </p:par>
                        <p:par>
                          <p:cTn id="124" fill="hold">
                            <p:stCondLst>
                              <p:cond delay="2500"/>
                            </p:stCondLst>
                            <p:childTnLst>
                              <p:par>
                                <p:cTn id="125" presetID="2" presetClass="entr" presetSubtype="4" fill="hold" nodeType="withEffect">
                                  <p:stCondLst>
                                    <p:cond delay="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ppt_y</p:attrName>
                                        </p:attrNameLst>
                                      </p:cBhvr>
                                      <p:tavLst>
                                        <p:tav tm="0">
                                          <p:val>
                                            <p:strVal val="1+#ppt_h/2"/>
                                          </p:val>
                                        </p:tav>
                                        <p:tav tm="100000">
                                          <p:val>
                                            <p:strVal val="#ppt_y"/>
                                          </p:val>
                                        </p:tav>
                                      </p:tavLst>
                                    </p:anim>
                                    <p:animEffect transition="in" filter="fade">
                                      <p:cBhvr>
                                        <p:cTn id="128" dur="500"/>
                                        <p:tgtEl>
                                          <p:spTgt spid="32"/>
                                        </p:tgtEl>
                                      </p:cBhvr>
                                    </p:animEffect>
                                  </p:childTnLst>
                                </p:cTn>
                              </p:par>
                            </p:childTnLst>
                          </p:cTn>
                        </p:par>
                        <p:par>
                          <p:cTn id="129" fill="hold">
                            <p:stCondLst>
                              <p:cond delay="2500"/>
                            </p:stCondLst>
                            <p:childTnLst>
                              <p:par>
                                <p:cTn id="130" presetID="2" presetClass="entr" presetSubtype="4" fill="hold" nodeType="with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ppt_y</p:attrName>
                                        </p:attrNameLst>
                                      </p:cBhvr>
                                      <p:tavLst>
                                        <p:tav tm="0">
                                          <p:val>
                                            <p:strVal val="1+#ppt_h/2"/>
                                          </p:val>
                                        </p:tav>
                                        <p:tav tm="100000">
                                          <p:val>
                                            <p:strVal val="#ppt_y"/>
                                          </p:val>
                                        </p:tav>
                                      </p:tavLst>
                                    </p:anim>
                                    <p:animEffect transition="in" filter="fade">
                                      <p:cBhvr>
                                        <p:cTn id="133" dur="500"/>
                                        <p:tgtEl>
                                          <p:spTgt spid="33"/>
                                        </p:tgtEl>
                                      </p:cBhvr>
                                    </p:animEffect>
                                  </p:childTnLst>
                                </p:cTn>
                              </p:par>
                            </p:childTnLst>
                          </p:cTn>
                        </p:par>
                        <p:par>
                          <p:cTn id="134" fill="hold">
                            <p:stCondLst>
                              <p:cond delay="2500"/>
                            </p:stCondLst>
                            <p:childTnLst>
                              <p:par>
                                <p:cTn id="135" presetID="2" presetClass="entr" presetSubtype="4" fill="hold" nodeType="with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ppt_y</p:attrName>
                                        </p:attrNameLst>
                                      </p:cBhvr>
                                      <p:tavLst>
                                        <p:tav tm="0">
                                          <p:val>
                                            <p:strVal val="1+#ppt_h/2"/>
                                          </p:val>
                                        </p:tav>
                                        <p:tav tm="100000">
                                          <p:val>
                                            <p:strVal val="#ppt_y"/>
                                          </p:val>
                                        </p:tav>
                                      </p:tavLst>
                                    </p:anim>
                                    <p:animEffect transition="in" filter="fade">
                                      <p:cBhvr>
                                        <p:cTn id="138" dur="500"/>
                                        <p:tgtEl>
                                          <p:spTgt spid="35"/>
                                        </p:tgtEl>
                                      </p:cBhvr>
                                    </p:animEffect>
                                  </p:childTnLst>
                                </p:cTn>
                              </p:par>
                            </p:childTnLst>
                          </p:cTn>
                        </p:par>
                        <p:par>
                          <p:cTn id="139" fill="hold">
                            <p:stCondLst>
                              <p:cond delay="2500"/>
                            </p:stCondLst>
                            <p:childTnLst>
                              <p:par>
                                <p:cTn id="140" presetID="2" presetClass="entr" presetSubtype="4" fill="hold" nodeType="withEffect">
                                  <p:stCondLst>
                                    <p:cond delay="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ppt_y</p:attrName>
                                        </p:attrNameLst>
                                      </p:cBhvr>
                                      <p:tavLst>
                                        <p:tav tm="0">
                                          <p:val>
                                            <p:strVal val="1+#ppt_h/2"/>
                                          </p:val>
                                        </p:tav>
                                        <p:tav tm="100000">
                                          <p:val>
                                            <p:strVal val="#ppt_y"/>
                                          </p:val>
                                        </p:tav>
                                      </p:tavLst>
                                    </p:anim>
                                    <p:animEffect transition="in" filter="fade">
                                      <p:cBhvr>
                                        <p:cTn id="143" dur="500"/>
                                        <p:tgtEl>
                                          <p:spTgt spid="36"/>
                                        </p:tgtEl>
                                      </p:cBhvr>
                                    </p:animEffect>
                                  </p:childTnLst>
                                </p:cTn>
                              </p:par>
                            </p:childTnLst>
                          </p:cTn>
                        </p:par>
                        <p:par>
                          <p:cTn id="144" fill="hold">
                            <p:stCondLst>
                              <p:cond delay="2760"/>
                            </p:stCondLst>
                            <p:childTnLst>
                              <p:par>
                                <p:cTn id="145" presetID="2" presetClass="entr" presetSubtype="8"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0-#ppt_w/2"/>
                                          </p:val>
                                        </p:tav>
                                        <p:tav tm="100000">
                                          <p:val>
                                            <p:strVal val="#ppt_x"/>
                                          </p:val>
                                        </p:tav>
                                      </p:tavLst>
                                    </p:anim>
                                    <p:animEffect transition="in" filter="fade">
                                      <p:cBhvr>
                                        <p:cTn id="148" dur="500"/>
                                        <p:tgtEl>
                                          <p:spTgt spid="37"/>
                                        </p:tgtEl>
                                      </p:cBhvr>
                                    </p:animEffect>
                                  </p:childTnLst>
                                </p:cTn>
                              </p:par>
                            </p:childTnLst>
                          </p:cTn>
                        </p:par>
                        <p:par>
                          <p:cTn id="149" fill="hold">
                            <p:stCondLst>
                              <p:cond delay="2760"/>
                            </p:stCondLst>
                            <p:childTnLst>
                              <p:par>
                                <p:cTn id="150" presetID="2" presetClass="entr" presetSubtype="8" fill="hold" nodeType="withEffect">
                                  <p:stCondLst>
                                    <p:cond delay="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0-#ppt_w/2"/>
                                          </p:val>
                                        </p:tav>
                                        <p:tav tm="100000">
                                          <p:val>
                                            <p:strVal val="#ppt_x"/>
                                          </p:val>
                                        </p:tav>
                                      </p:tavLst>
                                    </p:anim>
                                    <p:animEffect transition="in" filter="fade">
                                      <p:cBhvr>
                                        <p:cTn id="153" dur="500"/>
                                        <p:tgtEl>
                                          <p:spTgt spid="38"/>
                                        </p:tgtEl>
                                      </p:cBhvr>
                                    </p:animEffect>
                                  </p:childTnLst>
                                </p:cTn>
                              </p:par>
                            </p:childTnLst>
                          </p:cTn>
                        </p:par>
                        <p:par>
                          <p:cTn id="154" fill="hold">
                            <p:stCondLst>
                              <p:cond delay="2940"/>
                            </p:stCondLst>
                            <p:childTnLst>
                              <p:par>
                                <p:cTn id="155" presetID="2" presetClass="entr" presetSubtype="8" fill="hold" nodeType="with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0-#ppt_w/2"/>
                                          </p:val>
                                        </p:tav>
                                        <p:tav tm="100000">
                                          <p:val>
                                            <p:strVal val="#ppt_x"/>
                                          </p:val>
                                        </p:tav>
                                      </p:tavLst>
                                    </p:anim>
                                    <p:animEffect transition="in" filter="fade">
                                      <p:cBhvr>
                                        <p:cTn id="158" dur="500"/>
                                        <p:tgtEl>
                                          <p:spTgt spid="39"/>
                                        </p:tgtEl>
                                      </p:cBhvr>
                                    </p:animEffect>
                                  </p:childTnLst>
                                </p:cTn>
                              </p:par>
                            </p:childTnLst>
                          </p:cTn>
                        </p:par>
                        <p:par>
                          <p:cTn id="159" fill="hold">
                            <p:stCondLst>
                              <p:cond delay="2940"/>
                            </p:stCondLst>
                            <p:childTnLst>
                              <p:par>
                                <p:cTn id="160" presetID="2" presetClass="entr" presetSubtype="8" fill="hold" nodeType="withEffect">
                                  <p:stCondLst>
                                    <p:cond delay="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0-#ppt_w/2"/>
                                          </p:val>
                                        </p:tav>
                                        <p:tav tm="100000">
                                          <p:val>
                                            <p:strVal val="#ppt_x"/>
                                          </p:val>
                                        </p:tav>
                                      </p:tavLst>
                                    </p:anim>
                                    <p:animEffect transition="in" filter="fade">
                                      <p:cBhvr>
                                        <p:cTn id="163" dur="500"/>
                                        <p:tgtEl>
                                          <p:spTgt spid="40"/>
                                        </p:tgtEl>
                                      </p:cBhvr>
                                    </p:animEffect>
                                  </p:childTnLst>
                                </p:cTn>
                              </p:par>
                            </p:childTnLst>
                          </p:cTn>
                        </p:par>
                        <p:par>
                          <p:cTn id="164" fill="hold">
                            <p:stCondLst>
                              <p:cond delay="3120"/>
                            </p:stCondLst>
                            <p:childTnLst>
                              <p:par>
                                <p:cTn id="165" presetID="2" presetClass="entr" presetSubtype="8" fill="hold" nodeType="withEffect">
                                  <p:stCondLst>
                                    <p:cond delay="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0-#ppt_w/2"/>
                                          </p:val>
                                        </p:tav>
                                        <p:tav tm="100000">
                                          <p:val>
                                            <p:strVal val="#ppt_x"/>
                                          </p:val>
                                        </p:tav>
                                      </p:tavLst>
                                    </p:anim>
                                    <p:animEffect transition="in" filter="fade">
                                      <p:cBhvr>
                                        <p:cTn id="168" dur="500"/>
                                        <p:tgtEl>
                                          <p:spTgt spid="41"/>
                                        </p:tgtEl>
                                      </p:cBhvr>
                                    </p:animEffect>
                                  </p:childTnLst>
                                </p:cTn>
                              </p:par>
                            </p:childTnLst>
                          </p:cTn>
                        </p:par>
                        <p:par>
                          <p:cTn id="169" fill="hold">
                            <p:stCondLst>
                              <p:cond delay="3120"/>
                            </p:stCondLst>
                            <p:childTnLst>
                              <p:par>
                                <p:cTn id="170" presetID="2" presetClass="entr" presetSubtype="8" fill="hold" nodeType="withEffect">
                                  <p:stCondLst>
                                    <p:cond delay="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0-#ppt_w/2"/>
                                          </p:val>
                                        </p:tav>
                                        <p:tav tm="100000">
                                          <p:val>
                                            <p:strVal val="#ppt_x"/>
                                          </p:val>
                                        </p:tav>
                                      </p:tavLst>
                                    </p:anim>
                                    <p:animEffect transition="in" filter="fade">
                                      <p:cBhvr>
                                        <p:cTn id="173" dur="500"/>
                                        <p:tgtEl>
                                          <p:spTgt spid="42"/>
                                        </p:tgtEl>
                                      </p:cBhvr>
                                    </p:animEffect>
                                  </p:childTnLst>
                                </p:cTn>
                              </p:par>
                            </p:childTnLst>
                          </p:cTn>
                        </p:par>
                        <p:par>
                          <p:cTn id="174" fill="hold">
                            <p:stCondLst>
                              <p:cond delay="3380"/>
                            </p:stCondLst>
                            <p:childTnLst>
                              <p:par>
                                <p:cTn id="175" presetID="2" presetClass="entr" presetSubtype="4" fill="hold" nodeType="withEffect">
                                  <p:stCondLst>
                                    <p:cond delay="0"/>
                                  </p:stCondLst>
                                  <p:childTnLst>
                                    <p:set>
                                      <p:cBhvr>
                                        <p:cTn id="176" dur="1" fill="hold">
                                          <p:stCondLst>
                                            <p:cond delay="0"/>
                                          </p:stCondLst>
                                        </p:cTn>
                                        <p:tgtEl>
                                          <p:spTgt spid="43"/>
                                        </p:tgtEl>
                                        <p:attrNameLst>
                                          <p:attrName>style.visibility</p:attrName>
                                        </p:attrNameLst>
                                      </p:cBhvr>
                                      <p:to>
                                        <p:strVal val="visible"/>
                                      </p:to>
                                    </p:set>
                                    <p:anim calcmode="lin" valueType="num">
                                      <p:cBhvr additive="base">
                                        <p:cTn id="177" dur="500" fill="hold"/>
                                        <p:tgtEl>
                                          <p:spTgt spid="43"/>
                                        </p:tgtEl>
                                        <p:attrNameLst>
                                          <p:attrName>ppt_y</p:attrName>
                                        </p:attrNameLst>
                                      </p:cBhvr>
                                      <p:tavLst>
                                        <p:tav tm="0">
                                          <p:val>
                                            <p:strVal val="1+#ppt_h/2"/>
                                          </p:val>
                                        </p:tav>
                                        <p:tav tm="100000">
                                          <p:val>
                                            <p:strVal val="#ppt_y"/>
                                          </p:val>
                                        </p:tav>
                                      </p:tavLst>
                                    </p:anim>
                                    <p:animEffect transition="in" filter="fade">
                                      <p:cBhvr>
                                        <p:cTn id="178" dur="500"/>
                                        <p:tgtEl>
                                          <p:spTgt spid="43"/>
                                        </p:tgtEl>
                                      </p:cBhvr>
                                    </p:animEffect>
                                  </p:childTnLst>
                                </p:cTn>
                              </p:par>
                            </p:childTnLst>
                          </p:cTn>
                        </p:par>
                        <p:par>
                          <p:cTn id="179" fill="hold">
                            <p:stCondLst>
                              <p:cond delay="3380"/>
                            </p:stCondLst>
                            <p:childTnLst>
                              <p:par>
                                <p:cTn id="180" presetID="2" presetClass="entr" presetSubtype="4" fill="hold" nodeType="withEffect">
                                  <p:stCondLst>
                                    <p:cond delay="0"/>
                                  </p:stCondLst>
                                  <p:childTnLst>
                                    <p:set>
                                      <p:cBhvr>
                                        <p:cTn id="181" dur="1" fill="hold">
                                          <p:stCondLst>
                                            <p:cond delay="0"/>
                                          </p:stCondLst>
                                        </p:cTn>
                                        <p:tgtEl>
                                          <p:spTgt spid="44"/>
                                        </p:tgtEl>
                                        <p:attrNameLst>
                                          <p:attrName>style.visibility</p:attrName>
                                        </p:attrNameLst>
                                      </p:cBhvr>
                                      <p:to>
                                        <p:strVal val="visible"/>
                                      </p:to>
                                    </p:set>
                                    <p:anim calcmode="lin" valueType="num">
                                      <p:cBhvr additive="base">
                                        <p:cTn id="182" dur="500" fill="hold"/>
                                        <p:tgtEl>
                                          <p:spTgt spid="44"/>
                                        </p:tgtEl>
                                        <p:attrNameLst>
                                          <p:attrName>ppt_y</p:attrName>
                                        </p:attrNameLst>
                                      </p:cBhvr>
                                      <p:tavLst>
                                        <p:tav tm="0">
                                          <p:val>
                                            <p:strVal val="1+#ppt_h/2"/>
                                          </p:val>
                                        </p:tav>
                                        <p:tav tm="100000">
                                          <p:val>
                                            <p:strVal val="#ppt_y"/>
                                          </p:val>
                                        </p:tav>
                                      </p:tavLst>
                                    </p:anim>
                                    <p:animEffect transition="in" filter="fade">
                                      <p:cBhvr>
                                        <p:cTn id="183" dur="500"/>
                                        <p:tgtEl>
                                          <p:spTgt spid="44"/>
                                        </p:tgtEl>
                                      </p:cBhvr>
                                    </p:animEffect>
                                  </p:childTnLst>
                                </p:cTn>
                              </p:par>
                            </p:childTnLst>
                          </p:cTn>
                        </p:par>
                        <p:par>
                          <p:cTn id="184" fill="hold">
                            <p:stCondLst>
                              <p:cond delay="3750"/>
                            </p:stCondLst>
                            <p:childTnLst>
                              <p:par>
                                <p:cTn id="185" presetID="2" presetClass="entr" presetSubtype="4" fill="hold" nodeType="withEffect">
                                  <p:stCondLst>
                                    <p:cond delay="0"/>
                                  </p:stCondLst>
                                  <p:childTnLst>
                                    <p:set>
                                      <p:cBhvr>
                                        <p:cTn id="186" dur="1" fill="hold">
                                          <p:stCondLst>
                                            <p:cond delay="0"/>
                                          </p:stCondLst>
                                        </p:cTn>
                                        <p:tgtEl>
                                          <p:spTgt spid="45"/>
                                        </p:tgtEl>
                                        <p:attrNameLst>
                                          <p:attrName>style.visibility</p:attrName>
                                        </p:attrNameLst>
                                      </p:cBhvr>
                                      <p:to>
                                        <p:strVal val="visible"/>
                                      </p:to>
                                    </p:set>
                                    <p:anim calcmode="lin" valueType="num">
                                      <p:cBhvr additive="base">
                                        <p:cTn id="187" dur="500" fill="hold"/>
                                        <p:tgtEl>
                                          <p:spTgt spid="45"/>
                                        </p:tgtEl>
                                        <p:attrNameLst>
                                          <p:attrName>ppt_y</p:attrName>
                                        </p:attrNameLst>
                                      </p:cBhvr>
                                      <p:tavLst>
                                        <p:tav tm="0">
                                          <p:val>
                                            <p:strVal val="1+#ppt_h/2"/>
                                          </p:val>
                                        </p:tav>
                                        <p:tav tm="100000">
                                          <p:val>
                                            <p:strVal val="#ppt_y"/>
                                          </p:val>
                                        </p:tav>
                                      </p:tavLst>
                                    </p:anim>
                                    <p:animEffect transition="in" filter="fade">
                                      <p:cBhvr>
                                        <p:cTn id="188" dur="500"/>
                                        <p:tgtEl>
                                          <p:spTgt spid="45"/>
                                        </p:tgtEl>
                                      </p:cBhvr>
                                    </p:animEffect>
                                  </p:childTnLst>
                                </p:cTn>
                              </p:par>
                            </p:childTnLst>
                          </p:cTn>
                        </p:par>
                        <p:par>
                          <p:cTn id="189" fill="hold">
                            <p:stCondLst>
                              <p:cond delay="3750"/>
                            </p:stCondLst>
                            <p:childTnLst>
                              <p:par>
                                <p:cTn id="190" presetID="2" presetClass="entr" presetSubtype="4" fill="hold" nodeType="withEffect">
                                  <p:stCondLst>
                                    <p:cond delay="0"/>
                                  </p:stCondLst>
                                  <p:childTnLst>
                                    <p:set>
                                      <p:cBhvr>
                                        <p:cTn id="191" dur="1" fill="hold">
                                          <p:stCondLst>
                                            <p:cond delay="0"/>
                                          </p:stCondLst>
                                        </p:cTn>
                                        <p:tgtEl>
                                          <p:spTgt spid="46"/>
                                        </p:tgtEl>
                                        <p:attrNameLst>
                                          <p:attrName>style.visibility</p:attrName>
                                        </p:attrNameLst>
                                      </p:cBhvr>
                                      <p:to>
                                        <p:strVal val="visible"/>
                                      </p:to>
                                    </p:set>
                                    <p:anim calcmode="lin" valueType="num">
                                      <p:cBhvr additive="base">
                                        <p:cTn id="192" dur="500" fill="hold"/>
                                        <p:tgtEl>
                                          <p:spTgt spid="46"/>
                                        </p:tgtEl>
                                        <p:attrNameLst>
                                          <p:attrName>ppt_y</p:attrName>
                                        </p:attrNameLst>
                                      </p:cBhvr>
                                      <p:tavLst>
                                        <p:tav tm="0">
                                          <p:val>
                                            <p:strVal val="1+#ppt_h/2"/>
                                          </p:val>
                                        </p:tav>
                                        <p:tav tm="100000">
                                          <p:val>
                                            <p:strVal val="#ppt_y"/>
                                          </p:val>
                                        </p:tav>
                                      </p:tavLst>
                                    </p:anim>
                                    <p:animEffect transition="in" filter="fade">
                                      <p:cBhvr>
                                        <p:cTn id="19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457200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06   —   DATA FOUNDATION</a:t>
            </a:r>
            <a:endParaRPr lang="en-US" sz="850" dirty="0"/>
          </a:p>
        </p:txBody>
      </p:sp>
      <p:sp>
        <p:nvSpPr>
          <p:cNvPr id="4" name="Text 1"/>
          <p:cNvSpPr/>
          <p:nvPr/>
        </p:nvSpPr>
        <p:spPr>
          <a:xfrm>
            <a:off x="640080" y="676656"/>
            <a:ext cx="768096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What the dataset </a:t>
            </a:r>
            <a:r>
              <a:rPr lang="en-US" sz="2600" b="1" dirty="0">
                <a:solidFill>
                  <a:srgbClr val="0B63CE"/>
                </a:solidFill>
                <a:latin typeface="Calibri" pitchFamily="34" charset="0"/>
                <a:ea typeface="Calibri" pitchFamily="34" charset="-122"/>
                <a:cs typeface="Calibri" pitchFamily="34" charset="-120"/>
              </a:rPr>
              <a:t>actually looks like</a:t>
            </a:r>
            <a:endParaRPr lang="en-US" sz="2600" dirty="0"/>
          </a:p>
        </p:txBody>
      </p:sp>
      <p:sp>
        <p:nvSpPr>
          <p:cNvPr id="5" name="Text 2"/>
          <p:cNvSpPr/>
          <p:nvPr/>
        </p:nvSpPr>
        <p:spPr>
          <a:xfrm>
            <a:off x="640080" y="1115568"/>
            <a:ext cx="7498080" cy="219456"/>
          </a:xfrm>
          <a:prstGeom prst="rect">
            <a:avLst/>
          </a:prstGeom>
          <a:noFill/>
          <a:ln/>
        </p:spPr>
        <p:txBody>
          <a:bodyPr wrap="square" lIns="0" tIns="0" rIns="0" bIns="0" rtlCol="0" anchor="ctr"/>
          <a:lstStyle/>
          <a:p>
            <a:pPr marL="0" indent="0">
              <a:buNone/>
            </a:pPr>
            <a:r>
              <a:rPr lang="en-US" sz="1050" i="1" dirty="0">
                <a:solidFill>
                  <a:srgbClr val="55697C"/>
                </a:solidFill>
                <a:latin typeface="Calibri" pitchFamily="34" charset="0"/>
                <a:ea typeface="Calibri" pitchFamily="34" charset="-122"/>
                <a:cs typeface="Calibri" pitchFamily="34" charset="-120"/>
              </a:rPr>
              <a:t>Four sources joined on one anonymous person — the genes are the clues, the medical record is the answer key.</a:t>
            </a:r>
            <a:endParaRPr lang="en-US" sz="1050" dirty="0"/>
          </a:p>
        </p:txBody>
      </p:sp>
      <p:sp>
        <p:nvSpPr>
          <p:cNvPr id="6" name="Shape 3"/>
          <p:cNvSpPr/>
          <p:nvPr/>
        </p:nvSpPr>
        <p:spPr>
          <a:xfrm>
            <a:off x="640080" y="1426464"/>
            <a:ext cx="1856232" cy="1024128"/>
          </a:xfrm>
          <a:prstGeom prst="roundRect">
            <a:avLst>
              <a:gd name="adj" fmla="val 6250"/>
            </a:avLst>
          </a:prstGeom>
          <a:solidFill>
            <a:srgbClr val="FFFFFF"/>
          </a:solidFill>
          <a:ln w="9525">
            <a:solidFill>
              <a:srgbClr val="E3E9EF"/>
            </a:solidFill>
            <a:prstDash val="solid"/>
          </a:ln>
        </p:spPr>
        <p:txBody>
          <a:bodyPr/>
          <a:lstStyle/>
          <a:p>
            <a:endParaRPr lang="en-US"/>
          </a:p>
        </p:txBody>
      </p:sp>
      <p:sp>
        <p:nvSpPr>
          <p:cNvPr id="7" name="Shape 4"/>
          <p:cNvSpPr/>
          <p:nvPr/>
        </p:nvSpPr>
        <p:spPr>
          <a:xfrm>
            <a:off x="777240" y="1536192"/>
            <a:ext cx="274320" cy="274320"/>
          </a:xfrm>
          <a:prstGeom prst="roundRect">
            <a:avLst>
              <a:gd name="adj" fmla="val 20000"/>
            </a:avLst>
          </a:prstGeom>
          <a:solidFill>
            <a:srgbClr val="E8F1FC"/>
          </a:solidFill>
          <a:ln w="9525">
            <a:solidFill>
              <a:srgbClr val="C9DFF6"/>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50392" y="1609344"/>
            <a:ext cx="137160" cy="137160"/>
          </a:xfrm>
          <a:prstGeom prst="rect">
            <a:avLst/>
          </a:prstGeom>
        </p:spPr>
      </p:pic>
      <p:sp>
        <p:nvSpPr>
          <p:cNvPr id="9" name="Text 5"/>
          <p:cNvSpPr/>
          <p:nvPr/>
        </p:nvSpPr>
        <p:spPr>
          <a:xfrm>
            <a:off x="1124712" y="1536192"/>
            <a:ext cx="1252728" cy="256032"/>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Genomic</a:t>
            </a:r>
            <a:endParaRPr lang="en-US" sz="1050" dirty="0"/>
          </a:p>
        </p:txBody>
      </p:sp>
      <p:sp>
        <p:nvSpPr>
          <p:cNvPr id="10" name="Text 6"/>
          <p:cNvSpPr/>
          <p:nvPr/>
        </p:nvSpPr>
        <p:spPr>
          <a:xfrm>
            <a:off x="777240" y="1847088"/>
            <a:ext cx="1581912" cy="347472"/>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DNA of 3M+ volunteers,</a:t>
            </a:r>
            <a:endParaRPr lang="en-US" sz="850" dirty="0"/>
          </a:p>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read letter by letter</a:t>
            </a:r>
            <a:endParaRPr lang="en-US" sz="850" dirty="0"/>
          </a:p>
        </p:txBody>
      </p:sp>
      <p:sp>
        <p:nvSpPr>
          <p:cNvPr id="11" name="Text 7"/>
          <p:cNvSpPr/>
          <p:nvPr/>
        </p:nvSpPr>
        <p:spPr>
          <a:xfrm>
            <a:off x="777240" y="2194560"/>
            <a:ext cx="1581912" cy="164592"/>
          </a:xfrm>
          <a:prstGeom prst="rect">
            <a:avLst/>
          </a:prstGeom>
          <a:noFill/>
          <a:ln/>
        </p:spPr>
        <p:txBody>
          <a:bodyPr wrap="square" lIns="0" tIns="0" rIns="0" bIns="0" rtlCol="0" anchor="ctr"/>
          <a:lstStyle/>
          <a:p>
            <a:pPr marL="0" indent="0">
              <a:buNone/>
            </a:pPr>
            <a:r>
              <a:rPr lang="en-US" sz="700" b="1" kern="0" spc="50" dirty="0">
                <a:solidFill>
                  <a:srgbClr val="8FA1B2"/>
                </a:solidFill>
                <a:latin typeface="Calibri" pitchFamily="34" charset="0"/>
                <a:ea typeface="Calibri" pitchFamily="34" charset="-122"/>
                <a:cs typeface="Calibri" pitchFamily="34" charset="-120"/>
              </a:rPr>
              <a:t>Structured  ·  Historical</a:t>
            </a:r>
            <a:endParaRPr lang="en-US" sz="700" dirty="0"/>
          </a:p>
        </p:txBody>
      </p:sp>
      <p:sp>
        <p:nvSpPr>
          <p:cNvPr id="12" name="Shape 8"/>
          <p:cNvSpPr/>
          <p:nvPr/>
        </p:nvSpPr>
        <p:spPr>
          <a:xfrm>
            <a:off x="2642616" y="1426464"/>
            <a:ext cx="1856232" cy="1024128"/>
          </a:xfrm>
          <a:prstGeom prst="roundRect">
            <a:avLst>
              <a:gd name="adj" fmla="val 6250"/>
            </a:avLst>
          </a:prstGeom>
          <a:solidFill>
            <a:srgbClr val="FFFFFF"/>
          </a:solidFill>
          <a:ln w="9525">
            <a:solidFill>
              <a:srgbClr val="E3E9EF"/>
            </a:solidFill>
            <a:prstDash val="solid"/>
          </a:ln>
        </p:spPr>
        <p:txBody>
          <a:bodyPr/>
          <a:lstStyle/>
          <a:p>
            <a:endParaRPr lang="en-US"/>
          </a:p>
        </p:txBody>
      </p:sp>
      <p:sp>
        <p:nvSpPr>
          <p:cNvPr id="13" name="Shape 9"/>
          <p:cNvSpPr/>
          <p:nvPr/>
        </p:nvSpPr>
        <p:spPr>
          <a:xfrm>
            <a:off x="2779776" y="1536192"/>
            <a:ext cx="274320" cy="274320"/>
          </a:xfrm>
          <a:prstGeom prst="roundRect">
            <a:avLst>
              <a:gd name="adj" fmla="val 20000"/>
            </a:avLst>
          </a:prstGeom>
          <a:solidFill>
            <a:srgbClr val="E0F4F2"/>
          </a:solidFill>
          <a:ln w="9525">
            <a:solidFill>
              <a:srgbClr val="A9E0D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2852928" y="1609344"/>
            <a:ext cx="137160" cy="137160"/>
          </a:xfrm>
          <a:prstGeom prst="rect">
            <a:avLst/>
          </a:prstGeom>
        </p:spPr>
      </p:pic>
      <p:sp>
        <p:nvSpPr>
          <p:cNvPr id="15" name="Text 10"/>
          <p:cNvSpPr/>
          <p:nvPr/>
        </p:nvSpPr>
        <p:spPr>
          <a:xfrm>
            <a:off x="3127248" y="1536192"/>
            <a:ext cx="1252728" cy="256032"/>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Clinical (EHR)</a:t>
            </a:r>
            <a:endParaRPr lang="en-US" sz="1050" dirty="0"/>
          </a:p>
        </p:txBody>
      </p:sp>
      <p:sp>
        <p:nvSpPr>
          <p:cNvPr id="16" name="Text 11"/>
          <p:cNvSpPr/>
          <p:nvPr/>
        </p:nvSpPr>
        <p:spPr>
          <a:xfrm>
            <a:off x="2779776" y="1847088"/>
            <a:ext cx="1581912" cy="347472"/>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Anonymous hospital records</a:t>
            </a:r>
            <a:endParaRPr lang="en-US" sz="850" dirty="0"/>
          </a:p>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from 150+ partners</a:t>
            </a:r>
            <a:endParaRPr lang="en-US" sz="850" dirty="0"/>
          </a:p>
        </p:txBody>
      </p:sp>
      <p:sp>
        <p:nvSpPr>
          <p:cNvPr id="17" name="Text 12"/>
          <p:cNvSpPr/>
          <p:nvPr/>
        </p:nvSpPr>
        <p:spPr>
          <a:xfrm>
            <a:off x="2779776" y="2194560"/>
            <a:ext cx="1581912" cy="164592"/>
          </a:xfrm>
          <a:prstGeom prst="rect">
            <a:avLst/>
          </a:prstGeom>
          <a:noFill/>
          <a:ln/>
        </p:spPr>
        <p:txBody>
          <a:bodyPr wrap="square" lIns="0" tIns="0" rIns="0" bIns="0" rtlCol="0" anchor="ctr"/>
          <a:lstStyle/>
          <a:p>
            <a:pPr marL="0" indent="0">
              <a:buNone/>
            </a:pPr>
            <a:r>
              <a:rPr lang="en-US" sz="700" b="1" kern="0" spc="50" dirty="0">
                <a:solidFill>
                  <a:srgbClr val="8FA1B2"/>
                </a:solidFill>
                <a:latin typeface="Calibri" pitchFamily="34" charset="0"/>
                <a:ea typeface="Calibri" pitchFamily="34" charset="-122"/>
                <a:cs typeface="Calibri" pitchFamily="34" charset="-120"/>
              </a:rPr>
              <a:t>Semi-structured  ·  Near real-time</a:t>
            </a:r>
            <a:endParaRPr lang="en-US" sz="700" dirty="0"/>
          </a:p>
        </p:txBody>
      </p:sp>
      <p:sp>
        <p:nvSpPr>
          <p:cNvPr id="18" name="Shape 13"/>
          <p:cNvSpPr/>
          <p:nvPr/>
        </p:nvSpPr>
        <p:spPr>
          <a:xfrm>
            <a:off x="4645152" y="1426464"/>
            <a:ext cx="1856232" cy="1024128"/>
          </a:xfrm>
          <a:prstGeom prst="roundRect">
            <a:avLst>
              <a:gd name="adj" fmla="val 6250"/>
            </a:avLst>
          </a:prstGeom>
          <a:solidFill>
            <a:srgbClr val="FFFFFF"/>
          </a:solidFill>
          <a:ln w="9525">
            <a:solidFill>
              <a:srgbClr val="E3E9EF"/>
            </a:solidFill>
            <a:prstDash val="solid"/>
          </a:ln>
        </p:spPr>
        <p:txBody>
          <a:bodyPr/>
          <a:lstStyle/>
          <a:p>
            <a:endParaRPr lang="en-US"/>
          </a:p>
        </p:txBody>
      </p:sp>
      <p:sp>
        <p:nvSpPr>
          <p:cNvPr id="19" name="Shape 14"/>
          <p:cNvSpPr/>
          <p:nvPr/>
        </p:nvSpPr>
        <p:spPr>
          <a:xfrm>
            <a:off x="4782312" y="1536192"/>
            <a:ext cx="274320" cy="274320"/>
          </a:xfrm>
          <a:prstGeom prst="roundRect">
            <a:avLst>
              <a:gd name="adj" fmla="val 20000"/>
            </a:avLst>
          </a:prstGeom>
          <a:solidFill>
            <a:srgbClr val="E8F1FC"/>
          </a:solidFill>
          <a:ln w="9525">
            <a:solidFill>
              <a:srgbClr val="C9DFF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4855464" y="1609344"/>
            <a:ext cx="137160" cy="137160"/>
          </a:xfrm>
          <a:prstGeom prst="rect">
            <a:avLst/>
          </a:prstGeom>
        </p:spPr>
      </p:pic>
      <p:sp>
        <p:nvSpPr>
          <p:cNvPr id="21" name="Text 15"/>
          <p:cNvSpPr/>
          <p:nvPr/>
        </p:nvSpPr>
        <p:spPr>
          <a:xfrm>
            <a:off x="5129784" y="1536192"/>
            <a:ext cx="1252728" cy="256032"/>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Lab &amp; trials</a:t>
            </a:r>
            <a:endParaRPr lang="en-US" sz="1050" dirty="0"/>
          </a:p>
        </p:txBody>
      </p:sp>
      <p:sp>
        <p:nvSpPr>
          <p:cNvPr id="22" name="Text 16"/>
          <p:cNvSpPr/>
          <p:nvPr/>
        </p:nvSpPr>
        <p:spPr>
          <a:xfrm>
            <a:off x="4782312" y="1847088"/>
            <a:ext cx="1581912" cy="347472"/>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Laboratory results and</a:t>
            </a:r>
            <a:endParaRPr lang="en-US" sz="850" dirty="0"/>
          </a:p>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past clinical trial outcomes</a:t>
            </a:r>
            <a:endParaRPr lang="en-US" sz="850" dirty="0"/>
          </a:p>
        </p:txBody>
      </p:sp>
      <p:sp>
        <p:nvSpPr>
          <p:cNvPr id="23" name="Text 17"/>
          <p:cNvSpPr/>
          <p:nvPr/>
        </p:nvSpPr>
        <p:spPr>
          <a:xfrm>
            <a:off x="4782312" y="2194560"/>
            <a:ext cx="1581912" cy="164592"/>
          </a:xfrm>
          <a:prstGeom prst="rect">
            <a:avLst/>
          </a:prstGeom>
          <a:noFill/>
          <a:ln/>
        </p:spPr>
        <p:txBody>
          <a:bodyPr wrap="square" lIns="0" tIns="0" rIns="0" bIns="0" rtlCol="0" anchor="ctr"/>
          <a:lstStyle/>
          <a:p>
            <a:pPr marL="0" indent="0">
              <a:buNone/>
            </a:pPr>
            <a:r>
              <a:rPr lang="en-US" sz="700" b="1" kern="0" spc="50" dirty="0">
                <a:solidFill>
                  <a:srgbClr val="8FA1B2"/>
                </a:solidFill>
                <a:latin typeface="Calibri" pitchFamily="34" charset="0"/>
                <a:ea typeface="Calibri" pitchFamily="34" charset="-122"/>
                <a:cs typeface="Calibri" pitchFamily="34" charset="-120"/>
              </a:rPr>
              <a:t>Structured  ·  Historical</a:t>
            </a:r>
            <a:endParaRPr lang="en-US" sz="700" dirty="0"/>
          </a:p>
        </p:txBody>
      </p:sp>
      <p:sp>
        <p:nvSpPr>
          <p:cNvPr id="24" name="Shape 18"/>
          <p:cNvSpPr/>
          <p:nvPr/>
        </p:nvSpPr>
        <p:spPr>
          <a:xfrm>
            <a:off x="6647688" y="1426464"/>
            <a:ext cx="1856232" cy="1024128"/>
          </a:xfrm>
          <a:prstGeom prst="roundRect">
            <a:avLst>
              <a:gd name="adj" fmla="val 6250"/>
            </a:avLst>
          </a:prstGeom>
          <a:solidFill>
            <a:srgbClr val="FFFFFF"/>
          </a:solidFill>
          <a:ln w="9525">
            <a:solidFill>
              <a:srgbClr val="E3E9EF"/>
            </a:solidFill>
            <a:prstDash val="solid"/>
          </a:ln>
        </p:spPr>
        <p:txBody>
          <a:bodyPr/>
          <a:lstStyle/>
          <a:p>
            <a:endParaRPr lang="en-US"/>
          </a:p>
        </p:txBody>
      </p:sp>
      <p:sp>
        <p:nvSpPr>
          <p:cNvPr id="25" name="Shape 19"/>
          <p:cNvSpPr/>
          <p:nvPr/>
        </p:nvSpPr>
        <p:spPr>
          <a:xfrm>
            <a:off x="6784848" y="1536192"/>
            <a:ext cx="274320" cy="274320"/>
          </a:xfrm>
          <a:prstGeom prst="roundRect">
            <a:avLst>
              <a:gd name="adj" fmla="val 20000"/>
            </a:avLst>
          </a:prstGeom>
          <a:solidFill>
            <a:srgbClr val="F5F7F9"/>
          </a:solidFill>
          <a:ln w="9525">
            <a:solidFill>
              <a:srgbClr val="E3E9EF"/>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6858000" y="1609344"/>
            <a:ext cx="137160" cy="137160"/>
          </a:xfrm>
          <a:prstGeom prst="rect">
            <a:avLst/>
          </a:prstGeom>
        </p:spPr>
      </p:pic>
      <p:sp>
        <p:nvSpPr>
          <p:cNvPr id="27" name="Text 20"/>
          <p:cNvSpPr/>
          <p:nvPr/>
        </p:nvSpPr>
        <p:spPr>
          <a:xfrm>
            <a:off x="7132320" y="1536192"/>
            <a:ext cx="1252728" cy="256032"/>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External</a:t>
            </a:r>
            <a:endParaRPr lang="en-US" sz="1050" dirty="0"/>
          </a:p>
        </p:txBody>
      </p:sp>
      <p:sp>
        <p:nvSpPr>
          <p:cNvPr id="28" name="Text 21"/>
          <p:cNvSpPr/>
          <p:nvPr/>
        </p:nvSpPr>
        <p:spPr>
          <a:xfrm>
            <a:off x="6784848" y="1847088"/>
            <a:ext cx="1581912" cy="347472"/>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UK Biobank, public gene</a:t>
            </a:r>
            <a:endParaRPr lang="en-US" sz="850" dirty="0"/>
          </a:p>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databases, research papers</a:t>
            </a:r>
            <a:endParaRPr lang="en-US" sz="850" dirty="0"/>
          </a:p>
        </p:txBody>
      </p:sp>
      <p:sp>
        <p:nvSpPr>
          <p:cNvPr id="29" name="Text 22"/>
          <p:cNvSpPr/>
          <p:nvPr/>
        </p:nvSpPr>
        <p:spPr>
          <a:xfrm>
            <a:off x="6784848" y="2194560"/>
            <a:ext cx="1581912" cy="164592"/>
          </a:xfrm>
          <a:prstGeom prst="rect">
            <a:avLst/>
          </a:prstGeom>
          <a:noFill/>
          <a:ln/>
        </p:spPr>
        <p:txBody>
          <a:bodyPr wrap="square" lIns="0" tIns="0" rIns="0" bIns="0" rtlCol="0" anchor="ctr"/>
          <a:lstStyle/>
          <a:p>
            <a:pPr marL="0" indent="0">
              <a:buNone/>
            </a:pPr>
            <a:r>
              <a:rPr lang="en-US" sz="700" b="1" kern="0" spc="50" dirty="0">
                <a:solidFill>
                  <a:srgbClr val="8FA1B2"/>
                </a:solidFill>
                <a:latin typeface="Calibri" pitchFamily="34" charset="0"/>
                <a:ea typeface="Calibri" pitchFamily="34" charset="-122"/>
                <a:cs typeface="Calibri" pitchFamily="34" charset="-120"/>
              </a:rPr>
              <a:t>Unstructured  ·  Batch</a:t>
            </a:r>
            <a:endParaRPr lang="en-US" sz="700" dirty="0"/>
          </a:p>
        </p:txBody>
      </p:sp>
      <p:sp>
        <p:nvSpPr>
          <p:cNvPr id="30" name="Text 23"/>
          <p:cNvSpPr/>
          <p:nvPr/>
        </p:nvSpPr>
        <p:spPr>
          <a:xfrm>
            <a:off x="640080" y="2596896"/>
            <a:ext cx="7863840" cy="182880"/>
          </a:xfrm>
          <a:prstGeom prst="rect">
            <a:avLst/>
          </a:prstGeom>
          <a:noFill/>
          <a:ln/>
        </p:spPr>
        <p:txBody>
          <a:bodyPr wrap="square" lIns="0" tIns="0" rIns="0" bIns="0" rtlCol="0" anchor="ctr"/>
          <a:lstStyle/>
          <a:p>
            <a:pPr marL="0" indent="0">
              <a:buNone/>
            </a:pPr>
            <a:r>
              <a:rPr lang="en-US" sz="800" b="1" kern="0" spc="160" dirty="0">
                <a:solidFill>
                  <a:srgbClr val="0B63CE"/>
                </a:solidFill>
                <a:latin typeface="Calibri" pitchFamily="34" charset="0"/>
                <a:ea typeface="Calibri" pitchFamily="34" charset="-122"/>
                <a:cs typeface="Calibri" pitchFamily="34" charset="-120"/>
              </a:rPr>
              <a:t>SAMPLE OF THE DATASET   —   one row = one person and one gene we checked</a:t>
            </a:r>
            <a:endParaRPr lang="en-US" sz="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2798064"/>
          <a:ext cx="7863840" cy="1263904"/>
        </p:xfrm>
        <a:graphic>
          <a:graphicData uri="http://schemas.openxmlformats.org/drawingml/2006/table">
            <a:tbl>
              <a:tblPr/>
              <a:tblGrid>
                <a:gridCol w="1133856">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298448">
                  <a:extLst>
                    <a:ext uri="{9D8B030D-6E8A-4147-A177-3AD203B41FA5}">
                      <a16:colId xmlns:a16="http://schemas.microsoft.com/office/drawing/2014/main" val="20004"/>
                    </a:ext>
                  </a:extLst>
                </a:gridCol>
                <a:gridCol w="1517904">
                  <a:extLst>
                    <a:ext uri="{9D8B030D-6E8A-4147-A177-3AD203B41FA5}">
                      <a16:colId xmlns:a16="http://schemas.microsoft.com/office/drawing/2014/main" val="20005"/>
                    </a:ext>
                  </a:extLst>
                </a:gridCol>
                <a:gridCol w="694944">
                  <a:extLst>
                    <a:ext uri="{9D8B030D-6E8A-4147-A177-3AD203B41FA5}">
                      <a16:colId xmlns:a16="http://schemas.microsoft.com/office/drawing/2014/main" val="20006"/>
                    </a:ext>
                  </a:extLst>
                </a:gridCol>
                <a:gridCol w="658368">
                  <a:extLst>
                    <a:ext uri="{9D8B030D-6E8A-4147-A177-3AD203B41FA5}">
                      <a16:colId xmlns:a16="http://schemas.microsoft.com/office/drawing/2014/main" val="20007"/>
                    </a:ext>
                  </a:extLst>
                </a:gridCol>
              </a:tblGrid>
              <a:tr h="201168">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participant_id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ancestry</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gene</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variant</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consequence</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phenotype (ICD-10)</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LDL mg/dL</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tc>
                  <a:txBody>
                    <a:bodyPr/>
                    <a:lstStyle/>
                    <a:p>
                      <a:pPr marL="0" indent="0" algn="l">
                        <a:buNone/>
                      </a:pPr>
                      <a:r>
                        <a:rPr lang="en-US" sz="780" b="1" dirty="0">
                          <a:solidFill>
                            <a:srgbClr val="0A3E7A"/>
                          </a:solidFill>
                          <a:latin typeface="Calibri" pitchFamily="34" charset="0"/>
                          <a:ea typeface="Calibri" pitchFamily="34" charset="-122"/>
                          <a:cs typeface="Calibri" pitchFamily="34" charset="-120"/>
                        </a:rPr>
                        <a:t>outcome</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E8F1FC"/>
                    </a:solidFill>
                  </a:tcPr>
                </a:tc>
                <a:extLst>
                  <a:ext uri="{0D108BD9-81ED-4DB2-BD59-A6C34878D82A}">
                    <a16:rowId xmlns:a16="http://schemas.microsoft.com/office/drawing/2014/main" val="10000"/>
                  </a:ext>
                </a:extLst>
              </a:tr>
              <a:tr h="201168">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anonymous person</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genetic background</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which gene</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the exact DNA change</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what the change does</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the illness, coded</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a blood result</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tc>
                  <a:txBody>
                    <a:bodyPr/>
                    <a:lstStyle/>
                    <a:p>
                      <a:pPr marL="0" indent="0" algn="l">
                        <a:buNone/>
                      </a:pPr>
                      <a:r>
                        <a:rPr lang="en-US" sz="680" i="1" dirty="0">
                          <a:solidFill>
                            <a:srgbClr val="8FA1B2"/>
                          </a:solidFill>
                          <a:latin typeface="Calibri" pitchFamily="34" charset="0"/>
                          <a:ea typeface="Calibri" pitchFamily="34" charset="-122"/>
                          <a:cs typeface="Calibri" pitchFamily="34" charset="-120"/>
                        </a:rPr>
                        <a:t>did they get ill?</a:t>
                      </a:r>
                      <a:endParaRPr lang="en-US" sz="6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7FAFD"/>
                    </a:solidFill>
                  </a:tcPr>
                </a:tc>
                <a:extLst>
                  <a:ext uri="{0D108BD9-81ED-4DB2-BD59-A6C34878D82A}">
                    <a16:rowId xmlns:a16="http://schemas.microsoft.com/office/drawing/2014/main" val="10001"/>
                  </a:ext>
                </a:extLst>
              </a:tr>
              <a:tr h="201168">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RGC-0184213</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EUR</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GPR75</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LoF frameshift</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gene switched off</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E66  Obesity</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128</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protected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1168">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RGC-0184219</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AFR</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HSD17B13</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rs72613567</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gene weakened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K76  Fatty liver</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141</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protected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extLst>
                  <a:ext uri="{0D108BD9-81ED-4DB2-BD59-A6C34878D82A}">
                    <a16:rowId xmlns:a16="http://schemas.microsoft.com/office/drawing/2014/main" val="10003"/>
                  </a:ext>
                </a:extLst>
              </a:tr>
              <a:tr h="201168">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RGC-0184227</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EUR</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CIDEB</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LoF rare</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gene switched off</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K74  Liver scarring</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119</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protected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1168">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RGC-0184244</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EUR</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PCSK9</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rs11591147</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no change</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E78  High cholesterol</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182</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tc>
                  <a:txBody>
                    <a:bodyPr/>
                    <a:lstStyle/>
                    <a:p>
                      <a:pPr marL="0" indent="0" algn="l">
                        <a:buNone/>
                      </a:pPr>
                      <a:r>
                        <a:rPr lang="en-US" sz="780" dirty="0">
                          <a:solidFill>
                            <a:srgbClr val="55697C"/>
                          </a:solidFill>
                          <a:latin typeface="Calibri" pitchFamily="34" charset="0"/>
                          <a:ea typeface="Calibri" pitchFamily="34" charset="-122"/>
                          <a:cs typeface="Calibri" pitchFamily="34" charset="-120"/>
                        </a:rPr>
                        <a:t>affected</a:t>
                      </a:r>
                      <a:endParaRPr lang="en-US" sz="780" dirty="0">
                        <a:latin typeface="Calibri" charset="0"/>
                        <a:ea typeface="Calibri" charset="0"/>
                        <a:cs typeface="Calibri" charset="0"/>
                      </a:endParaRPr>
                    </a:p>
                  </a:txBody>
                  <a:tcPr marL="63500" marR="63500" marT="25400" marB="25400" anchor="ctr">
                    <a:lnL w="6350" cap="flat" cmpd="sng" algn="ctr">
                      <a:solidFill>
                        <a:srgbClr val="E3E9EF"/>
                      </a:solidFill>
                      <a:prstDash val="solid"/>
                      <a:round/>
                      <a:headEnd type="none" w="med" len="med"/>
                      <a:tailEnd type="none" w="med" len="med"/>
                    </a:lnL>
                    <a:lnR w="6350" cap="flat" cmpd="sng" algn="ctr">
                      <a:solidFill>
                        <a:srgbClr val="E3E9EF"/>
                      </a:solidFill>
                      <a:prstDash val="solid"/>
                      <a:round/>
                      <a:headEnd type="none" w="med" len="med"/>
                      <a:tailEnd type="none" w="med" len="med"/>
                    </a:lnR>
                    <a:lnT w="6350" cap="flat" cmpd="sng" algn="ctr">
                      <a:solidFill>
                        <a:srgbClr val="E3E9EF"/>
                      </a:solidFill>
                      <a:prstDash val="solid"/>
                      <a:round/>
                      <a:headEnd type="none" w="med" len="med"/>
                      <a:tailEnd type="none" w="med" len="med"/>
                    </a:lnT>
                    <a:lnB w="6350" cap="flat" cmpd="sng" algn="ctr">
                      <a:solidFill>
                        <a:srgbClr val="E3E9EF"/>
                      </a:solidFill>
                      <a:prstDash val="solid"/>
                      <a:round/>
                      <a:headEnd type="none" w="med" len="med"/>
                      <a:tailEnd type="none" w="med" len="med"/>
                    </a:lnB>
                    <a:solidFill>
                      <a:srgbClr val="F3F7FB"/>
                    </a:solidFill>
                  </a:tcPr>
                </a:tc>
                <a:extLst>
                  <a:ext uri="{0D108BD9-81ED-4DB2-BD59-A6C34878D82A}">
                    <a16:rowId xmlns:a16="http://schemas.microsoft.com/office/drawing/2014/main" val="10005"/>
                  </a:ext>
                </a:extLst>
              </a:tr>
            </a:tbl>
          </a:graphicData>
        </a:graphic>
      </p:graphicFrame>
      <p:sp>
        <p:nvSpPr>
          <p:cNvPr id="32" name="Shape 24"/>
          <p:cNvSpPr/>
          <p:nvPr/>
        </p:nvSpPr>
        <p:spPr>
          <a:xfrm>
            <a:off x="640080" y="4041648"/>
            <a:ext cx="7863840" cy="548640"/>
          </a:xfrm>
          <a:prstGeom prst="roundRect">
            <a:avLst>
              <a:gd name="adj" fmla="val 11667"/>
            </a:avLst>
          </a:prstGeom>
          <a:solidFill>
            <a:srgbClr val="E0F4F2"/>
          </a:solidFill>
          <a:ln w="9525">
            <a:solidFill>
              <a:srgbClr val="A9E0DA"/>
            </a:solidFill>
            <a:prstDash val="solid"/>
          </a:ln>
        </p:spPr>
        <p:txBody>
          <a:bodyPr/>
          <a:lstStyle/>
          <a:p>
            <a:endParaRPr lang="en-US"/>
          </a:p>
        </p:txBody>
      </p:sp>
      <p:sp>
        <p:nvSpPr>
          <p:cNvPr id="33" name="Text 25"/>
          <p:cNvSpPr/>
          <p:nvPr/>
        </p:nvSpPr>
        <p:spPr>
          <a:xfrm>
            <a:off x="841248" y="4041648"/>
            <a:ext cx="7461504" cy="548640"/>
          </a:xfrm>
          <a:prstGeom prst="rect">
            <a:avLst/>
          </a:prstGeom>
          <a:noFill/>
          <a:ln/>
        </p:spPr>
        <p:txBody>
          <a:bodyPr wrap="square" lIns="0" tIns="0" rIns="0" bIns="0" rtlCol="0" anchor="ctr"/>
          <a:lstStyle/>
          <a:p>
            <a:pPr marL="0" indent="0">
              <a:lnSpc>
                <a:spcPts val="1200"/>
              </a:lnSpc>
              <a:buNone/>
            </a:pPr>
            <a:r>
              <a:rPr lang="en-US" sz="800" b="1" kern="0" spc="150" dirty="0">
                <a:solidFill>
                  <a:srgbClr val="0C8C83"/>
                </a:solidFill>
                <a:latin typeface="Calibri" pitchFamily="34" charset="0"/>
                <a:ea typeface="Calibri" pitchFamily="34" charset="-122"/>
                <a:cs typeface="Calibri" pitchFamily="34" charset="-120"/>
              </a:rPr>
              <a:t>HOW TO READ ROW 1     </a:t>
            </a:r>
            <a:r>
              <a:rPr lang="en-US" sz="900" dirty="0">
                <a:solidFill>
                  <a:srgbClr val="10243A"/>
                </a:solidFill>
                <a:latin typeface="Calibri" pitchFamily="34" charset="0"/>
                <a:ea typeface="Calibri" pitchFamily="34" charset="-122"/>
                <a:cs typeface="Calibri" pitchFamily="34" charset="-120"/>
              </a:rPr>
              <a:t>An anonymous volunteer was born with the </a:t>
            </a:r>
            <a:r>
              <a:rPr lang="en-US" sz="900" b="1" dirty="0">
                <a:solidFill>
                  <a:srgbClr val="10243A"/>
                </a:solidFill>
                <a:latin typeface="Calibri" pitchFamily="34" charset="0"/>
                <a:ea typeface="Calibri" pitchFamily="34" charset="-122"/>
                <a:cs typeface="Calibri" pitchFamily="34" charset="-120"/>
              </a:rPr>
              <a:t>GPR75</a:t>
            </a:r>
            <a:r>
              <a:rPr lang="en-US" sz="900" dirty="0">
                <a:solidFill>
                  <a:srgbClr val="10243A"/>
                </a:solidFill>
                <a:latin typeface="Calibri" pitchFamily="34" charset="0"/>
                <a:ea typeface="Calibri" pitchFamily="34" charset="-122"/>
                <a:cs typeface="Calibri" pitchFamily="34" charset="-120"/>
              </a:rPr>
              <a:t> gene switched off — and their medical record shows they never became obese. Nature ran the experiment for us. Copy that switch-off with a drug and you may copy the protection.</a:t>
            </a:r>
            <a:endParaRPr lang="en-US" sz="800" dirty="0"/>
          </a:p>
        </p:txBody>
      </p:sp>
      <p:sp>
        <p:nvSpPr>
          <p:cNvPr id="34" name="Text 26"/>
          <p:cNvSpPr/>
          <p:nvPr/>
        </p:nvSpPr>
        <p:spPr>
          <a:xfrm>
            <a:off x="640080" y="4663440"/>
            <a:ext cx="7863840" cy="182880"/>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Simulated sample in the real dataset’s shape. Platform scale: 3M+ exomes · ~10 TB · 80bn+ data points. Sources: Regeneron Genetics Center; Databricks.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8138160" y="219456"/>
            <a:ext cx="1188720" cy="1188720"/>
          </a:xfrm>
          <a:prstGeom prst="rect">
            <a:avLst/>
          </a:prstGeom>
        </p:spPr>
      </p:pic>
      <p:sp>
        <p:nvSpPr>
          <p:cNvPr id="3" name="Text 0"/>
          <p:cNvSpPr/>
          <p:nvPr/>
        </p:nvSpPr>
        <p:spPr>
          <a:xfrm>
            <a:off x="640080" y="475488"/>
            <a:ext cx="457200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07   —   ANALYTICS &amp; KPIs</a:t>
            </a:r>
            <a:endParaRPr lang="en-US" sz="850" dirty="0"/>
          </a:p>
        </p:txBody>
      </p:sp>
      <p:sp>
        <p:nvSpPr>
          <p:cNvPr id="4" name="Text 1"/>
          <p:cNvSpPr/>
          <p:nvPr/>
        </p:nvSpPr>
        <p:spPr>
          <a:xfrm>
            <a:off x="640080" y="676656"/>
            <a:ext cx="768096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From data to </a:t>
            </a:r>
            <a:r>
              <a:rPr lang="en-US" sz="2600" b="1" dirty="0">
                <a:solidFill>
                  <a:srgbClr val="0B63CE"/>
                </a:solidFill>
                <a:latin typeface="Calibri" pitchFamily="34" charset="0"/>
                <a:ea typeface="Calibri" pitchFamily="34" charset="-122"/>
                <a:cs typeface="Calibri" pitchFamily="34" charset="-120"/>
              </a:rPr>
              <a:t>decisions</a:t>
            </a:r>
            <a:endParaRPr lang="en-US" sz="2600" dirty="0"/>
          </a:p>
        </p:txBody>
      </p:sp>
      <p:sp>
        <p:nvSpPr>
          <p:cNvPr id="5" name="Text 2"/>
          <p:cNvSpPr/>
          <p:nvPr/>
        </p:nvSpPr>
        <p:spPr>
          <a:xfrm>
            <a:off x="640080" y="1115568"/>
            <a:ext cx="7223760" cy="219456"/>
          </a:xfrm>
          <a:prstGeom prst="rect">
            <a:avLst/>
          </a:prstGeom>
          <a:noFill/>
          <a:ln/>
        </p:spPr>
        <p:txBody>
          <a:bodyPr wrap="square" lIns="0" tIns="0" rIns="0" bIns="0" rtlCol="0" anchor="ctr"/>
          <a:lstStyle/>
          <a:p>
            <a:pPr marL="0" indent="0">
              <a:buNone/>
            </a:pPr>
            <a:r>
              <a:rPr lang="en-US" sz="1050" i="1" dirty="0">
                <a:solidFill>
                  <a:srgbClr val="55697C"/>
                </a:solidFill>
                <a:latin typeface="Calibri" pitchFamily="34" charset="0"/>
                <a:ea typeface="Calibri" pitchFamily="34" charset="-122"/>
                <a:cs typeface="Calibri" pitchFamily="34" charset="-120"/>
              </a:rPr>
              <a:t>Each step up the ladder answers a harder question — and is worth more to the business than the one below it.</a:t>
            </a:r>
            <a:endParaRPr lang="en-US" sz="1050" dirty="0"/>
          </a:p>
        </p:txBody>
      </p:sp>
      <p:sp>
        <p:nvSpPr>
          <p:cNvPr id="6" name="Text 3"/>
          <p:cNvSpPr/>
          <p:nvPr/>
        </p:nvSpPr>
        <p:spPr>
          <a:xfrm>
            <a:off x="640080" y="1517904"/>
            <a:ext cx="2743200" cy="164592"/>
          </a:xfrm>
          <a:prstGeom prst="rect">
            <a:avLst/>
          </a:prstGeom>
          <a:noFill/>
          <a:ln/>
        </p:spPr>
        <p:txBody>
          <a:bodyPr wrap="square" lIns="0" tIns="0" rIns="0" bIns="0" rtlCol="0" anchor="ctr"/>
          <a:lstStyle/>
          <a:p>
            <a:pPr marL="0" indent="0">
              <a:buNone/>
            </a:pPr>
            <a:r>
              <a:rPr lang="en-US" sz="800" b="1" kern="0" spc="160" dirty="0">
                <a:solidFill>
                  <a:srgbClr val="0B63CE"/>
                </a:solidFill>
                <a:latin typeface="Calibri" pitchFamily="34" charset="0"/>
                <a:ea typeface="Calibri" pitchFamily="34" charset="-122"/>
                <a:cs typeface="Calibri" pitchFamily="34" charset="-120"/>
              </a:rPr>
              <a:t>THE ANALYTICS LADDER</a:t>
            </a:r>
            <a:endParaRPr lang="en-US" sz="800" dirty="0"/>
          </a:p>
        </p:txBody>
      </p:sp>
      <p:sp>
        <p:nvSpPr>
          <p:cNvPr id="7" name="Text 4"/>
          <p:cNvSpPr/>
          <p:nvPr/>
        </p:nvSpPr>
        <p:spPr>
          <a:xfrm>
            <a:off x="5760720" y="1517904"/>
            <a:ext cx="2743200" cy="164592"/>
          </a:xfrm>
          <a:prstGeom prst="rect">
            <a:avLst/>
          </a:prstGeom>
          <a:noFill/>
          <a:ln/>
        </p:spPr>
        <p:txBody>
          <a:bodyPr wrap="square" lIns="0" tIns="0" rIns="0" bIns="0" rtlCol="0" anchor="ctr"/>
          <a:lstStyle/>
          <a:p>
            <a:pPr marL="0" indent="0" algn="r">
              <a:buNone/>
            </a:pPr>
            <a:r>
              <a:rPr lang="en-US" sz="800" b="1" dirty="0">
                <a:solidFill>
                  <a:srgbClr val="8FA1B2"/>
                </a:solidFill>
                <a:latin typeface="Calibri" pitchFamily="34" charset="0"/>
                <a:ea typeface="Calibri" pitchFamily="34" charset="-122"/>
                <a:cs typeface="Calibri" pitchFamily="34" charset="-120"/>
              </a:rPr>
              <a:t>↑  increasing decision value</a:t>
            </a:r>
            <a:endParaRPr lang="en-US" sz="800" dirty="0"/>
          </a:p>
        </p:txBody>
      </p:sp>
      <p:sp>
        <p:nvSpPr>
          <p:cNvPr id="8" name="Shape 5"/>
          <p:cNvSpPr/>
          <p:nvPr/>
        </p:nvSpPr>
        <p:spPr>
          <a:xfrm>
            <a:off x="640080" y="2615184"/>
            <a:ext cx="1847088" cy="950976"/>
          </a:xfrm>
          <a:prstGeom prst="roundRect">
            <a:avLst>
              <a:gd name="adj" fmla="val 6731"/>
            </a:avLst>
          </a:prstGeom>
          <a:solidFill>
            <a:srgbClr val="FFFFFF"/>
          </a:solidFill>
          <a:ln w="11430">
            <a:solidFill>
              <a:srgbClr val="E3E9EF"/>
            </a:solidFill>
            <a:prstDash val="solid"/>
          </a:ln>
          <a:effectLst>
            <a:outerShdw blurRad="101600" dist="25400" dir="5400000" algn="bl" rotWithShape="0">
              <a:srgbClr val="AFC0CE">
                <a:alpha val="30000"/>
              </a:srgbClr>
            </a:outerShdw>
          </a:effectLst>
        </p:spPr>
        <p:txBody>
          <a:bodyPr/>
          <a:lstStyle/>
          <a:p>
            <a:endParaRPr lang="en-US"/>
          </a:p>
        </p:txBody>
      </p:sp>
      <p:sp>
        <p:nvSpPr>
          <p:cNvPr id="9" name="Shape 6"/>
          <p:cNvSpPr/>
          <p:nvPr/>
        </p:nvSpPr>
        <p:spPr>
          <a:xfrm>
            <a:off x="777240" y="2734056"/>
            <a:ext cx="274320" cy="274320"/>
          </a:xfrm>
          <a:prstGeom prst="roundRect">
            <a:avLst>
              <a:gd name="adj" fmla="val 20000"/>
            </a:avLst>
          </a:prstGeom>
          <a:solidFill>
            <a:srgbClr val="F5F7F9"/>
          </a:solidFill>
          <a:ln w="9525">
            <a:solidFill>
              <a:srgbClr val="E3E9EF"/>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50392" y="2807208"/>
            <a:ext cx="137160" cy="137160"/>
          </a:xfrm>
          <a:prstGeom prst="rect">
            <a:avLst/>
          </a:prstGeom>
        </p:spPr>
      </p:pic>
      <p:sp>
        <p:nvSpPr>
          <p:cNvPr id="11" name="Text 7"/>
          <p:cNvSpPr/>
          <p:nvPr/>
        </p:nvSpPr>
        <p:spPr>
          <a:xfrm>
            <a:off x="1124712" y="2734056"/>
            <a:ext cx="1243584" cy="274320"/>
          </a:xfrm>
          <a:prstGeom prst="rect">
            <a:avLst/>
          </a:prstGeom>
          <a:noFill/>
          <a:ln/>
        </p:spPr>
        <p:txBody>
          <a:bodyPr wrap="square" lIns="0" tIns="0" rIns="0" bIns="0" rtlCol="0" anchor="ctr"/>
          <a:lstStyle/>
          <a:p>
            <a:pPr marL="0" indent="0">
              <a:buNone/>
            </a:pPr>
            <a:r>
              <a:rPr lang="en-US" sz="750" b="1" kern="0" spc="120" dirty="0">
                <a:solidFill>
                  <a:srgbClr val="8FA1B2"/>
                </a:solidFill>
                <a:latin typeface="Calibri" pitchFamily="34" charset="0"/>
                <a:ea typeface="Calibri" pitchFamily="34" charset="-122"/>
                <a:cs typeface="Calibri" pitchFamily="34" charset="-120"/>
              </a:rPr>
              <a:t>01  ·  DESCRIPTIVE</a:t>
            </a:r>
            <a:endParaRPr lang="en-US" sz="750" dirty="0"/>
          </a:p>
        </p:txBody>
      </p:sp>
      <p:sp>
        <p:nvSpPr>
          <p:cNvPr id="12" name="Text 8"/>
          <p:cNvSpPr/>
          <p:nvPr/>
        </p:nvSpPr>
        <p:spPr>
          <a:xfrm>
            <a:off x="777240" y="3026664"/>
            <a:ext cx="1572768" cy="201168"/>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What is in the data?</a:t>
            </a:r>
            <a:endParaRPr lang="en-US" sz="1050" dirty="0"/>
          </a:p>
        </p:txBody>
      </p:sp>
      <p:sp>
        <p:nvSpPr>
          <p:cNvPr id="13" name="Text 9"/>
          <p:cNvSpPr/>
          <p:nvPr/>
        </p:nvSpPr>
        <p:spPr>
          <a:xfrm>
            <a:off x="777240" y="3218688"/>
            <a:ext cx="1572768" cy="310896"/>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How common is each gene change, in which populations.</a:t>
            </a:r>
            <a:endParaRPr lang="en-US" sz="850" dirty="0"/>
          </a:p>
        </p:txBody>
      </p:sp>
      <p:sp>
        <p:nvSpPr>
          <p:cNvPr id="14" name="Shape 10"/>
          <p:cNvSpPr/>
          <p:nvPr/>
        </p:nvSpPr>
        <p:spPr>
          <a:xfrm rot="5400000">
            <a:off x="2532888" y="2798064"/>
            <a:ext cx="64008" cy="64008"/>
          </a:xfrm>
          <a:prstGeom prst="triangle">
            <a:avLst/>
          </a:prstGeom>
          <a:solidFill>
            <a:srgbClr val="BCCBD8"/>
          </a:solidFill>
          <a:ln w="12700">
            <a:solidFill>
              <a:srgbClr val="BCCBD8"/>
            </a:solidFill>
            <a:prstDash val="solid"/>
          </a:ln>
        </p:spPr>
        <p:txBody>
          <a:bodyPr/>
          <a:lstStyle/>
          <a:p>
            <a:endParaRPr lang="en-US"/>
          </a:p>
        </p:txBody>
      </p:sp>
      <p:sp>
        <p:nvSpPr>
          <p:cNvPr id="15" name="Shape 11"/>
          <p:cNvSpPr/>
          <p:nvPr/>
        </p:nvSpPr>
        <p:spPr>
          <a:xfrm>
            <a:off x="2642616" y="2414016"/>
            <a:ext cx="1847088" cy="950976"/>
          </a:xfrm>
          <a:prstGeom prst="roundRect">
            <a:avLst>
              <a:gd name="adj" fmla="val 6731"/>
            </a:avLst>
          </a:prstGeom>
          <a:solidFill>
            <a:srgbClr val="FFFFFF"/>
          </a:solidFill>
          <a:ln w="11430">
            <a:solidFill>
              <a:srgbClr val="C9DFF6"/>
            </a:solidFill>
            <a:prstDash val="solid"/>
          </a:ln>
          <a:effectLst>
            <a:outerShdw blurRad="101600" dist="25400" dir="5400000" algn="bl" rotWithShape="0">
              <a:srgbClr val="AFC0CE">
                <a:alpha val="30000"/>
              </a:srgbClr>
            </a:outerShdw>
          </a:effectLst>
        </p:spPr>
        <p:txBody>
          <a:bodyPr/>
          <a:lstStyle/>
          <a:p>
            <a:endParaRPr lang="en-US"/>
          </a:p>
        </p:txBody>
      </p:sp>
      <p:sp>
        <p:nvSpPr>
          <p:cNvPr id="16" name="Shape 12"/>
          <p:cNvSpPr/>
          <p:nvPr/>
        </p:nvSpPr>
        <p:spPr>
          <a:xfrm>
            <a:off x="2779776" y="2532888"/>
            <a:ext cx="274320" cy="274320"/>
          </a:xfrm>
          <a:prstGeom prst="roundRect">
            <a:avLst>
              <a:gd name="adj" fmla="val 20000"/>
            </a:avLst>
          </a:prstGeom>
          <a:solidFill>
            <a:srgbClr val="E8F1FC"/>
          </a:solidFill>
          <a:ln w="9525">
            <a:solidFill>
              <a:srgbClr val="C9DFF6"/>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2852928" y="2606040"/>
            <a:ext cx="137160" cy="137160"/>
          </a:xfrm>
          <a:prstGeom prst="rect">
            <a:avLst/>
          </a:prstGeom>
        </p:spPr>
      </p:pic>
      <p:sp>
        <p:nvSpPr>
          <p:cNvPr id="18" name="Text 13"/>
          <p:cNvSpPr/>
          <p:nvPr/>
        </p:nvSpPr>
        <p:spPr>
          <a:xfrm>
            <a:off x="3127248" y="2532888"/>
            <a:ext cx="1243584" cy="274320"/>
          </a:xfrm>
          <a:prstGeom prst="rect">
            <a:avLst/>
          </a:prstGeom>
          <a:noFill/>
          <a:ln/>
        </p:spPr>
        <p:txBody>
          <a:bodyPr wrap="square" lIns="0" tIns="0" rIns="0" bIns="0" rtlCol="0" anchor="ctr"/>
          <a:lstStyle/>
          <a:p>
            <a:pPr marL="0" indent="0">
              <a:buNone/>
            </a:pPr>
            <a:r>
              <a:rPr lang="en-US" sz="750" b="1" kern="0" spc="120" dirty="0">
                <a:solidFill>
                  <a:srgbClr val="0B63CE"/>
                </a:solidFill>
                <a:latin typeface="Calibri" pitchFamily="34" charset="0"/>
                <a:ea typeface="Calibri" pitchFamily="34" charset="-122"/>
                <a:cs typeface="Calibri" pitchFamily="34" charset="-120"/>
              </a:rPr>
              <a:t>02  ·  DIAGNOSTIC</a:t>
            </a:r>
            <a:endParaRPr lang="en-US" sz="750" dirty="0"/>
          </a:p>
        </p:txBody>
      </p:sp>
      <p:sp>
        <p:nvSpPr>
          <p:cNvPr id="19" name="Text 14"/>
          <p:cNvSpPr/>
          <p:nvPr/>
        </p:nvSpPr>
        <p:spPr>
          <a:xfrm>
            <a:off x="2779776" y="2825496"/>
            <a:ext cx="1572768" cy="201168"/>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Why does it happen?</a:t>
            </a:r>
            <a:endParaRPr lang="en-US" sz="1050" dirty="0"/>
          </a:p>
        </p:txBody>
      </p:sp>
      <p:sp>
        <p:nvSpPr>
          <p:cNvPr id="20" name="Text 15"/>
          <p:cNvSpPr/>
          <p:nvPr/>
        </p:nvSpPr>
        <p:spPr>
          <a:xfrm>
            <a:off x="2779776" y="3017520"/>
            <a:ext cx="1572768" cy="310896"/>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Which gene changes actually cause protection from disease.</a:t>
            </a:r>
            <a:endParaRPr lang="en-US" sz="850" dirty="0"/>
          </a:p>
        </p:txBody>
      </p:sp>
      <p:sp>
        <p:nvSpPr>
          <p:cNvPr id="21" name="Shape 16"/>
          <p:cNvSpPr/>
          <p:nvPr/>
        </p:nvSpPr>
        <p:spPr>
          <a:xfrm rot="5400000">
            <a:off x="4535424" y="2596896"/>
            <a:ext cx="64008" cy="64008"/>
          </a:xfrm>
          <a:prstGeom prst="triangle">
            <a:avLst/>
          </a:prstGeom>
          <a:solidFill>
            <a:srgbClr val="BCCBD8"/>
          </a:solidFill>
          <a:ln w="12700">
            <a:solidFill>
              <a:srgbClr val="BCCBD8"/>
            </a:solidFill>
            <a:prstDash val="solid"/>
          </a:ln>
        </p:spPr>
        <p:txBody>
          <a:bodyPr/>
          <a:lstStyle/>
          <a:p>
            <a:endParaRPr lang="en-US"/>
          </a:p>
        </p:txBody>
      </p:sp>
      <p:sp>
        <p:nvSpPr>
          <p:cNvPr id="22" name="Shape 17"/>
          <p:cNvSpPr/>
          <p:nvPr/>
        </p:nvSpPr>
        <p:spPr>
          <a:xfrm>
            <a:off x="4645152" y="2212848"/>
            <a:ext cx="1847088" cy="950976"/>
          </a:xfrm>
          <a:prstGeom prst="roundRect">
            <a:avLst>
              <a:gd name="adj" fmla="val 6731"/>
            </a:avLst>
          </a:prstGeom>
          <a:solidFill>
            <a:srgbClr val="FFFFFF"/>
          </a:solidFill>
          <a:ln w="11430">
            <a:solidFill>
              <a:srgbClr val="A9E0DA"/>
            </a:solidFill>
            <a:prstDash val="solid"/>
          </a:ln>
          <a:effectLst>
            <a:outerShdw blurRad="101600" dist="25400" dir="5400000" algn="bl" rotWithShape="0">
              <a:srgbClr val="AFC0CE">
                <a:alpha val="30000"/>
              </a:srgbClr>
            </a:outerShdw>
          </a:effectLst>
        </p:spPr>
        <p:txBody>
          <a:bodyPr/>
          <a:lstStyle/>
          <a:p>
            <a:endParaRPr lang="en-US"/>
          </a:p>
        </p:txBody>
      </p:sp>
      <p:sp>
        <p:nvSpPr>
          <p:cNvPr id="23" name="Shape 18"/>
          <p:cNvSpPr/>
          <p:nvPr/>
        </p:nvSpPr>
        <p:spPr>
          <a:xfrm>
            <a:off x="4782312" y="2331720"/>
            <a:ext cx="274320" cy="274320"/>
          </a:xfrm>
          <a:prstGeom prst="roundRect">
            <a:avLst>
              <a:gd name="adj" fmla="val 20000"/>
            </a:avLst>
          </a:prstGeom>
          <a:solidFill>
            <a:srgbClr val="E0F4F2"/>
          </a:solidFill>
          <a:ln w="9525">
            <a:solidFill>
              <a:srgbClr val="A9E0DA"/>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55464" y="2404872"/>
            <a:ext cx="137160" cy="137160"/>
          </a:xfrm>
          <a:prstGeom prst="rect">
            <a:avLst/>
          </a:prstGeom>
        </p:spPr>
      </p:pic>
      <p:sp>
        <p:nvSpPr>
          <p:cNvPr id="25" name="Text 19"/>
          <p:cNvSpPr/>
          <p:nvPr/>
        </p:nvSpPr>
        <p:spPr>
          <a:xfrm>
            <a:off x="5129784" y="2331720"/>
            <a:ext cx="1243584" cy="274320"/>
          </a:xfrm>
          <a:prstGeom prst="rect">
            <a:avLst/>
          </a:prstGeom>
          <a:noFill/>
          <a:ln/>
        </p:spPr>
        <p:txBody>
          <a:bodyPr wrap="square" lIns="0" tIns="0" rIns="0" bIns="0" rtlCol="0" anchor="ctr"/>
          <a:lstStyle/>
          <a:p>
            <a:pPr marL="0" indent="0">
              <a:buNone/>
            </a:pPr>
            <a:r>
              <a:rPr lang="en-US" sz="750" b="1" kern="0" spc="120" dirty="0">
                <a:solidFill>
                  <a:srgbClr val="0C8C83"/>
                </a:solidFill>
                <a:latin typeface="Calibri" pitchFamily="34" charset="0"/>
                <a:ea typeface="Calibri" pitchFamily="34" charset="-122"/>
                <a:cs typeface="Calibri" pitchFamily="34" charset="-120"/>
              </a:rPr>
              <a:t>03  ·  PREDICTIVE</a:t>
            </a:r>
            <a:endParaRPr lang="en-US" sz="750" dirty="0"/>
          </a:p>
        </p:txBody>
      </p:sp>
      <p:sp>
        <p:nvSpPr>
          <p:cNvPr id="26" name="Text 20"/>
          <p:cNvSpPr/>
          <p:nvPr/>
        </p:nvSpPr>
        <p:spPr>
          <a:xfrm>
            <a:off x="4782312" y="2624328"/>
            <a:ext cx="1572768" cy="201168"/>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What will happen?</a:t>
            </a:r>
            <a:endParaRPr lang="en-US" sz="1050" dirty="0"/>
          </a:p>
        </p:txBody>
      </p:sp>
      <p:sp>
        <p:nvSpPr>
          <p:cNvPr id="27" name="Text 21"/>
          <p:cNvSpPr/>
          <p:nvPr/>
        </p:nvSpPr>
        <p:spPr>
          <a:xfrm>
            <a:off x="4782312" y="2816352"/>
            <a:ext cx="1572768" cy="310896"/>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Score every candidate target for its chance of clinical success.</a:t>
            </a:r>
            <a:endParaRPr lang="en-US" sz="850" dirty="0"/>
          </a:p>
        </p:txBody>
      </p:sp>
      <p:sp>
        <p:nvSpPr>
          <p:cNvPr id="28" name="Shape 22"/>
          <p:cNvSpPr/>
          <p:nvPr/>
        </p:nvSpPr>
        <p:spPr>
          <a:xfrm rot="5400000">
            <a:off x="6537960" y="2395728"/>
            <a:ext cx="64008" cy="64008"/>
          </a:xfrm>
          <a:prstGeom prst="triangle">
            <a:avLst/>
          </a:prstGeom>
          <a:solidFill>
            <a:srgbClr val="BCCBD8"/>
          </a:solidFill>
          <a:ln w="12700">
            <a:solidFill>
              <a:srgbClr val="BCCBD8"/>
            </a:solidFill>
            <a:prstDash val="solid"/>
          </a:ln>
        </p:spPr>
        <p:txBody>
          <a:bodyPr/>
          <a:lstStyle/>
          <a:p>
            <a:endParaRPr lang="en-US"/>
          </a:p>
        </p:txBody>
      </p:sp>
      <p:sp>
        <p:nvSpPr>
          <p:cNvPr id="29" name="Shape 23"/>
          <p:cNvSpPr/>
          <p:nvPr/>
        </p:nvSpPr>
        <p:spPr>
          <a:xfrm>
            <a:off x="6647688" y="2011680"/>
            <a:ext cx="1847088" cy="950976"/>
          </a:xfrm>
          <a:prstGeom prst="roundRect">
            <a:avLst>
              <a:gd name="adj" fmla="val 6731"/>
            </a:avLst>
          </a:prstGeom>
          <a:solidFill>
            <a:srgbClr val="FFFFFF"/>
          </a:solidFill>
          <a:ln w="11430">
            <a:solidFill>
              <a:srgbClr val="F6C4B8"/>
            </a:solidFill>
            <a:prstDash val="solid"/>
          </a:ln>
          <a:effectLst>
            <a:outerShdw blurRad="101600" dist="25400" dir="5400000" algn="bl" rotWithShape="0">
              <a:srgbClr val="AFC0CE">
                <a:alpha val="30000"/>
              </a:srgbClr>
            </a:outerShdw>
          </a:effectLst>
        </p:spPr>
        <p:txBody>
          <a:bodyPr/>
          <a:lstStyle/>
          <a:p>
            <a:endParaRPr lang="en-US"/>
          </a:p>
        </p:txBody>
      </p:sp>
      <p:sp>
        <p:nvSpPr>
          <p:cNvPr id="30" name="Shape 24"/>
          <p:cNvSpPr/>
          <p:nvPr/>
        </p:nvSpPr>
        <p:spPr>
          <a:xfrm>
            <a:off x="6784848" y="2130552"/>
            <a:ext cx="274320" cy="274320"/>
          </a:xfrm>
          <a:prstGeom prst="roundRect">
            <a:avLst>
              <a:gd name="adj" fmla="val 20000"/>
            </a:avLst>
          </a:prstGeom>
          <a:solidFill>
            <a:srgbClr val="FDEDE9"/>
          </a:solidFill>
          <a:ln w="9525">
            <a:solidFill>
              <a:srgbClr val="F6C4B8"/>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6858000" y="2203704"/>
            <a:ext cx="137160" cy="137160"/>
          </a:xfrm>
          <a:prstGeom prst="rect">
            <a:avLst/>
          </a:prstGeom>
        </p:spPr>
      </p:pic>
      <p:sp>
        <p:nvSpPr>
          <p:cNvPr id="32" name="Text 25"/>
          <p:cNvSpPr/>
          <p:nvPr/>
        </p:nvSpPr>
        <p:spPr>
          <a:xfrm>
            <a:off x="7132320" y="2130552"/>
            <a:ext cx="1243584" cy="274320"/>
          </a:xfrm>
          <a:prstGeom prst="rect">
            <a:avLst/>
          </a:prstGeom>
          <a:noFill/>
          <a:ln/>
        </p:spPr>
        <p:txBody>
          <a:bodyPr wrap="square" lIns="0" tIns="0" rIns="0" bIns="0" rtlCol="0" anchor="ctr"/>
          <a:lstStyle/>
          <a:p>
            <a:pPr marL="0" indent="0">
              <a:buNone/>
            </a:pPr>
            <a:r>
              <a:rPr lang="en-US" sz="750" b="1" kern="0" spc="120" dirty="0">
                <a:solidFill>
                  <a:srgbClr val="D8452A"/>
                </a:solidFill>
                <a:latin typeface="Calibri" pitchFamily="34" charset="0"/>
                <a:ea typeface="Calibri" pitchFamily="34" charset="-122"/>
                <a:cs typeface="Calibri" pitchFamily="34" charset="-120"/>
              </a:rPr>
              <a:t>04  ·  PRESCRIPTIVE</a:t>
            </a:r>
            <a:endParaRPr lang="en-US" sz="750" dirty="0"/>
          </a:p>
        </p:txBody>
      </p:sp>
      <p:sp>
        <p:nvSpPr>
          <p:cNvPr id="33" name="Text 26"/>
          <p:cNvSpPr/>
          <p:nvPr/>
        </p:nvSpPr>
        <p:spPr>
          <a:xfrm>
            <a:off x="6784848" y="2423160"/>
            <a:ext cx="1572768" cy="201168"/>
          </a:xfrm>
          <a:prstGeom prst="rect">
            <a:avLst/>
          </a:prstGeom>
          <a:noFill/>
          <a:ln/>
        </p:spPr>
        <p:txBody>
          <a:bodyPr wrap="square" lIns="0" tIns="0" rIns="0" bIns="0" rtlCol="0" anchor="ctr"/>
          <a:lstStyle/>
          <a:p>
            <a:pPr marL="0" indent="0">
              <a:buNone/>
            </a:pPr>
            <a:r>
              <a:rPr lang="en-US" sz="1050" b="1" dirty="0">
                <a:solidFill>
                  <a:srgbClr val="10243A"/>
                </a:solidFill>
                <a:latin typeface="Calibri" pitchFamily="34" charset="0"/>
                <a:ea typeface="Calibri" pitchFamily="34" charset="-122"/>
                <a:cs typeface="Calibri" pitchFamily="34" charset="-120"/>
              </a:rPr>
              <a:t>What should we do?</a:t>
            </a:r>
            <a:endParaRPr lang="en-US" sz="1050" dirty="0"/>
          </a:p>
        </p:txBody>
      </p:sp>
      <p:sp>
        <p:nvSpPr>
          <p:cNvPr id="34" name="Text 27"/>
          <p:cNvSpPr/>
          <p:nvPr/>
        </p:nvSpPr>
        <p:spPr>
          <a:xfrm>
            <a:off x="6784848" y="2615184"/>
            <a:ext cx="1572768" cy="310896"/>
          </a:xfrm>
          <a:prstGeom prst="rect">
            <a:avLst/>
          </a:prstGeom>
          <a:noFill/>
          <a:ln/>
        </p:spPr>
        <p:txBody>
          <a:bodyPr wrap="square" lIns="0" tIns="0" rIns="0" bIns="0" rtlCol="0" anchor="ctr"/>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Recommend which targets get the budget, and in what order.</a:t>
            </a:r>
            <a:endParaRPr lang="en-US" sz="850" dirty="0"/>
          </a:p>
        </p:txBody>
      </p:sp>
      <p:sp>
        <p:nvSpPr>
          <p:cNvPr id="35" name="Text 28"/>
          <p:cNvSpPr/>
          <p:nvPr/>
        </p:nvSpPr>
        <p:spPr>
          <a:xfrm>
            <a:off x="640080" y="3675888"/>
            <a:ext cx="7863840" cy="164592"/>
          </a:xfrm>
          <a:prstGeom prst="rect">
            <a:avLst/>
          </a:prstGeom>
          <a:noFill/>
          <a:ln/>
        </p:spPr>
        <p:txBody>
          <a:bodyPr wrap="square" lIns="0" tIns="0" rIns="0" bIns="0" rtlCol="0" anchor="ctr"/>
          <a:lstStyle/>
          <a:p>
            <a:pPr marL="0" indent="0">
              <a:buNone/>
            </a:pPr>
            <a:r>
              <a:rPr lang="en-US" sz="800" b="1" kern="0" spc="160" dirty="0">
                <a:solidFill>
                  <a:srgbClr val="0B63CE"/>
                </a:solidFill>
                <a:latin typeface="Calibri" pitchFamily="34" charset="0"/>
                <a:ea typeface="Calibri" pitchFamily="34" charset="-122"/>
                <a:cs typeface="Calibri" pitchFamily="34" charset="-120"/>
              </a:rPr>
              <a:t>KEY PERFORMANCE INDICATORS   —   baseline today  →  target with AI</a:t>
            </a:r>
            <a:endParaRPr lang="en-US" sz="800" dirty="0"/>
          </a:p>
        </p:txBody>
      </p:sp>
      <p:sp>
        <p:nvSpPr>
          <p:cNvPr id="36" name="Shape 29"/>
          <p:cNvSpPr/>
          <p:nvPr/>
        </p:nvSpPr>
        <p:spPr>
          <a:xfrm>
            <a:off x="640080" y="3877056"/>
            <a:ext cx="1470355" cy="749808"/>
          </a:xfrm>
          <a:prstGeom prst="roundRect">
            <a:avLst>
              <a:gd name="adj" fmla="val 8537"/>
            </a:avLst>
          </a:prstGeom>
          <a:solidFill>
            <a:srgbClr val="F3F7FB"/>
          </a:solidFill>
          <a:ln w="9525">
            <a:solidFill>
              <a:srgbClr val="E3E9EF"/>
            </a:solidFill>
            <a:prstDash val="solid"/>
          </a:ln>
        </p:spPr>
        <p:txBody>
          <a:bodyPr/>
          <a:lstStyle/>
          <a:p>
            <a:endParaRPr lang="en-US"/>
          </a:p>
        </p:txBody>
      </p:sp>
      <p:sp>
        <p:nvSpPr>
          <p:cNvPr id="37" name="Text 30"/>
          <p:cNvSpPr/>
          <p:nvPr/>
        </p:nvSpPr>
        <p:spPr>
          <a:xfrm>
            <a:off x="768096" y="3931920"/>
            <a:ext cx="1214323" cy="292608"/>
          </a:xfrm>
          <a:prstGeom prst="rect">
            <a:avLst/>
          </a:prstGeom>
          <a:noFill/>
          <a:ln/>
        </p:spPr>
        <p:txBody>
          <a:bodyPr wrap="square" lIns="0" tIns="0" rIns="0" bIns="0" rtlCol="0" anchor="ctr"/>
          <a:lstStyle/>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Genetically supported</a:t>
            </a:r>
            <a:endParaRPr lang="en-US" sz="800" dirty="0"/>
          </a:p>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targets</a:t>
            </a:r>
            <a:endParaRPr lang="en-US" sz="800" dirty="0"/>
          </a:p>
        </p:txBody>
      </p:sp>
      <p:sp>
        <p:nvSpPr>
          <p:cNvPr id="38" name="Text 31"/>
          <p:cNvSpPr/>
          <p:nvPr/>
        </p:nvSpPr>
        <p:spPr>
          <a:xfrm>
            <a:off x="768096" y="4261104"/>
            <a:ext cx="1214323" cy="274320"/>
          </a:xfrm>
          <a:prstGeom prst="rect">
            <a:avLst/>
          </a:prstGeom>
          <a:noFill/>
          <a:ln/>
        </p:spPr>
        <p:txBody>
          <a:bodyPr wrap="square" lIns="0" tIns="0" rIns="0" bIns="0" rtlCol="0" anchor="ctr"/>
          <a:lstStyle/>
          <a:p>
            <a:pPr marL="0" indent="0">
              <a:buNone/>
            </a:pPr>
            <a:r>
              <a:rPr lang="en-US" sz="1100" dirty="0">
                <a:solidFill>
                  <a:srgbClr val="8FA1B2"/>
                </a:solidFill>
                <a:latin typeface="Calibri" pitchFamily="34" charset="0"/>
                <a:ea typeface="Calibri" pitchFamily="34" charset="-122"/>
                <a:cs typeface="Calibri" pitchFamily="34" charset="-120"/>
              </a:rPr>
              <a:t>35%  →  </a:t>
            </a:r>
            <a:r>
              <a:rPr lang="en-US" sz="1300" b="1" dirty="0">
                <a:solidFill>
                  <a:srgbClr val="0B63CE"/>
                </a:solidFill>
                <a:latin typeface="Calibri" pitchFamily="34" charset="0"/>
                <a:ea typeface="Calibri" pitchFamily="34" charset="-122"/>
                <a:cs typeface="Calibri" pitchFamily="34" charset="-120"/>
              </a:rPr>
              <a:t>70%</a:t>
            </a:r>
            <a:endParaRPr lang="en-US" sz="1100" dirty="0"/>
          </a:p>
        </p:txBody>
      </p:sp>
      <p:sp>
        <p:nvSpPr>
          <p:cNvPr id="39" name="Shape 32"/>
          <p:cNvSpPr/>
          <p:nvPr/>
        </p:nvSpPr>
        <p:spPr>
          <a:xfrm>
            <a:off x="2238451" y="3877056"/>
            <a:ext cx="1470355" cy="749808"/>
          </a:xfrm>
          <a:prstGeom prst="roundRect">
            <a:avLst>
              <a:gd name="adj" fmla="val 8537"/>
            </a:avLst>
          </a:prstGeom>
          <a:solidFill>
            <a:srgbClr val="F3F7FB"/>
          </a:solidFill>
          <a:ln w="9525">
            <a:solidFill>
              <a:srgbClr val="E3E9EF"/>
            </a:solidFill>
            <a:prstDash val="solid"/>
          </a:ln>
        </p:spPr>
        <p:txBody>
          <a:bodyPr/>
          <a:lstStyle/>
          <a:p>
            <a:endParaRPr lang="en-US"/>
          </a:p>
        </p:txBody>
      </p:sp>
      <p:sp>
        <p:nvSpPr>
          <p:cNvPr id="40" name="Text 33"/>
          <p:cNvSpPr/>
          <p:nvPr/>
        </p:nvSpPr>
        <p:spPr>
          <a:xfrm>
            <a:off x="2366467" y="3931920"/>
            <a:ext cx="1214323" cy="292608"/>
          </a:xfrm>
          <a:prstGeom prst="rect">
            <a:avLst/>
          </a:prstGeom>
          <a:noFill/>
          <a:ln/>
        </p:spPr>
        <p:txBody>
          <a:bodyPr wrap="square" lIns="0" tIns="0" rIns="0" bIns="0" rtlCol="0" anchor="ctr"/>
          <a:lstStyle/>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Probability of success</a:t>
            </a:r>
            <a:endParaRPr lang="en-US" sz="800" dirty="0"/>
          </a:p>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(Phase I → approval)</a:t>
            </a:r>
            <a:endParaRPr lang="en-US" sz="800" dirty="0"/>
          </a:p>
        </p:txBody>
      </p:sp>
      <p:sp>
        <p:nvSpPr>
          <p:cNvPr id="41" name="Text 34"/>
          <p:cNvSpPr/>
          <p:nvPr/>
        </p:nvSpPr>
        <p:spPr>
          <a:xfrm>
            <a:off x="2366467" y="4261104"/>
            <a:ext cx="1214323" cy="274320"/>
          </a:xfrm>
          <a:prstGeom prst="rect">
            <a:avLst/>
          </a:prstGeom>
          <a:noFill/>
          <a:ln/>
        </p:spPr>
        <p:txBody>
          <a:bodyPr wrap="square" lIns="0" tIns="0" rIns="0" bIns="0" rtlCol="0" anchor="ctr"/>
          <a:lstStyle/>
          <a:p>
            <a:pPr marL="0" indent="0">
              <a:buNone/>
            </a:pPr>
            <a:r>
              <a:rPr lang="en-US" sz="1100" dirty="0">
                <a:solidFill>
                  <a:srgbClr val="8FA1B2"/>
                </a:solidFill>
                <a:latin typeface="Calibri" pitchFamily="34" charset="0"/>
                <a:ea typeface="Calibri" pitchFamily="34" charset="-122"/>
                <a:cs typeface="Calibri" pitchFamily="34" charset="-120"/>
              </a:rPr>
              <a:t>~8%  →  </a:t>
            </a:r>
            <a:r>
              <a:rPr lang="en-US" sz="1300" b="1" dirty="0">
                <a:solidFill>
                  <a:srgbClr val="0C8C83"/>
                </a:solidFill>
                <a:latin typeface="Calibri" pitchFamily="34" charset="0"/>
                <a:ea typeface="Calibri" pitchFamily="34" charset="-122"/>
                <a:cs typeface="Calibri" pitchFamily="34" charset="-120"/>
              </a:rPr>
              <a:t>~20%</a:t>
            </a:r>
            <a:endParaRPr lang="en-US" sz="1100" dirty="0"/>
          </a:p>
        </p:txBody>
      </p:sp>
      <p:sp>
        <p:nvSpPr>
          <p:cNvPr id="42" name="Shape 35"/>
          <p:cNvSpPr/>
          <p:nvPr/>
        </p:nvSpPr>
        <p:spPr>
          <a:xfrm>
            <a:off x="3836822" y="3877056"/>
            <a:ext cx="1470355" cy="749808"/>
          </a:xfrm>
          <a:prstGeom prst="roundRect">
            <a:avLst>
              <a:gd name="adj" fmla="val 8537"/>
            </a:avLst>
          </a:prstGeom>
          <a:solidFill>
            <a:srgbClr val="F3F7FB"/>
          </a:solidFill>
          <a:ln w="9525">
            <a:solidFill>
              <a:srgbClr val="E3E9EF"/>
            </a:solidFill>
            <a:prstDash val="solid"/>
          </a:ln>
        </p:spPr>
        <p:txBody>
          <a:bodyPr/>
          <a:lstStyle/>
          <a:p>
            <a:endParaRPr lang="en-US"/>
          </a:p>
        </p:txBody>
      </p:sp>
      <p:sp>
        <p:nvSpPr>
          <p:cNvPr id="43" name="Text 36"/>
          <p:cNvSpPr/>
          <p:nvPr/>
        </p:nvSpPr>
        <p:spPr>
          <a:xfrm>
            <a:off x="3964838" y="3931920"/>
            <a:ext cx="1214323" cy="292608"/>
          </a:xfrm>
          <a:prstGeom prst="rect">
            <a:avLst/>
          </a:prstGeom>
          <a:noFill/>
          <a:ln/>
        </p:spPr>
        <p:txBody>
          <a:bodyPr wrap="square" lIns="0" tIns="0" rIns="0" bIns="0" rtlCol="0" anchor="ctr"/>
          <a:lstStyle/>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Target validation</a:t>
            </a:r>
            <a:endParaRPr lang="en-US" sz="800" dirty="0"/>
          </a:p>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cycle time</a:t>
            </a:r>
            <a:endParaRPr lang="en-US" sz="800" dirty="0"/>
          </a:p>
        </p:txBody>
      </p:sp>
      <p:sp>
        <p:nvSpPr>
          <p:cNvPr id="44" name="Text 37"/>
          <p:cNvSpPr/>
          <p:nvPr/>
        </p:nvSpPr>
        <p:spPr>
          <a:xfrm>
            <a:off x="3964838" y="4261104"/>
            <a:ext cx="1214323" cy="274320"/>
          </a:xfrm>
          <a:prstGeom prst="rect">
            <a:avLst/>
          </a:prstGeom>
          <a:noFill/>
          <a:ln/>
        </p:spPr>
        <p:txBody>
          <a:bodyPr wrap="square" lIns="0" tIns="0" rIns="0" bIns="0" rtlCol="0" anchor="ctr"/>
          <a:lstStyle/>
          <a:p>
            <a:pPr marL="0" indent="0">
              <a:buNone/>
            </a:pPr>
            <a:r>
              <a:rPr lang="en-US" sz="1100" dirty="0">
                <a:solidFill>
                  <a:srgbClr val="8FA1B2"/>
                </a:solidFill>
                <a:latin typeface="Calibri" pitchFamily="34" charset="0"/>
                <a:ea typeface="Calibri" pitchFamily="34" charset="-122"/>
                <a:cs typeface="Calibri" pitchFamily="34" charset="-120"/>
              </a:rPr>
              <a:t>18 mo  →  </a:t>
            </a:r>
            <a:r>
              <a:rPr lang="en-US" sz="1300" b="1" dirty="0">
                <a:solidFill>
                  <a:srgbClr val="0B63CE"/>
                </a:solidFill>
                <a:latin typeface="Calibri" pitchFamily="34" charset="0"/>
                <a:ea typeface="Calibri" pitchFamily="34" charset="-122"/>
                <a:cs typeface="Calibri" pitchFamily="34" charset="-120"/>
              </a:rPr>
              <a:t>6 mo</a:t>
            </a:r>
            <a:endParaRPr lang="en-US" sz="1100" dirty="0"/>
          </a:p>
        </p:txBody>
      </p:sp>
      <p:sp>
        <p:nvSpPr>
          <p:cNvPr id="45" name="Shape 38"/>
          <p:cNvSpPr/>
          <p:nvPr/>
        </p:nvSpPr>
        <p:spPr>
          <a:xfrm>
            <a:off x="5435194" y="3877056"/>
            <a:ext cx="1470355" cy="749808"/>
          </a:xfrm>
          <a:prstGeom prst="roundRect">
            <a:avLst>
              <a:gd name="adj" fmla="val 8537"/>
            </a:avLst>
          </a:prstGeom>
          <a:solidFill>
            <a:srgbClr val="F3F7FB"/>
          </a:solidFill>
          <a:ln w="9525">
            <a:solidFill>
              <a:srgbClr val="E3E9EF"/>
            </a:solidFill>
            <a:prstDash val="solid"/>
          </a:ln>
        </p:spPr>
        <p:txBody>
          <a:bodyPr/>
          <a:lstStyle/>
          <a:p>
            <a:endParaRPr lang="en-US"/>
          </a:p>
        </p:txBody>
      </p:sp>
      <p:sp>
        <p:nvSpPr>
          <p:cNvPr id="46" name="Text 39"/>
          <p:cNvSpPr/>
          <p:nvPr/>
        </p:nvSpPr>
        <p:spPr>
          <a:xfrm>
            <a:off x="5563210" y="3931920"/>
            <a:ext cx="1214323" cy="292608"/>
          </a:xfrm>
          <a:prstGeom prst="rect">
            <a:avLst/>
          </a:prstGeom>
          <a:noFill/>
          <a:ln/>
        </p:spPr>
        <p:txBody>
          <a:bodyPr wrap="square" lIns="0" tIns="0" rIns="0" bIns="0" rtlCol="0" anchor="ctr"/>
          <a:lstStyle/>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Data pipeline</a:t>
            </a:r>
            <a:endParaRPr lang="en-US" sz="800" dirty="0"/>
          </a:p>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latency</a:t>
            </a:r>
            <a:endParaRPr lang="en-US" sz="800" dirty="0"/>
          </a:p>
        </p:txBody>
      </p:sp>
      <p:sp>
        <p:nvSpPr>
          <p:cNvPr id="47" name="Text 40"/>
          <p:cNvSpPr/>
          <p:nvPr/>
        </p:nvSpPr>
        <p:spPr>
          <a:xfrm>
            <a:off x="5563210" y="4261104"/>
            <a:ext cx="1214323" cy="274320"/>
          </a:xfrm>
          <a:prstGeom prst="rect">
            <a:avLst/>
          </a:prstGeom>
          <a:noFill/>
          <a:ln/>
        </p:spPr>
        <p:txBody>
          <a:bodyPr wrap="square" lIns="0" tIns="0" rIns="0" bIns="0" rtlCol="0" anchor="ctr"/>
          <a:lstStyle/>
          <a:p>
            <a:pPr marL="0" indent="0">
              <a:buNone/>
            </a:pPr>
            <a:r>
              <a:rPr lang="en-US" sz="1100" dirty="0">
                <a:solidFill>
                  <a:srgbClr val="8FA1B2"/>
                </a:solidFill>
                <a:latin typeface="Calibri" pitchFamily="34" charset="0"/>
                <a:ea typeface="Calibri" pitchFamily="34" charset="-122"/>
                <a:cs typeface="Calibri" pitchFamily="34" charset="-120"/>
              </a:rPr>
              <a:t>3 weeks  →  </a:t>
            </a:r>
            <a:r>
              <a:rPr lang="en-US" sz="1300" b="1" dirty="0">
                <a:solidFill>
                  <a:srgbClr val="0C8C83"/>
                </a:solidFill>
                <a:latin typeface="Calibri" pitchFamily="34" charset="0"/>
                <a:ea typeface="Calibri" pitchFamily="34" charset="-122"/>
                <a:cs typeface="Calibri" pitchFamily="34" charset="-120"/>
              </a:rPr>
              <a:t>2 days</a:t>
            </a:r>
            <a:endParaRPr lang="en-US" sz="1100" dirty="0"/>
          </a:p>
        </p:txBody>
      </p:sp>
      <p:sp>
        <p:nvSpPr>
          <p:cNvPr id="48" name="Shape 41"/>
          <p:cNvSpPr/>
          <p:nvPr/>
        </p:nvSpPr>
        <p:spPr>
          <a:xfrm>
            <a:off x="7033565" y="3877056"/>
            <a:ext cx="1470355" cy="749808"/>
          </a:xfrm>
          <a:prstGeom prst="roundRect">
            <a:avLst>
              <a:gd name="adj" fmla="val 8537"/>
            </a:avLst>
          </a:prstGeom>
          <a:solidFill>
            <a:srgbClr val="F3F7FB"/>
          </a:solidFill>
          <a:ln w="9525">
            <a:solidFill>
              <a:srgbClr val="E3E9EF"/>
            </a:solidFill>
            <a:prstDash val="solid"/>
          </a:ln>
        </p:spPr>
        <p:txBody>
          <a:bodyPr/>
          <a:lstStyle/>
          <a:p>
            <a:endParaRPr lang="en-US"/>
          </a:p>
        </p:txBody>
      </p:sp>
      <p:sp>
        <p:nvSpPr>
          <p:cNvPr id="49" name="Text 42"/>
          <p:cNvSpPr/>
          <p:nvPr/>
        </p:nvSpPr>
        <p:spPr>
          <a:xfrm>
            <a:off x="7161581" y="3931920"/>
            <a:ext cx="1214323" cy="292608"/>
          </a:xfrm>
          <a:prstGeom prst="rect">
            <a:avLst/>
          </a:prstGeom>
          <a:noFill/>
          <a:ln/>
        </p:spPr>
        <p:txBody>
          <a:bodyPr wrap="square" lIns="0" tIns="0" rIns="0" bIns="0" rtlCol="0" anchor="ctr"/>
          <a:lstStyle/>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Portfolio hit rate</a:t>
            </a:r>
            <a:endParaRPr lang="en-US" sz="800" dirty="0"/>
          </a:p>
          <a:p>
            <a:pPr marL="0" indent="0">
              <a:lnSpc>
                <a:spcPts val="1000"/>
              </a:lnSpc>
              <a:buNone/>
            </a:pPr>
            <a:r>
              <a:rPr lang="en-US" sz="800" b="1" dirty="0">
                <a:solidFill>
                  <a:srgbClr val="10243A"/>
                </a:solidFill>
                <a:latin typeface="Calibri" pitchFamily="34" charset="0"/>
                <a:ea typeface="Calibri" pitchFamily="34" charset="-122"/>
                <a:cs typeface="Calibri" pitchFamily="34" charset="-120"/>
              </a:rPr>
              <a:t>(24 months)</a:t>
            </a:r>
            <a:endParaRPr lang="en-US" sz="800" dirty="0"/>
          </a:p>
        </p:txBody>
      </p:sp>
      <p:sp>
        <p:nvSpPr>
          <p:cNvPr id="50" name="Text 43"/>
          <p:cNvSpPr/>
          <p:nvPr/>
        </p:nvSpPr>
        <p:spPr>
          <a:xfrm>
            <a:off x="7161581" y="4261104"/>
            <a:ext cx="1214323" cy="274320"/>
          </a:xfrm>
          <a:prstGeom prst="rect">
            <a:avLst/>
          </a:prstGeom>
          <a:noFill/>
          <a:ln/>
        </p:spPr>
        <p:txBody>
          <a:bodyPr wrap="square" lIns="0" tIns="0" rIns="0" bIns="0" rtlCol="0" anchor="ctr"/>
          <a:lstStyle/>
          <a:p>
            <a:pPr marL="0" indent="0">
              <a:buNone/>
            </a:pPr>
            <a:r>
              <a:rPr lang="en-US" sz="1100" dirty="0">
                <a:solidFill>
                  <a:srgbClr val="8FA1B2"/>
                </a:solidFill>
                <a:latin typeface="Calibri" pitchFamily="34" charset="0"/>
                <a:ea typeface="Calibri" pitchFamily="34" charset="-122"/>
                <a:cs typeface="Calibri" pitchFamily="34" charset="-120"/>
              </a:rPr>
              <a:t>41%  →  </a:t>
            </a:r>
            <a:r>
              <a:rPr lang="en-US" sz="1300" b="1" dirty="0">
                <a:solidFill>
                  <a:srgbClr val="0B63CE"/>
                </a:solidFill>
                <a:latin typeface="Calibri" pitchFamily="34" charset="0"/>
                <a:ea typeface="Calibri" pitchFamily="34" charset="-122"/>
                <a:cs typeface="Calibri" pitchFamily="34" charset="-120"/>
              </a:rPr>
              <a:t>65%</a:t>
            </a:r>
            <a:endParaRPr lang="en-US" sz="1100" dirty="0"/>
          </a:p>
        </p:txBody>
      </p:sp>
      <p:sp>
        <p:nvSpPr>
          <p:cNvPr id="51" name="Text 44"/>
          <p:cNvSpPr/>
          <p:nvPr/>
        </p:nvSpPr>
        <p:spPr>
          <a:xfrm>
            <a:off x="640080" y="4718304"/>
            <a:ext cx="7863840" cy="164592"/>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Pipeline-latency figures are Regeneron’s published platform results; the remaining baselines and targets are illustrative benchmarks set for this case study.</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02336"/>
            <a:ext cx="49377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08   —   PERFORMANCE DASHBOARD</a:t>
            </a:r>
            <a:endParaRPr lang="en-US" sz="850" dirty="0"/>
          </a:p>
        </p:txBody>
      </p:sp>
      <p:sp>
        <p:nvSpPr>
          <p:cNvPr id="3" name="Text 1"/>
          <p:cNvSpPr/>
          <p:nvPr/>
        </p:nvSpPr>
        <p:spPr>
          <a:xfrm>
            <a:off x="640080" y="585216"/>
            <a:ext cx="6035040" cy="384048"/>
          </a:xfrm>
          <a:prstGeom prst="rect">
            <a:avLst/>
          </a:prstGeom>
          <a:noFill/>
          <a:ln/>
        </p:spPr>
        <p:txBody>
          <a:bodyPr wrap="square" lIns="0" tIns="0" rIns="0" bIns="0" rtlCol="0" anchor="t"/>
          <a:lstStyle/>
          <a:p>
            <a:pPr marL="0" indent="0">
              <a:buNone/>
            </a:pPr>
            <a:r>
              <a:rPr lang="en-US" sz="2400" b="1" dirty="0">
                <a:solidFill>
                  <a:srgbClr val="10243A"/>
                </a:solidFill>
                <a:latin typeface="Calibri" pitchFamily="34" charset="0"/>
                <a:ea typeface="Calibri" pitchFamily="34" charset="-122"/>
                <a:cs typeface="Calibri" pitchFamily="34" charset="-120"/>
              </a:rPr>
              <a:t>Target Discovery </a:t>
            </a:r>
            <a:r>
              <a:rPr lang="en-US" sz="2400" b="1" dirty="0">
                <a:solidFill>
                  <a:srgbClr val="0B63CE"/>
                </a:solidFill>
                <a:latin typeface="Calibri" pitchFamily="34" charset="0"/>
                <a:ea typeface="Calibri" pitchFamily="34" charset="-122"/>
                <a:cs typeface="Calibri" pitchFamily="34" charset="-120"/>
              </a:rPr>
              <a:t>Performance Dashboard</a:t>
            </a:r>
            <a:endParaRPr lang="en-US" sz="2400" dirty="0"/>
          </a:p>
        </p:txBody>
      </p:sp>
      <p:sp>
        <p:nvSpPr>
          <p:cNvPr id="4" name="Text 2"/>
          <p:cNvSpPr/>
          <p:nvPr/>
        </p:nvSpPr>
        <p:spPr>
          <a:xfrm>
            <a:off x="6309360" y="640080"/>
            <a:ext cx="2194560" cy="201168"/>
          </a:xfrm>
          <a:prstGeom prst="rect">
            <a:avLst/>
          </a:prstGeom>
          <a:noFill/>
          <a:ln/>
        </p:spPr>
        <p:txBody>
          <a:bodyPr wrap="square" lIns="0" tIns="0" rIns="0" bIns="0" rtlCol="0" anchor="ctr"/>
          <a:lstStyle/>
          <a:p>
            <a:pPr marL="0" indent="0" algn="r">
              <a:buNone/>
            </a:pPr>
            <a:r>
              <a:rPr lang="en-US" sz="800" dirty="0">
                <a:solidFill>
                  <a:srgbClr val="8FA1B2"/>
                </a:solidFill>
                <a:latin typeface="Calibri" pitchFamily="34" charset="0"/>
                <a:ea typeface="Calibri" pitchFamily="34" charset="-122"/>
                <a:cs typeface="Calibri" pitchFamily="34" charset="-120"/>
              </a:rPr>
              <a:t>Last refresh  ·  30 Aug 2026, 06:00</a:t>
            </a:r>
            <a:endParaRPr lang="en-US" sz="800" dirty="0"/>
          </a:p>
        </p:txBody>
      </p:sp>
      <p:sp>
        <p:nvSpPr>
          <p:cNvPr id="5" name="filt_0"/>
          <p:cNvSpPr/>
          <p:nvPr/>
        </p:nvSpPr>
        <p:spPr>
          <a:xfrm>
            <a:off x="640080" y="1042416"/>
            <a:ext cx="1464869" cy="237744"/>
          </a:xfrm>
          <a:prstGeom prst="roundRect">
            <a:avLst>
              <a:gd name="adj" fmla="val 50000"/>
            </a:avLst>
          </a:prstGeom>
          <a:solidFill>
            <a:srgbClr val="E8F1FC"/>
          </a:solidFill>
          <a:ln w="9525">
            <a:solidFill>
              <a:srgbClr val="C9DFF6"/>
            </a:solidFill>
            <a:prstDash val="solid"/>
          </a:ln>
        </p:spPr>
        <p:txBody>
          <a:bodyPr/>
          <a:lstStyle/>
          <a:p>
            <a:endParaRPr lang="en-US"/>
          </a:p>
        </p:txBody>
      </p:sp>
      <p:sp>
        <p:nvSpPr>
          <p:cNvPr id="6" name="filtt_0"/>
          <p:cNvSpPr/>
          <p:nvPr/>
        </p:nvSpPr>
        <p:spPr>
          <a:xfrm>
            <a:off x="640080" y="1042416"/>
            <a:ext cx="1464869" cy="237744"/>
          </a:xfrm>
          <a:prstGeom prst="rect">
            <a:avLst/>
          </a:prstGeom>
          <a:noFill/>
          <a:ln/>
        </p:spPr>
        <p:txBody>
          <a:bodyPr wrap="square" lIns="0" tIns="0" rIns="0" bIns="0" rtlCol="0" anchor="ctr"/>
          <a:lstStyle/>
          <a:p>
            <a:pPr marL="0" indent="0" algn="ctr">
              <a:buNone/>
            </a:pPr>
            <a:r>
              <a:rPr lang="en-US" sz="750" b="1" dirty="0">
                <a:solidFill>
                  <a:srgbClr val="0A3E7A"/>
                </a:solidFill>
                <a:latin typeface="Calibri" pitchFamily="34" charset="0"/>
                <a:ea typeface="Calibri" pitchFamily="34" charset="-122"/>
                <a:cs typeface="Calibri" pitchFamily="34" charset="-120"/>
              </a:rPr>
              <a:t>Therapeutic area: All</a:t>
            </a:r>
            <a:endParaRPr lang="en-US" sz="750" dirty="0"/>
          </a:p>
        </p:txBody>
      </p:sp>
      <p:sp>
        <p:nvSpPr>
          <p:cNvPr id="7" name="filt_1"/>
          <p:cNvSpPr/>
          <p:nvPr/>
        </p:nvSpPr>
        <p:spPr>
          <a:xfrm>
            <a:off x="2196389" y="1042416"/>
            <a:ext cx="1351483" cy="237744"/>
          </a:xfrm>
          <a:prstGeom prst="roundRect">
            <a:avLst>
              <a:gd name="adj" fmla="val 50000"/>
            </a:avLst>
          </a:prstGeom>
          <a:solidFill>
            <a:srgbClr val="E8F1FC"/>
          </a:solidFill>
          <a:ln w="9525">
            <a:solidFill>
              <a:srgbClr val="C9DFF6"/>
            </a:solidFill>
            <a:prstDash val="solid"/>
          </a:ln>
        </p:spPr>
        <p:txBody>
          <a:bodyPr/>
          <a:lstStyle/>
          <a:p>
            <a:endParaRPr lang="en-US"/>
          </a:p>
        </p:txBody>
      </p:sp>
      <p:sp>
        <p:nvSpPr>
          <p:cNvPr id="8" name="filtt_1"/>
          <p:cNvSpPr/>
          <p:nvPr/>
        </p:nvSpPr>
        <p:spPr>
          <a:xfrm>
            <a:off x="2196389" y="1042416"/>
            <a:ext cx="1351483" cy="237744"/>
          </a:xfrm>
          <a:prstGeom prst="rect">
            <a:avLst/>
          </a:prstGeom>
          <a:noFill/>
          <a:ln/>
        </p:spPr>
        <p:txBody>
          <a:bodyPr wrap="square" lIns="0" tIns="0" rIns="0" bIns="0" rtlCol="0" anchor="ctr"/>
          <a:lstStyle/>
          <a:p>
            <a:pPr marL="0" indent="0" algn="ctr">
              <a:buNone/>
            </a:pPr>
            <a:r>
              <a:rPr lang="en-US" sz="750" b="1" dirty="0">
                <a:solidFill>
                  <a:srgbClr val="0A3E7A"/>
                </a:solidFill>
                <a:latin typeface="Calibri" pitchFamily="34" charset="0"/>
                <a:ea typeface="Calibri" pitchFamily="34" charset="-122"/>
                <a:cs typeface="Calibri" pitchFamily="34" charset="-120"/>
              </a:rPr>
              <a:t>Period: FY25 – FY26</a:t>
            </a:r>
            <a:endParaRPr lang="en-US" sz="750" dirty="0"/>
          </a:p>
        </p:txBody>
      </p:sp>
      <p:sp>
        <p:nvSpPr>
          <p:cNvPr id="9" name="filt_2"/>
          <p:cNvSpPr/>
          <p:nvPr/>
        </p:nvSpPr>
        <p:spPr>
          <a:xfrm>
            <a:off x="3639312" y="1042416"/>
            <a:ext cx="1068019" cy="237744"/>
          </a:xfrm>
          <a:prstGeom prst="roundRect">
            <a:avLst>
              <a:gd name="adj" fmla="val 50000"/>
            </a:avLst>
          </a:prstGeom>
          <a:solidFill>
            <a:srgbClr val="E8F1FC"/>
          </a:solidFill>
          <a:ln w="9525">
            <a:solidFill>
              <a:srgbClr val="C9DFF6"/>
            </a:solidFill>
            <a:prstDash val="solid"/>
          </a:ln>
        </p:spPr>
        <p:txBody>
          <a:bodyPr/>
          <a:lstStyle/>
          <a:p>
            <a:endParaRPr lang="en-US"/>
          </a:p>
        </p:txBody>
      </p:sp>
      <p:sp>
        <p:nvSpPr>
          <p:cNvPr id="10" name="filtt_2"/>
          <p:cNvSpPr/>
          <p:nvPr/>
        </p:nvSpPr>
        <p:spPr>
          <a:xfrm>
            <a:off x="3639312" y="1042416"/>
            <a:ext cx="1068019" cy="237744"/>
          </a:xfrm>
          <a:prstGeom prst="rect">
            <a:avLst/>
          </a:prstGeom>
          <a:noFill/>
          <a:ln/>
        </p:spPr>
        <p:txBody>
          <a:bodyPr wrap="square" lIns="0" tIns="0" rIns="0" bIns="0" rtlCol="0" anchor="ctr"/>
          <a:lstStyle/>
          <a:p>
            <a:pPr marL="0" indent="0" algn="ctr">
              <a:buNone/>
            </a:pPr>
            <a:r>
              <a:rPr lang="en-US" sz="750" b="1" dirty="0">
                <a:solidFill>
                  <a:srgbClr val="0A3E7A"/>
                </a:solidFill>
                <a:latin typeface="Calibri" pitchFamily="34" charset="0"/>
                <a:ea typeface="Calibri" pitchFamily="34" charset="-122"/>
                <a:cs typeface="Calibri" pitchFamily="34" charset="-120"/>
              </a:rPr>
              <a:t>Programmes: 35</a:t>
            </a:r>
            <a:endParaRPr lang="en-US" sz="750" dirty="0"/>
          </a:p>
        </p:txBody>
      </p:sp>
      <p:sp>
        <p:nvSpPr>
          <p:cNvPr id="11" name="filt_3"/>
          <p:cNvSpPr/>
          <p:nvPr/>
        </p:nvSpPr>
        <p:spPr>
          <a:xfrm>
            <a:off x="4798771" y="1042416"/>
            <a:ext cx="1238098" cy="237744"/>
          </a:xfrm>
          <a:prstGeom prst="roundRect">
            <a:avLst>
              <a:gd name="adj" fmla="val 50000"/>
            </a:avLst>
          </a:prstGeom>
          <a:solidFill>
            <a:srgbClr val="E8F1FC"/>
          </a:solidFill>
          <a:ln w="9525">
            <a:solidFill>
              <a:srgbClr val="C9DFF6"/>
            </a:solidFill>
            <a:prstDash val="solid"/>
          </a:ln>
        </p:spPr>
        <p:txBody>
          <a:bodyPr/>
          <a:lstStyle/>
          <a:p>
            <a:endParaRPr lang="en-US"/>
          </a:p>
        </p:txBody>
      </p:sp>
      <p:sp>
        <p:nvSpPr>
          <p:cNvPr id="12" name="filtt_3"/>
          <p:cNvSpPr/>
          <p:nvPr/>
        </p:nvSpPr>
        <p:spPr>
          <a:xfrm>
            <a:off x="4798771" y="1042416"/>
            <a:ext cx="1238098" cy="237744"/>
          </a:xfrm>
          <a:prstGeom prst="rect">
            <a:avLst/>
          </a:prstGeom>
          <a:noFill/>
          <a:ln/>
        </p:spPr>
        <p:txBody>
          <a:bodyPr wrap="square" lIns="0" tIns="0" rIns="0" bIns="0" rtlCol="0" anchor="ctr"/>
          <a:lstStyle/>
          <a:p>
            <a:pPr marL="0" indent="0" algn="ctr">
              <a:buNone/>
            </a:pPr>
            <a:r>
              <a:rPr lang="en-US" sz="750" b="1" dirty="0">
                <a:solidFill>
                  <a:srgbClr val="0A3E7A"/>
                </a:solidFill>
                <a:latin typeface="Calibri" pitchFamily="34" charset="0"/>
                <a:ea typeface="Calibri" pitchFamily="34" charset="-122"/>
                <a:cs typeface="Calibri" pitchFamily="34" charset="-120"/>
              </a:rPr>
              <a:t>Source: RGC + EHR</a:t>
            </a:r>
            <a:endParaRPr lang="en-US" sz="750" dirty="0"/>
          </a:p>
        </p:txBody>
      </p:sp>
      <p:sp>
        <p:nvSpPr>
          <p:cNvPr id="13" name="tile_k1"/>
          <p:cNvSpPr/>
          <p:nvPr/>
        </p:nvSpPr>
        <p:spPr>
          <a:xfrm>
            <a:off x="640080" y="1389888"/>
            <a:ext cx="1474013" cy="841248"/>
          </a:xfrm>
          <a:prstGeom prst="roundRect">
            <a:avLst>
              <a:gd name="adj" fmla="val 7609"/>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14" name="tilel_k1"/>
          <p:cNvSpPr/>
          <p:nvPr/>
        </p:nvSpPr>
        <p:spPr>
          <a:xfrm>
            <a:off x="749808" y="1444752"/>
            <a:ext cx="1254557" cy="164592"/>
          </a:xfrm>
          <a:prstGeom prst="rect">
            <a:avLst/>
          </a:prstGeom>
          <a:noFill/>
          <a:ln/>
        </p:spPr>
        <p:txBody>
          <a:bodyPr wrap="square" lIns="0" tIns="0" rIns="0" bIns="0" rtlCol="0" anchor="ctr"/>
          <a:lstStyle/>
          <a:p>
            <a:pPr marL="0" indent="0">
              <a:buNone/>
            </a:pPr>
            <a:r>
              <a:rPr lang="en-US" sz="720" b="1" kern="0" spc="40" dirty="0">
                <a:solidFill>
                  <a:srgbClr val="8FA1B2"/>
                </a:solidFill>
                <a:latin typeface="Calibri" pitchFamily="34" charset="0"/>
                <a:ea typeface="Calibri" pitchFamily="34" charset="-122"/>
                <a:cs typeface="Calibri" pitchFamily="34" charset="-120"/>
              </a:rPr>
              <a:t>Genetically supported</a:t>
            </a:r>
            <a:endParaRPr lang="en-US" sz="720" dirty="0"/>
          </a:p>
        </p:txBody>
      </p:sp>
      <p:sp>
        <p:nvSpPr>
          <p:cNvPr id="15" name="tilev_k1"/>
          <p:cNvSpPr/>
          <p:nvPr/>
        </p:nvSpPr>
        <p:spPr>
          <a:xfrm>
            <a:off x="749808" y="1600200"/>
            <a:ext cx="1254557" cy="274320"/>
          </a:xfrm>
          <a:prstGeom prst="rect">
            <a:avLst/>
          </a:prstGeom>
          <a:noFill/>
          <a:ln/>
        </p:spPr>
        <p:txBody>
          <a:bodyPr wrap="square" lIns="0" tIns="0" rIns="0" bIns="0" rtlCol="0" anchor="ctr"/>
          <a:lstStyle/>
          <a:p>
            <a:pPr marL="0" indent="0">
              <a:buNone/>
            </a:pPr>
            <a:r>
              <a:rPr lang="en-US" sz="1700" b="1" dirty="0">
                <a:solidFill>
                  <a:srgbClr val="10243A"/>
                </a:solidFill>
                <a:latin typeface="Calibri" pitchFamily="34" charset="0"/>
                <a:ea typeface="Calibri" pitchFamily="34" charset="-122"/>
                <a:cs typeface="Calibri" pitchFamily="34" charset="-120"/>
              </a:rPr>
              <a:t>62%</a:t>
            </a:r>
            <a:endParaRPr lang="en-US" sz="1700" dirty="0"/>
          </a:p>
        </p:txBody>
      </p:sp>
      <p:sp>
        <p:nvSpPr>
          <p:cNvPr id="16" name="tiled_k1"/>
          <p:cNvSpPr/>
          <p:nvPr/>
        </p:nvSpPr>
        <p:spPr>
          <a:xfrm>
            <a:off x="749808" y="1865376"/>
            <a:ext cx="1254557" cy="146304"/>
          </a:xfrm>
          <a:prstGeom prst="rect">
            <a:avLst/>
          </a:prstGeom>
          <a:noFill/>
          <a:ln/>
        </p:spPr>
        <p:txBody>
          <a:bodyPr wrap="square" lIns="0" tIns="0" rIns="0" bIns="0" rtlCol="0" anchor="ctr"/>
          <a:lstStyle/>
          <a:p>
            <a:pPr marL="0" indent="0">
              <a:buNone/>
            </a:pPr>
            <a:r>
              <a:rPr lang="en-US" sz="680" b="1" dirty="0">
                <a:solidFill>
                  <a:srgbClr val="0B63CE"/>
                </a:solidFill>
                <a:latin typeface="Calibri" pitchFamily="34" charset="0"/>
                <a:ea typeface="Calibri" pitchFamily="34" charset="-122"/>
                <a:cs typeface="Calibri" pitchFamily="34" charset="-120"/>
              </a:rPr>
              <a:t>▲ +27 pts   </a:t>
            </a:r>
            <a:r>
              <a:rPr lang="en-US" sz="680" dirty="0">
                <a:solidFill>
                  <a:srgbClr val="8FA1B2"/>
                </a:solidFill>
                <a:latin typeface="Calibri" pitchFamily="34" charset="0"/>
                <a:ea typeface="Calibri" pitchFamily="34" charset="-122"/>
                <a:cs typeface="Calibri" pitchFamily="34" charset="-120"/>
              </a:rPr>
              <a:t>target 70%</a:t>
            </a:r>
            <a:endParaRPr lang="en-US" sz="680" dirty="0"/>
          </a:p>
        </p:txBody>
      </p:sp>
      <p:pic>
        <p:nvPicPr>
          <p:cNvPr id="17" name="tilesp_k1" descr="preencoded.png"/>
          <p:cNvPicPr>
            <a:picLocks noChangeAspect="1"/>
          </p:cNvPicPr>
          <p:nvPr/>
        </p:nvPicPr>
        <p:blipFill>
          <a:blip r:embed="rId3"/>
          <a:stretch>
            <a:fillRect/>
          </a:stretch>
        </p:blipFill>
        <p:spPr>
          <a:xfrm>
            <a:off x="749808" y="2011680"/>
            <a:ext cx="1254557" cy="164592"/>
          </a:xfrm>
          <a:prstGeom prst="rect">
            <a:avLst/>
          </a:prstGeom>
        </p:spPr>
      </p:pic>
      <p:sp>
        <p:nvSpPr>
          <p:cNvPr id="18" name="tile_k2"/>
          <p:cNvSpPr/>
          <p:nvPr/>
        </p:nvSpPr>
        <p:spPr>
          <a:xfrm>
            <a:off x="2237537" y="1389888"/>
            <a:ext cx="1474013" cy="841248"/>
          </a:xfrm>
          <a:prstGeom prst="roundRect">
            <a:avLst>
              <a:gd name="adj" fmla="val 7609"/>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19" name="tilel_k2"/>
          <p:cNvSpPr/>
          <p:nvPr/>
        </p:nvSpPr>
        <p:spPr>
          <a:xfrm>
            <a:off x="2347265" y="1444752"/>
            <a:ext cx="1254557" cy="164592"/>
          </a:xfrm>
          <a:prstGeom prst="rect">
            <a:avLst/>
          </a:prstGeom>
          <a:noFill/>
          <a:ln/>
        </p:spPr>
        <p:txBody>
          <a:bodyPr wrap="square" lIns="0" tIns="0" rIns="0" bIns="0" rtlCol="0" anchor="ctr"/>
          <a:lstStyle/>
          <a:p>
            <a:pPr marL="0" indent="0">
              <a:buNone/>
            </a:pPr>
            <a:r>
              <a:rPr lang="en-US" sz="720" b="1" kern="0" spc="40" dirty="0">
                <a:solidFill>
                  <a:srgbClr val="8FA1B2"/>
                </a:solidFill>
                <a:latin typeface="Calibri" pitchFamily="34" charset="0"/>
                <a:ea typeface="Calibri" pitchFamily="34" charset="-122"/>
                <a:cs typeface="Calibri" pitchFamily="34" charset="-120"/>
              </a:rPr>
              <a:t>Probability of success</a:t>
            </a:r>
            <a:endParaRPr lang="en-US" sz="720" dirty="0"/>
          </a:p>
        </p:txBody>
      </p:sp>
      <p:sp>
        <p:nvSpPr>
          <p:cNvPr id="20" name="tilev_k2"/>
          <p:cNvSpPr/>
          <p:nvPr/>
        </p:nvSpPr>
        <p:spPr>
          <a:xfrm>
            <a:off x="2347265" y="1600200"/>
            <a:ext cx="1254557" cy="274320"/>
          </a:xfrm>
          <a:prstGeom prst="rect">
            <a:avLst/>
          </a:prstGeom>
          <a:noFill/>
          <a:ln/>
        </p:spPr>
        <p:txBody>
          <a:bodyPr wrap="square" lIns="0" tIns="0" rIns="0" bIns="0" rtlCol="0" anchor="ctr"/>
          <a:lstStyle/>
          <a:p>
            <a:pPr marL="0" indent="0">
              <a:buNone/>
            </a:pPr>
            <a:r>
              <a:rPr lang="en-US" sz="1700" b="1" dirty="0">
                <a:solidFill>
                  <a:srgbClr val="10243A"/>
                </a:solidFill>
                <a:latin typeface="Calibri" pitchFamily="34" charset="0"/>
                <a:ea typeface="Calibri" pitchFamily="34" charset="-122"/>
                <a:cs typeface="Calibri" pitchFamily="34" charset="-120"/>
              </a:rPr>
              <a:t>14.8%</a:t>
            </a:r>
            <a:endParaRPr lang="en-US" sz="1700" dirty="0"/>
          </a:p>
        </p:txBody>
      </p:sp>
      <p:sp>
        <p:nvSpPr>
          <p:cNvPr id="21" name="tiled_k2"/>
          <p:cNvSpPr/>
          <p:nvPr/>
        </p:nvSpPr>
        <p:spPr>
          <a:xfrm>
            <a:off x="2347265" y="1865376"/>
            <a:ext cx="1254557" cy="146304"/>
          </a:xfrm>
          <a:prstGeom prst="rect">
            <a:avLst/>
          </a:prstGeom>
          <a:noFill/>
          <a:ln/>
        </p:spPr>
        <p:txBody>
          <a:bodyPr wrap="square" lIns="0" tIns="0" rIns="0" bIns="0" rtlCol="0" anchor="ctr"/>
          <a:lstStyle/>
          <a:p>
            <a:pPr marL="0" indent="0">
              <a:buNone/>
            </a:pPr>
            <a:r>
              <a:rPr lang="en-US" sz="680" b="1" dirty="0">
                <a:solidFill>
                  <a:srgbClr val="0C8C83"/>
                </a:solidFill>
                <a:latin typeface="Calibri" pitchFamily="34" charset="0"/>
                <a:ea typeface="Calibri" pitchFamily="34" charset="-122"/>
                <a:cs typeface="Calibri" pitchFamily="34" charset="-120"/>
              </a:rPr>
              <a:t>▲ +6.8 pts   </a:t>
            </a:r>
            <a:r>
              <a:rPr lang="en-US" sz="680" dirty="0">
                <a:solidFill>
                  <a:srgbClr val="8FA1B2"/>
                </a:solidFill>
                <a:latin typeface="Calibri" pitchFamily="34" charset="0"/>
                <a:ea typeface="Calibri" pitchFamily="34" charset="-122"/>
                <a:cs typeface="Calibri" pitchFamily="34" charset="-120"/>
              </a:rPr>
              <a:t>target 20%</a:t>
            </a:r>
            <a:endParaRPr lang="en-US" sz="680" dirty="0"/>
          </a:p>
        </p:txBody>
      </p:sp>
      <p:pic>
        <p:nvPicPr>
          <p:cNvPr id="22" name="tilesp_k2" descr="preencoded.png"/>
          <p:cNvPicPr>
            <a:picLocks noChangeAspect="1"/>
          </p:cNvPicPr>
          <p:nvPr/>
        </p:nvPicPr>
        <p:blipFill>
          <a:blip r:embed="rId4"/>
          <a:stretch>
            <a:fillRect/>
          </a:stretch>
        </p:blipFill>
        <p:spPr>
          <a:xfrm>
            <a:off x="2347265" y="2011680"/>
            <a:ext cx="1254557" cy="164592"/>
          </a:xfrm>
          <a:prstGeom prst="rect">
            <a:avLst/>
          </a:prstGeom>
        </p:spPr>
      </p:pic>
      <p:sp>
        <p:nvSpPr>
          <p:cNvPr id="23" name="tile_k3"/>
          <p:cNvSpPr/>
          <p:nvPr/>
        </p:nvSpPr>
        <p:spPr>
          <a:xfrm>
            <a:off x="3834994" y="1389888"/>
            <a:ext cx="1474013" cy="841248"/>
          </a:xfrm>
          <a:prstGeom prst="roundRect">
            <a:avLst>
              <a:gd name="adj" fmla="val 7609"/>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24" name="tilel_k3"/>
          <p:cNvSpPr/>
          <p:nvPr/>
        </p:nvSpPr>
        <p:spPr>
          <a:xfrm>
            <a:off x="3944722" y="1444752"/>
            <a:ext cx="1254557" cy="164592"/>
          </a:xfrm>
          <a:prstGeom prst="rect">
            <a:avLst/>
          </a:prstGeom>
          <a:noFill/>
          <a:ln/>
        </p:spPr>
        <p:txBody>
          <a:bodyPr wrap="square" lIns="0" tIns="0" rIns="0" bIns="0" rtlCol="0" anchor="ctr"/>
          <a:lstStyle/>
          <a:p>
            <a:pPr marL="0" indent="0">
              <a:buNone/>
            </a:pPr>
            <a:r>
              <a:rPr lang="en-US" sz="720" b="1" kern="0" spc="40" dirty="0">
                <a:solidFill>
                  <a:srgbClr val="8FA1B2"/>
                </a:solidFill>
                <a:latin typeface="Calibri" pitchFamily="34" charset="0"/>
                <a:ea typeface="Calibri" pitchFamily="34" charset="-122"/>
                <a:cs typeface="Calibri" pitchFamily="34" charset="-120"/>
              </a:rPr>
              <a:t>Validation cycle time</a:t>
            </a:r>
            <a:endParaRPr lang="en-US" sz="720" dirty="0"/>
          </a:p>
        </p:txBody>
      </p:sp>
      <p:sp>
        <p:nvSpPr>
          <p:cNvPr id="25" name="tilev_k3"/>
          <p:cNvSpPr/>
          <p:nvPr/>
        </p:nvSpPr>
        <p:spPr>
          <a:xfrm>
            <a:off x="3944722" y="1600200"/>
            <a:ext cx="1254557" cy="274320"/>
          </a:xfrm>
          <a:prstGeom prst="rect">
            <a:avLst/>
          </a:prstGeom>
          <a:noFill/>
          <a:ln/>
        </p:spPr>
        <p:txBody>
          <a:bodyPr wrap="square" lIns="0" tIns="0" rIns="0" bIns="0" rtlCol="0" anchor="ctr"/>
          <a:lstStyle/>
          <a:p>
            <a:pPr marL="0" indent="0">
              <a:buNone/>
            </a:pPr>
            <a:r>
              <a:rPr lang="en-US" sz="1700" b="1" dirty="0">
                <a:solidFill>
                  <a:srgbClr val="10243A"/>
                </a:solidFill>
                <a:latin typeface="Calibri" pitchFamily="34" charset="0"/>
                <a:ea typeface="Calibri" pitchFamily="34" charset="-122"/>
                <a:cs typeface="Calibri" pitchFamily="34" charset="-120"/>
              </a:rPr>
              <a:t>9.2 mo</a:t>
            </a:r>
            <a:endParaRPr lang="en-US" sz="1700" dirty="0"/>
          </a:p>
        </p:txBody>
      </p:sp>
      <p:sp>
        <p:nvSpPr>
          <p:cNvPr id="26" name="tiled_k3"/>
          <p:cNvSpPr/>
          <p:nvPr/>
        </p:nvSpPr>
        <p:spPr>
          <a:xfrm>
            <a:off x="3944722" y="1865376"/>
            <a:ext cx="1254557" cy="146304"/>
          </a:xfrm>
          <a:prstGeom prst="rect">
            <a:avLst/>
          </a:prstGeom>
          <a:noFill/>
          <a:ln/>
        </p:spPr>
        <p:txBody>
          <a:bodyPr wrap="square" lIns="0" tIns="0" rIns="0" bIns="0" rtlCol="0" anchor="ctr"/>
          <a:lstStyle/>
          <a:p>
            <a:pPr marL="0" indent="0">
              <a:buNone/>
            </a:pPr>
            <a:r>
              <a:rPr lang="en-US" sz="680" b="1" dirty="0">
                <a:solidFill>
                  <a:srgbClr val="0B63CE"/>
                </a:solidFill>
                <a:latin typeface="Calibri" pitchFamily="34" charset="0"/>
                <a:ea typeface="Calibri" pitchFamily="34" charset="-122"/>
                <a:cs typeface="Calibri" pitchFamily="34" charset="-120"/>
              </a:rPr>
              <a:t>▼ −8.8 mo   </a:t>
            </a:r>
            <a:r>
              <a:rPr lang="en-US" sz="680" dirty="0">
                <a:solidFill>
                  <a:srgbClr val="8FA1B2"/>
                </a:solidFill>
                <a:latin typeface="Calibri" pitchFamily="34" charset="0"/>
                <a:ea typeface="Calibri" pitchFamily="34" charset="-122"/>
                <a:cs typeface="Calibri" pitchFamily="34" charset="-120"/>
              </a:rPr>
              <a:t>target 6 mo</a:t>
            </a:r>
            <a:endParaRPr lang="en-US" sz="680" dirty="0"/>
          </a:p>
        </p:txBody>
      </p:sp>
      <p:pic>
        <p:nvPicPr>
          <p:cNvPr id="27" name="tilesp_k3" descr="preencoded.png"/>
          <p:cNvPicPr>
            <a:picLocks noChangeAspect="1"/>
          </p:cNvPicPr>
          <p:nvPr/>
        </p:nvPicPr>
        <p:blipFill>
          <a:blip r:embed="rId5"/>
          <a:stretch>
            <a:fillRect/>
          </a:stretch>
        </p:blipFill>
        <p:spPr>
          <a:xfrm>
            <a:off x="3944722" y="2011680"/>
            <a:ext cx="1254557" cy="164592"/>
          </a:xfrm>
          <a:prstGeom prst="rect">
            <a:avLst/>
          </a:prstGeom>
        </p:spPr>
      </p:pic>
      <p:sp>
        <p:nvSpPr>
          <p:cNvPr id="28" name="tile_k4"/>
          <p:cNvSpPr/>
          <p:nvPr/>
        </p:nvSpPr>
        <p:spPr>
          <a:xfrm>
            <a:off x="5432450" y="1389888"/>
            <a:ext cx="1474013" cy="841248"/>
          </a:xfrm>
          <a:prstGeom prst="roundRect">
            <a:avLst>
              <a:gd name="adj" fmla="val 7609"/>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29" name="tilel_k4"/>
          <p:cNvSpPr/>
          <p:nvPr/>
        </p:nvSpPr>
        <p:spPr>
          <a:xfrm>
            <a:off x="5542178" y="1444752"/>
            <a:ext cx="1254557" cy="164592"/>
          </a:xfrm>
          <a:prstGeom prst="rect">
            <a:avLst/>
          </a:prstGeom>
          <a:noFill/>
          <a:ln/>
        </p:spPr>
        <p:txBody>
          <a:bodyPr wrap="square" lIns="0" tIns="0" rIns="0" bIns="0" rtlCol="0" anchor="ctr"/>
          <a:lstStyle/>
          <a:p>
            <a:pPr marL="0" indent="0">
              <a:buNone/>
            </a:pPr>
            <a:r>
              <a:rPr lang="en-US" sz="720" b="1" kern="0" spc="40" dirty="0">
                <a:solidFill>
                  <a:srgbClr val="8FA1B2"/>
                </a:solidFill>
                <a:latin typeface="Calibri" pitchFamily="34" charset="0"/>
                <a:ea typeface="Calibri" pitchFamily="34" charset="-122"/>
                <a:cs typeface="Calibri" pitchFamily="34" charset="-120"/>
              </a:rPr>
              <a:t>Pipeline latency</a:t>
            </a:r>
            <a:endParaRPr lang="en-US" sz="720" dirty="0"/>
          </a:p>
        </p:txBody>
      </p:sp>
      <p:sp>
        <p:nvSpPr>
          <p:cNvPr id="30" name="tilev_k4"/>
          <p:cNvSpPr/>
          <p:nvPr/>
        </p:nvSpPr>
        <p:spPr>
          <a:xfrm>
            <a:off x="5542178" y="1600200"/>
            <a:ext cx="1254557" cy="274320"/>
          </a:xfrm>
          <a:prstGeom prst="rect">
            <a:avLst/>
          </a:prstGeom>
          <a:noFill/>
          <a:ln/>
        </p:spPr>
        <p:txBody>
          <a:bodyPr wrap="square" lIns="0" tIns="0" rIns="0" bIns="0" rtlCol="0" anchor="ctr"/>
          <a:lstStyle/>
          <a:p>
            <a:pPr marL="0" indent="0">
              <a:buNone/>
            </a:pPr>
            <a:r>
              <a:rPr lang="en-US" sz="1700" b="1" dirty="0">
                <a:solidFill>
                  <a:srgbClr val="10243A"/>
                </a:solidFill>
                <a:latin typeface="Calibri" pitchFamily="34" charset="0"/>
                <a:ea typeface="Calibri" pitchFamily="34" charset="-122"/>
                <a:cs typeface="Calibri" pitchFamily="34" charset="-120"/>
              </a:rPr>
              <a:t>2 days</a:t>
            </a:r>
            <a:endParaRPr lang="en-US" sz="1700" dirty="0"/>
          </a:p>
        </p:txBody>
      </p:sp>
      <p:sp>
        <p:nvSpPr>
          <p:cNvPr id="31" name="tiled_k4"/>
          <p:cNvSpPr/>
          <p:nvPr/>
        </p:nvSpPr>
        <p:spPr>
          <a:xfrm>
            <a:off x="5542178" y="1865376"/>
            <a:ext cx="1254557" cy="146304"/>
          </a:xfrm>
          <a:prstGeom prst="rect">
            <a:avLst/>
          </a:prstGeom>
          <a:noFill/>
          <a:ln/>
        </p:spPr>
        <p:txBody>
          <a:bodyPr wrap="square" lIns="0" tIns="0" rIns="0" bIns="0" rtlCol="0" anchor="ctr"/>
          <a:lstStyle/>
          <a:p>
            <a:pPr marL="0" indent="0">
              <a:buNone/>
            </a:pPr>
            <a:r>
              <a:rPr lang="en-US" sz="680" b="1" dirty="0">
                <a:solidFill>
                  <a:srgbClr val="0C8C83"/>
                </a:solidFill>
                <a:latin typeface="Calibri" pitchFamily="34" charset="0"/>
                <a:ea typeface="Calibri" pitchFamily="34" charset="-122"/>
                <a:cs typeface="Calibri" pitchFamily="34" charset="-120"/>
              </a:rPr>
              <a:t>● on target   </a:t>
            </a:r>
            <a:r>
              <a:rPr lang="en-US" sz="680" dirty="0">
                <a:solidFill>
                  <a:srgbClr val="8FA1B2"/>
                </a:solidFill>
                <a:latin typeface="Calibri" pitchFamily="34" charset="0"/>
                <a:ea typeface="Calibri" pitchFamily="34" charset="-122"/>
                <a:cs typeface="Calibri" pitchFamily="34" charset="-120"/>
              </a:rPr>
              <a:t>target 2 days</a:t>
            </a:r>
            <a:endParaRPr lang="en-US" sz="680" dirty="0"/>
          </a:p>
        </p:txBody>
      </p:sp>
      <p:pic>
        <p:nvPicPr>
          <p:cNvPr id="32" name="tilesp_k4" descr="preencoded.png"/>
          <p:cNvPicPr>
            <a:picLocks noChangeAspect="1"/>
          </p:cNvPicPr>
          <p:nvPr/>
        </p:nvPicPr>
        <p:blipFill>
          <a:blip r:embed="rId6"/>
          <a:stretch>
            <a:fillRect/>
          </a:stretch>
        </p:blipFill>
        <p:spPr>
          <a:xfrm>
            <a:off x="5542178" y="2011680"/>
            <a:ext cx="1254557" cy="164592"/>
          </a:xfrm>
          <a:prstGeom prst="rect">
            <a:avLst/>
          </a:prstGeom>
        </p:spPr>
      </p:pic>
      <p:sp>
        <p:nvSpPr>
          <p:cNvPr id="33" name="tile_k5"/>
          <p:cNvSpPr/>
          <p:nvPr/>
        </p:nvSpPr>
        <p:spPr>
          <a:xfrm>
            <a:off x="7029907" y="1389888"/>
            <a:ext cx="1474013" cy="841248"/>
          </a:xfrm>
          <a:prstGeom prst="roundRect">
            <a:avLst>
              <a:gd name="adj" fmla="val 7609"/>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34" name="tilel_k5"/>
          <p:cNvSpPr/>
          <p:nvPr/>
        </p:nvSpPr>
        <p:spPr>
          <a:xfrm>
            <a:off x="7139635" y="1444752"/>
            <a:ext cx="1254557" cy="164592"/>
          </a:xfrm>
          <a:prstGeom prst="rect">
            <a:avLst/>
          </a:prstGeom>
          <a:noFill/>
          <a:ln/>
        </p:spPr>
        <p:txBody>
          <a:bodyPr wrap="square" lIns="0" tIns="0" rIns="0" bIns="0" rtlCol="0" anchor="ctr"/>
          <a:lstStyle/>
          <a:p>
            <a:pPr marL="0" indent="0">
              <a:buNone/>
            </a:pPr>
            <a:r>
              <a:rPr lang="en-US" sz="720" b="1" kern="0" spc="40" dirty="0">
                <a:solidFill>
                  <a:srgbClr val="8FA1B2"/>
                </a:solidFill>
                <a:latin typeface="Calibri" pitchFamily="34" charset="0"/>
                <a:ea typeface="Calibri" pitchFamily="34" charset="-122"/>
                <a:cs typeface="Calibri" pitchFamily="34" charset="-120"/>
              </a:rPr>
              <a:t>Portfolio hit rate</a:t>
            </a:r>
            <a:endParaRPr lang="en-US" sz="720" dirty="0"/>
          </a:p>
        </p:txBody>
      </p:sp>
      <p:sp>
        <p:nvSpPr>
          <p:cNvPr id="35" name="tilev_k5"/>
          <p:cNvSpPr/>
          <p:nvPr/>
        </p:nvSpPr>
        <p:spPr>
          <a:xfrm>
            <a:off x="7139635" y="1600200"/>
            <a:ext cx="1254557" cy="274320"/>
          </a:xfrm>
          <a:prstGeom prst="rect">
            <a:avLst/>
          </a:prstGeom>
          <a:noFill/>
          <a:ln/>
        </p:spPr>
        <p:txBody>
          <a:bodyPr wrap="square" lIns="0" tIns="0" rIns="0" bIns="0" rtlCol="0" anchor="ctr"/>
          <a:lstStyle/>
          <a:p>
            <a:pPr marL="0" indent="0">
              <a:buNone/>
            </a:pPr>
            <a:r>
              <a:rPr lang="en-US" sz="1700" b="1" dirty="0">
                <a:solidFill>
                  <a:srgbClr val="10243A"/>
                </a:solidFill>
                <a:latin typeface="Calibri" pitchFamily="34" charset="0"/>
                <a:ea typeface="Calibri" pitchFamily="34" charset="-122"/>
                <a:cs typeface="Calibri" pitchFamily="34" charset="-120"/>
              </a:rPr>
              <a:t>58%</a:t>
            </a:r>
            <a:endParaRPr lang="en-US" sz="1700" dirty="0"/>
          </a:p>
        </p:txBody>
      </p:sp>
      <p:sp>
        <p:nvSpPr>
          <p:cNvPr id="36" name="tiled_k5"/>
          <p:cNvSpPr/>
          <p:nvPr/>
        </p:nvSpPr>
        <p:spPr>
          <a:xfrm>
            <a:off x="7139635" y="1865376"/>
            <a:ext cx="1254557" cy="146304"/>
          </a:xfrm>
          <a:prstGeom prst="rect">
            <a:avLst/>
          </a:prstGeom>
          <a:noFill/>
          <a:ln/>
        </p:spPr>
        <p:txBody>
          <a:bodyPr wrap="square" lIns="0" tIns="0" rIns="0" bIns="0" rtlCol="0" anchor="ctr"/>
          <a:lstStyle/>
          <a:p>
            <a:pPr marL="0" indent="0">
              <a:buNone/>
            </a:pPr>
            <a:r>
              <a:rPr lang="en-US" sz="680" b="1" dirty="0">
                <a:solidFill>
                  <a:srgbClr val="0B63CE"/>
                </a:solidFill>
                <a:latin typeface="Calibri" pitchFamily="34" charset="0"/>
                <a:ea typeface="Calibri" pitchFamily="34" charset="-122"/>
                <a:cs typeface="Calibri" pitchFamily="34" charset="-120"/>
              </a:rPr>
              <a:t>▲ +17 pts   </a:t>
            </a:r>
            <a:r>
              <a:rPr lang="en-US" sz="680" dirty="0">
                <a:solidFill>
                  <a:srgbClr val="8FA1B2"/>
                </a:solidFill>
                <a:latin typeface="Calibri" pitchFamily="34" charset="0"/>
                <a:ea typeface="Calibri" pitchFamily="34" charset="-122"/>
                <a:cs typeface="Calibri" pitchFamily="34" charset="-120"/>
              </a:rPr>
              <a:t>target 65%</a:t>
            </a:r>
            <a:endParaRPr lang="en-US" sz="680" dirty="0"/>
          </a:p>
        </p:txBody>
      </p:sp>
      <p:pic>
        <p:nvPicPr>
          <p:cNvPr id="37" name="tilesp_k5" descr="preencoded.png"/>
          <p:cNvPicPr>
            <a:picLocks noChangeAspect="1"/>
          </p:cNvPicPr>
          <p:nvPr/>
        </p:nvPicPr>
        <p:blipFill>
          <a:blip r:embed="rId7"/>
          <a:stretch>
            <a:fillRect/>
          </a:stretch>
        </p:blipFill>
        <p:spPr>
          <a:xfrm>
            <a:off x="7139635" y="2011680"/>
            <a:ext cx="1254557" cy="164592"/>
          </a:xfrm>
          <a:prstGeom prst="rect">
            <a:avLst/>
          </a:prstGeom>
        </p:spPr>
      </p:pic>
      <p:sp>
        <p:nvSpPr>
          <p:cNvPr id="38" name="card_ca"/>
          <p:cNvSpPr/>
          <p:nvPr/>
        </p:nvSpPr>
        <p:spPr>
          <a:xfrm>
            <a:off x="640080" y="2340864"/>
            <a:ext cx="3017520" cy="1426464"/>
          </a:xfrm>
          <a:prstGeom prst="roundRect">
            <a:avLst>
              <a:gd name="adj" fmla="val 4487"/>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39" name="cardt_ca"/>
          <p:cNvSpPr/>
          <p:nvPr/>
        </p:nvSpPr>
        <p:spPr>
          <a:xfrm>
            <a:off x="768096" y="2395728"/>
            <a:ext cx="27614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Probability of success by quarter</a:t>
            </a:r>
            <a:endParaRPr lang="en-US" sz="950" dirty="0"/>
          </a:p>
        </p:txBody>
      </p:sp>
      <p:sp>
        <p:nvSpPr>
          <p:cNvPr id="40" name="cards_ca"/>
          <p:cNvSpPr/>
          <p:nvPr/>
        </p:nvSpPr>
        <p:spPr>
          <a:xfrm>
            <a:off x="768096" y="2560320"/>
            <a:ext cx="2761488" cy="146304"/>
          </a:xfrm>
          <a:prstGeom prst="rect">
            <a:avLst/>
          </a:prstGeom>
          <a:noFill/>
          <a:ln/>
        </p:spPr>
        <p:txBody>
          <a:bodyPr wrap="square" lIns="0" tIns="0" rIns="0" bIns="0" rtlCol="0" anchor="ctr"/>
          <a:lstStyle/>
          <a:p>
            <a:pPr marL="0" indent="0">
              <a:buNone/>
            </a:pPr>
            <a:r>
              <a:rPr lang="en-US" sz="720" dirty="0">
                <a:solidFill>
                  <a:srgbClr val="8FA1B2"/>
                </a:solidFill>
                <a:latin typeface="Calibri" pitchFamily="34" charset="0"/>
                <a:ea typeface="Calibri" pitchFamily="34" charset="-122"/>
                <a:cs typeface="Calibri" pitchFamily="34" charset="-120"/>
              </a:rPr>
              <a:t>trending to target, not yet there</a:t>
            </a:r>
            <a:endParaRPr lang="en-US" sz="720" dirty="0"/>
          </a:p>
        </p:txBody>
      </p:sp>
      <p:sp>
        <p:nvSpPr>
          <p:cNvPr id="41" name="card_cb"/>
          <p:cNvSpPr/>
          <p:nvPr/>
        </p:nvSpPr>
        <p:spPr>
          <a:xfrm>
            <a:off x="3767328" y="2340864"/>
            <a:ext cx="2377440" cy="1426464"/>
          </a:xfrm>
          <a:prstGeom prst="roundRect">
            <a:avLst>
              <a:gd name="adj" fmla="val 4487"/>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42" name="cardt_cb"/>
          <p:cNvSpPr/>
          <p:nvPr/>
        </p:nvSpPr>
        <p:spPr>
          <a:xfrm>
            <a:off x="3895344" y="2395728"/>
            <a:ext cx="212140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Portfolio by evidence tier</a:t>
            </a:r>
            <a:endParaRPr lang="en-US" sz="950" dirty="0"/>
          </a:p>
        </p:txBody>
      </p:sp>
      <p:sp>
        <p:nvSpPr>
          <p:cNvPr id="43" name="cards_cb"/>
          <p:cNvSpPr/>
          <p:nvPr/>
        </p:nvSpPr>
        <p:spPr>
          <a:xfrm>
            <a:off x="3895344" y="2560320"/>
            <a:ext cx="2121408" cy="146304"/>
          </a:xfrm>
          <a:prstGeom prst="rect">
            <a:avLst/>
          </a:prstGeom>
          <a:noFill/>
          <a:ln/>
        </p:spPr>
        <p:txBody>
          <a:bodyPr wrap="square" lIns="0" tIns="0" rIns="0" bIns="0" rtlCol="0" anchor="ctr"/>
          <a:lstStyle/>
          <a:p>
            <a:pPr marL="0" indent="0">
              <a:buNone/>
            </a:pPr>
            <a:r>
              <a:rPr lang="en-US" sz="720" dirty="0">
                <a:solidFill>
                  <a:srgbClr val="8FA1B2"/>
                </a:solidFill>
                <a:latin typeface="Calibri" pitchFamily="34" charset="0"/>
                <a:ea typeface="Calibri" pitchFamily="34" charset="-122"/>
                <a:cs typeface="Calibri" pitchFamily="34" charset="-120"/>
              </a:rPr>
              <a:t>35 candidate targets</a:t>
            </a:r>
            <a:endParaRPr lang="en-US" sz="720" dirty="0"/>
          </a:p>
        </p:txBody>
      </p:sp>
      <p:sp>
        <p:nvSpPr>
          <p:cNvPr id="44" name="card_cc"/>
          <p:cNvSpPr/>
          <p:nvPr/>
        </p:nvSpPr>
        <p:spPr>
          <a:xfrm>
            <a:off x="6254496" y="2340864"/>
            <a:ext cx="2249424" cy="1426464"/>
          </a:xfrm>
          <a:prstGeom prst="roundRect">
            <a:avLst>
              <a:gd name="adj" fmla="val 4487"/>
            </a:avLst>
          </a:prstGeom>
          <a:solidFill>
            <a:srgbClr val="FFFFFF"/>
          </a:solidFill>
          <a:ln w="11430">
            <a:solidFill>
              <a:srgbClr val="E3E9EF"/>
            </a:solidFill>
            <a:prstDash val="solid"/>
          </a:ln>
          <a:effectLst>
            <a:outerShdw blurRad="88900" dist="25400" dir="5400000" algn="bl" rotWithShape="0">
              <a:srgbClr val="AFC0CE">
                <a:alpha val="26000"/>
              </a:srgbClr>
            </a:outerShdw>
          </a:effectLst>
        </p:spPr>
        <p:txBody>
          <a:bodyPr/>
          <a:lstStyle/>
          <a:p>
            <a:endParaRPr lang="en-US"/>
          </a:p>
        </p:txBody>
      </p:sp>
      <p:sp>
        <p:nvSpPr>
          <p:cNvPr id="45" name="cardt_cc"/>
          <p:cNvSpPr/>
          <p:nvPr/>
        </p:nvSpPr>
        <p:spPr>
          <a:xfrm>
            <a:off x="6382512" y="2395728"/>
            <a:ext cx="1993392"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Genetically supported</a:t>
            </a:r>
            <a:endParaRPr lang="en-US" sz="950" dirty="0"/>
          </a:p>
        </p:txBody>
      </p:sp>
      <p:sp>
        <p:nvSpPr>
          <p:cNvPr id="46" name="cards_cc"/>
          <p:cNvSpPr/>
          <p:nvPr/>
        </p:nvSpPr>
        <p:spPr>
          <a:xfrm>
            <a:off x="6382512" y="2560320"/>
            <a:ext cx="1993392" cy="146304"/>
          </a:xfrm>
          <a:prstGeom prst="rect">
            <a:avLst/>
          </a:prstGeom>
          <a:noFill/>
          <a:ln/>
        </p:spPr>
        <p:txBody>
          <a:bodyPr wrap="square" lIns="0" tIns="0" rIns="0" bIns="0" rtlCol="0" anchor="ctr"/>
          <a:lstStyle/>
          <a:p>
            <a:pPr marL="0" indent="0">
              <a:buNone/>
            </a:pPr>
            <a:r>
              <a:rPr lang="en-US" sz="720" dirty="0">
                <a:solidFill>
                  <a:srgbClr val="8FA1B2"/>
                </a:solidFill>
                <a:latin typeface="Calibri" pitchFamily="34" charset="0"/>
                <a:ea typeface="Calibri" pitchFamily="34" charset="-122"/>
                <a:cs typeface="Calibri" pitchFamily="34" charset="-120"/>
              </a:rPr>
              <a:t>share of active pipeline</a:t>
            </a:r>
            <a:endParaRPr lang="en-US" sz="720" dirty="0"/>
          </a:p>
        </p:txBody>
      </p:sp>
      <p:pic>
        <p:nvPicPr>
          <p:cNvPr id="47" name="chartA" descr="preencoded.png"/>
          <p:cNvPicPr>
            <a:picLocks noChangeAspect="1"/>
          </p:cNvPicPr>
          <p:nvPr/>
        </p:nvPicPr>
        <p:blipFill>
          <a:blip r:embed="rId8"/>
          <a:stretch>
            <a:fillRect/>
          </a:stretch>
        </p:blipFill>
        <p:spPr>
          <a:xfrm>
            <a:off x="786384" y="2743200"/>
            <a:ext cx="2724912" cy="877824"/>
          </a:xfrm>
          <a:prstGeom prst="rect">
            <a:avLst/>
          </a:prstGeom>
        </p:spPr>
      </p:pic>
      <p:pic>
        <p:nvPicPr>
          <p:cNvPr id="48" name="chartB" descr="preencoded.png"/>
          <p:cNvPicPr>
            <a:picLocks noChangeAspect="1"/>
          </p:cNvPicPr>
          <p:nvPr/>
        </p:nvPicPr>
        <p:blipFill>
          <a:blip r:embed="rId9"/>
          <a:stretch>
            <a:fillRect/>
          </a:stretch>
        </p:blipFill>
        <p:spPr>
          <a:xfrm>
            <a:off x="3913632" y="2743200"/>
            <a:ext cx="2084832" cy="877824"/>
          </a:xfrm>
          <a:prstGeom prst="rect">
            <a:avLst/>
          </a:prstGeom>
        </p:spPr>
      </p:pic>
      <p:pic>
        <p:nvPicPr>
          <p:cNvPr id="49" name="chartC" descr="preencoded.png"/>
          <p:cNvPicPr>
            <a:picLocks noChangeAspect="1"/>
          </p:cNvPicPr>
          <p:nvPr/>
        </p:nvPicPr>
        <p:blipFill>
          <a:blip r:embed="rId10"/>
          <a:stretch>
            <a:fillRect/>
          </a:stretch>
        </p:blipFill>
        <p:spPr>
          <a:xfrm>
            <a:off x="6912864" y="2761488"/>
            <a:ext cx="932688" cy="932688"/>
          </a:xfrm>
          <a:prstGeom prst="rect">
            <a:avLst/>
          </a:prstGeom>
        </p:spPr>
      </p:pic>
      <p:sp>
        <p:nvSpPr>
          <p:cNvPr id="50" name="dashInsight"/>
          <p:cNvSpPr/>
          <p:nvPr/>
        </p:nvSpPr>
        <p:spPr>
          <a:xfrm>
            <a:off x="640080" y="3895344"/>
            <a:ext cx="7863840" cy="658368"/>
          </a:xfrm>
          <a:prstGeom prst="roundRect">
            <a:avLst>
              <a:gd name="adj" fmla="val 9722"/>
            </a:avLst>
          </a:prstGeom>
          <a:solidFill>
            <a:srgbClr val="E0F4F2"/>
          </a:solidFill>
          <a:ln w="9525">
            <a:solidFill>
              <a:srgbClr val="A9E0DA"/>
            </a:solidFill>
            <a:prstDash val="solid"/>
          </a:ln>
        </p:spPr>
        <p:txBody>
          <a:bodyPr/>
          <a:lstStyle/>
          <a:p>
            <a:endParaRPr lang="en-US"/>
          </a:p>
        </p:txBody>
      </p:sp>
      <p:sp>
        <p:nvSpPr>
          <p:cNvPr id="51" name="dashInsightText"/>
          <p:cNvSpPr/>
          <p:nvPr/>
        </p:nvSpPr>
        <p:spPr>
          <a:xfrm>
            <a:off x="841248" y="3895344"/>
            <a:ext cx="7461504" cy="658368"/>
          </a:xfrm>
          <a:prstGeom prst="rect">
            <a:avLst/>
          </a:prstGeom>
          <a:noFill/>
          <a:ln/>
        </p:spPr>
        <p:txBody>
          <a:bodyPr wrap="square" lIns="0" tIns="0" rIns="0" bIns="0" rtlCol="0" anchor="ctr"/>
          <a:lstStyle/>
          <a:p>
            <a:pPr marL="0" indent="0">
              <a:lnSpc>
                <a:spcPts val="1200"/>
              </a:lnSpc>
              <a:buNone/>
            </a:pPr>
            <a:r>
              <a:rPr lang="en-US" sz="800" b="1" kern="0" spc="140" dirty="0">
                <a:solidFill>
                  <a:srgbClr val="0C8C83"/>
                </a:solidFill>
                <a:latin typeface="Calibri" pitchFamily="34" charset="0"/>
                <a:ea typeface="Calibri" pitchFamily="34" charset="-122"/>
                <a:cs typeface="Calibri" pitchFamily="34" charset="-120"/>
              </a:rPr>
              <a:t>WHAT THE DASHBOARD IS TELLING US     </a:t>
            </a:r>
            <a:r>
              <a:rPr lang="en-US" sz="900" dirty="0">
                <a:solidFill>
                  <a:srgbClr val="10243A"/>
                </a:solidFill>
                <a:latin typeface="Calibri" pitchFamily="34" charset="0"/>
                <a:ea typeface="Calibri" pitchFamily="34" charset="-122"/>
                <a:cs typeface="Calibri" pitchFamily="34" charset="-120"/>
              </a:rPr>
              <a:t>Genetic support has almost doubled since FY25 and probability of success has followed it — the strategy is working. But validation cycle time is still </a:t>
            </a:r>
            <a:r>
              <a:rPr lang="en-US" sz="900" b="1" dirty="0">
                <a:solidFill>
                  <a:srgbClr val="10243A"/>
                </a:solidFill>
                <a:latin typeface="Calibri" pitchFamily="34" charset="0"/>
                <a:ea typeface="Calibri" pitchFamily="34" charset="-122"/>
                <a:cs typeface="Calibri" pitchFamily="34" charset="-120"/>
              </a:rPr>
              <a:t>3 months above target</a:t>
            </a:r>
            <a:r>
              <a:rPr lang="en-US" sz="900" dirty="0">
                <a:solidFill>
                  <a:srgbClr val="10243A"/>
                </a:solidFill>
                <a:latin typeface="Calibri" pitchFamily="34" charset="0"/>
                <a:ea typeface="Calibri" pitchFamily="34" charset="-122"/>
                <a:cs typeface="Calibri" pitchFamily="34" charset="-120"/>
              </a:rPr>
              <a:t>, so the constraint has moved from evidence to throughput. Next quarter’s investment goes to the pipeline, not to more data.</a:t>
            </a:r>
            <a:endParaRPr lang="en-US" sz="800" dirty="0"/>
          </a:p>
        </p:txBody>
      </p:sp>
      <p:sp>
        <p:nvSpPr>
          <p:cNvPr id="52" name="Text 42"/>
          <p:cNvSpPr/>
          <p:nvPr/>
        </p:nvSpPr>
        <p:spPr>
          <a:xfrm>
            <a:off x="640080" y="4645152"/>
            <a:ext cx="7863840" cy="182880"/>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Dashboard values are simulated for this case study, built on the KPI definitions on the previous slide. Pipeline-latency figures are Regeneron’s published platform results.</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Effect transition="in" filter="fade">
                                      <p:cBhvr>
                                        <p:cTn id="8" dur="500"/>
                                        <p:tgtEl>
                                          <p:spTgt spid="5"/>
                                        </p:tgtEl>
                                      </p:cBhvr>
                                    </p:animEffect>
                                  </p:childTnLst>
                                </p:cTn>
                              </p:par>
                            </p:childTnLst>
                          </p:cTn>
                        </p:par>
                        <p:par>
                          <p:cTn id="9" fill="hold">
                            <p:stCondLst>
                              <p:cond delay="0"/>
                            </p:stCondLst>
                            <p:childTnLst>
                              <p:par>
                                <p:cTn id="10" presetID="2" presetClass="entr" presetSubtype="8"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Effect transition="in" filter="fade">
                                      <p:cBhvr>
                                        <p:cTn id="13" dur="500"/>
                                        <p:tgtEl>
                                          <p:spTgt spid="6"/>
                                        </p:tgtEl>
                                      </p:cBhvr>
                                    </p:animEffect>
                                  </p:childTnLst>
                                </p:cTn>
                              </p:par>
                            </p:childTnLst>
                          </p:cTn>
                        </p:par>
                        <p:par>
                          <p:cTn id="14" fill="hold">
                            <p:stCondLst>
                              <p:cond delay="140"/>
                            </p:stCondLst>
                            <p:childTnLst>
                              <p:par>
                                <p:cTn id="15" presetID="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Effect transition="in" filter="fade">
                                      <p:cBhvr>
                                        <p:cTn id="18" dur="500"/>
                                        <p:tgtEl>
                                          <p:spTgt spid="7"/>
                                        </p:tgtEl>
                                      </p:cBhvr>
                                    </p:animEffect>
                                  </p:childTnLst>
                                </p:cTn>
                              </p:par>
                            </p:childTnLst>
                          </p:cTn>
                        </p:par>
                        <p:par>
                          <p:cTn id="19" fill="hold">
                            <p:stCondLst>
                              <p:cond delay="140"/>
                            </p:stCondLst>
                            <p:childTnLst>
                              <p:par>
                                <p:cTn id="20" presetID="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0-#ppt_w/2"/>
                                          </p:val>
                                        </p:tav>
                                        <p:tav tm="100000">
                                          <p:val>
                                            <p:strVal val="#ppt_x"/>
                                          </p:val>
                                        </p:tav>
                                      </p:tavLst>
                                    </p:anim>
                                    <p:animEffect transition="in" filter="fade">
                                      <p:cBhvr>
                                        <p:cTn id="23" dur="500"/>
                                        <p:tgtEl>
                                          <p:spTgt spid="8"/>
                                        </p:tgtEl>
                                      </p:cBhvr>
                                    </p:animEffect>
                                  </p:childTnLst>
                                </p:cTn>
                              </p:par>
                            </p:childTnLst>
                          </p:cTn>
                        </p:par>
                        <p:par>
                          <p:cTn id="24" fill="hold">
                            <p:stCondLst>
                              <p:cond delay="280"/>
                            </p:stCondLst>
                            <p:childTnLst>
                              <p:par>
                                <p:cTn id="25" presetID="2" presetClass="entr" presetSubtype="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Effect transition="in" filter="fade">
                                      <p:cBhvr>
                                        <p:cTn id="28" dur="500"/>
                                        <p:tgtEl>
                                          <p:spTgt spid="9"/>
                                        </p:tgtEl>
                                      </p:cBhvr>
                                    </p:animEffect>
                                  </p:childTnLst>
                                </p:cTn>
                              </p:par>
                            </p:childTnLst>
                          </p:cTn>
                        </p:par>
                        <p:par>
                          <p:cTn id="29" fill="hold">
                            <p:stCondLst>
                              <p:cond delay="280"/>
                            </p:stCondLst>
                            <p:childTnLst>
                              <p:par>
                                <p:cTn id="30" presetID="2" presetClass="entr" presetSubtype="8"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0-#ppt_w/2"/>
                                          </p:val>
                                        </p:tav>
                                        <p:tav tm="100000">
                                          <p:val>
                                            <p:strVal val="#ppt_x"/>
                                          </p:val>
                                        </p:tav>
                                      </p:tavLst>
                                    </p:anim>
                                    <p:animEffect transition="in" filter="fade">
                                      <p:cBhvr>
                                        <p:cTn id="33" dur="500"/>
                                        <p:tgtEl>
                                          <p:spTgt spid="10"/>
                                        </p:tgtEl>
                                      </p:cBhvr>
                                    </p:animEffect>
                                  </p:childTnLst>
                                </p:cTn>
                              </p:par>
                            </p:childTnLst>
                          </p:cTn>
                        </p:par>
                        <p:par>
                          <p:cTn id="34" fill="hold">
                            <p:stCondLst>
                              <p:cond delay="420"/>
                            </p:stCondLst>
                            <p:childTnLst>
                              <p:par>
                                <p:cTn id="35" presetID="2" presetClass="entr" presetSubtype="8"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0-#ppt_w/2"/>
                                          </p:val>
                                        </p:tav>
                                        <p:tav tm="100000">
                                          <p:val>
                                            <p:strVal val="#ppt_x"/>
                                          </p:val>
                                        </p:tav>
                                      </p:tavLst>
                                    </p:anim>
                                    <p:animEffect transition="in" filter="fade">
                                      <p:cBhvr>
                                        <p:cTn id="38" dur="500"/>
                                        <p:tgtEl>
                                          <p:spTgt spid="11"/>
                                        </p:tgtEl>
                                      </p:cBhvr>
                                    </p:animEffect>
                                  </p:childTnLst>
                                </p:cTn>
                              </p:par>
                            </p:childTnLst>
                          </p:cTn>
                        </p:par>
                        <p:par>
                          <p:cTn id="39" fill="hold">
                            <p:stCondLst>
                              <p:cond delay="420"/>
                            </p:stCondLst>
                            <p:childTnLst>
                              <p:par>
                                <p:cTn id="40" presetID="2" presetClass="entr" presetSubtype="8"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0-#ppt_w/2"/>
                                          </p:val>
                                        </p:tav>
                                        <p:tav tm="100000">
                                          <p:val>
                                            <p:strVal val="#ppt_x"/>
                                          </p:val>
                                        </p:tav>
                                      </p:tavLst>
                                    </p:anim>
                                    <p:animEffect transition="in" filter="fade">
                                      <p:cBhvr>
                                        <p:cTn id="43" dur="500"/>
                                        <p:tgtEl>
                                          <p:spTgt spid="12"/>
                                        </p:tgtEl>
                                      </p:cBhvr>
                                    </p:animEffect>
                                  </p:childTnLst>
                                </p:cTn>
                              </p:par>
                            </p:childTnLst>
                          </p:cTn>
                        </p:par>
                        <p:par>
                          <p:cTn id="44" fill="hold">
                            <p:stCondLst>
                              <p:cond delay="760"/>
                            </p:stCondLst>
                            <p:childTnLst>
                              <p:par>
                                <p:cTn id="45" presetID="2" presetClass="entr" presetSubtype="1"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ppt_y</p:attrName>
                                        </p:attrNameLst>
                                      </p:cBhvr>
                                      <p:tavLst>
                                        <p:tav tm="0">
                                          <p:val>
                                            <p:strVal val="0-#ppt_h/2"/>
                                          </p:val>
                                        </p:tav>
                                        <p:tav tm="100000">
                                          <p:val>
                                            <p:strVal val="#ppt_y"/>
                                          </p:val>
                                        </p:tav>
                                      </p:tavLst>
                                    </p:anim>
                                    <p:animEffect transition="in" filter="fade">
                                      <p:cBhvr>
                                        <p:cTn id="48" dur="500"/>
                                        <p:tgtEl>
                                          <p:spTgt spid="13"/>
                                        </p:tgtEl>
                                      </p:cBhvr>
                                    </p:animEffect>
                                  </p:childTnLst>
                                </p:cTn>
                              </p:par>
                            </p:childTnLst>
                          </p:cTn>
                        </p:par>
                        <p:par>
                          <p:cTn id="49" fill="hold">
                            <p:stCondLst>
                              <p:cond delay="760"/>
                            </p:stCondLst>
                            <p:childTnLst>
                              <p:par>
                                <p:cTn id="50" presetID="2" presetClass="entr" presetSubtype="1"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ppt_y</p:attrName>
                                        </p:attrNameLst>
                                      </p:cBhvr>
                                      <p:tavLst>
                                        <p:tav tm="0">
                                          <p:val>
                                            <p:strVal val="0-#ppt_h/2"/>
                                          </p:val>
                                        </p:tav>
                                        <p:tav tm="100000">
                                          <p:val>
                                            <p:strVal val="#ppt_y"/>
                                          </p:val>
                                        </p:tav>
                                      </p:tavLst>
                                    </p:anim>
                                    <p:animEffect transition="in" filter="fade">
                                      <p:cBhvr>
                                        <p:cTn id="53" dur="500"/>
                                        <p:tgtEl>
                                          <p:spTgt spid="14"/>
                                        </p:tgtEl>
                                      </p:cBhvr>
                                    </p:animEffect>
                                  </p:childTnLst>
                                </p:cTn>
                              </p:par>
                            </p:childTnLst>
                          </p:cTn>
                        </p:par>
                        <p:par>
                          <p:cTn id="54" fill="hold">
                            <p:stCondLst>
                              <p:cond delay="760"/>
                            </p:stCondLst>
                            <p:childTnLst>
                              <p:par>
                                <p:cTn id="55" presetID="2" presetClass="entr" presetSubtype="1"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ppt_y</p:attrName>
                                        </p:attrNameLst>
                                      </p:cBhvr>
                                      <p:tavLst>
                                        <p:tav tm="0">
                                          <p:val>
                                            <p:strVal val="0-#ppt_h/2"/>
                                          </p:val>
                                        </p:tav>
                                        <p:tav tm="100000">
                                          <p:val>
                                            <p:strVal val="#ppt_y"/>
                                          </p:val>
                                        </p:tav>
                                      </p:tavLst>
                                    </p:anim>
                                    <p:animEffect transition="in" filter="fade">
                                      <p:cBhvr>
                                        <p:cTn id="58" dur="500"/>
                                        <p:tgtEl>
                                          <p:spTgt spid="15"/>
                                        </p:tgtEl>
                                      </p:cBhvr>
                                    </p:animEffect>
                                  </p:childTnLst>
                                </p:cTn>
                              </p:par>
                            </p:childTnLst>
                          </p:cTn>
                        </p:par>
                        <p:par>
                          <p:cTn id="59" fill="hold">
                            <p:stCondLst>
                              <p:cond delay="760"/>
                            </p:stCondLst>
                            <p:childTnLst>
                              <p:par>
                                <p:cTn id="60" presetID="2" presetClass="entr" presetSubtype="1"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ppt_y</p:attrName>
                                        </p:attrNameLst>
                                      </p:cBhvr>
                                      <p:tavLst>
                                        <p:tav tm="0">
                                          <p:val>
                                            <p:strVal val="0-#ppt_h/2"/>
                                          </p:val>
                                        </p:tav>
                                        <p:tav tm="100000">
                                          <p:val>
                                            <p:strVal val="#ppt_y"/>
                                          </p:val>
                                        </p:tav>
                                      </p:tavLst>
                                    </p:anim>
                                    <p:animEffect transition="in" filter="fade">
                                      <p:cBhvr>
                                        <p:cTn id="63" dur="500"/>
                                        <p:tgtEl>
                                          <p:spTgt spid="16"/>
                                        </p:tgtEl>
                                      </p:cBhvr>
                                    </p:animEffect>
                                  </p:childTnLst>
                                </p:cTn>
                              </p:par>
                            </p:childTnLst>
                          </p:cTn>
                        </p:par>
                        <p:par>
                          <p:cTn id="64" fill="hold">
                            <p:stCondLst>
                              <p:cond delay="760"/>
                            </p:stCondLst>
                            <p:childTnLst>
                              <p:par>
                                <p:cTn id="65" presetID="2" presetClass="entr" presetSubtype="1"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ppt_y</p:attrName>
                                        </p:attrNameLst>
                                      </p:cBhvr>
                                      <p:tavLst>
                                        <p:tav tm="0">
                                          <p:val>
                                            <p:strVal val="0-#ppt_h/2"/>
                                          </p:val>
                                        </p:tav>
                                        <p:tav tm="100000">
                                          <p:val>
                                            <p:strVal val="#ppt_y"/>
                                          </p:val>
                                        </p:tav>
                                      </p:tavLst>
                                    </p:anim>
                                    <p:animEffect transition="in" filter="fade">
                                      <p:cBhvr>
                                        <p:cTn id="68" dur="500"/>
                                        <p:tgtEl>
                                          <p:spTgt spid="17"/>
                                        </p:tgtEl>
                                      </p:cBhvr>
                                    </p:animEffect>
                                  </p:childTnLst>
                                </p:cTn>
                              </p:par>
                            </p:childTnLst>
                          </p:cTn>
                        </p:par>
                        <p:par>
                          <p:cTn id="69" fill="hold">
                            <p:stCondLst>
                              <p:cond delay="1080"/>
                            </p:stCondLst>
                            <p:childTnLst>
                              <p:par>
                                <p:cTn id="70" presetID="2" presetClass="entr" presetSubtype="1"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ppt_y</p:attrName>
                                        </p:attrNameLst>
                                      </p:cBhvr>
                                      <p:tavLst>
                                        <p:tav tm="0">
                                          <p:val>
                                            <p:strVal val="0-#ppt_h/2"/>
                                          </p:val>
                                        </p:tav>
                                        <p:tav tm="100000">
                                          <p:val>
                                            <p:strVal val="#ppt_y"/>
                                          </p:val>
                                        </p:tav>
                                      </p:tavLst>
                                    </p:anim>
                                    <p:animEffect transition="in" filter="fade">
                                      <p:cBhvr>
                                        <p:cTn id="73" dur="500"/>
                                        <p:tgtEl>
                                          <p:spTgt spid="18"/>
                                        </p:tgtEl>
                                      </p:cBhvr>
                                    </p:animEffect>
                                  </p:childTnLst>
                                </p:cTn>
                              </p:par>
                            </p:childTnLst>
                          </p:cTn>
                        </p:par>
                        <p:par>
                          <p:cTn id="74" fill="hold">
                            <p:stCondLst>
                              <p:cond delay="1080"/>
                            </p:stCondLst>
                            <p:childTnLst>
                              <p:par>
                                <p:cTn id="75" presetID="2" presetClass="entr" presetSubtype="1"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500" fill="hold"/>
                                        <p:tgtEl>
                                          <p:spTgt spid="19"/>
                                        </p:tgtEl>
                                        <p:attrNameLst>
                                          <p:attrName>ppt_y</p:attrName>
                                        </p:attrNameLst>
                                      </p:cBhvr>
                                      <p:tavLst>
                                        <p:tav tm="0">
                                          <p:val>
                                            <p:strVal val="0-#ppt_h/2"/>
                                          </p:val>
                                        </p:tav>
                                        <p:tav tm="100000">
                                          <p:val>
                                            <p:strVal val="#ppt_y"/>
                                          </p:val>
                                        </p:tav>
                                      </p:tavLst>
                                    </p:anim>
                                    <p:animEffect transition="in" filter="fade">
                                      <p:cBhvr>
                                        <p:cTn id="78" dur="500"/>
                                        <p:tgtEl>
                                          <p:spTgt spid="19"/>
                                        </p:tgtEl>
                                      </p:cBhvr>
                                    </p:animEffect>
                                  </p:childTnLst>
                                </p:cTn>
                              </p:par>
                            </p:childTnLst>
                          </p:cTn>
                        </p:par>
                        <p:par>
                          <p:cTn id="79" fill="hold">
                            <p:stCondLst>
                              <p:cond delay="1080"/>
                            </p:stCondLst>
                            <p:childTnLst>
                              <p:par>
                                <p:cTn id="80" presetID="2" presetClass="entr" presetSubtype="1"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500" fill="hold"/>
                                        <p:tgtEl>
                                          <p:spTgt spid="20"/>
                                        </p:tgtEl>
                                        <p:attrNameLst>
                                          <p:attrName>ppt_y</p:attrName>
                                        </p:attrNameLst>
                                      </p:cBhvr>
                                      <p:tavLst>
                                        <p:tav tm="0">
                                          <p:val>
                                            <p:strVal val="0-#ppt_h/2"/>
                                          </p:val>
                                        </p:tav>
                                        <p:tav tm="100000">
                                          <p:val>
                                            <p:strVal val="#ppt_y"/>
                                          </p:val>
                                        </p:tav>
                                      </p:tavLst>
                                    </p:anim>
                                    <p:animEffect transition="in" filter="fade">
                                      <p:cBhvr>
                                        <p:cTn id="83" dur="500"/>
                                        <p:tgtEl>
                                          <p:spTgt spid="20"/>
                                        </p:tgtEl>
                                      </p:cBhvr>
                                    </p:animEffect>
                                  </p:childTnLst>
                                </p:cTn>
                              </p:par>
                            </p:childTnLst>
                          </p:cTn>
                        </p:par>
                        <p:par>
                          <p:cTn id="84" fill="hold">
                            <p:stCondLst>
                              <p:cond delay="1080"/>
                            </p:stCondLst>
                            <p:childTnLst>
                              <p:par>
                                <p:cTn id="85" presetID="2" presetClass="entr" presetSubtype="1"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fill="hold"/>
                                        <p:tgtEl>
                                          <p:spTgt spid="21"/>
                                        </p:tgtEl>
                                        <p:attrNameLst>
                                          <p:attrName>ppt_y</p:attrName>
                                        </p:attrNameLst>
                                      </p:cBhvr>
                                      <p:tavLst>
                                        <p:tav tm="0">
                                          <p:val>
                                            <p:strVal val="0-#ppt_h/2"/>
                                          </p:val>
                                        </p:tav>
                                        <p:tav tm="100000">
                                          <p:val>
                                            <p:strVal val="#ppt_y"/>
                                          </p:val>
                                        </p:tav>
                                      </p:tavLst>
                                    </p:anim>
                                    <p:animEffect transition="in" filter="fade">
                                      <p:cBhvr>
                                        <p:cTn id="88" dur="500"/>
                                        <p:tgtEl>
                                          <p:spTgt spid="21"/>
                                        </p:tgtEl>
                                      </p:cBhvr>
                                    </p:animEffect>
                                  </p:childTnLst>
                                </p:cTn>
                              </p:par>
                            </p:childTnLst>
                          </p:cTn>
                        </p:par>
                        <p:par>
                          <p:cTn id="89" fill="hold">
                            <p:stCondLst>
                              <p:cond delay="1080"/>
                            </p:stCondLst>
                            <p:childTnLst>
                              <p:par>
                                <p:cTn id="90" presetID="2" presetClass="entr" presetSubtype="1" fill="hold"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additive="base">
                                        <p:cTn id="92" dur="500" fill="hold"/>
                                        <p:tgtEl>
                                          <p:spTgt spid="22"/>
                                        </p:tgtEl>
                                        <p:attrNameLst>
                                          <p:attrName>ppt_y</p:attrName>
                                        </p:attrNameLst>
                                      </p:cBhvr>
                                      <p:tavLst>
                                        <p:tav tm="0">
                                          <p:val>
                                            <p:strVal val="0-#ppt_h/2"/>
                                          </p:val>
                                        </p:tav>
                                        <p:tav tm="100000">
                                          <p:val>
                                            <p:strVal val="#ppt_y"/>
                                          </p:val>
                                        </p:tav>
                                      </p:tavLst>
                                    </p:anim>
                                    <p:animEffect transition="in" filter="fade">
                                      <p:cBhvr>
                                        <p:cTn id="93" dur="500"/>
                                        <p:tgtEl>
                                          <p:spTgt spid="22"/>
                                        </p:tgtEl>
                                      </p:cBhvr>
                                    </p:animEffect>
                                  </p:childTnLst>
                                </p:cTn>
                              </p:par>
                            </p:childTnLst>
                          </p:cTn>
                        </p:par>
                        <p:par>
                          <p:cTn id="94" fill="hold">
                            <p:stCondLst>
                              <p:cond delay="1400"/>
                            </p:stCondLst>
                            <p:childTnLst>
                              <p:par>
                                <p:cTn id="95" presetID="2" presetClass="entr" presetSubtype="1" fill="hold"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ppt_y</p:attrName>
                                        </p:attrNameLst>
                                      </p:cBhvr>
                                      <p:tavLst>
                                        <p:tav tm="0">
                                          <p:val>
                                            <p:strVal val="0-#ppt_h/2"/>
                                          </p:val>
                                        </p:tav>
                                        <p:tav tm="100000">
                                          <p:val>
                                            <p:strVal val="#ppt_y"/>
                                          </p:val>
                                        </p:tav>
                                      </p:tavLst>
                                    </p:anim>
                                    <p:animEffect transition="in" filter="fade">
                                      <p:cBhvr>
                                        <p:cTn id="98" dur="500"/>
                                        <p:tgtEl>
                                          <p:spTgt spid="23"/>
                                        </p:tgtEl>
                                      </p:cBhvr>
                                    </p:animEffect>
                                  </p:childTnLst>
                                </p:cTn>
                              </p:par>
                            </p:childTnLst>
                          </p:cTn>
                        </p:par>
                        <p:par>
                          <p:cTn id="99" fill="hold">
                            <p:stCondLst>
                              <p:cond delay="1400"/>
                            </p:stCondLst>
                            <p:childTnLst>
                              <p:par>
                                <p:cTn id="100" presetID="2" presetClass="entr" presetSubtype="1" fill="hold"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additive="base">
                                        <p:cTn id="102" dur="500" fill="hold"/>
                                        <p:tgtEl>
                                          <p:spTgt spid="24"/>
                                        </p:tgtEl>
                                        <p:attrNameLst>
                                          <p:attrName>ppt_y</p:attrName>
                                        </p:attrNameLst>
                                      </p:cBhvr>
                                      <p:tavLst>
                                        <p:tav tm="0">
                                          <p:val>
                                            <p:strVal val="0-#ppt_h/2"/>
                                          </p:val>
                                        </p:tav>
                                        <p:tav tm="100000">
                                          <p:val>
                                            <p:strVal val="#ppt_y"/>
                                          </p:val>
                                        </p:tav>
                                      </p:tavLst>
                                    </p:anim>
                                    <p:animEffect transition="in" filter="fade">
                                      <p:cBhvr>
                                        <p:cTn id="103" dur="500"/>
                                        <p:tgtEl>
                                          <p:spTgt spid="24"/>
                                        </p:tgtEl>
                                      </p:cBhvr>
                                    </p:animEffect>
                                  </p:childTnLst>
                                </p:cTn>
                              </p:par>
                            </p:childTnLst>
                          </p:cTn>
                        </p:par>
                        <p:par>
                          <p:cTn id="104" fill="hold">
                            <p:stCondLst>
                              <p:cond delay="1400"/>
                            </p:stCondLst>
                            <p:childTnLst>
                              <p:par>
                                <p:cTn id="105" presetID="2" presetClass="entr" presetSubtype="1"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additive="base">
                                        <p:cTn id="107" dur="500" fill="hold"/>
                                        <p:tgtEl>
                                          <p:spTgt spid="25"/>
                                        </p:tgtEl>
                                        <p:attrNameLst>
                                          <p:attrName>ppt_y</p:attrName>
                                        </p:attrNameLst>
                                      </p:cBhvr>
                                      <p:tavLst>
                                        <p:tav tm="0">
                                          <p:val>
                                            <p:strVal val="0-#ppt_h/2"/>
                                          </p:val>
                                        </p:tav>
                                        <p:tav tm="100000">
                                          <p:val>
                                            <p:strVal val="#ppt_y"/>
                                          </p:val>
                                        </p:tav>
                                      </p:tavLst>
                                    </p:anim>
                                    <p:animEffect transition="in" filter="fade">
                                      <p:cBhvr>
                                        <p:cTn id="108" dur="500"/>
                                        <p:tgtEl>
                                          <p:spTgt spid="25"/>
                                        </p:tgtEl>
                                      </p:cBhvr>
                                    </p:animEffect>
                                  </p:childTnLst>
                                </p:cTn>
                              </p:par>
                            </p:childTnLst>
                          </p:cTn>
                        </p:par>
                        <p:par>
                          <p:cTn id="109" fill="hold">
                            <p:stCondLst>
                              <p:cond delay="1400"/>
                            </p:stCondLst>
                            <p:childTnLst>
                              <p:par>
                                <p:cTn id="110" presetID="2" presetClass="entr" presetSubtype="1" fill="hold" nodeType="withEffect">
                                  <p:stCondLst>
                                    <p:cond delay="0"/>
                                  </p:stCondLst>
                                  <p:childTnLst>
                                    <p:set>
                                      <p:cBhvr>
                                        <p:cTn id="111" dur="1" fill="hold">
                                          <p:stCondLst>
                                            <p:cond delay="0"/>
                                          </p:stCondLst>
                                        </p:cTn>
                                        <p:tgtEl>
                                          <p:spTgt spid="26"/>
                                        </p:tgtEl>
                                        <p:attrNameLst>
                                          <p:attrName>style.visibility</p:attrName>
                                        </p:attrNameLst>
                                      </p:cBhvr>
                                      <p:to>
                                        <p:strVal val="visible"/>
                                      </p:to>
                                    </p:set>
                                    <p:anim calcmode="lin" valueType="num">
                                      <p:cBhvr additive="base">
                                        <p:cTn id="112" dur="500" fill="hold"/>
                                        <p:tgtEl>
                                          <p:spTgt spid="26"/>
                                        </p:tgtEl>
                                        <p:attrNameLst>
                                          <p:attrName>ppt_y</p:attrName>
                                        </p:attrNameLst>
                                      </p:cBhvr>
                                      <p:tavLst>
                                        <p:tav tm="0">
                                          <p:val>
                                            <p:strVal val="0-#ppt_h/2"/>
                                          </p:val>
                                        </p:tav>
                                        <p:tav tm="100000">
                                          <p:val>
                                            <p:strVal val="#ppt_y"/>
                                          </p:val>
                                        </p:tav>
                                      </p:tavLst>
                                    </p:anim>
                                    <p:animEffect transition="in" filter="fade">
                                      <p:cBhvr>
                                        <p:cTn id="113" dur="500"/>
                                        <p:tgtEl>
                                          <p:spTgt spid="26"/>
                                        </p:tgtEl>
                                      </p:cBhvr>
                                    </p:animEffect>
                                  </p:childTnLst>
                                </p:cTn>
                              </p:par>
                            </p:childTnLst>
                          </p:cTn>
                        </p:par>
                        <p:par>
                          <p:cTn id="114" fill="hold">
                            <p:stCondLst>
                              <p:cond delay="1400"/>
                            </p:stCondLst>
                            <p:childTnLst>
                              <p:par>
                                <p:cTn id="115" presetID="2" presetClass="entr" presetSubtype="1" fill="hold" nodeType="withEffect">
                                  <p:stCondLst>
                                    <p:cond delay="0"/>
                                  </p:stCondLst>
                                  <p:childTnLst>
                                    <p:set>
                                      <p:cBhvr>
                                        <p:cTn id="116" dur="1" fill="hold">
                                          <p:stCondLst>
                                            <p:cond delay="0"/>
                                          </p:stCondLst>
                                        </p:cTn>
                                        <p:tgtEl>
                                          <p:spTgt spid="27"/>
                                        </p:tgtEl>
                                        <p:attrNameLst>
                                          <p:attrName>style.visibility</p:attrName>
                                        </p:attrNameLst>
                                      </p:cBhvr>
                                      <p:to>
                                        <p:strVal val="visible"/>
                                      </p:to>
                                    </p:set>
                                    <p:anim calcmode="lin" valueType="num">
                                      <p:cBhvr additive="base">
                                        <p:cTn id="117" dur="500" fill="hold"/>
                                        <p:tgtEl>
                                          <p:spTgt spid="27"/>
                                        </p:tgtEl>
                                        <p:attrNameLst>
                                          <p:attrName>ppt_y</p:attrName>
                                        </p:attrNameLst>
                                      </p:cBhvr>
                                      <p:tavLst>
                                        <p:tav tm="0">
                                          <p:val>
                                            <p:strVal val="0-#ppt_h/2"/>
                                          </p:val>
                                        </p:tav>
                                        <p:tav tm="100000">
                                          <p:val>
                                            <p:strVal val="#ppt_y"/>
                                          </p:val>
                                        </p:tav>
                                      </p:tavLst>
                                    </p:anim>
                                    <p:animEffect transition="in" filter="fade">
                                      <p:cBhvr>
                                        <p:cTn id="118" dur="500"/>
                                        <p:tgtEl>
                                          <p:spTgt spid="27"/>
                                        </p:tgtEl>
                                      </p:cBhvr>
                                    </p:animEffect>
                                  </p:childTnLst>
                                </p:cTn>
                              </p:par>
                            </p:childTnLst>
                          </p:cTn>
                        </p:par>
                        <p:par>
                          <p:cTn id="119" fill="hold">
                            <p:stCondLst>
                              <p:cond delay="1720"/>
                            </p:stCondLst>
                            <p:childTnLst>
                              <p:par>
                                <p:cTn id="120" presetID="2" presetClass="entr" presetSubtype="1" fill="hold" nodeType="withEffect">
                                  <p:stCondLst>
                                    <p:cond delay="0"/>
                                  </p:stCondLst>
                                  <p:childTnLst>
                                    <p:set>
                                      <p:cBhvr>
                                        <p:cTn id="121" dur="1" fill="hold">
                                          <p:stCondLst>
                                            <p:cond delay="0"/>
                                          </p:stCondLst>
                                        </p:cTn>
                                        <p:tgtEl>
                                          <p:spTgt spid="28"/>
                                        </p:tgtEl>
                                        <p:attrNameLst>
                                          <p:attrName>style.visibility</p:attrName>
                                        </p:attrNameLst>
                                      </p:cBhvr>
                                      <p:to>
                                        <p:strVal val="visible"/>
                                      </p:to>
                                    </p:set>
                                    <p:anim calcmode="lin" valueType="num">
                                      <p:cBhvr additive="base">
                                        <p:cTn id="122" dur="500" fill="hold"/>
                                        <p:tgtEl>
                                          <p:spTgt spid="28"/>
                                        </p:tgtEl>
                                        <p:attrNameLst>
                                          <p:attrName>ppt_y</p:attrName>
                                        </p:attrNameLst>
                                      </p:cBhvr>
                                      <p:tavLst>
                                        <p:tav tm="0">
                                          <p:val>
                                            <p:strVal val="0-#ppt_h/2"/>
                                          </p:val>
                                        </p:tav>
                                        <p:tav tm="100000">
                                          <p:val>
                                            <p:strVal val="#ppt_y"/>
                                          </p:val>
                                        </p:tav>
                                      </p:tavLst>
                                    </p:anim>
                                    <p:animEffect transition="in" filter="fade">
                                      <p:cBhvr>
                                        <p:cTn id="123" dur="500"/>
                                        <p:tgtEl>
                                          <p:spTgt spid="28"/>
                                        </p:tgtEl>
                                      </p:cBhvr>
                                    </p:animEffect>
                                  </p:childTnLst>
                                </p:cTn>
                              </p:par>
                            </p:childTnLst>
                          </p:cTn>
                        </p:par>
                        <p:par>
                          <p:cTn id="124" fill="hold">
                            <p:stCondLst>
                              <p:cond delay="1720"/>
                            </p:stCondLst>
                            <p:childTnLst>
                              <p:par>
                                <p:cTn id="125" presetID="2" presetClass="entr" presetSubtype="1"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additive="base">
                                        <p:cTn id="127" dur="500" fill="hold"/>
                                        <p:tgtEl>
                                          <p:spTgt spid="29"/>
                                        </p:tgtEl>
                                        <p:attrNameLst>
                                          <p:attrName>ppt_y</p:attrName>
                                        </p:attrNameLst>
                                      </p:cBhvr>
                                      <p:tavLst>
                                        <p:tav tm="0">
                                          <p:val>
                                            <p:strVal val="0-#ppt_h/2"/>
                                          </p:val>
                                        </p:tav>
                                        <p:tav tm="100000">
                                          <p:val>
                                            <p:strVal val="#ppt_y"/>
                                          </p:val>
                                        </p:tav>
                                      </p:tavLst>
                                    </p:anim>
                                    <p:animEffect transition="in" filter="fade">
                                      <p:cBhvr>
                                        <p:cTn id="128" dur="500"/>
                                        <p:tgtEl>
                                          <p:spTgt spid="29"/>
                                        </p:tgtEl>
                                      </p:cBhvr>
                                    </p:animEffect>
                                  </p:childTnLst>
                                </p:cTn>
                              </p:par>
                            </p:childTnLst>
                          </p:cTn>
                        </p:par>
                        <p:par>
                          <p:cTn id="129" fill="hold">
                            <p:stCondLst>
                              <p:cond delay="1720"/>
                            </p:stCondLst>
                            <p:childTnLst>
                              <p:par>
                                <p:cTn id="130" presetID="2" presetClass="entr" presetSubtype="1" fill="hold"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additive="base">
                                        <p:cTn id="132" dur="500" fill="hold"/>
                                        <p:tgtEl>
                                          <p:spTgt spid="30"/>
                                        </p:tgtEl>
                                        <p:attrNameLst>
                                          <p:attrName>ppt_y</p:attrName>
                                        </p:attrNameLst>
                                      </p:cBhvr>
                                      <p:tavLst>
                                        <p:tav tm="0">
                                          <p:val>
                                            <p:strVal val="0-#ppt_h/2"/>
                                          </p:val>
                                        </p:tav>
                                        <p:tav tm="100000">
                                          <p:val>
                                            <p:strVal val="#ppt_y"/>
                                          </p:val>
                                        </p:tav>
                                      </p:tavLst>
                                    </p:anim>
                                    <p:animEffect transition="in" filter="fade">
                                      <p:cBhvr>
                                        <p:cTn id="133" dur="500"/>
                                        <p:tgtEl>
                                          <p:spTgt spid="30"/>
                                        </p:tgtEl>
                                      </p:cBhvr>
                                    </p:animEffect>
                                  </p:childTnLst>
                                </p:cTn>
                              </p:par>
                            </p:childTnLst>
                          </p:cTn>
                        </p:par>
                        <p:par>
                          <p:cTn id="134" fill="hold">
                            <p:stCondLst>
                              <p:cond delay="1720"/>
                            </p:stCondLst>
                            <p:childTnLst>
                              <p:par>
                                <p:cTn id="135" presetID="2" presetClass="entr" presetSubtype="1" fill="hold"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additive="base">
                                        <p:cTn id="137" dur="500" fill="hold"/>
                                        <p:tgtEl>
                                          <p:spTgt spid="31"/>
                                        </p:tgtEl>
                                        <p:attrNameLst>
                                          <p:attrName>ppt_y</p:attrName>
                                        </p:attrNameLst>
                                      </p:cBhvr>
                                      <p:tavLst>
                                        <p:tav tm="0">
                                          <p:val>
                                            <p:strVal val="0-#ppt_h/2"/>
                                          </p:val>
                                        </p:tav>
                                        <p:tav tm="100000">
                                          <p:val>
                                            <p:strVal val="#ppt_y"/>
                                          </p:val>
                                        </p:tav>
                                      </p:tavLst>
                                    </p:anim>
                                    <p:animEffect transition="in" filter="fade">
                                      <p:cBhvr>
                                        <p:cTn id="138" dur="500"/>
                                        <p:tgtEl>
                                          <p:spTgt spid="31"/>
                                        </p:tgtEl>
                                      </p:cBhvr>
                                    </p:animEffect>
                                  </p:childTnLst>
                                </p:cTn>
                              </p:par>
                            </p:childTnLst>
                          </p:cTn>
                        </p:par>
                        <p:par>
                          <p:cTn id="139" fill="hold">
                            <p:stCondLst>
                              <p:cond delay="1720"/>
                            </p:stCondLst>
                            <p:childTnLst>
                              <p:par>
                                <p:cTn id="140" presetID="2" presetClass="entr" presetSubtype="1" fill="hold"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additive="base">
                                        <p:cTn id="142" dur="500" fill="hold"/>
                                        <p:tgtEl>
                                          <p:spTgt spid="32"/>
                                        </p:tgtEl>
                                        <p:attrNameLst>
                                          <p:attrName>ppt_y</p:attrName>
                                        </p:attrNameLst>
                                      </p:cBhvr>
                                      <p:tavLst>
                                        <p:tav tm="0">
                                          <p:val>
                                            <p:strVal val="0-#ppt_h/2"/>
                                          </p:val>
                                        </p:tav>
                                        <p:tav tm="100000">
                                          <p:val>
                                            <p:strVal val="#ppt_y"/>
                                          </p:val>
                                        </p:tav>
                                      </p:tavLst>
                                    </p:anim>
                                    <p:animEffect transition="in" filter="fade">
                                      <p:cBhvr>
                                        <p:cTn id="143" dur="500"/>
                                        <p:tgtEl>
                                          <p:spTgt spid="32"/>
                                        </p:tgtEl>
                                      </p:cBhvr>
                                    </p:animEffect>
                                  </p:childTnLst>
                                </p:cTn>
                              </p:par>
                            </p:childTnLst>
                          </p:cTn>
                        </p:par>
                        <p:par>
                          <p:cTn id="144" fill="hold">
                            <p:stCondLst>
                              <p:cond delay="2040"/>
                            </p:stCondLst>
                            <p:childTnLst>
                              <p:par>
                                <p:cTn id="145" presetID="2" presetClass="entr" presetSubtype="1"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additive="base">
                                        <p:cTn id="147" dur="500" fill="hold"/>
                                        <p:tgtEl>
                                          <p:spTgt spid="33"/>
                                        </p:tgtEl>
                                        <p:attrNameLst>
                                          <p:attrName>ppt_y</p:attrName>
                                        </p:attrNameLst>
                                      </p:cBhvr>
                                      <p:tavLst>
                                        <p:tav tm="0">
                                          <p:val>
                                            <p:strVal val="0-#ppt_h/2"/>
                                          </p:val>
                                        </p:tav>
                                        <p:tav tm="100000">
                                          <p:val>
                                            <p:strVal val="#ppt_y"/>
                                          </p:val>
                                        </p:tav>
                                      </p:tavLst>
                                    </p:anim>
                                    <p:animEffect transition="in" filter="fade">
                                      <p:cBhvr>
                                        <p:cTn id="148" dur="500"/>
                                        <p:tgtEl>
                                          <p:spTgt spid="33"/>
                                        </p:tgtEl>
                                      </p:cBhvr>
                                    </p:animEffect>
                                  </p:childTnLst>
                                </p:cTn>
                              </p:par>
                            </p:childTnLst>
                          </p:cTn>
                        </p:par>
                        <p:par>
                          <p:cTn id="149" fill="hold">
                            <p:stCondLst>
                              <p:cond delay="2040"/>
                            </p:stCondLst>
                            <p:childTnLst>
                              <p:par>
                                <p:cTn id="150" presetID="2" presetClass="entr" presetSubtype="1" fill="hold" nodeType="with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additive="base">
                                        <p:cTn id="152" dur="500" fill="hold"/>
                                        <p:tgtEl>
                                          <p:spTgt spid="34"/>
                                        </p:tgtEl>
                                        <p:attrNameLst>
                                          <p:attrName>ppt_y</p:attrName>
                                        </p:attrNameLst>
                                      </p:cBhvr>
                                      <p:tavLst>
                                        <p:tav tm="0">
                                          <p:val>
                                            <p:strVal val="0-#ppt_h/2"/>
                                          </p:val>
                                        </p:tav>
                                        <p:tav tm="100000">
                                          <p:val>
                                            <p:strVal val="#ppt_y"/>
                                          </p:val>
                                        </p:tav>
                                      </p:tavLst>
                                    </p:anim>
                                    <p:animEffect transition="in" filter="fade">
                                      <p:cBhvr>
                                        <p:cTn id="153" dur="500"/>
                                        <p:tgtEl>
                                          <p:spTgt spid="34"/>
                                        </p:tgtEl>
                                      </p:cBhvr>
                                    </p:animEffect>
                                  </p:childTnLst>
                                </p:cTn>
                              </p:par>
                            </p:childTnLst>
                          </p:cTn>
                        </p:par>
                        <p:par>
                          <p:cTn id="154" fill="hold">
                            <p:stCondLst>
                              <p:cond delay="2040"/>
                            </p:stCondLst>
                            <p:childTnLst>
                              <p:par>
                                <p:cTn id="155" presetID="2" presetClass="entr" presetSubtype="1"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anim calcmode="lin" valueType="num">
                                      <p:cBhvr additive="base">
                                        <p:cTn id="157" dur="500" fill="hold"/>
                                        <p:tgtEl>
                                          <p:spTgt spid="35"/>
                                        </p:tgtEl>
                                        <p:attrNameLst>
                                          <p:attrName>ppt_y</p:attrName>
                                        </p:attrNameLst>
                                      </p:cBhvr>
                                      <p:tavLst>
                                        <p:tav tm="0">
                                          <p:val>
                                            <p:strVal val="0-#ppt_h/2"/>
                                          </p:val>
                                        </p:tav>
                                        <p:tav tm="100000">
                                          <p:val>
                                            <p:strVal val="#ppt_y"/>
                                          </p:val>
                                        </p:tav>
                                      </p:tavLst>
                                    </p:anim>
                                    <p:animEffect transition="in" filter="fade">
                                      <p:cBhvr>
                                        <p:cTn id="158" dur="500"/>
                                        <p:tgtEl>
                                          <p:spTgt spid="35"/>
                                        </p:tgtEl>
                                      </p:cBhvr>
                                    </p:animEffect>
                                  </p:childTnLst>
                                </p:cTn>
                              </p:par>
                            </p:childTnLst>
                          </p:cTn>
                        </p:par>
                        <p:par>
                          <p:cTn id="159" fill="hold">
                            <p:stCondLst>
                              <p:cond delay="2040"/>
                            </p:stCondLst>
                            <p:childTnLst>
                              <p:par>
                                <p:cTn id="160" presetID="2" presetClass="entr" presetSubtype="1" fill="hold" nodeType="withEffect">
                                  <p:stCondLst>
                                    <p:cond delay="0"/>
                                  </p:stCondLst>
                                  <p:childTnLst>
                                    <p:set>
                                      <p:cBhvr>
                                        <p:cTn id="161" dur="1" fill="hold">
                                          <p:stCondLst>
                                            <p:cond delay="0"/>
                                          </p:stCondLst>
                                        </p:cTn>
                                        <p:tgtEl>
                                          <p:spTgt spid="36"/>
                                        </p:tgtEl>
                                        <p:attrNameLst>
                                          <p:attrName>style.visibility</p:attrName>
                                        </p:attrNameLst>
                                      </p:cBhvr>
                                      <p:to>
                                        <p:strVal val="visible"/>
                                      </p:to>
                                    </p:set>
                                    <p:anim calcmode="lin" valueType="num">
                                      <p:cBhvr additive="base">
                                        <p:cTn id="162" dur="500" fill="hold"/>
                                        <p:tgtEl>
                                          <p:spTgt spid="36"/>
                                        </p:tgtEl>
                                        <p:attrNameLst>
                                          <p:attrName>ppt_y</p:attrName>
                                        </p:attrNameLst>
                                      </p:cBhvr>
                                      <p:tavLst>
                                        <p:tav tm="0">
                                          <p:val>
                                            <p:strVal val="0-#ppt_h/2"/>
                                          </p:val>
                                        </p:tav>
                                        <p:tav tm="100000">
                                          <p:val>
                                            <p:strVal val="#ppt_y"/>
                                          </p:val>
                                        </p:tav>
                                      </p:tavLst>
                                    </p:anim>
                                    <p:animEffect transition="in" filter="fade">
                                      <p:cBhvr>
                                        <p:cTn id="163" dur="500"/>
                                        <p:tgtEl>
                                          <p:spTgt spid="36"/>
                                        </p:tgtEl>
                                      </p:cBhvr>
                                    </p:animEffect>
                                  </p:childTnLst>
                                </p:cTn>
                              </p:par>
                            </p:childTnLst>
                          </p:cTn>
                        </p:par>
                        <p:par>
                          <p:cTn id="164" fill="hold">
                            <p:stCondLst>
                              <p:cond delay="2040"/>
                            </p:stCondLst>
                            <p:childTnLst>
                              <p:par>
                                <p:cTn id="165" presetID="2" presetClass="entr" presetSubtype="1" fill="hold" nodeType="with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additive="base">
                                        <p:cTn id="167" dur="500" fill="hold"/>
                                        <p:tgtEl>
                                          <p:spTgt spid="37"/>
                                        </p:tgtEl>
                                        <p:attrNameLst>
                                          <p:attrName>ppt_y</p:attrName>
                                        </p:attrNameLst>
                                      </p:cBhvr>
                                      <p:tavLst>
                                        <p:tav tm="0">
                                          <p:val>
                                            <p:strVal val="0-#ppt_h/2"/>
                                          </p:val>
                                        </p:tav>
                                        <p:tav tm="100000">
                                          <p:val>
                                            <p:strVal val="#ppt_y"/>
                                          </p:val>
                                        </p:tav>
                                      </p:tavLst>
                                    </p:anim>
                                    <p:animEffect transition="in" filter="fade">
                                      <p:cBhvr>
                                        <p:cTn id="168" dur="500"/>
                                        <p:tgtEl>
                                          <p:spTgt spid="37"/>
                                        </p:tgtEl>
                                      </p:cBhvr>
                                    </p:animEffect>
                                  </p:childTnLst>
                                </p:cTn>
                              </p:par>
                            </p:childTnLst>
                          </p:cTn>
                        </p:par>
                        <p:par>
                          <p:cTn id="169" fill="hold">
                            <p:stCondLst>
                              <p:cond delay="2610"/>
                            </p:stCondLst>
                            <p:childTnLst>
                              <p:par>
                                <p:cTn id="170" presetID="2" presetClass="entr" presetSubtype="4"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 calcmode="lin" valueType="num">
                                      <p:cBhvr additive="base">
                                        <p:cTn id="172" dur="500" fill="hold"/>
                                        <p:tgtEl>
                                          <p:spTgt spid="38"/>
                                        </p:tgtEl>
                                        <p:attrNameLst>
                                          <p:attrName>ppt_y</p:attrName>
                                        </p:attrNameLst>
                                      </p:cBhvr>
                                      <p:tavLst>
                                        <p:tav tm="0">
                                          <p:val>
                                            <p:strVal val="1+#ppt_h/2"/>
                                          </p:val>
                                        </p:tav>
                                        <p:tav tm="100000">
                                          <p:val>
                                            <p:strVal val="#ppt_y"/>
                                          </p:val>
                                        </p:tav>
                                      </p:tavLst>
                                    </p:anim>
                                    <p:animEffect transition="in" filter="fade">
                                      <p:cBhvr>
                                        <p:cTn id="173" dur="500"/>
                                        <p:tgtEl>
                                          <p:spTgt spid="38"/>
                                        </p:tgtEl>
                                      </p:cBhvr>
                                    </p:animEffect>
                                  </p:childTnLst>
                                </p:cTn>
                              </p:par>
                            </p:childTnLst>
                          </p:cTn>
                        </p:par>
                        <p:par>
                          <p:cTn id="174" fill="hold">
                            <p:stCondLst>
                              <p:cond delay="2610"/>
                            </p:stCondLst>
                            <p:childTnLst>
                              <p:par>
                                <p:cTn id="175" presetID="2" presetClass="entr" presetSubtype="4" fill="hold" nodeType="withEffect">
                                  <p:stCondLst>
                                    <p:cond delay="0"/>
                                  </p:stCondLst>
                                  <p:childTnLst>
                                    <p:set>
                                      <p:cBhvr>
                                        <p:cTn id="176" dur="1" fill="hold">
                                          <p:stCondLst>
                                            <p:cond delay="0"/>
                                          </p:stCondLst>
                                        </p:cTn>
                                        <p:tgtEl>
                                          <p:spTgt spid="39"/>
                                        </p:tgtEl>
                                        <p:attrNameLst>
                                          <p:attrName>style.visibility</p:attrName>
                                        </p:attrNameLst>
                                      </p:cBhvr>
                                      <p:to>
                                        <p:strVal val="visible"/>
                                      </p:to>
                                    </p:set>
                                    <p:anim calcmode="lin" valueType="num">
                                      <p:cBhvr additive="base">
                                        <p:cTn id="177" dur="500" fill="hold"/>
                                        <p:tgtEl>
                                          <p:spTgt spid="39"/>
                                        </p:tgtEl>
                                        <p:attrNameLst>
                                          <p:attrName>ppt_y</p:attrName>
                                        </p:attrNameLst>
                                      </p:cBhvr>
                                      <p:tavLst>
                                        <p:tav tm="0">
                                          <p:val>
                                            <p:strVal val="1+#ppt_h/2"/>
                                          </p:val>
                                        </p:tav>
                                        <p:tav tm="100000">
                                          <p:val>
                                            <p:strVal val="#ppt_y"/>
                                          </p:val>
                                        </p:tav>
                                      </p:tavLst>
                                    </p:anim>
                                    <p:animEffect transition="in" filter="fade">
                                      <p:cBhvr>
                                        <p:cTn id="178" dur="500"/>
                                        <p:tgtEl>
                                          <p:spTgt spid="39"/>
                                        </p:tgtEl>
                                      </p:cBhvr>
                                    </p:animEffect>
                                  </p:childTnLst>
                                </p:cTn>
                              </p:par>
                            </p:childTnLst>
                          </p:cTn>
                        </p:par>
                        <p:par>
                          <p:cTn id="179" fill="hold">
                            <p:stCondLst>
                              <p:cond delay="2610"/>
                            </p:stCondLst>
                            <p:childTnLst>
                              <p:par>
                                <p:cTn id="180" presetID="2" presetClass="entr" presetSubtype="4" fill="hold" nodeType="withEffect">
                                  <p:stCondLst>
                                    <p:cond delay="0"/>
                                  </p:stCondLst>
                                  <p:childTnLst>
                                    <p:set>
                                      <p:cBhvr>
                                        <p:cTn id="181" dur="1" fill="hold">
                                          <p:stCondLst>
                                            <p:cond delay="0"/>
                                          </p:stCondLst>
                                        </p:cTn>
                                        <p:tgtEl>
                                          <p:spTgt spid="40"/>
                                        </p:tgtEl>
                                        <p:attrNameLst>
                                          <p:attrName>style.visibility</p:attrName>
                                        </p:attrNameLst>
                                      </p:cBhvr>
                                      <p:to>
                                        <p:strVal val="visible"/>
                                      </p:to>
                                    </p:set>
                                    <p:anim calcmode="lin" valueType="num">
                                      <p:cBhvr additive="base">
                                        <p:cTn id="182" dur="500" fill="hold"/>
                                        <p:tgtEl>
                                          <p:spTgt spid="40"/>
                                        </p:tgtEl>
                                        <p:attrNameLst>
                                          <p:attrName>ppt_y</p:attrName>
                                        </p:attrNameLst>
                                      </p:cBhvr>
                                      <p:tavLst>
                                        <p:tav tm="0">
                                          <p:val>
                                            <p:strVal val="1+#ppt_h/2"/>
                                          </p:val>
                                        </p:tav>
                                        <p:tav tm="100000">
                                          <p:val>
                                            <p:strVal val="#ppt_y"/>
                                          </p:val>
                                        </p:tav>
                                      </p:tavLst>
                                    </p:anim>
                                    <p:animEffect transition="in" filter="fade">
                                      <p:cBhvr>
                                        <p:cTn id="183" dur="500"/>
                                        <p:tgtEl>
                                          <p:spTgt spid="40"/>
                                        </p:tgtEl>
                                      </p:cBhvr>
                                    </p:animEffect>
                                  </p:childTnLst>
                                </p:cTn>
                              </p:par>
                            </p:childTnLst>
                          </p:cTn>
                        </p:par>
                        <p:par>
                          <p:cTn id="184" fill="hold">
                            <p:stCondLst>
                              <p:cond delay="2870"/>
                            </p:stCondLst>
                            <p:childTnLst>
                              <p:par>
                                <p:cTn id="185" presetID="2" presetClass="entr" presetSubtype="4" fill="hold" nodeType="withEffect">
                                  <p:stCondLst>
                                    <p:cond delay="0"/>
                                  </p:stCondLst>
                                  <p:childTnLst>
                                    <p:set>
                                      <p:cBhvr>
                                        <p:cTn id="186" dur="1" fill="hold">
                                          <p:stCondLst>
                                            <p:cond delay="0"/>
                                          </p:stCondLst>
                                        </p:cTn>
                                        <p:tgtEl>
                                          <p:spTgt spid="47"/>
                                        </p:tgtEl>
                                        <p:attrNameLst>
                                          <p:attrName>style.visibility</p:attrName>
                                        </p:attrNameLst>
                                      </p:cBhvr>
                                      <p:to>
                                        <p:strVal val="visible"/>
                                      </p:to>
                                    </p:set>
                                    <p:anim calcmode="lin" valueType="num">
                                      <p:cBhvr additive="base">
                                        <p:cTn id="187" dur="500" fill="hold"/>
                                        <p:tgtEl>
                                          <p:spTgt spid="47"/>
                                        </p:tgtEl>
                                        <p:attrNameLst>
                                          <p:attrName>ppt_y</p:attrName>
                                        </p:attrNameLst>
                                      </p:cBhvr>
                                      <p:tavLst>
                                        <p:tav tm="0">
                                          <p:val>
                                            <p:strVal val="1+#ppt_h/2"/>
                                          </p:val>
                                        </p:tav>
                                        <p:tav tm="100000">
                                          <p:val>
                                            <p:strVal val="#ppt_y"/>
                                          </p:val>
                                        </p:tav>
                                      </p:tavLst>
                                    </p:anim>
                                    <p:animEffect transition="in" filter="fade">
                                      <p:cBhvr>
                                        <p:cTn id="188" dur="500"/>
                                        <p:tgtEl>
                                          <p:spTgt spid="47"/>
                                        </p:tgtEl>
                                      </p:cBhvr>
                                    </p:animEffect>
                                  </p:childTnLst>
                                </p:cTn>
                              </p:par>
                            </p:childTnLst>
                          </p:cTn>
                        </p:par>
                        <p:par>
                          <p:cTn id="189" fill="hold">
                            <p:stCondLst>
                              <p:cond delay="3310"/>
                            </p:stCondLst>
                            <p:childTnLst>
                              <p:par>
                                <p:cTn id="190" presetID="2" presetClass="entr" presetSubtype="4"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 calcmode="lin" valueType="num">
                                      <p:cBhvr additive="base">
                                        <p:cTn id="192" dur="500" fill="hold"/>
                                        <p:tgtEl>
                                          <p:spTgt spid="41"/>
                                        </p:tgtEl>
                                        <p:attrNameLst>
                                          <p:attrName>ppt_y</p:attrName>
                                        </p:attrNameLst>
                                      </p:cBhvr>
                                      <p:tavLst>
                                        <p:tav tm="0">
                                          <p:val>
                                            <p:strVal val="1+#ppt_h/2"/>
                                          </p:val>
                                        </p:tav>
                                        <p:tav tm="100000">
                                          <p:val>
                                            <p:strVal val="#ppt_y"/>
                                          </p:val>
                                        </p:tav>
                                      </p:tavLst>
                                    </p:anim>
                                    <p:animEffect transition="in" filter="fade">
                                      <p:cBhvr>
                                        <p:cTn id="193" dur="500"/>
                                        <p:tgtEl>
                                          <p:spTgt spid="41"/>
                                        </p:tgtEl>
                                      </p:cBhvr>
                                    </p:animEffect>
                                  </p:childTnLst>
                                </p:cTn>
                              </p:par>
                            </p:childTnLst>
                          </p:cTn>
                        </p:par>
                        <p:par>
                          <p:cTn id="194" fill="hold">
                            <p:stCondLst>
                              <p:cond delay="3310"/>
                            </p:stCondLst>
                            <p:childTnLst>
                              <p:par>
                                <p:cTn id="195" presetID="2" presetClass="entr" presetSubtype="4"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 calcmode="lin" valueType="num">
                                      <p:cBhvr additive="base">
                                        <p:cTn id="197" dur="500" fill="hold"/>
                                        <p:tgtEl>
                                          <p:spTgt spid="42"/>
                                        </p:tgtEl>
                                        <p:attrNameLst>
                                          <p:attrName>ppt_y</p:attrName>
                                        </p:attrNameLst>
                                      </p:cBhvr>
                                      <p:tavLst>
                                        <p:tav tm="0">
                                          <p:val>
                                            <p:strVal val="1+#ppt_h/2"/>
                                          </p:val>
                                        </p:tav>
                                        <p:tav tm="100000">
                                          <p:val>
                                            <p:strVal val="#ppt_y"/>
                                          </p:val>
                                        </p:tav>
                                      </p:tavLst>
                                    </p:anim>
                                    <p:animEffect transition="in" filter="fade">
                                      <p:cBhvr>
                                        <p:cTn id="198" dur="500"/>
                                        <p:tgtEl>
                                          <p:spTgt spid="42"/>
                                        </p:tgtEl>
                                      </p:cBhvr>
                                    </p:animEffect>
                                  </p:childTnLst>
                                </p:cTn>
                              </p:par>
                            </p:childTnLst>
                          </p:cTn>
                        </p:par>
                        <p:par>
                          <p:cTn id="199" fill="hold">
                            <p:stCondLst>
                              <p:cond delay="3310"/>
                            </p:stCondLst>
                            <p:childTnLst>
                              <p:par>
                                <p:cTn id="200" presetID="2" presetClass="entr" presetSubtype="4"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 calcmode="lin" valueType="num">
                                      <p:cBhvr additive="base">
                                        <p:cTn id="202" dur="500" fill="hold"/>
                                        <p:tgtEl>
                                          <p:spTgt spid="43"/>
                                        </p:tgtEl>
                                        <p:attrNameLst>
                                          <p:attrName>ppt_y</p:attrName>
                                        </p:attrNameLst>
                                      </p:cBhvr>
                                      <p:tavLst>
                                        <p:tav tm="0">
                                          <p:val>
                                            <p:strVal val="1+#ppt_h/2"/>
                                          </p:val>
                                        </p:tav>
                                        <p:tav tm="100000">
                                          <p:val>
                                            <p:strVal val="#ppt_y"/>
                                          </p:val>
                                        </p:tav>
                                      </p:tavLst>
                                    </p:anim>
                                    <p:animEffect transition="in" filter="fade">
                                      <p:cBhvr>
                                        <p:cTn id="203" dur="500"/>
                                        <p:tgtEl>
                                          <p:spTgt spid="43"/>
                                        </p:tgtEl>
                                      </p:cBhvr>
                                    </p:animEffect>
                                  </p:childTnLst>
                                </p:cTn>
                              </p:par>
                            </p:childTnLst>
                          </p:cTn>
                        </p:par>
                        <p:par>
                          <p:cTn id="204" fill="hold">
                            <p:stCondLst>
                              <p:cond delay="3570"/>
                            </p:stCondLst>
                            <p:childTnLst>
                              <p:par>
                                <p:cTn id="205" presetID="2" presetClass="entr" presetSubtype="4" fill="hold" nodeType="withEffect">
                                  <p:stCondLst>
                                    <p:cond delay="0"/>
                                  </p:stCondLst>
                                  <p:childTnLst>
                                    <p:set>
                                      <p:cBhvr>
                                        <p:cTn id="206" dur="1" fill="hold">
                                          <p:stCondLst>
                                            <p:cond delay="0"/>
                                          </p:stCondLst>
                                        </p:cTn>
                                        <p:tgtEl>
                                          <p:spTgt spid="48"/>
                                        </p:tgtEl>
                                        <p:attrNameLst>
                                          <p:attrName>style.visibility</p:attrName>
                                        </p:attrNameLst>
                                      </p:cBhvr>
                                      <p:to>
                                        <p:strVal val="visible"/>
                                      </p:to>
                                    </p:set>
                                    <p:anim calcmode="lin" valueType="num">
                                      <p:cBhvr additive="base">
                                        <p:cTn id="207" dur="500" fill="hold"/>
                                        <p:tgtEl>
                                          <p:spTgt spid="48"/>
                                        </p:tgtEl>
                                        <p:attrNameLst>
                                          <p:attrName>ppt_y</p:attrName>
                                        </p:attrNameLst>
                                      </p:cBhvr>
                                      <p:tavLst>
                                        <p:tav tm="0">
                                          <p:val>
                                            <p:strVal val="1+#ppt_h/2"/>
                                          </p:val>
                                        </p:tav>
                                        <p:tav tm="100000">
                                          <p:val>
                                            <p:strVal val="#ppt_y"/>
                                          </p:val>
                                        </p:tav>
                                      </p:tavLst>
                                    </p:anim>
                                    <p:animEffect transition="in" filter="fade">
                                      <p:cBhvr>
                                        <p:cTn id="208" dur="500"/>
                                        <p:tgtEl>
                                          <p:spTgt spid="48"/>
                                        </p:tgtEl>
                                      </p:cBhvr>
                                    </p:animEffect>
                                  </p:childTnLst>
                                </p:cTn>
                              </p:par>
                            </p:childTnLst>
                          </p:cTn>
                        </p:par>
                        <p:par>
                          <p:cTn id="209" fill="hold">
                            <p:stCondLst>
                              <p:cond delay="4010"/>
                            </p:stCondLst>
                            <p:childTnLst>
                              <p:par>
                                <p:cTn id="210" presetID="2" presetClass="entr" presetSubtype="4" fill="hold" nodeType="withEffect">
                                  <p:stCondLst>
                                    <p:cond delay="0"/>
                                  </p:stCondLst>
                                  <p:childTnLst>
                                    <p:set>
                                      <p:cBhvr>
                                        <p:cTn id="211" dur="1" fill="hold">
                                          <p:stCondLst>
                                            <p:cond delay="0"/>
                                          </p:stCondLst>
                                        </p:cTn>
                                        <p:tgtEl>
                                          <p:spTgt spid="44"/>
                                        </p:tgtEl>
                                        <p:attrNameLst>
                                          <p:attrName>style.visibility</p:attrName>
                                        </p:attrNameLst>
                                      </p:cBhvr>
                                      <p:to>
                                        <p:strVal val="visible"/>
                                      </p:to>
                                    </p:set>
                                    <p:anim calcmode="lin" valueType="num">
                                      <p:cBhvr additive="base">
                                        <p:cTn id="212" dur="500" fill="hold"/>
                                        <p:tgtEl>
                                          <p:spTgt spid="44"/>
                                        </p:tgtEl>
                                        <p:attrNameLst>
                                          <p:attrName>ppt_y</p:attrName>
                                        </p:attrNameLst>
                                      </p:cBhvr>
                                      <p:tavLst>
                                        <p:tav tm="0">
                                          <p:val>
                                            <p:strVal val="1+#ppt_h/2"/>
                                          </p:val>
                                        </p:tav>
                                        <p:tav tm="100000">
                                          <p:val>
                                            <p:strVal val="#ppt_y"/>
                                          </p:val>
                                        </p:tav>
                                      </p:tavLst>
                                    </p:anim>
                                    <p:animEffect transition="in" filter="fade">
                                      <p:cBhvr>
                                        <p:cTn id="213" dur="500"/>
                                        <p:tgtEl>
                                          <p:spTgt spid="44"/>
                                        </p:tgtEl>
                                      </p:cBhvr>
                                    </p:animEffect>
                                  </p:childTnLst>
                                </p:cTn>
                              </p:par>
                            </p:childTnLst>
                          </p:cTn>
                        </p:par>
                        <p:par>
                          <p:cTn id="214" fill="hold">
                            <p:stCondLst>
                              <p:cond delay="4010"/>
                            </p:stCondLst>
                            <p:childTnLst>
                              <p:par>
                                <p:cTn id="215" presetID="2" presetClass="entr" presetSubtype="4" fill="hold" nodeType="withEffect">
                                  <p:stCondLst>
                                    <p:cond delay="0"/>
                                  </p:stCondLst>
                                  <p:childTnLst>
                                    <p:set>
                                      <p:cBhvr>
                                        <p:cTn id="216" dur="1" fill="hold">
                                          <p:stCondLst>
                                            <p:cond delay="0"/>
                                          </p:stCondLst>
                                        </p:cTn>
                                        <p:tgtEl>
                                          <p:spTgt spid="45"/>
                                        </p:tgtEl>
                                        <p:attrNameLst>
                                          <p:attrName>style.visibility</p:attrName>
                                        </p:attrNameLst>
                                      </p:cBhvr>
                                      <p:to>
                                        <p:strVal val="visible"/>
                                      </p:to>
                                    </p:set>
                                    <p:anim calcmode="lin" valueType="num">
                                      <p:cBhvr additive="base">
                                        <p:cTn id="217" dur="500" fill="hold"/>
                                        <p:tgtEl>
                                          <p:spTgt spid="45"/>
                                        </p:tgtEl>
                                        <p:attrNameLst>
                                          <p:attrName>ppt_y</p:attrName>
                                        </p:attrNameLst>
                                      </p:cBhvr>
                                      <p:tavLst>
                                        <p:tav tm="0">
                                          <p:val>
                                            <p:strVal val="1+#ppt_h/2"/>
                                          </p:val>
                                        </p:tav>
                                        <p:tav tm="100000">
                                          <p:val>
                                            <p:strVal val="#ppt_y"/>
                                          </p:val>
                                        </p:tav>
                                      </p:tavLst>
                                    </p:anim>
                                    <p:animEffect transition="in" filter="fade">
                                      <p:cBhvr>
                                        <p:cTn id="218" dur="500"/>
                                        <p:tgtEl>
                                          <p:spTgt spid="45"/>
                                        </p:tgtEl>
                                      </p:cBhvr>
                                    </p:animEffect>
                                  </p:childTnLst>
                                </p:cTn>
                              </p:par>
                            </p:childTnLst>
                          </p:cTn>
                        </p:par>
                        <p:par>
                          <p:cTn id="219" fill="hold">
                            <p:stCondLst>
                              <p:cond delay="4010"/>
                            </p:stCondLst>
                            <p:childTnLst>
                              <p:par>
                                <p:cTn id="220" presetID="2" presetClass="entr" presetSubtype="4" fill="hold" nodeType="withEffect">
                                  <p:stCondLst>
                                    <p:cond delay="0"/>
                                  </p:stCondLst>
                                  <p:childTnLst>
                                    <p:set>
                                      <p:cBhvr>
                                        <p:cTn id="221" dur="1" fill="hold">
                                          <p:stCondLst>
                                            <p:cond delay="0"/>
                                          </p:stCondLst>
                                        </p:cTn>
                                        <p:tgtEl>
                                          <p:spTgt spid="46"/>
                                        </p:tgtEl>
                                        <p:attrNameLst>
                                          <p:attrName>style.visibility</p:attrName>
                                        </p:attrNameLst>
                                      </p:cBhvr>
                                      <p:to>
                                        <p:strVal val="visible"/>
                                      </p:to>
                                    </p:set>
                                    <p:anim calcmode="lin" valueType="num">
                                      <p:cBhvr additive="base">
                                        <p:cTn id="222" dur="500" fill="hold"/>
                                        <p:tgtEl>
                                          <p:spTgt spid="46"/>
                                        </p:tgtEl>
                                        <p:attrNameLst>
                                          <p:attrName>ppt_y</p:attrName>
                                        </p:attrNameLst>
                                      </p:cBhvr>
                                      <p:tavLst>
                                        <p:tav tm="0">
                                          <p:val>
                                            <p:strVal val="1+#ppt_h/2"/>
                                          </p:val>
                                        </p:tav>
                                        <p:tav tm="100000">
                                          <p:val>
                                            <p:strVal val="#ppt_y"/>
                                          </p:val>
                                        </p:tav>
                                      </p:tavLst>
                                    </p:anim>
                                    <p:animEffect transition="in" filter="fade">
                                      <p:cBhvr>
                                        <p:cTn id="223" dur="500"/>
                                        <p:tgtEl>
                                          <p:spTgt spid="46"/>
                                        </p:tgtEl>
                                      </p:cBhvr>
                                    </p:animEffect>
                                  </p:childTnLst>
                                </p:cTn>
                              </p:par>
                            </p:childTnLst>
                          </p:cTn>
                        </p:par>
                        <p:par>
                          <p:cTn id="224" fill="hold">
                            <p:stCondLst>
                              <p:cond delay="4270"/>
                            </p:stCondLst>
                            <p:childTnLst>
                              <p:par>
                                <p:cTn id="225" presetID="2" presetClass="entr" presetSubtype="4" fill="hold" nodeType="withEffect">
                                  <p:stCondLst>
                                    <p:cond delay="0"/>
                                  </p:stCondLst>
                                  <p:childTnLst>
                                    <p:set>
                                      <p:cBhvr>
                                        <p:cTn id="226" dur="1" fill="hold">
                                          <p:stCondLst>
                                            <p:cond delay="0"/>
                                          </p:stCondLst>
                                        </p:cTn>
                                        <p:tgtEl>
                                          <p:spTgt spid="49"/>
                                        </p:tgtEl>
                                        <p:attrNameLst>
                                          <p:attrName>style.visibility</p:attrName>
                                        </p:attrNameLst>
                                      </p:cBhvr>
                                      <p:to>
                                        <p:strVal val="visible"/>
                                      </p:to>
                                    </p:set>
                                    <p:anim calcmode="lin" valueType="num">
                                      <p:cBhvr additive="base">
                                        <p:cTn id="227" dur="500" fill="hold"/>
                                        <p:tgtEl>
                                          <p:spTgt spid="49"/>
                                        </p:tgtEl>
                                        <p:attrNameLst>
                                          <p:attrName>ppt_y</p:attrName>
                                        </p:attrNameLst>
                                      </p:cBhvr>
                                      <p:tavLst>
                                        <p:tav tm="0">
                                          <p:val>
                                            <p:strVal val="1+#ppt_h/2"/>
                                          </p:val>
                                        </p:tav>
                                        <p:tav tm="100000">
                                          <p:val>
                                            <p:strVal val="#ppt_y"/>
                                          </p:val>
                                        </p:tav>
                                      </p:tavLst>
                                    </p:anim>
                                    <p:animEffect transition="in" filter="fade">
                                      <p:cBhvr>
                                        <p:cTn id="228" dur="500"/>
                                        <p:tgtEl>
                                          <p:spTgt spid="49"/>
                                        </p:tgtEl>
                                      </p:cBhvr>
                                    </p:animEffect>
                                  </p:childTnLst>
                                </p:cTn>
                              </p:par>
                            </p:childTnLst>
                          </p:cTn>
                        </p:par>
                        <p:par>
                          <p:cTn id="229" fill="hold">
                            <p:stCondLst>
                              <p:cond delay="4960"/>
                            </p:stCondLst>
                            <p:childTnLst>
                              <p:par>
                                <p:cTn id="230" presetID="2" presetClass="entr" presetSubtype="4" fill="hold" nodeType="withEffect">
                                  <p:stCondLst>
                                    <p:cond delay="0"/>
                                  </p:stCondLst>
                                  <p:childTnLst>
                                    <p:set>
                                      <p:cBhvr>
                                        <p:cTn id="231" dur="1" fill="hold">
                                          <p:stCondLst>
                                            <p:cond delay="0"/>
                                          </p:stCondLst>
                                        </p:cTn>
                                        <p:tgtEl>
                                          <p:spTgt spid="50"/>
                                        </p:tgtEl>
                                        <p:attrNameLst>
                                          <p:attrName>style.visibility</p:attrName>
                                        </p:attrNameLst>
                                      </p:cBhvr>
                                      <p:to>
                                        <p:strVal val="visible"/>
                                      </p:to>
                                    </p:set>
                                    <p:anim calcmode="lin" valueType="num">
                                      <p:cBhvr additive="base">
                                        <p:cTn id="232" dur="500" fill="hold"/>
                                        <p:tgtEl>
                                          <p:spTgt spid="50"/>
                                        </p:tgtEl>
                                        <p:attrNameLst>
                                          <p:attrName>ppt_y</p:attrName>
                                        </p:attrNameLst>
                                      </p:cBhvr>
                                      <p:tavLst>
                                        <p:tav tm="0">
                                          <p:val>
                                            <p:strVal val="1+#ppt_h/2"/>
                                          </p:val>
                                        </p:tav>
                                        <p:tav tm="100000">
                                          <p:val>
                                            <p:strVal val="#ppt_y"/>
                                          </p:val>
                                        </p:tav>
                                      </p:tavLst>
                                    </p:anim>
                                    <p:animEffect transition="in" filter="fade">
                                      <p:cBhvr>
                                        <p:cTn id="233" dur="500"/>
                                        <p:tgtEl>
                                          <p:spTgt spid="50"/>
                                        </p:tgtEl>
                                      </p:cBhvr>
                                    </p:animEffect>
                                  </p:childTnLst>
                                </p:cTn>
                              </p:par>
                            </p:childTnLst>
                          </p:cTn>
                        </p:par>
                        <p:par>
                          <p:cTn id="234" fill="hold">
                            <p:stCondLst>
                              <p:cond delay="4960"/>
                            </p:stCondLst>
                            <p:childTnLst>
                              <p:par>
                                <p:cTn id="235" presetID="2" presetClass="entr" presetSubtype="4" fill="hold" nodeType="withEffect">
                                  <p:stCondLst>
                                    <p:cond delay="0"/>
                                  </p:stCondLst>
                                  <p:childTnLst>
                                    <p:set>
                                      <p:cBhvr>
                                        <p:cTn id="236" dur="1" fill="hold">
                                          <p:stCondLst>
                                            <p:cond delay="0"/>
                                          </p:stCondLst>
                                        </p:cTn>
                                        <p:tgtEl>
                                          <p:spTgt spid="51"/>
                                        </p:tgtEl>
                                        <p:attrNameLst>
                                          <p:attrName>style.visibility</p:attrName>
                                        </p:attrNameLst>
                                      </p:cBhvr>
                                      <p:to>
                                        <p:strVal val="visible"/>
                                      </p:to>
                                    </p:set>
                                    <p:anim calcmode="lin" valueType="num">
                                      <p:cBhvr additive="base">
                                        <p:cTn id="237" dur="500" fill="hold"/>
                                        <p:tgtEl>
                                          <p:spTgt spid="51"/>
                                        </p:tgtEl>
                                        <p:attrNameLst>
                                          <p:attrName>ppt_y</p:attrName>
                                        </p:attrNameLst>
                                      </p:cBhvr>
                                      <p:tavLst>
                                        <p:tav tm="0">
                                          <p:val>
                                            <p:strVal val="1+#ppt_h/2"/>
                                          </p:val>
                                        </p:tav>
                                        <p:tav tm="100000">
                                          <p:val>
                                            <p:strVal val="#ppt_y"/>
                                          </p:val>
                                        </p:tav>
                                      </p:tavLst>
                                    </p:anim>
                                    <p:animEffect transition="in" filter="fade">
                                      <p:cBhvr>
                                        <p:cTn id="23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75488"/>
            <a:ext cx="457200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09   —   DECISION SUPPORT</a:t>
            </a:r>
            <a:endParaRPr lang="en-US" sz="850" dirty="0"/>
          </a:p>
        </p:txBody>
      </p:sp>
      <p:sp>
        <p:nvSpPr>
          <p:cNvPr id="3" name="Text 1"/>
          <p:cNvSpPr/>
          <p:nvPr/>
        </p:nvSpPr>
        <p:spPr>
          <a:xfrm>
            <a:off x="640080" y="676656"/>
            <a:ext cx="7680960" cy="402336"/>
          </a:xfrm>
          <a:prstGeom prst="rect">
            <a:avLst/>
          </a:prstGeom>
          <a:noFill/>
          <a:ln/>
        </p:spPr>
        <p:txBody>
          <a:bodyPr wrap="square" lIns="0" tIns="0" rIns="0" bIns="0" rtlCol="0" anchor="t"/>
          <a:lstStyle/>
          <a:p>
            <a:pPr marL="0" indent="0">
              <a:buNone/>
            </a:pPr>
            <a:r>
              <a:rPr lang="en-US" sz="2600" b="1" dirty="0">
                <a:solidFill>
                  <a:srgbClr val="10243A"/>
                </a:solidFill>
                <a:latin typeface="Calibri" pitchFamily="34" charset="0"/>
                <a:ea typeface="Calibri" pitchFamily="34" charset="-122"/>
                <a:cs typeface="Calibri" pitchFamily="34" charset="-120"/>
              </a:rPr>
              <a:t>The graph that makes </a:t>
            </a:r>
            <a:r>
              <a:rPr lang="en-US" sz="2600" b="1" dirty="0">
                <a:solidFill>
                  <a:srgbClr val="0B63CE"/>
                </a:solidFill>
                <a:latin typeface="Calibri" pitchFamily="34" charset="0"/>
                <a:ea typeface="Calibri" pitchFamily="34" charset="-122"/>
                <a:cs typeface="Calibri" pitchFamily="34" charset="-120"/>
              </a:rPr>
              <a:t>the decision</a:t>
            </a:r>
            <a:endParaRPr lang="en-US" sz="2600" dirty="0"/>
          </a:p>
        </p:txBody>
      </p:sp>
      <p:sp>
        <p:nvSpPr>
          <p:cNvPr id="4" name="Text 2"/>
          <p:cNvSpPr/>
          <p:nvPr/>
        </p:nvSpPr>
        <p:spPr>
          <a:xfrm>
            <a:off x="640080" y="1115568"/>
            <a:ext cx="7680960" cy="219456"/>
          </a:xfrm>
          <a:prstGeom prst="rect">
            <a:avLst/>
          </a:prstGeom>
          <a:noFill/>
          <a:ln/>
        </p:spPr>
        <p:txBody>
          <a:bodyPr wrap="square" lIns="0" tIns="0" rIns="0" bIns="0" rtlCol="0" anchor="ctr"/>
          <a:lstStyle/>
          <a:p>
            <a:pPr marL="0" indent="0">
              <a:buNone/>
            </a:pPr>
            <a:r>
              <a:rPr lang="en-US" sz="1050" i="1" dirty="0">
                <a:solidFill>
                  <a:srgbClr val="55697C"/>
                </a:solidFill>
                <a:latin typeface="Calibri" pitchFamily="34" charset="0"/>
                <a:ea typeface="Calibri" pitchFamily="34" charset="-122"/>
                <a:cs typeface="Calibri" pitchFamily="34" charset="-120"/>
              </a:rPr>
              <a:t>Every candidate drug target, plotted by how strong the human evidence is against the model’s predicted chance of success.</a:t>
            </a:r>
            <a:endParaRPr lang="en-US" sz="1050" dirty="0"/>
          </a:p>
        </p:txBody>
      </p:sp>
      <p:pic>
        <p:nvPicPr>
          <p:cNvPr id="5" name="Image 0" descr="preencoded.png"/>
          <p:cNvPicPr>
            <a:picLocks noChangeAspect="1"/>
          </p:cNvPicPr>
          <p:nvPr/>
        </p:nvPicPr>
        <p:blipFill>
          <a:blip r:embed="rId3"/>
          <a:stretch>
            <a:fillRect/>
          </a:stretch>
        </p:blipFill>
        <p:spPr>
          <a:xfrm>
            <a:off x="603504" y="1389888"/>
            <a:ext cx="5394960" cy="2843290"/>
          </a:xfrm>
          <a:prstGeom prst="rect">
            <a:avLst/>
          </a:prstGeom>
        </p:spPr>
      </p:pic>
      <p:sp>
        <p:nvSpPr>
          <p:cNvPr id="6" name="pt_deprio_0"/>
          <p:cNvSpPr/>
          <p:nvPr/>
        </p:nvSpPr>
        <p:spPr>
          <a:xfrm>
            <a:off x="2944038" y="3485316"/>
            <a:ext cx="135037" cy="135037"/>
          </a:xfrm>
          <a:prstGeom prst="ellipse">
            <a:avLst/>
          </a:prstGeom>
          <a:solidFill>
            <a:srgbClr val="AFBECB">
              <a:alpha val="72000"/>
            </a:srgbClr>
          </a:solidFill>
          <a:ln w="12700">
            <a:solidFill>
              <a:srgbClr val="FFFFFF"/>
            </a:solidFill>
            <a:prstDash val="solid"/>
          </a:ln>
        </p:spPr>
        <p:txBody>
          <a:bodyPr/>
          <a:lstStyle/>
          <a:p>
            <a:endParaRPr lang="en-US"/>
          </a:p>
        </p:txBody>
      </p:sp>
      <p:sp>
        <p:nvSpPr>
          <p:cNvPr id="7" name="pt_deprio_1"/>
          <p:cNvSpPr/>
          <p:nvPr/>
        </p:nvSpPr>
        <p:spPr>
          <a:xfrm>
            <a:off x="3566102" y="3373591"/>
            <a:ext cx="113809" cy="113809"/>
          </a:xfrm>
          <a:prstGeom prst="ellipse">
            <a:avLst/>
          </a:prstGeom>
          <a:solidFill>
            <a:srgbClr val="AFBECB">
              <a:alpha val="72000"/>
            </a:srgbClr>
          </a:solidFill>
          <a:ln w="12700">
            <a:solidFill>
              <a:srgbClr val="FFFFFF"/>
            </a:solidFill>
            <a:prstDash val="solid"/>
          </a:ln>
        </p:spPr>
        <p:txBody>
          <a:bodyPr/>
          <a:lstStyle/>
          <a:p>
            <a:endParaRPr lang="en-US"/>
          </a:p>
        </p:txBody>
      </p:sp>
      <p:sp>
        <p:nvSpPr>
          <p:cNvPr id="8" name="pt_deprio_2"/>
          <p:cNvSpPr/>
          <p:nvPr/>
        </p:nvSpPr>
        <p:spPr>
          <a:xfrm>
            <a:off x="3284414" y="3026541"/>
            <a:ext cx="131038" cy="131038"/>
          </a:xfrm>
          <a:prstGeom prst="ellipse">
            <a:avLst/>
          </a:prstGeom>
          <a:solidFill>
            <a:srgbClr val="AFBECB">
              <a:alpha val="72000"/>
            </a:srgbClr>
          </a:solidFill>
          <a:ln w="12700">
            <a:solidFill>
              <a:srgbClr val="FFFFFF"/>
            </a:solidFill>
            <a:prstDash val="solid"/>
          </a:ln>
        </p:spPr>
        <p:txBody>
          <a:bodyPr/>
          <a:lstStyle/>
          <a:p>
            <a:endParaRPr lang="en-US"/>
          </a:p>
        </p:txBody>
      </p:sp>
      <p:sp>
        <p:nvSpPr>
          <p:cNvPr id="9" name="pt_deprio_3"/>
          <p:cNvSpPr/>
          <p:nvPr/>
        </p:nvSpPr>
        <p:spPr>
          <a:xfrm>
            <a:off x="2063656" y="3375586"/>
            <a:ext cx="98703" cy="98703"/>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0" name="pt_deprio_4"/>
          <p:cNvSpPr/>
          <p:nvPr/>
        </p:nvSpPr>
        <p:spPr>
          <a:xfrm>
            <a:off x="2186032" y="3215101"/>
            <a:ext cx="190817" cy="190817"/>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1" name="pt_deprio_5"/>
          <p:cNvSpPr/>
          <p:nvPr/>
        </p:nvSpPr>
        <p:spPr>
          <a:xfrm>
            <a:off x="3514236" y="3502688"/>
            <a:ext cx="111212" cy="111212"/>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2" name="pt_deprio_6"/>
          <p:cNvSpPr/>
          <p:nvPr/>
        </p:nvSpPr>
        <p:spPr>
          <a:xfrm>
            <a:off x="1539042" y="2918817"/>
            <a:ext cx="159511" cy="159511"/>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3" name="pt_deprio_7"/>
          <p:cNvSpPr/>
          <p:nvPr/>
        </p:nvSpPr>
        <p:spPr>
          <a:xfrm>
            <a:off x="3392145" y="3396074"/>
            <a:ext cx="120244" cy="120244"/>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4" name="pt_deprio_8"/>
          <p:cNvSpPr/>
          <p:nvPr/>
        </p:nvSpPr>
        <p:spPr>
          <a:xfrm>
            <a:off x="3307531" y="3289107"/>
            <a:ext cx="180903" cy="180903"/>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5" name="pt_deprio_9"/>
          <p:cNvSpPr/>
          <p:nvPr/>
        </p:nvSpPr>
        <p:spPr>
          <a:xfrm>
            <a:off x="2579166" y="2885261"/>
            <a:ext cx="158501" cy="158501"/>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6" name="pt_deprio_10"/>
          <p:cNvSpPr/>
          <p:nvPr/>
        </p:nvSpPr>
        <p:spPr>
          <a:xfrm>
            <a:off x="2236683" y="3164308"/>
            <a:ext cx="102395" cy="102395"/>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7" name="pt_deprio_11"/>
          <p:cNvSpPr/>
          <p:nvPr/>
        </p:nvSpPr>
        <p:spPr>
          <a:xfrm>
            <a:off x="2143671" y="2898069"/>
            <a:ext cx="177837" cy="177837"/>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8" name="pt_deprio_12"/>
          <p:cNvSpPr/>
          <p:nvPr/>
        </p:nvSpPr>
        <p:spPr>
          <a:xfrm>
            <a:off x="2085460" y="3033298"/>
            <a:ext cx="188397" cy="188397"/>
          </a:xfrm>
          <a:prstGeom prst="ellipse">
            <a:avLst/>
          </a:prstGeom>
          <a:solidFill>
            <a:srgbClr val="AFBECB">
              <a:alpha val="72000"/>
            </a:srgbClr>
          </a:solidFill>
          <a:ln w="12700">
            <a:solidFill>
              <a:srgbClr val="FFFFFF"/>
            </a:solidFill>
            <a:prstDash val="solid"/>
          </a:ln>
        </p:spPr>
        <p:txBody>
          <a:bodyPr/>
          <a:lstStyle/>
          <a:p>
            <a:endParaRPr lang="en-US"/>
          </a:p>
        </p:txBody>
      </p:sp>
      <p:sp>
        <p:nvSpPr>
          <p:cNvPr id="19" name="pt_deprio_13"/>
          <p:cNvSpPr/>
          <p:nvPr/>
        </p:nvSpPr>
        <p:spPr>
          <a:xfrm>
            <a:off x="2515024" y="2966339"/>
            <a:ext cx="184059" cy="184059"/>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0" name="pt_deprio_14"/>
          <p:cNvSpPr/>
          <p:nvPr/>
        </p:nvSpPr>
        <p:spPr>
          <a:xfrm>
            <a:off x="3793373" y="3085801"/>
            <a:ext cx="148720" cy="148720"/>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1" name="pt_deprio_15"/>
          <p:cNvSpPr/>
          <p:nvPr/>
        </p:nvSpPr>
        <p:spPr>
          <a:xfrm>
            <a:off x="3963952" y="2803652"/>
            <a:ext cx="103858" cy="103858"/>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2" name="pt_deprio_16"/>
          <p:cNvSpPr/>
          <p:nvPr/>
        </p:nvSpPr>
        <p:spPr>
          <a:xfrm>
            <a:off x="2901349" y="3091023"/>
            <a:ext cx="181959" cy="181959"/>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3" name="pt_deprio_17"/>
          <p:cNvSpPr/>
          <p:nvPr/>
        </p:nvSpPr>
        <p:spPr>
          <a:xfrm>
            <a:off x="2747416" y="2881407"/>
            <a:ext cx="156318" cy="156318"/>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4" name="pt_deprio_18"/>
          <p:cNvSpPr/>
          <p:nvPr/>
        </p:nvSpPr>
        <p:spPr>
          <a:xfrm>
            <a:off x="2409542" y="3056263"/>
            <a:ext cx="128266" cy="128266"/>
          </a:xfrm>
          <a:prstGeom prst="ellipse">
            <a:avLst/>
          </a:prstGeom>
          <a:solidFill>
            <a:srgbClr val="AFBECB">
              <a:alpha val="72000"/>
            </a:srgbClr>
          </a:solidFill>
          <a:ln w="12700">
            <a:solidFill>
              <a:srgbClr val="FFFFFF"/>
            </a:solidFill>
            <a:prstDash val="solid"/>
          </a:ln>
        </p:spPr>
        <p:txBody>
          <a:bodyPr/>
          <a:lstStyle/>
          <a:p>
            <a:endParaRPr lang="en-US"/>
          </a:p>
        </p:txBody>
      </p:sp>
      <p:sp>
        <p:nvSpPr>
          <p:cNvPr id="25" name="pt_invest_0"/>
          <p:cNvSpPr/>
          <p:nvPr/>
        </p:nvSpPr>
        <p:spPr>
          <a:xfrm>
            <a:off x="5299221" y="2823772"/>
            <a:ext cx="108829" cy="108829"/>
          </a:xfrm>
          <a:prstGeom prst="ellipse">
            <a:avLst/>
          </a:prstGeom>
          <a:solidFill>
            <a:srgbClr val="0B63CE">
              <a:alpha val="72000"/>
            </a:srgbClr>
          </a:solidFill>
          <a:ln w="12700">
            <a:solidFill>
              <a:srgbClr val="FFFFFF"/>
            </a:solidFill>
            <a:prstDash val="solid"/>
          </a:ln>
        </p:spPr>
        <p:txBody>
          <a:bodyPr/>
          <a:lstStyle/>
          <a:p>
            <a:endParaRPr lang="en-US"/>
          </a:p>
        </p:txBody>
      </p:sp>
      <p:sp>
        <p:nvSpPr>
          <p:cNvPr id="26" name="pt_invest_1"/>
          <p:cNvSpPr/>
          <p:nvPr/>
        </p:nvSpPr>
        <p:spPr>
          <a:xfrm>
            <a:off x="4150311" y="2903987"/>
            <a:ext cx="146881" cy="146881"/>
          </a:xfrm>
          <a:prstGeom prst="ellipse">
            <a:avLst/>
          </a:prstGeom>
          <a:solidFill>
            <a:srgbClr val="0B63CE">
              <a:alpha val="72000"/>
            </a:srgbClr>
          </a:solidFill>
          <a:ln w="12700">
            <a:solidFill>
              <a:srgbClr val="FFFFFF"/>
            </a:solidFill>
            <a:prstDash val="solid"/>
          </a:ln>
        </p:spPr>
        <p:txBody>
          <a:bodyPr/>
          <a:lstStyle/>
          <a:p>
            <a:endParaRPr lang="en-US"/>
          </a:p>
        </p:txBody>
      </p:sp>
      <p:sp>
        <p:nvSpPr>
          <p:cNvPr id="27" name="pt_invest_2"/>
          <p:cNvSpPr/>
          <p:nvPr/>
        </p:nvSpPr>
        <p:spPr>
          <a:xfrm>
            <a:off x="5280056" y="2763160"/>
            <a:ext cx="107569" cy="107569"/>
          </a:xfrm>
          <a:prstGeom prst="ellipse">
            <a:avLst/>
          </a:prstGeom>
          <a:solidFill>
            <a:srgbClr val="0B63CE">
              <a:alpha val="72000"/>
            </a:srgbClr>
          </a:solidFill>
          <a:ln w="12700">
            <a:solidFill>
              <a:srgbClr val="FFFFFF"/>
            </a:solidFill>
            <a:prstDash val="solid"/>
          </a:ln>
        </p:spPr>
        <p:txBody>
          <a:bodyPr/>
          <a:lstStyle/>
          <a:p>
            <a:endParaRPr lang="en-US"/>
          </a:p>
        </p:txBody>
      </p:sp>
      <p:sp>
        <p:nvSpPr>
          <p:cNvPr id="28" name="pt_invest_3"/>
          <p:cNvSpPr/>
          <p:nvPr/>
        </p:nvSpPr>
        <p:spPr>
          <a:xfrm>
            <a:off x="4120218" y="2928963"/>
            <a:ext cx="148718" cy="148718"/>
          </a:xfrm>
          <a:prstGeom prst="ellipse">
            <a:avLst/>
          </a:prstGeom>
          <a:solidFill>
            <a:srgbClr val="0B63CE">
              <a:alpha val="72000"/>
            </a:srgbClr>
          </a:solidFill>
          <a:ln w="12700">
            <a:solidFill>
              <a:srgbClr val="FFFFFF"/>
            </a:solidFill>
            <a:prstDash val="solid"/>
          </a:ln>
        </p:spPr>
        <p:txBody>
          <a:bodyPr/>
          <a:lstStyle/>
          <a:p>
            <a:endParaRPr lang="en-US"/>
          </a:p>
        </p:txBody>
      </p:sp>
      <p:sp>
        <p:nvSpPr>
          <p:cNvPr id="29" name="pt_advance_0"/>
          <p:cNvSpPr/>
          <p:nvPr/>
        </p:nvSpPr>
        <p:spPr>
          <a:xfrm>
            <a:off x="4646432" y="2538619"/>
            <a:ext cx="186595" cy="186595"/>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0" name="pt_advance_1"/>
          <p:cNvSpPr/>
          <p:nvPr/>
        </p:nvSpPr>
        <p:spPr>
          <a:xfrm>
            <a:off x="4208853" y="1827683"/>
            <a:ext cx="131932" cy="131932"/>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1" name="pt_advance_2"/>
          <p:cNvSpPr/>
          <p:nvPr/>
        </p:nvSpPr>
        <p:spPr>
          <a:xfrm>
            <a:off x="4943098" y="2221468"/>
            <a:ext cx="113801" cy="113801"/>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2" name="pt_advance_3"/>
          <p:cNvSpPr/>
          <p:nvPr/>
        </p:nvSpPr>
        <p:spPr>
          <a:xfrm>
            <a:off x="4880077" y="1704383"/>
            <a:ext cx="92502" cy="92502"/>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3" name="pt_advance_4"/>
          <p:cNvSpPr/>
          <p:nvPr/>
        </p:nvSpPr>
        <p:spPr>
          <a:xfrm>
            <a:off x="5518197" y="2002401"/>
            <a:ext cx="181130" cy="181130"/>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4" name="pt_advance_5"/>
          <p:cNvSpPr/>
          <p:nvPr/>
        </p:nvSpPr>
        <p:spPr>
          <a:xfrm>
            <a:off x="5104056" y="2010732"/>
            <a:ext cx="137936" cy="137936"/>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5" name="pt_advance_6"/>
          <p:cNvSpPr/>
          <p:nvPr/>
        </p:nvSpPr>
        <p:spPr>
          <a:xfrm>
            <a:off x="4925639" y="1977501"/>
            <a:ext cx="146385" cy="146385"/>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6" name="pt_advance_7"/>
          <p:cNvSpPr/>
          <p:nvPr/>
        </p:nvSpPr>
        <p:spPr>
          <a:xfrm>
            <a:off x="4911465" y="1955560"/>
            <a:ext cx="122543" cy="122543"/>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7" name="pt_advance_8"/>
          <p:cNvSpPr/>
          <p:nvPr/>
        </p:nvSpPr>
        <p:spPr>
          <a:xfrm>
            <a:off x="4511424" y="2395759"/>
            <a:ext cx="167923" cy="167923"/>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8" name="pt_advance_9"/>
          <p:cNvSpPr/>
          <p:nvPr/>
        </p:nvSpPr>
        <p:spPr>
          <a:xfrm>
            <a:off x="5438737" y="1710639"/>
            <a:ext cx="178034" cy="178034"/>
          </a:xfrm>
          <a:prstGeom prst="ellipse">
            <a:avLst/>
          </a:prstGeom>
          <a:solidFill>
            <a:srgbClr val="0C8C83">
              <a:alpha val="88000"/>
            </a:srgbClr>
          </a:solidFill>
          <a:ln w="12700">
            <a:solidFill>
              <a:srgbClr val="FFFFFF"/>
            </a:solidFill>
            <a:prstDash val="solid"/>
          </a:ln>
        </p:spPr>
        <p:txBody>
          <a:bodyPr/>
          <a:lstStyle/>
          <a:p>
            <a:endParaRPr lang="en-US"/>
          </a:p>
        </p:txBody>
      </p:sp>
      <p:sp>
        <p:nvSpPr>
          <p:cNvPr id="39" name="pt_advance_10"/>
          <p:cNvSpPr/>
          <p:nvPr/>
        </p:nvSpPr>
        <p:spPr>
          <a:xfrm>
            <a:off x="4251846" y="1837961"/>
            <a:ext cx="167244" cy="167244"/>
          </a:xfrm>
          <a:prstGeom prst="ellipse">
            <a:avLst/>
          </a:prstGeom>
          <a:solidFill>
            <a:srgbClr val="0C8C83">
              <a:alpha val="88000"/>
            </a:srgbClr>
          </a:solidFill>
          <a:ln w="12700">
            <a:solidFill>
              <a:srgbClr val="FFFFFF"/>
            </a:solidFill>
            <a:prstDash val="solid"/>
          </a:ln>
        </p:spPr>
        <p:txBody>
          <a:bodyPr/>
          <a:lstStyle/>
          <a:p>
            <a:endParaRPr lang="en-US"/>
          </a:p>
        </p:txBody>
      </p:sp>
      <p:sp>
        <p:nvSpPr>
          <p:cNvPr id="40" name="pt_advance_11"/>
          <p:cNvSpPr/>
          <p:nvPr/>
        </p:nvSpPr>
        <p:spPr>
          <a:xfrm>
            <a:off x="5512918" y="2244384"/>
            <a:ext cx="167244" cy="167244"/>
          </a:xfrm>
          <a:prstGeom prst="ellipse">
            <a:avLst/>
          </a:prstGeom>
          <a:solidFill>
            <a:srgbClr val="0C8C83">
              <a:alpha val="88000"/>
            </a:srgbClr>
          </a:solidFill>
          <a:ln w="12700">
            <a:solidFill>
              <a:srgbClr val="FFFFFF"/>
            </a:solidFill>
            <a:prstDash val="solid"/>
          </a:ln>
        </p:spPr>
        <p:txBody>
          <a:bodyPr/>
          <a:lstStyle/>
          <a:p>
            <a:endParaRPr lang="en-US"/>
          </a:p>
        </p:txBody>
      </p:sp>
      <p:sp>
        <p:nvSpPr>
          <p:cNvPr id="41" name="ptlabel_0"/>
          <p:cNvSpPr/>
          <p:nvPr/>
        </p:nvSpPr>
        <p:spPr>
          <a:xfrm>
            <a:off x="4887674" y="1527759"/>
            <a:ext cx="1280160" cy="173736"/>
          </a:xfrm>
          <a:prstGeom prst="rect">
            <a:avLst/>
          </a:prstGeom>
          <a:noFill/>
          <a:ln/>
        </p:spPr>
        <p:txBody>
          <a:bodyPr wrap="square" lIns="0" tIns="0" rIns="0" bIns="0" rtlCol="0" anchor="ctr"/>
          <a:lstStyle/>
          <a:p>
            <a:pPr marL="0" indent="0" algn="ctr">
              <a:buNone/>
            </a:pPr>
            <a:r>
              <a:rPr lang="en-US" sz="850" b="1" dirty="0">
                <a:solidFill>
                  <a:srgbClr val="10243A"/>
                </a:solidFill>
                <a:latin typeface="Calibri" pitchFamily="34" charset="0"/>
                <a:ea typeface="Calibri" pitchFamily="34" charset="-122"/>
                <a:cs typeface="Calibri" pitchFamily="34" charset="-120"/>
              </a:rPr>
              <a:t>GPR75</a:t>
            </a:r>
            <a:endParaRPr lang="en-US" sz="850" dirty="0"/>
          </a:p>
        </p:txBody>
      </p:sp>
      <p:sp>
        <p:nvSpPr>
          <p:cNvPr id="42" name="ptlabel_1"/>
          <p:cNvSpPr/>
          <p:nvPr/>
        </p:nvSpPr>
        <p:spPr>
          <a:xfrm>
            <a:off x="3695388" y="1655081"/>
            <a:ext cx="1280160" cy="173736"/>
          </a:xfrm>
          <a:prstGeom prst="rect">
            <a:avLst/>
          </a:prstGeom>
          <a:noFill/>
          <a:ln/>
        </p:spPr>
        <p:txBody>
          <a:bodyPr wrap="square" lIns="0" tIns="0" rIns="0" bIns="0" rtlCol="0" anchor="ctr"/>
          <a:lstStyle/>
          <a:p>
            <a:pPr marL="0" indent="0" algn="ctr">
              <a:buNone/>
            </a:pPr>
            <a:r>
              <a:rPr lang="en-US" sz="850" b="1" dirty="0">
                <a:solidFill>
                  <a:srgbClr val="10243A"/>
                </a:solidFill>
                <a:latin typeface="Calibri" pitchFamily="34" charset="0"/>
                <a:ea typeface="Calibri" pitchFamily="34" charset="-122"/>
                <a:cs typeface="Calibri" pitchFamily="34" charset="-120"/>
              </a:rPr>
              <a:t>CIDEB</a:t>
            </a:r>
            <a:endParaRPr lang="en-US" sz="850" dirty="0"/>
          </a:p>
        </p:txBody>
      </p:sp>
      <p:sp>
        <p:nvSpPr>
          <p:cNvPr id="43" name="ptlabel_2"/>
          <p:cNvSpPr/>
          <p:nvPr/>
        </p:nvSpPr>
        <p:spPr>
          <a:xfrm>
            <a:off x="4956459" y="2061504"/>
            <a:ext cx="1280160" cy="173736"/>
          </a:xfrm>
          <a:prstGeom prst="rect">
            <a:avLst/>
          </a:prstGeom>
          <a:noFill/>
          <a:ln/>
        </p:spPr>
        <p:txBody>
          <a:bodyPr wrap="square" lIns="0" tIns="0" rIns="0" bIns="0" rtlCol="0" anchor="ctr"/>
          <a:lstStyle/>
          <a:p>
            <a:pPr marL="0" indent="0" algn="ctr">
              <a:buNone/>
            </a:pPr>
            <a:r>
              <a:rPr lang="en-US" sz="850" b="1" dirty="0">
                <a:solidFill>
                  <a:srgbClr val="10243A"/>
                </a:solidFill>
                <a:latin typeface="Calibri" pitchFamily="34" charset="0"/>
                <a:ea typeface="Calibri" pitchFamily="34" charset="-122"/>
                <a:cs typeface="Calibri" pitchFamily="34" charset="-120"/>
              </a:rPr>
              <a:t>HSD17B13</a:t>
            </a:r>
            <a:endParaRPr lang="en-US" sz="850" dirty="0"/>
          </a:p>
        </p:txBody>
      </p:sp>
      <p:sp>
        <p:nvSpPr>
          <p:cNvPr id="44" name="leg_deprio"/>
          <p:cNvSpPr/>
          <p:nvPr/>
        </p:nvSpPr>
        <p:spPr>
          <a:xfrm>
            <a:off x="1584038" y="1630313"/>
            <a:ext cx="118872" cy="118872"/>
          </a:xfrm>
          <a:prstGeom prst="ellipse">
            <a:avLst/>
          </a:prstGeom>
          <a:solidFill>
            <a:srgbClr val="AFBECB">
              <a:alpha val="72000"/>
            </a:srgbClr>
          </a:solidFill>
          <a:ln w="12700">
            <a:solidFill>
              <a:srgbClr val="FFFFFF"/>
            </a:solidFill>
            <a:prstDash val="solid"/>
          </a:ln>
        </p:spPr>
        <p:txBody>
          <a:bodyPr/>
          <a:lstStyle/>
          <a:p>
            <a:endParaRPr lang="en-US"/>
          </a:p>
        </p:txBody>
      </p:sp>
      <p:sp>
        <p:nvSpPr>
          <p:cNvPr id="45" name="legtxt_deprio"/>
          <p:cNvSpPr/>
          <p:nvPr/>
        </p:nvSpPr>
        <p:spPr>
          <a:xfrm>
            <a:off x="1766918" y="1598309"/>
            <a:ext cx="1737360" cy="182880"/>
          </a:xfrm>
          <a:prstGeom prst="rect">
            <a:avLst/>
          </a:prstGeom>
          <a:noFill/>
          <a:ln/>
        </p:spPr>
        <p:txBody>
          <a:bodyPr wrap="square" lIns="0" tIns="0" rIns="0" bIns="0" rtlCol="0" anchor="ctr"/>
          <a:lstStyle/>
          <a:p>
            <a:pPr marL="0" indent="0">
              <a:buNone/>
            </a:pPr>
            <a:r>
              <a:rPr lang="en-US" sz="850" dirty="0">
                <a:solidFill>
                  <a:srgbClr val="55697C"/>
                </a:solidFill>
                <a:latin typeface="Calibri" pitchFamily="34" charset="0"/>
                <a:ea typeface="Calibri" pitchFamily="34" charset="-122"/>
                <a:cs typeface="Calibri" pitchFamily="34" charset="-120"/>
              </a:rPr>
              <a:t>Deprioritise</a:t>
            </a:r>
            <a:endParaRPr lang="en-US" sz="850" dirty="0"/>
          </a:p>
        </p:txBody>
      </p:sp>
      <p:sp>
        <p:nvSpPr>
          <p:cNvPr id="46" name="leg_invest"/>
          <p:cNvSpPr/>
          <p:nvPr/>
        </p:nvSpPr>
        <p:spPr>
          <a:xfrm>
            <a:off x="1584038" y="1804049"/>
            <a:ext cx="118872" cy="118872"/>
          </a:xfrm>
          <a:prstGeom prst="ellipse">
            <a:avLst/>
          </a:prstGeom>
          <a:solidFill>
            <a:srgbClr val="0B63CE">
              <a:alpha val="72000"/>
            </a:srgbClr>
          </a:solidFill>
          <a:ln w="12700">
            <a:solidFill>
              <a:srgbClr val="FFFFFF"/>
            </a:solidFill>
            <a:prstDash val="solid"/>
          </a:ln>
        </p:spPr>
        <p:txBody>
          <a:bodyPr/>
          <a:lstStyle/>
          <a:p>
            <a:endParaRPr lang="en-US"/>
          </a:p>
        </p:txBody>
      </p:sp>
      <p:sp>
        <p:nvSpPr>
          <p:cNvPr id="47" name="legtxt_invest"/>
          <p:cNvSpPr/>
          <p:nvPr/>
        </p:nvSpPr>
        <p:spPr>
          <a:xfrm>
            <a:off x="1766918" y="1772045"/>
            <a:ext cx="1737360" cy="182880"/>
          </a:xfrm>
          <a:prstGeom prst="rect">
            <a:avLst/>
          </a:prstGeom>
          <a:noFill/>
          <a:ln/>
        </p:spPr>
        <p:txBody>
          <a:bodyPr wrap="square" lIns="0" tIns="0" rIns="0" bIns="0" rtlCol="0" anchor="ctr"/>
          <a:lstStyle/>
          <a:p>
            <a:pPr marL="0" indent="0">
              <a:buNone/>
            </a:pPr>
            <a:r>
              <a:rPr lang="en-US" sz="850" dirty="0">
                <a:solidFill>
                  <a:srgbClr val="55697C"/>
                </a:solidFill>
                <a:latin typeface="Calibri" pitchFamily="34" charset="0"/>
                <a:ea typeface="Calibri" pitchFamily="34" charset="-122"/>
                <a:cs typeface="Calibri" pitchFamily="34" charset="-120"/>
              </a:rPr>
              <a:t>Investigate further</a:t>
            </a:r>
            <a:endParaRPr lang="en-US" sz="850" dirty="0"/>
          </a:p>
        </p:txBody>
      </p:sp>
      <p:sp>
        <p:nvSpPr>
          <p:cNvPr id="48" name="leg_advance"/>
          <p:cNvSpPr/>
          <p:nvPr/>
        </p:nvSpPr>
        <p:spPr>
          <a:xfrm>
            <a:off x="1584038" y="1977785"/>
            <a:ext cx="118872" cy="118872"/>
          </a:xfrm>
          <a:prstGeom prst="ellipse">
            <a:avLst/>
          </a:prstGeom>
          <a:solidFill>
            <a:srgbClr val="0C8C83">
              <a:alpha val="88000"/>
            </a:srgbClr>
          </a:solidFill>
          <a:ln w="12700">
            <a:solidFill>
              <a:srgbClr val="FFFFFF"/>
            </a:solidFill>
            <a:prstDash val="solid"/>
          </a:ln>
        </p:spPr>
        <p:txBody>
          <a:bodyPr/>
          <a:lstStyle/>
          <a:p>
            <a:endParaRPr lang="en-US"/>
          </a:p>
        </p:txBody>
      </p:sp>
      <p:sp>
        <p:nvSpPr>
          <p:cNvPr id="49" name="legtxt_advance"/>
          <p:cNvSpPr/>
          <p:nvPr/>
        </p:nvSpPr>
        <p:spPr>
          <a:xfrm>
            <a:off x="1766918" y="1945781"/>
            <a:ext cx="1737360" cy="182880"/>
          </a:xfrm>
          <a:prstGeom prst="rect">
            <a:avLst/>
          </a:prstGeom>
          <a:noFill/>
          <a:ln/>
        </p:spPr>
        <p:txBody>
          <a:bodyPr wrap="square" lIns="0" tIns="0" rIns="0" bIns="0" rtlCol="0" anchor="ctr"/>
          <a:lstStyle/>
          <a:p>
            <a:pPr marL="0" indent="0">
              <a:buNone/>
            </a:pPr>
            <a:r>
              <a:rPr lang="en-US" sz="850" dirty="0">
                <a:solidFill>
                  <a:srgbClr val="55697C"/>
                </a:solidFill>
                <a:latin typeface="Calibri" pitchFamily="34" charset="0"/>
                <a:ea typeface="Calibri" pitchFamily="34" charset="-122"/>
                <a:cs typeface="Calibri" pitchFamily="34" charset="-120"/>
              </a:rPr>
              <a:t>Advance to programme</a:t>
            </a:r>
            <a:endParaRPr lang="en-US" sz="850" dirty="0"/>
          </a:p>
        </p:txBody>
      </p:sp>
      <p:sp>
        <p:nvSpPr>
          <p:cNvPr id="50" name="Text 47"/>
          <p:cNvSpPr/>
          <p:nvPr/>
        </p:nvSpPr>
        <p:spPr>
          <a:xfrm>
            <a:off x="603504" y="4260610"/>
            <a:ext cx="5394960" cy="155448"/>
          </a:xfrm>
          <a:prstGeom prst="rect">
            <a:avLst/>
          </a:prstGeom>
          <a:noFill/>
          <a:ln/>
        </p:spPr>
        <p:txBody>
          <a:bodyPr wrap="square" lIns="0" tIns="0" rIns="0" bIns="0" rtlCol="0" anchor="ctr"/>
          <a:lstStyle/>
          <a:p>
            <a:pPr marL="0" indent="0" algn="ctr">
              <a:buNone/>
            </a:pPr>
            <a:r>
              <a:rPr lang="en-US" sz="750" dirty="0">
                <a:solidFill>
                  <a:srgbClr val="8FA1B2"/>
                </a:solidFill>
                <a:latin typeface="Calibri" pitchFamily="34" charset="0"/>
                <a:ea typeface="Calibri" pitchFamily="34" charset="-122"/>
                <a:cs typeface="Calibri" pitchFamily="34" charset="-120"/>
              </a:rPr>
              <a:t>Bubble size = number of patients the target could help.  Illustrative 35-target pipeline view; the simulation on slides 11–13 runs on the 20 verified variants in the dataset.</a:t>
            </a:r>
            <a:endParaRPr lang="en-US" sz="750" dirty="0"/>
          </a:p>
        </p:txBody>
      </p:sp>
      <p:sp>
        <p:nvSpPr>
          <p:cNvPr id="51" name="rule_advance"/>
          <p:cNvSpPr/>
          <p:nvPr/>
        </p:nvSpPr>
        <p:spPr>
          <a:xfrm>
            <a:off x="6327648" y="1463040"/>
            <a:ext cx="2176272" cy="914400"/>
          </a:xfrm>
          <a:prstGeom prst="roundRect">
            <a:avLst>
              <a:gd name="adj" fmla="val 7000"/>
            </a:avLst>
          </a:prstGeom>
          <a:solidFill>
            <a:srgbClr val="FFFFFF"/>
          </a:solidFill>
          <a:ln w="11430">
            <a:solidFill>
              <a:srgbClr val="A9E0DA"/>
            </a:solidFill>
            <a:prstDash val="solid"/>
          </a:ln>
        </p:spPr>
        <p:txBody>
          <a:bodyPr/>
          <a:lstStyle/>
          <a:p>
            <a:endParaRPr lang="en-US"/>
          </a:p>
        </p:txBody>
      </p:sp>
      <p:sp>
        <p:nvSpPr>
          <p:cNvPr id="52" name="rulebadge_advance"/>
          <p:cNvSpPr/>
          <p:nvPr/>
        </p:nvSpPr>
        <p:spPr>
          <a:xfrm>
            <a:off x="6455664" y="1591056"/>
            <a:ext cx="329184" cy="237744"/>
          </a:xfrm>
          <a:prstGeom prst="roundRect">
            <a:avLst>
              <a:gd name="adj" fmla="val 19231"/>
            </a:avLst>
          </a:prstGeom>
          <a:solidFill>
            <a:srgbClr val="E0F4F2"/>
          </a:solidFill>
          <a:ln w="6350">
            <a:solidFill>
              <a:srgbClr val="A9E0DA"/>
            </a:solidFill>
            <a:prstDash val="solid"/>
          </a:ln>
        </p:spPr>
        <p:txBody>
          <a:bodyPr/>
          <a:lstStyle/>
          <a:p>
            <a:endParaRPr lang="en-US"/>
          </a:p>
        </p:txBody>
      </p:sp>
      <p:sp>
        <p:nvSpPr>
          <p:cNvPr id="53" name="rulenum_advance"/>
          <p:cNvSpPr/>
          <p:nvPr/>
        </p:nvSpPr>
        <p:spPr>
          <a:xfrm>
            <a:off x="6455664" y="1591056"/>
            <a:ext cx="329184" cy="237744"/>
          </a:xfrm>
          <a:prstGeom prst="rect">
            <a:avLst/>
          </a:prstGeom>
          <a:noFill/>
          <a:ln/>
        </p:spPr>
        <p:txBody>
          <a:bodyPr wrap="square" lIns="0" tIns="0" rIns="0" bIns="0" rtlCol="0" anchor="ctr"/>
          <a:lstStyle/>
          <a:p>
            <a:pPr marL="0" indent="0" algn="ctr">
              <a:buNone/>
            </a:pPr>
            <a:r>
              <a:rPr lang="en-US" sz="950" b="1" dirty="0">
                <a:solidFill>
                  <a:srgbClr val="0C8C83"/>
                </a:solidFill>
                <a:latin typeface="Calibri" pitchFamily="34" charset="0"/>
                <a:ea typeface="Calibri" pitchFamily="34" charset="-122"/>
                <a:cs typeface="Calibri" pitchFamily="34" charset="-120"/>
              </a:rPr>
              <a:t>12</a:t>
            </a:r>
            <a:endParaRPr lang="en-US" sz="950" dirty="0"/>
          </a:p>
        </p:txBody>
      </p:sp>
      <p:sp>
        <p:nvSpPr>
          <p:cNvPr id="54" name="ruletitle_advance"/>
          <p:cNvSpPr/>
          <p:nvPr/>
        </p:nvSpPr>
        <p:spPr>
          <a:xfrm>
            <a:off x="6858000" y="1581912"/>
            <a:ext cx="1572768" cy="256032"/>
          </a:xfrm>
          <a:prstGeom prst="rect">
            <a:avLst/>
          </a:prstGeom>
          <a:noFill/>
          <a:ln/>
        </p:spPr>
        <p:txBody>
          <a:bodyPr wrap="square" lIns="0" tIns="0" rIns="0" bIns="0" rtlCol="0" anchor="ctr"/>
          <a:lstStyle/>
          <a:p>
            <a:pPr marL="0" indent="0">
              <a:buNone/>
            </a:pPr>
            <a:r>
              <a:rPr lang="en-US" sz="1000" b="1" dirty="0">
                <a:solidFill>
                  <a:srgbClr val="10243A"/>
                </a:solidFill>
                <a:latin typeface="Calibri" pitchFamily="34" charset="0"/>
                <a:ea typeface="Calibri" pitchFamily="34" charset="-122"/>
                <a:cs typeface="Calibri" pitchFamily="34" charset="-120"/>
              </a:rPr>
              <a:t>Advance to programme</a:t>
            </a:r>
            <a:endParaRPr lang="en-US" sz="1000" dirty="0"/>
          </a:p>
        </p:txBody>
      </p:sp>
      <p:sp>
        <p:nvSpPr>
          <p:cNvPr id="55" name="ruledesc_advance"/>
          <p:cNvSpPr/>
          <p:nvPr/>
        </p:nvSpPr>
        <p:spPr>
          <a:xfrm>
            <a:off x="6455664" y="1865376"/>
            <a:ext cx="1920240"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Strong human evidence and a high predicted chance of success. These get the budget.</a:t>
            </a:r>
            <a:endParaRPr lang="en-US" sz="800" dirty="0"/>
          </a:p>
        </p:txBody>
      </p:sp>
      <p:sp>
        <p:nvSpPr>
          <p:cNvPr id="56" name="rule_invest"/>
          <p:cNvSpPr/>
          <p:nvPr/>
        </p:nvSpPr>
        <p:spPr>
          <a:xfrm>
            <a:off x="6327648" y="2450592"/>
            <a:ext cx="2176272" cy="914400"/>
          </a:xfrm>
          <a:prstGeom prst="roundRect">
            <a:avLst>
              <a:gd name="adj" fmla="val 7000"/>
            </a:avLst>
          </a:prstGeom>
          <a:solidFill>
            <a:srgbClr val="FFFFFF"/>
          </a:solidFill>
          <a:ln w="11430">
            <a:solidFill>
              <a:srgbClr val="C9DFF6"/>
            </a:solidFill>
            <a:prstDash val="solid"/>
          </a:ln>
        </p:spPr>
        <p:txBody>
          <a:bodyPr/>
          <a:lstStyle/>
          <a:p>
            <a:endParaRPr lang="en-US"/>
          </a:p>
        </p:txBody>
      </p:sp>
      <p:sp>
        <p:nvSpPr>
          <p:cNvPr id="57" name="rulebadge_invest"/>
          <p:cNvSpPr/>
          <p:nvPr/>
        </p:nvSpPr>
        <p:spPr>
          <a:xfrm>
            <a:off x="6455664" y="2578608"/>
            <a:ext cx="329184" cy="237744"/>
          </a:xfrm>
          <a:prstGeom prst="roundRect">
            <a:avLst>
              <a:gd name="adj" fmla="val 19231"/>
            </a:avLst>
          </a:prstGeom>
          <a:solidFill>
            <a:srgbClr val="E8F1FC"/>
          </a:solidFill>
          <a:ln w="6350">
            <a:solidFill>
              <a:srgbClr val="C9DFF6"/>
            </a:solidFill>
            <a:prstDash val="solid"/>
          </a:ln>
        </p:spPr>
        <p:txBody>
          <a:bodyPr/>
          <a:lstStyle/>
          <a:p>
            <a:endParaRPr lang="en-US"/>
          </a:p>
        </p:txBody>
      </p:sp>
      <p:sp>
        <p:nvSpPr>
          <p:cNvPr id="58" name="rulenum_invest"/>
          <p:cNvSpPr/>
          <p:nvPr/>
        </p:nvSpPr>
        <p:spPr>
          <a:xfrm>
            <a:off x="6455664" y="2578608"/>
            <a:ext cx="329184" cy="237744"/>
          </a:xfrm>
          <a:prstGeom prst="rect">
            <a:avLst/>
          </a:prstGeom>
          <a:noFill/>
          <a:ln/>
        </p:spPr>
        <p:txBody>
          <a:bodyPr wrap="square" lIns="0" tIns="0" rIns="0" bIns="0" rtlCol="0" anchor="ctr"/>
          <a:lstStyle/>
          <a:p>
            <a:pPr marL="0" indent="0" algn="ctr">
              <a:buNone/>
            </a:pPr>
            <a:r>
              <a:rPr lang="en-US" sz="950" b="1" dirty="0">
                <a:solidFill>
                  <a:srgbClr val="0B63CE"/>
                </a:solidFill>
                <a:latin typeface="Calibri" pitchFamily="34" charset="0"/>
                <a:ea typeface="Calibri" pitchFamily="34" charset="-122"/>
                <a:cs typeface="Calibri" pitchFamily="34" charset="-120"/>
              </a:rPr>
              <a:t>4</a:t>
            </a:r>
            <a:endParaRPr lang="en-US" sz="950" dirty="0"/>
          </a:p>
        </p:txBody>
      </p:sp>
      <p:sp>
        <p:nvSpPr>
          <p:cNvPr id="59" name="ruletitle_invest"/>
          <p:cNvSpPr/>
          <p:nvPr/>
        </p:nvSpPr>
        <p:spPr>
          <a:xfrm>
            <a:off x="6858000" y="2569464"/>
            <a:ext cx="1572768" cy="256032"/>
          </a:xfrm>
          <a:prstGeom prst="rect">
            <a:avLst/>
          </a:prstGeom>
          <a:noFill/>
          <a:ln/>
        </p:spPr>
        <p:txBody>
          <a:bodyPr wrap="square" lIns="0" tIns="0" rIns="0" bIns="0" rtlCol="0" anchor="ctr"/>
          <a:lstStyle/>
          <a:p>
            <a:pPr marL="0" indent="0">
              <a:buNone/>
            </a:pPr>
            <a:r>
              <a:rPr lang="en-US" sz="1000" b="1" dirty="0">
                <a:solidFill>
                  <a:srgbClr val="10243A"/>
                </a:solidFill>
                <a:latin typeface="Calibri" pitchFamily="34" charset="0"/>
                <a:ea typeface="Calibri" pitchFamily="34" charset="-122"/>
                <a:cs typeface="Calibri" pitchFamily="34" charset="-120"/>
              </a:rPr>
              <a:t>Investigate further</a:t>
            </a:r>
            <a:endParaRPr lang="en-US" sz="1000" dirty="0"/>
          </a:p>
        </p:txBody>
      </p:sp>
      <p:sp>
        <p:nvSpPr>
          <p:cNvPr id="60" name="ruledesc_invest"/>
          <p:cNvSpPr/>
          <p:nvPr/>
        </p:nvSpPr>
        <p:spPr>
          <a:xfrm>
            <a:off x="6455664" y="2852928"/>
            <a:ext cx="1920240"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Strong on one axis only. Needs more people in the cohort before we decide.</a:t>
            </a:r>
            <a:endParaRPr lang="en-US" sz="800" dirty="0"/>
          </a:p>
        </p:txBody>
      </p:sp>
      <p:sp>
        <p:nvSpPr>
          <p:cNvPr id="61" name="rule_deprio"/>
          <p:cNvSpPr/>
          <p:nvPr/>
        </p:nvSpPr>
        <p:spPr>
          <a:xfrm>
            <a:off x="6327648" y="3438144"/>
            <a:ext cx="2176272" cy="914400"/>
          </a:xfrm>
          <a:prstGeom prst="roundRect">
            <a:avLst>
              <a:gd name="adj" fmla="val 7000"/>
            </a:avLst>
          </a:prstGeom>
          <a:solidFill>
            <a:srgbClr val="FFFFFF"/>
          </a:solidFill>
          <a:ln w="11430">
            <a:solidFill>
              <a:srgbClr val="E3E9EF"/>
            </a:solidFill>
            <a:prstDash val="solid"/>
          </a:ln>
        </p:spPr>
        <p:txBody>
          <a:bodyPr/>
          <a:lstStyle/>
          <a:p>
            <a:endParaRPr lang="en-US"/>
          </a:p>
        </p:txBody>
      </p:sp>
      <p:sp>
        <p:nvSpPr>
          <p:cNvPr id="62" name="rulebadge_deprio"/>
          <p:cNvSpPr/>
          <p:nvPr/>
        </p:nvSpPr>
        <p:spPr>
          <a:xfrm>
            <a:off x="6455664" y="3566160"/>
            <a:ext cx="329184" cy="237744"/>
          </a:xfrm>
          <a:prstGeom prst="roundRect">
            <a:avLst>
              <a:gd name="adj" fmla="val 19231"/>
            </a:avLst>
          </a:prstGeom>
          <a:solidFill>
            <a:srgbClr val="F5F7F9"/>
          </a:solidFill>
          <a:ln w="6350">
            <a:solidFill>
              <a:srgbClr val="E3E9EF"/>
            </a:solidFill>
            <a:prstDash val="solid"/>
          </a:ln>
        </p:spPr>
        <p:txBody>
          <a:bodyPr/>
          <a:lstStyle/>
          <a:p>
            <a:endParaRPr lang="en-US"/>
          </a:p>
        </p:txBody>
      </p:sp>
      <p:sp>
        <p:nvSpPr>
          <p:cNvPr id="63" name="rulenum_deprio"/>
          <p:cNvSpPr/>
          <p:nvPr/>
        </p:nvSpPr>
        <p:spPr>
          <a:xfrm>
            <a:off x="6455664" y="3566160"/>
            <a:ext cx="329184" cy="237744"/>
          </a:xfrm>
          <a:prstGeom prst="rect">
            <a:avLst/>
          </a:prstGeom>
          <a:noFill/>
          <a:ln/>
        </p:spPr>
        <p:txBody>
          <a:bodyPr wrap="square" lIns="0" tIns="0" rIns="0" bIns="0" rtlCol="0" anchor="ctr"/>
          <a:lstStyle/>
          <a:p>
            <a:pPr marL="0" indent="0" algn="ctr">
              <a:buNone/>
            </a:pPr>
            <a:r>
              <a:rPr lang="en-US" sz="950" b="1" dirty="0">
                <a:solidFill>
                  <a:srgbClr val="8FA1B2"/>
                </a:solidFill>
                <a:latin typeface="Calibri" pitchFamily="34" charset="0"/>
                <a:ea typeface="Calibri" pitchFamily="34" charset="-122"/>
                <a:cs typeface="Calibri" pitchFamily="34" charset="-120"/>
              </a:rPr>
              <a:t>19</a:t>
            </a:r>
            <a:endParaRPr lang="en-US" sz="950" dirty="0"/>
          </a:p>
        </p:txBody>
      </p:sp>
      <p:sp>
        <p:nvSpPr>
          <p:cNvPr id="64" name="ruletitle_deprio"/>
          <p:cNvSpPr/>
          <p:nvPr/>
        </p:nvSpPr>
        <p:spPr>
          <a:xfrm>
            <a:off x="6858000" y="3557016"/>
            <a:ext cx="1572768" cy="256032"/>
          </a:xfrm>
          <a:prstGeom prst="rect">
            <a:avLst/>
          </a:prstGeom>
          <a:noFill/>
          <a:ln/>
        </p:spPr>
        <p:txBody>
          <a:bodyPr wrap="square" lIns="0" tIns="0" rIns="0" bIns="0" rtlCol="0" anchor="ctr"/>
          <a:lstStyle/>
          <a:p>
            <a:pPr marL="0" indent="0">
              <a:buNone/>
            </a:pPr>
            <a:r>
              <a:rPr lang="en-US" sz="1000" b="1" dirty="0">
                <a:solidFill>
                  <a:srgbClr val="10243A"/>
                </a:solidFill>
                <a:latin typeface="Calibri" pitchFamily="34" charset="0"/>
                <a:ea typeface="Calibri" pitchFamily="34" charset="-122"/>
                <a:cs typeface="Calibri" pitchFamily="34" charset="-120"/>
              </a:rPr>
              <a:t>Deprioritise</a:t>
            </a:r>
            <a:endParaRPr lang="en-US" sz="1000" dirty="0"/>
          </a:p>
        </p:txBody>
      </p:sp>
      <p:sp>
        <p:nvSpPr>
          <p:cNvPr id="65" name="ruledesc_deprio"/>
          <p:cNvSpPr/>
          <p:nvPr/>
        </p:nvSpPr>
        <p:spPr>
          <a:xfrm>
            <a:off x="6455664" y="3840480"/>
            <a:ext cx="1920240" cy="438912"/>
          </a:xfrm>
          <a:prstGeom prst="rect">
            <a:avLst/>
          </a:prstGeom>
          <a:noFill/>
          <a:ln/>
        </p:spPr>
        <p:txBody>
          <a:bodyPr wrap="square" lIns="0" tIns="0" rIns="0" bIns="0" rtlCol="0" anchor="ctr"/>
          <a:lstStyle/>
          <a:p>
            <a:pPr marL="0" indent="0">
              <a:lnSpc>
                <a:spcPts val="1000"/>
              </a:lnSpc>
              <a:buNone/>
            </a:pPr>
            <a:r>
              <a:rPr lang="en-US" sz="800" dirty="0">
                <a:solidFill>
                  <a:srgbClr val="55697C"/>
                </a:solidFill>
                <a:latin typeface="Calibri" pitchFamily="34" charset="0"/>
                <a:ea typeface="Calibri" pitchFamily="34" charset="-122"/>
                <a:cs typeface="Calibri" pitchFamily="34" charset="-120"/>
              </a:rPr>
              <a:t>Weak evidence and low predicted success. Released from the portfolio.</a:t>
            </a:r>
            <a:endParaRPr lang="en-US" sz="800" dirty="0"/>
          </a:p>
        </p:txBody>
      </p:sp>
      <p:sp>
        <p:nvSpPr>
          <p:cNvPr id="66" name="decisionBar"/>
          <p:cNvSpPr/>
          <p:nvPr/>
        </p:nvSpPr>
        <p:spPr>
          <a:xfrm>
            <a:off x="640080" y="4443984"/>
            <a:ext cx="7863840" cy="475488"/>
          </a:xfrm>
          <a:prstGeom prst="roundRect">
            <a:avLst>
              <a:gd name="adj" fmla="val 13462"/>
            </a:avLst>
          </a:prstGeom>
          <a:solidFill>
            <a:srgbClr val="E0F4F2"/>
          </a:solidFill>
          <a:ln w="9525">
            <a:solidFill>
              <a:srgbClr val="A9E0DA"/>
            </a:solidFill>
            <a:prstDash val="solid"/>
          </a:ln>
        </p:spPr>
        <p:txBody>
          <a:bodyPr/>
          <a:lstStyle/>
          <a:p>
            <a:endParaRPr lang="en-US"/>
          </a:p>
        </p:txBody>
      </p:sp>
      <p:sp>
        <p:nvSpPr>
          <p:cNvPr id="67" name="decisionText"/>
          <p:cNvSpPr/>
          <p:nvPr/>
        </p:nvSpPr>
        <p:spPr>
          <a:xfrm>
            <a:off x="841248" y="4443984"/>
            <a:ext cx="7461504" cy="475488"/>
          </a:xfrm>
          <a:prstGeom prst="rect">
            <a:avLst/>
          </a:prstGeom>
          <a:noFill/>
          <a:ln/>
        </p:spPr>
        <p:txBody>
          <a:bodyPr wrap="square" lIns="0" tIns="0" rIns="0" bIns="0" rtlCol="0" anchor="ctr"/>
          <a:lstStyle/>
          <a:p>
            <a:pPr marL="0" indent="0">
              <a:lnSpc>
                <a:spcPts val="1200"/>
              </a:lnSpc>
              <a:buNone/>
            </a:pPr>
            <a:r>
              <a:rPr lang="en-US" sz="800" b="1" kern="0" spc="160" dirty="0">
                <a:solidFill>
                  <a:srgbClr val="0C8C83"/>
                </a:solidFill>
                <a:latin typeface="Calibri" pitchFamily="34" charset="0"/>
                <a:ea typeface="Calibri" pitchFamily="34" charset="-122"/>
                <a:cs typeface="Calibri" pitchFamily="34" charset="-120"/>
              </a:rPr>
              <a:t>THE DECISION     </a:t>
            </a:r>
            <a:r>
              <a:rPr lang="en-US" sz="900" dirty="0">
                <a:solidFill>
                  <a:srgbClr val="10243A"/>
                </a:solidFill>
                <a:latin typeface="Calibri" pitchFamily="34" charset="0"/>
                <a:ea typeface="Calibri" pitchFamily="34" charset="-122"/>
                <a:cs typeface="Calibri" pitchFamily="34" charset="-120"/>
              </a:rPr>
              <a:t>Concentrate the R&amp;D budget on the 12 targets in the upper-right corner. Targets with human genetic support are </a:t>
            </a:r>
            <a:r>
              <a:rPr lang="en-US" sz="900" b="1" dirty="0">
                <a:solidFill>
                  <a:srgbClr val="10243A"/>
                </a:solidFill>
                <a:latin typeface="Calibri" pitchFamily="34" charset="0"/>
                <a:ea typeface="Calibri" pitchFamily="34" charset="-122"/>
                <a:cs typeface="Calibri" pitchFamily="34" charset="-120"/>
              </a:rPr>
              <a:t>2.6× more likely to reach approval</a:t>
            </a:r>
            <a:r>
              <a:rPr lang="en-US" sz="900" dirty="0">
                <a:solidFill>
                  <a:srgbClr val="10243A"/>
                </a:solidFill>
                <a:latin typeface="Calibri" pitchFamily="34" charset="0"/>
                <a:ea typeface="Calibri" pitchFamily="34" charset="-122"/>
                <a:cs typeface="Calibri" pitchFamily="34" charset="-120"/>
              </a:rPr>
              <a:t> — the same money buys far more expected value.</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ppt_y</p:attrName>
                                        </p:attrNameLst>
                                      </p:cBhvr>
                                      <p:tavLst>
                                        <p:tav tm="0">
                                          <p:val>
                                            <p:strVal val="1+#ppt_h/2"/>
                                          </p:val>
                                        </p:tav>
                                        <p:tav tm="100000">
                                          <p:val>
                                            <p:strVal val="#ppt_y"/>
                                          </p:val>
                                        </p:tav>
                                      </p:tavLst>
                                    </p:anim>
                                    <p:animEffect transition="in" filter="fade">
                                      <p:cBhvr>
                                        <p:cTn id="8" dur="500"/>
                                        <p:tgtEl>
                                          <p:spTgt spid="44"/>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fill="hold"/>
                                        <p:tgtEl>
                                          <p:spTgt spid="45"/>
                                        </p:tgtEl>
                                        <p:attrNameLst>
                                          <p:attrName>ppt_y</p:attrName>
                                        </p:attrNameLst>
                                      </p:cBhvr>
                                      <p:tavLst>
                                        <p:tav tm="0">
                                          <p:val>
                                            <p:strVal val="1+#ppt_h/2"/>
                                          </p:val>
                                        </p:tav>
                                        <p:tav tm="100000">
                                          <p:val>
                                            <p:strVal val="#ppt_y"/>
                                          </p:val>
                                        </p:tav>
                                      </p:tavLst>
                                    </p:anim>
                                    <p:animEffect transition="in" filter="fade">
                                      <p:cBhvr>
                                        <p:cTn id="13" dur="500"/>
                                        <p:tgtEl>
                                          <p:spTgt spid="45"/>
                                        </p:tgtEl>
                                      </p:cBhvr>
                                    </p:animEffect>
                                  </p:childTnLst>
                                </p:cTn>
                              </p:par>
                            </p:childTnLst>
                          </p:cTn>
                        </p:par>
                        <p:par>
                          <p:cTn id="14" fill="hold">
                            <p:stCondLst>
                              <p:cond delay="60"/>
                            </p:stCondLst>
                            <p:childTnLst>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ppt_y</p:attrName>
                                        </p:attrNameLst>
                                      </p:cBhvr>
                                      <p:tavLst>
                                        <p:tav tm="0">
                                          <p:val>
                                            <p:strVal val="1+#ppt_h/2"/>
                                          </p:val>
                                        </p:tav>
                                        <p:tav tm="100000">
                                          <p:val>
                                            <p:strVal val="#ppt_y"/>
                                          </p:val>
                                        </p:tav>
                                      </p:tavLst>
                                    </p:anim>
                                    <p:animEffect transition="in" filter="fade">
                                      <p:cBhvr>
                                        <p:cTn id="18" dur="500"/>
                                        <p:tgtEl>
                                          <p:spTgt spid="6"/>
                                        </p:tgtEl>
                                      </p:cBhvr>
                                    </p:animEffect>
                                  </p:childTnLst>
                                </p:cTn>
                              </p:par>
                            </p:childTnLst>
                          </p:cTn>
                        </p:par>
                        <p:par>
                          <p:cTn id="19" fill="hold">
                            <p:stCondLst>
                              <p:cond delay="115"/>
                            </p:stCondLst>
                            <p:childTnLst>
                              <p:par>
                                <p:cTn id="20" presetID="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ppt_y</p:attrName>
                                        </p:attrNameLst>
                                      </p:cBhvr>
                                      <p:tavLst>
                                        <p:tav tm="0">
                                          <p:val>
                                            <p:strVal val="1+#ppt_h/2"/>
                                          </p:val>
                                        </p:tav>
                                        <p:tav tm="100000">
                                          <p:val>
                                            <p:strVal val="#ppt_y"/>
                                          </p:val>
                                        </p:tav>
                                      </p:tavLst>
                                    </p:anim>
                                    <p:animEffect transition="in" filter="fade">
                                      <p:cBhvr>
                                        <p:cTn id="23" dur="500"/>
                                        <p:tgtEl>
                                          <p:spTgt spid="7"/>
                                        </p:tgtEl>
                                      </p:cBhvr>
                                    </p:animEffect>
                                  </p:childTnLst>
                                </p:cTn>
                              </p:par>
                            </p:childTnLst>
                          </p:cTn>
                        </p:par>
                        <p:par>
                          <p:cTn id="24" fill="hold">
                            <p:stCondLst>
                              <p:cond delay="170"/>
                            </p:stCondLst>
                            <p:childTnLst>
                              <p:par>
                                <p:cTn id="25" presetID="2" presetClass="entr" presetSubtype="4"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ppt_y</p:attrName>
                                        </p:attrNameLst>
                                      </p:cBhvr>
                                      <p:tavLst>
                                        <p:tav tm="0">
                                          <p:val>
                                            <p:strVal val="1+#ppt_h/2"/>
                                          </p:val>
                                        </p:tav>
                                        <p:tav tm="100000">
                                          <p:val>
                                            <p:strVal val="#ppt_y"/>
                                          </p:val>
                                        </p:tav>
                                      </p:tavLst>
                                    </p:anim>
                                    <p:animEffect transition="in" filter="fade">
                                      <p:cBhvr>
                                        <p:cTn id="28" dur="500"/>
                                        <p:tgtEl>
                                          <p:spTgt spid="16"/>
                                        </p:tgtEl>
                                      </p:cBhvr>
                                    </p:animEffect>
                                  </p:childTnLst>
                                </p:cTn>
                              </p:par>
                            </p:childTnLst>
                          </p:cTn>
                        </p:par>
                        <p:par>
                          <p:cTn id="29" fill="hold">
                            <p:stCondLst>
                              <p:cond delay="225"/>
                            </p:stCondLst>
                            <p:childTnLst>
                              <p:par>
                                <p:cTn id="30" presetID="2" presetClass="entr" presetSubtype="4"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ppt_y</p:attrName>
                                        </p:attrNameLst>
                                      </p:cBhvr>
                                      <p:tavLst>
                                        <p:tav tm="0">
                                          <p:val>
                                            <p:strVal val="1+#ppt_h/2"/>
                                          </p:val>
                                        </p:tav>
                                        <p:tav tm="100000">
                                          <p:val>
                                            <p:strVal val="#ppt_y"/>
                                          </p:val>
                                        </p:tav>
                                      </p:tavLst>
                                    </p:anim>
                                    <p:animEffect transition="in" filter="fade">
                                      <p:cBhvr>
                                        <p:cTn id="33" dur="500"/>
                                        <p:tgtEl>
                                          <p:spTgt spid="17"/>
                                        </p:tgtEl>
                                      </p:cBhvr>
                                    </p:animEffect>
                                  </p:childTnLst>
                                </p:cTn>
                              </p:par>
                            </p:childTnLst>
                          </p:cTn>
                        </p:par>
                        <p:par>
                          <p:cTn id="34" fill="hold">
                            <p:stCondLst>
                              <p:cond delay="280"/>
                            </p:stCondLst>
                            <p:childTnLst>
                              <p:par>
                                <p:cTn id="35" presetID="2" presetClass="entr" presetSubtype="4"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ppt_y</p:attrName>
                                        </p:attrNameLst>
                                      </p:cBhvr>
                                      <p:tavLst>
                                        <p:tav tm="0">
                                          <p:val>
                                            <p:strVal val="1+#ppt_h/2"/>
                                          </p:val>
                                        </p:tav>
                                        <p:tav tm="100000">
                                          <p:val>
                                            <p:strVal val="#ppt_y"/>
                                          </p:val>
                                        </p:tav>
                                      </p:tavLst>
                                    </p:anim>
                                    <p:animEffect transition="in" filter="fade">
                                      <p:cBhvr>
                                        <p:cTn id="38" dur="500"/>
                                        <p:tgtEl>
                                          <p:spTgt spid="18"/>
                                        </p:tgtEl>
                                      </p:cBhvr>
                                    </p:animEffect>
                                  </p:childTnLst>
                                </p:cTn>
                              </p:par>
                            </p:childTnLst>
                          </p:cTn>
                        </p:par>
                        <p:par>
                          <p:cTn id="39" fill="hold">
                            <p:stCondLst>
                              <p:cond delay="335"/>
                            </p:stCondLst>
                            <p:childTnLst>
                              <p:par>
                                <p:cTn id="40" presetID="2" presetClass="entr" presetSubtype="4"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ppt_y</p:attrName>
                                        </p:attrNameLst>
                                      </p:cBhvr>
                                      <p:tavLst>
                                        <p:tav tm="0">
                                          <p:val>
                                            <p:strVal val="1+#ppt_h/2"/>
                                          </p:val>
                                        </p:tav>
                                        <p:tav tm="100000">
                                          <p:val>
                                            <p:strVal val="#ppt_y"/>
                                          </p:val>
                                        </p:tav>
                                      </p:tavLst>
                                    </p:anim>
                                    <p:animEffect transition="in" filter="fade">
                                      <p:cBhvr>
                                        <p:cTn id="43" dur="500"/>
                                        <p:tgtEl>
                                          <p:spTgt spid="19"/>
                                        </p:tgtEl>
                                      </p:cBhvr>
                                    </p:animEffect>
                                  </p:childTnLst>
                                </p:cTn>
                              </p:par>
                            </p:childTnLst>
                          </p:cTn>
                        </p:par>
                        <p:par>
                          <p:cTn id="44" fill="hold">
                            <p:stCondLst>
                              <p:cond delay="390"/>
                            </p:stCondLst>
                            <p:childTnLst>
                              <p:par>
                                <p:cTn id="45" presetID="2" presetClass="entr" presetSubtype="4"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ppt_y</p:attrName>
                                        </p:attrNameLst>
                                      </p:cBhvr>
                                      <p:tavLst>
                                        <p:tav tm="0">
                                          <p:val>
                                            <p:strVal val="1+#ppt_h/2"/>
                                          </p:val>
                                        </p:tav>
                                        <p:tav tm="100000">
                                          <p:val>
                                            <p:strVal val="#ppt_y"/>
                                          </p:val>
                                        </p:tav>
                                      </p:tavLst>
                                    </p:anim>
                                    <p:animEffect transition="in" filter="fade">
                                      <p:cBhvr>
                                        <p:cTn id="48" dur="500"/>
                                        <p:tgtEl>
                                          <p:spTgt spid="20"/>
                                        </p:tgtEl>
                                      </p:cBhvr>
                                    </p:animEffect>
                                  </p:childTnLst>
                                </p:cTn>
                              </p:par>
                            </p:childTnLst>
                          </p:cTn>
                        </p:par>
                        <p:par>
                          <p:cTn id="49" fill="hold">
                            <p:stCondLst>
                              <p:cond delay="445"/>
                            </p:stCondLst>
                            <p:childTnLst>
                              <p:par>
                                <p:cTn id="50" presetID="2" presetClass="entr" presetSubtype="4"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500" fill="hold"/>
                                        <p:tgtEl>
                                          <p:spTgt spid="21"/>
                                        </p:tgtEl>
                                        <p:attrNameLst>
                                          <p:attrName>ppt_y</p:attrName>
                                        </p:attrNameLst>
                                      </p:cBhvr>
                                      <p:tavLst>
                                        <p:tav tm="0">
                                          <p:val>
                                            <p:strVal val="1+#ppt_h/2"/>
                                          </p:val>
                                        </p:tav>
                                        <p:tav tm="100000">
                                          <p:val>
                                            <p:strVal val="#ppt_y"/>
                                          </p:val>
                                        </p:tav>
                                      </p:tavLst>
                                    </p:anim>
                                    <p:animEffect transition="in" filter="fade">
                                      <p:cBhvr>
                                        <p:cTn id="53" dur="500"/>
                                        <p:tgtEl>
                                          <p:spTgt spid="21"/>
                                        </p:tgtEl>
                                      </p:cBhvr>
                                    </p:animEffect>
                                  </p:childTnLst>
                                </p:cTn>
                              </p:par>
                            </p:childTnLst>
                          </p:cTn>
                        </p:par>
                        <p:par>
                          <p:cTn id="54" fill="hold">
                            <p:stCondLst>
                              <p:cond delay="500"/>
                            </p:stCondLst>
                            <p:childTnLst>
                              <p:par>
                                <p:cTn id="55" presetID="2" presetClass="entr" presetSubtype="4"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ppt_y</p:attrName>
                                        </p:attrNameLst>
                                      </p:cBhvr>
                                      <p:tavLst>
                                        <p:tav tm="0">
                                          <p:val>
                                            <p:strVal val="1+#ppt_h/2"/>
                                          </p:val>
                                        </p:tav>
                                        <p:tav tm="100000">
                                          <p:val>
                                            <p:strVal val="#ppt_y"/>
                                          </p:val>
                                        </p:tav>
                                      </p:tavLst>
                                    </p:anim>
                                    <p:animEffect transition="in" filter="fade">
                                      <p:cBhvr>
                                        <p:cTn id="58" dur="500"/>
                                        <p:tgtEl>
                                          <p:spTgt spid="22"/>
                                        </p:tgtEl>
                                      </p:cBhvr>
                                    </p:animEffect>
                                  </p:childTnLst>
                                </p:cTn>
                              </p:par>
                            </p:childTnLst>
                          </p:cTn>
                        </p:par>
                        <p:par>
                          <p:cTn id="59" fill="hold">
                            <p:stCondLst>
                              <p:cond delay="555"/>
                            </p:stCondLst>
                            <p:childTnLst>
                              <p:par>
                                <p:cTn id="60" presetID="2" presetClass="entr" presetSubtype="4"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ppt_y</p:attrName>
                                        </p:attrNameLst>
                                      </p:cBhvr>
                                      <p:tavLst>
                                        <p:tav tm="0">
                                          <p:val>
                                            <p:strVal val="1+#ppt_h/2"/>
                                          </p:val>
                                        </p:tav>
                                        <p:tav tm="100000">
                                          <p:val>
                                            <p:strVal val="#ppt_y"/>
                                          </p:val>
                                        </p:tav>
                                      </p:tavLst>
                                    </p:anim>
                                    <p:animEffect transition="in" filter="fade">
                                      <p:cBhvr>
                                        <p:cTn id="63" dur="500"/>
                                        <p:tgtEl>
                                          <p:spTgt spid="23"/>
                                        </p:tgtEl>
                                      </p:cBhvr>
                                    </p:animEffect>
                                  </p:childTnLst>
                                </p:cTn>
                              </p:par>
                            </p:childTnLst>
                          </p:cTn>
                        </p:par>
                        <p:par>
                          <p:cTn id="64" fill="hold">
                            <p:stCondLst>
                              <p:cond delay="610"/>
                            </p:stCondLst>
                            <p:childTnLst>
                              <p:par>
                                <p:cTn id="65" presetID="2" presetClass="entr" presetSubtype="4"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fill="hold"/>
                                        <p:tgtEl>
                                          <p:spTgt spid="24"/>
                                        </p:tgtEl>
                                        <p:attrNameLst>
                                          <p:attrName>ppt_y</p:attrName>
                                        </p:attrNameLst>
                                      </p:cBhvr>
                                      <p:tavLst>
                                        <p:tav tm="0">
                                          <p:val>
                                            <p:strVal val="1+#ppt_h/2"/>
                                          </p:val>
                                        </p:tav>
                                        <p:tav tm="100000">
                                          <p:val>
                                            <p:strVal val="#ppt_y"/>
                                          </p:val>
                                        </p:tav>
                                      </p:tavLst>
                                    </p:anim>
                                    <p:animEffect transition="in" filter="fade">
                                      <p:cBhvr>
                                        <p:cTn id="68" dur="500"/>
                                        <p:tgtEl>
                                          <p:spTgt spid="24"/>
                                        </p:tgtEl>
                                      </p:cBhvr>
                                    </p:animEffect>
                                  </p:childTnLst>
                                </p:cTn>
                              </p:par>
                            </p:childTnLst>
                          </p:cTn>
                        </p:par>
                        <p:par>
                          <p:cTn id="69" fill="hold">
                            <p:stCondLst>
                              <p:cond delay="665"/>
                            </p:stCondLst>
                            <p:childTnLst>
                              <p:par>
                                <p:cTn id="70" presetID="2" presetClass="entr" presetSubtype="4" fill="hold" nodeType="withEffect">
                                  <p:stCondLst>
                                    <p:cond delay="0"/>
                                  </p:stCondLst>
                                  <p:childTnLst>
                                    <p:set>
                                      <p:cBhvr>
                                        <p:cTn id="71" dur="1" fill="hold">
                                          <p:stCondLst>
                                            <p:cond delay="0"/>
                                          </p:stCondLst>
                                        </p:cTn>
                                        <p:tgtEl>
                                          <p:spTgt spid="8"/>
                                        </p:tgtEl>
                                        <p:attrNameLst>
                                          <p:attrName>style.visibility</p:attrName>
                                        </p:attrNameLst>
                                      </p:cBhvr>
                                      <p:to>
                                        <p:strVal val="visible"/>
                                      </p:to>
                                    </p:set>
                                    <p:anim calcmode="lin" valueType="num">
                                      <p:cBhvr additive="base">
                                        <p:cTn id="72" dur="500" fill="hold"/>
                                        <p:tgtEl>
                                          <p:spTgt spid="8"/>
                                        </p:tgtEl>
                                        <p:attrNameLst>
                                          <p:attrName>ppt_y</p:attrName>
                                        </p:attrNameLst>
                                      </p:cBhvr>
                                      <p:tavLst>
                                        <p:tav tm="0">
                                          <p:val>
                                            <p:strVal val="1+#ppt_h/2"/>
                                          </p:val>
                                        </p:tav>
                                        <p:tav tm="100000">
                                          <p:val>
                                            <p:strVal val="#ppt_y"/>
                                          </p:val>
                                        </p:tav>
                                      </p:tavLst>
                                    </p:anim>
                                    <p:animEffect transition="in" filter="fade">
                                      <p:cBhvr>
                                        <p:cTn id="73" dur="500"/>
                                        <p:tgtEl>
                                          <p:spTgt spid="8"/>
                                        </p:tgtEl>
                                      </p:cBhvr>
                                    </p:animEffect>
                                  </p:childTnLst>
                                </p:cTn>
                              </p:par>
                            </p:childTnLst>
                          </p:cTn>
                        </p:par>
                        <p:par>
                          <p:cTn id="74" fill="hold">
                            <p:stCondLst>
                              <p:cond delay="720"/>
                            </p:stCondLst>
                            <p:childTnLst>
                              <p:par>
                                <p:cTn id="75" presetID="2" presetClass="entr" presetSubtype="4" fill="hold" nodeType="with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additive="base">
                                        <p:cTn id="77" dur="500" fill="hold"/>
                                        <p:tgtEl>
                                          <p:spTgt spid="9"/>
                                        </p:tgtEl>
                                        <p:attrNameLst>
                                          <p:attrName>ppt_y</p:attrName>
                                        </p:attrNameLst>
                                      </p:cBhvr>
                                      <p:tavLst>
                                        <p:tav tm="0">
                                          <p:val>
                                            <p:strVal val="1+#ppt_h/2"/>
                                          </p:val>
                                        </p:tav>
                                        <p:tav tm="100000">
                                          <p:val>
                                            <p:strVal val="#ppt_y"/>
                                          </p:val>
                                        </p:tav>
                                      </p:tavLst>
                                    </p:anim>
                                    <p:animEffect transition="in" filter="fade">
                                      <p:cBhvr>
                                        <p:cTn id="78" dur="500"/>
                                        <p:tgtEl>
                                          <p:spTgt spid="9"/>
                                        </p:tgtEl>
                                      </p:cBhvr>
                                    </p:animEffect>
                                  </p:childTnLst>
                                </p:cTn>
                              </p:par>
                            </p:childTnLst>
                          </p:cTn>
                        </p:par>
                        <p:par>
                          <p:cTn id="79" fill="hold">
                            <p:stCondLst>
                              <p:cond delay="775"/>
                            </p:stCondLst>
                            <p:childTnLst>
                              <p:par>
                                <p:cTn id="80" presetID="2" presetClass="entr" presetSubtype="4" fill="hold" nodeType="withEffect">
                                  <p:stCondLst>
                                    <p:cond delay="0"/>
                                  </p:stCondLst>
                                  <p:childTnLst>
                                    <p:set>
                                      <p:cBhvr>
                                        <p:cTn id="81" dur="1" fill="hold">
                                          <p:stCondLst>
                                            <p:cond delay="0"/>
                                          </p:stCondLst>
                                        </p:cTn>
                                        <p:tgtEl>
                                          <p:spTgt spid="10"/>
                                        </p:tgtEl>
                                        <p:attrNameLst>
                                          <p:attrName>style.visibility</p:attrName>
                                        </p:attrNameLst>
                                      </p:cBhvr>
                                      <p:to>
                                        <p:strVal val="visible"/>
                                      </p:to>
                                    </p:set>
                                    <p:anim calcmode="lin" valueType="num">
                                      <p:cBhvr additive="base">
                                        <p:cTn id="82" dur="500" fill="hold"/>
                                        <p:tgtEl>
                                          <p:spTgt spid="10"/>
                                        </p:tgtEl>
                                        <p:attrNameLst>
                                          <p:attrName>ppt_y</p:attrName>
                                        </p:attrNameLst>
                                      </p:cBhvr>
                                      <p:tavLst>
                                        <p:tav tm="0">
                                          <p:val>
                                            <p:strVal val="1+#ppt_h/2"/>
                                          </p:val>
                                        </p:tav>
                                        <p:tav tm="100000">
                                          <p:val>
                                            <p:strVal val="#ppt_y"/>
                                          </p:val>
                                        </p:tav>
                                      </p:tavLst>
                                    </p:anim>
                                    <p:animEffect transition="in" filter="fade">
                                      <p:cBhvr>
                                        <p:cTn id="83" dur="500"/>
                                        <p:tgtEl>
                                          <p:spTgt spid="10"/>
                                        </p:tgtEl>
                                      </p:cBhvr>
                                    </p:animEffect>
                                  </p:childTnLst>
                                </p:cTn>
                              </p:par>
                            </p:childTnLst>
                          </p:cTn>
                        </p:par>
                        <p:par>
                          <p:cTn id="84" fill="hold">
                            <p:stCondLst>
                              <p:cond delay="830"/>
                            </p:stCondLst>
                            <p:childTnLst>
                              <p:par>
                                <p:cTn id="85" presetID="2" presetClass="entr" presetSubtype="4"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additive="base">
                                        <p:cTn id="87" dur="500" fill="hold"/>
                                        <p:tgtEl>
                                          <p:spTgt spid="11"/>
                                        </p:tgtEl>
                                        <p:attrNameLst>
                                          <p:attrName>ppt_y</p:attrName>
                                        </p:attrNameLst>
                                      </p:cBhvr>
                                      <p:tavLst>
                                        <p:tav tm="0">
                                          <p:val>
                                            <p:strVal val="1+#ppt_h/2"/>
                                          </p:val>
                                        </p:tav>
                                        <p:tav tm="100000">
                                          <p:val>
                                            <p:strVal val="#ppt_y"/>
                                          </p:val>
                                        </p:tav>
                                      </p:tavLst>
                                    </p:anim>
                                    <p:animEffect transition="in" filter="fade">
                                      <p:cBhvr>
                                        <p:cTn id="88" dur="500"/>
                                        <p:tgtEl>
                                          <p:spTgt spid="11"/>
                                        </p:tgtEl>
                                      </p:cBhvr>
                                    </p:animEffect>
                                  </p:childTnLst>
                                </p:cTn>
                              </p:par>
                            </p:childTnLst>
                          </p:cTn>
                        </p:par>
                        <p:par>
                          <p:cTn id="89" fill="hold">
                            <p:stCondLst>
                              <p:cond delay="885"/>
                            </p:stCondLst>
                            <p:childTnLst>
                              <p:par>
                                <p:cTn id="90" presetID="2" presetClass="entr" presetSubtype="4" fill="hold" nodeType="withEffect">
                                  <p:stCondLst>
                                    <p:cond delay="0"/>
                                  </p:stCondLst>
                                  <p:childTnLst>
                                    <p:set>
                                      <p:cBhvr>
                                        <p:cTn id="91" dur="1" fill="hold">
                                          <p:stCondLst>
                                            <p:cond delay="0"/>
                                          </p:stCondLst>
                                        </p:cTn>
                                        <p:tgtEl>
                                          <p:spTgt spid="12"/>
                                        </p:tgtEl>
                                        <p:attrNameLst>
                                          <p:attrName>style.visibility</p:attrName>
                                        </p:attrNameLst>
                                      </p:cBhvr>
                                      <p:to>
                                        <p:strVal val="visible"/>
                                      </p:to>
                                    </p:set>
                                    <p:anim calcmode="lin" valueType="num">
                                      <p:cBhvr additive="base">
                                        <p:cTn id="92" dur="500" fill="hold"/>
                                        <p:tgtEl>
                                          <p:spTgt spid="12"/>
                                        </p:tgtEl>
                                        <p:attrNameLst>
                                          <p:attrName>ppt_y</p:attrName>
                                        </p:attrNameLst>
                                      </p:cBhvr>
                                      <p:tavLst>
                                        <p:tav tm="0">
                                          <p:val>
                                            <p:strVal val="1+#ppt_h/2"/>
                                          </p:val>
                                        </p:tav>
                                        <p:tav tm="100000">
                                          <p:val>
                                            <p:strVal val="#ppt_y"/>
                                          </p:val>
                                        </p:tav>
                                      </p:tavLst>
                                    </p:anim>
                                    <p:animEffect transition="in" filter="fade">
                                      <p:cBhvr>
                                        <p:cTn id="93" dur="500"/>
                                        <p:tgtEl>
                                          <p:spTgt spid="12"/>
                                        </p:tgtEl>
                                      </p:cBhvr>
                                    </p:animEffect>
                                  </p:childTnLst>
                                </p:cTn>
                              </p:par>
                            </p:childTnLst>
                          </p:cTn>
                        </p:par>
                        <p:par>
                          <p:cTn id="94" fill="hold">
                            <p:stCondLst>
                              <p:cond delay="940"/>
                            </p:stCondLst>
                            <p:childTnLst>
                              <p:par>
                                <p:cTn id="95" presetID="2" presetClass="entr" presetSubtype="4" fill="hold" nodeType="withEffect">
                                  <p:stCondLst>
                                    <p:cond delay="0"/>
                                  </p:stCondLst>
                                  <p:childTnLst>
                                    <p:set>
                                      <p:cBhvr>
                                        <p:cTn id="96" dur="1" fill="hold">
                                          <p:stCondLst>
                                            <p:cond delay="0"/>
                                          </p:stCondLst>
                                        </p:cTn>
                                        <p:tgtEl>
                                          <p:spTgt spid="13"/>
                                        </p:tgtEl>
                                        <p:attrNameLst>
                                          <p:attrName>style.visibility</p:attrName>
                                        </p:attrNameLst>
                                      </p:cBhvr>
                                      <p:to>
                                        <p:strVal val="visible"/>
                                      </p:to>
                                    </p:set>
                                    <p:anim calcmode="lin" valueType="num">
                                      <p:cBhvr additive="base">
                                        <p:cTn id="97" dur="500" fill="hold"/>
                                        <p:tgtEl>
                                          <p:spTgt spid="13"/>
                                        </p:tgtEl>
                                        <p:attrNameLst>
                                          <p:attrName>ppt_y</p:attrName>
                                        </p:attrNameLst>
                                      </p:cBhvr>
                                      <p:tavLst>
                                        <p:tav tm="0">
                                          <p:val>
                                            <p:strVal val="1+#ppt_h/2"/>
                                          </p:val>
                                        </p:tav>
                                        <p:tav tm="100000">
                                          <p:val>
                                            <p:strVal val="#ppt_y"/>
                                          </p:val>
                                        </p:tav>
                                      </p:tavLst>
                                    </p:anim>
                                    <p:animEffect transition="in" filter="fade">
                                      <p:cBhvr>
                                        <p:cTn id="98" dur="500"/>
                                        <p:tgtEl>
                                          <p:spTgt spid="13"/>
                                        </p:tgtEl>
                                      </p:cBhvr>
                                    </p:animEffect>
                                  </p:childTnLst>
                                </p:cTn>
                              </p:par>
                            </p:childTnLst>
                          </p:cTn>
                        </p:par>
                        <p:par>
                          <p:cTn id="99" fill="hold">
                            <p:stCondLst>
                              <p:cond delay="995"/>
                            </p:stCondLst>
                            <p:childTnLst>
                              <p:par>
                                <p:cTn id="100" presetID="2" presetClass="entr" presetSubtype="4" fill="hold" nodeType="withEffect">
                                  <p:stCondLst>
                                    <p:cond delay="0"/>
                                  </p:stCondLst>
                                  <p:childTnLst>
                                    <p:set>
                                      <p:cBhvr>
                                        <p:cTn id="101" dur="1" fill="hold">
                                          <p:stCondLst>
                                            <p:cond delay="0"/>
                                          </p:stCondLst>
                                        </p:cTn>
                                        <p:tgtEl>
                                          <p:spTgt spid="14"/>
                                        </p:tgtEl>
                                        <p:attrNameLst>
                                          <p:attrName>style.visibility</p:attrName>
                                        </p:attrNameLst>
                                      </p:cBhvr>
                                      <p:to>
                                        <p:strVal val="visible"/>
                                      </p:to>
                                    </p:set>
                                    <p:anim calcmode="lin" valueType="num">
                                      <p:cBhvr additive="base">
                                        <p:cTn id="102" dur="500" fill="hold"/>
                                        <p:tgtEl>
                                          <p:spTgt spid="14"/>
                                        </p:tgtEl>
                                        <p:attrNameLst>
                                          <p:attrName>ppt_y</p:attrName>
                                        </p:attrNameLst>
                                      </p:cBhvr>
                                      <p:tavLst>
                                        <p:tav tm="0">
                                          <p:val>
                                            <p:strVal val="1+#ppt_h/2"/>
                                          </p:val>
                                        </p:tav>
                                        <p:tav tm="100000">
                                          <p:val>
                                            <p:strVal val="#ppt_y"/>
                                          </p:val>
                                        </p:tav>
                                      </p:tavLst>
                                    </p:anim>
                                    <p:animEffect transition="in" filter="fade">
                                      <p:cBhvr>
                                        <p:cTn id="103" dur="500"/>
                                        <p:tgtEl>
                                          <p:spTgt spid="14"/>
                                        </p:tgtEl>
                                      </p:cBhvr>
                                    </p:animEffect>
                                  </p:childTnLst>
                                </p:cTn>
                              </p:par>
                            </p:childTnLst>
                          </p:cTn>
                        </p:par>
                        <p:par>
                          <p:cTn id="104" fill="hold">
                            <p:stCondLst>
                              <p:cond delay="1050"/>
                            </p:stCondLst>
                            <p:childTnLst>
                              <p:par>
                                <p:cTn id="105" presetID="2" presetClass="entr" presetSubtype="4" fill="hold" nodeType="withEffect">
                                  <p:stCondLst>
                                    <p:cond delay="0"/>
                                  </p:stCondLst>
                                  <p:childTnLst>
                                    <p:set>
                                      <p:cBhvr>
                                        <p:cTn id="106" dur="1" fill="hold">
                                          <p:stCondLst>
                                            <p:cond delay="0"/>
                                          </p:stCondLst>
                                        </p:cTn>
                                        <p:tgtEl>
                                          <p:spTgt spid="15"/>
                                        </p:tgtEl>
                                        <p:attrNameLst>
                                          <p:attrName>style.visibility</p:attrName>
                                        </p:attrNameLst>
                                      </p:cBhvr>
                                      <p:to>
                                        <p:strVal val="visible"/>
                                      </p:to>
                                    </p:set>
                                    <p:anim calcmode="lin" valueType="num">
                                      <p:cBhvr additive="base">
                                        <p:cTn id="107" dur="500" fill="hold"/>
                                        <p:tgtEl>
                                          <p:spTgt spid="15"/>
                                        </p:tgtEl>
                                        <p:attrNameLst>
                                          <p:attrName>ppt_y</p:attrName>
                                        </p:attrNameLst>
                                      </p:cBhvr>
                                      <p:tavLst>
                                        <p:tav tm="0">
                                          <p:val>
                                            <p:strVal val="1+#ppt_h/2"/>
                                          </p:val>
                                        </p:tav>
                                        <p:tav tm="100000">
                                          <p:val>
                                            <p:strVal val="#ppt_y"/>
                                          </p:val>
                                        </p:tav>
                                      </p:tavLst>
                                    </p:anim>
                                    <p:animEffect transition="in" filter="fade">
                                      <p:cBhvr>
                                        <p:cTn id="108" dur="500"/>
                                        <p:tgtEl>
                                          <p:spTgt spid="15"/>
                                        </p:tgtEl>
                                      </p:cBhvr>
                                    </p:animEffect>
                                  </p:childTnLst>
                                </p:cTn>
                              </p:par>
                            </p:childTnLst>
                          </p:cTn>
                        </p:par>
                        <p:par>
                          <p:cTn id="109" fill="hold">
                            <p:stCondLst>
                              <p:cond delay="1605"/>
                            </p:stCondLst>
                            <p:childTnLst>
                              <p:par>
                                <p:cTn id="110" presetID="2" presetClass="entr" presetSubtype="2" fill="hold" nodeType="withEffect">
                                  <p:stCondLst>
                                    <p:cond delay="0"/>
                                  </p:stCondLst>
                                  <p:childTnLst>
                                    <p:set>
                                      <p:cBhvr>
                                        <p:cTn id="111" dur="1" fill="hold">
                                          <p:stCondLst>
                                            <p:cond delay="0"/>
                                          </p:stCondLst>
                                        </p:cTn>
                                        <p:tgtEl>
                                          <p:spTgt spid="61"/>
                                        </p:tgtEl>
                                        <p:attrNameLst>
                                          <p:attrName>style.visibility</p:attrName>
                                        </p:attrNameLst>
                                      </p:cBhvr>
                                      <p:to>
                                        <p:strVal val="visible"/>
                                      </p:to>
                                    </p:set>
                                    <p:anim calcmode="lin" valueType="num">
                                      <p:cBhvr additive="base">
                                        <p:cTn id="112" dur="500" fill="hold"/>
                                        <p:tgtEl>
                                          <p:spTgt spid="61"/>
                                        </p:tgtEl>
                                        <p:attrNameLst>
                                          <p:attrName>ppt_x</p:attrName>
                                        </p:attrNameLst>
                                      </p:cBhvr>
                                      <p:tavLst>
                                        <p:tav tm="0">
                                          <p:val>
                                            <p:strVal val="1+#ppt_w/2"/>
                                          </p:val>
                                        </p:tav>
                                        <p:tav tm="100000">
                                          <p:val>
                                            <p:strVal val="#ppt_x"/>
                                          </p:val>
                                        </p:tav>
                                      </p:tavLst>
                                    </p:anim>
                                    <p:animEffect transition="in" filter="fade">
                                      <p:cBhvr>
                                        <p:cTn id="113" dur="500"/>
                                        <p:tgtEl>
                                          <p:spTgt spid="61"/>
                                        </p:tgtEl>
                                      </p:cBhvr>
                                    </p:animEffect>
                                  </p:childTnLst>
                                </p:cTn>
                              </p:par>
                            </p:childTnLst>
                          </p:cTn>
                        </p:par>
                        <p:par>
                          <p:cTn id="114" fill="hold">
                            <p:stCondLst>
                              <p:cond delay="1605"/>
                            </p:stCondLst>
                            <p:childTnLst>
                              <p:par>
                                <p:cTn id="115" presetID="2" presetClass="entr" presetSubtype="2" fill="hold" nodeType="withEffect">
                                  <p:stCondLst>
                                    <p:cond delay="0"/>
                                  </p:stCondLst>
                                  <p:childTnLst>
                                    <p:set>
                                      <p:cBhvr>
                                        <p:cTn id="116" dur="1" fill="hold">
                                          <p:stCondLst>
                                            <p:cond delay="0"/>
                                          </p:stCondLst>
                                        </p:cTn>
                                        <p:tgtEl>
                                          <p:spTgt spid="62"/>
                                        </p:tgtEl>
                                        <p:attrNameLst>
                                          <p:attrName>style.visibility</p:attrName>
                                        </p:attrNameLst>
                                      </p:cBhvr>
                                      <p:to>
                                        <p:strVal val="visible"/>
                                      </p:to>
                                    </p:set>
                                    <p:anim calcmode="lin" valueType="num">
                                      <p:cBhvr additive="base">
                                        <p:cTn id="117" dur="500" fill="hold"/>
                                        <p:tgtEl>
                                          <p:spTgt spid="62"/>
                                        </p:tgtEl>
                                        <p:attrNameLst>
                                          <p:attrName>ppt_x</p:attrName>
                                        </p:attrNameLst>
                                      </p:cBhvr>
                                      <p:tavLst>
                                        <p:tav tm="0">
                                          <p:val>
                                            <p:strVal val="1+#ppt_w/2"/>
                                          </p:val>
                                        </p:tav>
                                        <p:tav tm="100000">
                                          <p:val>
                                            <p:strVal val="#ppt_x"/>
                                          </p:val>
                                        </p:tav>
                                      </p:tavLst>
                                    </p:anim>
                                    <p:animEffect transition="in" filter="fade">
                                      <p:cBhvr>
                                        <p:cTn id="118" dur="500"/>
                                        <p:tgtEl>
                                          <p:spTgt spid="62"/>
                                        </p:tgtEl>
                                      </p:cBhvr>
                                    </p:animEffect>
                                  </p:childTnLst>
                                </p:cTn>
                              </p:par>
                            </p:childTnLst>
                          </p:cTn>
                        </p:par>
                        <p:par>
                          <p:cTn id="119" fill="hold">
                            <p:stCondLst>
                              <p:cond delay="1605"/>
                            </p:stCondLst>
                            <p:childTnLst>
                              <p:par>
                                <p:cTn id="120" presetID="2" presetClass="entr" presetSubtype="2" fill="hold" nodeType="withEffect">
                                  <p:stCondLst>
                                    <p:cond delay="0"/>
                                  </p:stCondLst>
                                  <p:childTnLst>
                                    <p:set>
                                      <p:cBhvr>
                                        <p:cTn id="121" dur="1" fill="hold">
                                          <p:stCondLst>
                                            <p:cond delay="0"/>
                                          </p:stCondLst>
                                        </p:cTn>
                                        <p:tgtEl>
                                          <p:spTgt spid="63"/>
                                        </p:tgtEl>
                                        <p:attrNameLst>
                                          <p:attrName>style.visibility</p:attrName>
                                        </p:attrNameLst>
                                      </p:cBhvr>
                                      <p:to>
                                        <p:strVal val="visible"/>
                                      </p:to>
                                    </p:set>
                                    <p:anim calcmode="lin" valueType="num">
                                      <p:cBhvr additive="base">
                                        <p:cTn id="122" dur="500" fill="hold"/>
                                        <p:tgtEl>
                                          <p:spTgt spid="63"/>
                                        </p:tgtEl>
                                        <p:attrNameLst>
                                          <p:attrName>ppt_x</p:attrName>
                                        </p:attrNameLst>
                                      </p:cBhvr>
                                      <p:tavLst>
                                        <p:tav tm="0">
                                          <p:val>
                                            <p:strVal val="1+#ppt_w/2"/>
                                          </p:val>
                                        </p:tav>
                                        <p:tav tm="100000">
                                          <p:val>
                                            <p:strVal val="#ppt_x"/>
                                          </p:val>
                                        </p:tav>
                                      </p:tavLst>
                                    </p:anim>
                                    <p:animEffect transition="in" filter="fade">
                                      <p:cBhvr>
                                        <p:cTn id="123" dur="500"/>
                                        <p:tgtEl>
                                          <p:spTgt spid="63"/>
                                        </p:tgtEl>
                                      </p:cBhvr>
                                    </p:animEffect>
                                  </p:childTnLst>
                                </p:cTn>
                              </p:par>
                            </p:childTnLst>
                          </p:cTn>
                        </p:par>
                        <p:par>
                          <p:cTn id="124" fill="hold">
                            <p:stCondLst>
                              <p:cond delay="1605"/>
                            </p:stCondLst>
                            <p:childTnLst>
                              <p:par>
                                <p:cTn id="125" presetID="2" presetClass="entr" presetSubtype="2" fill="hold" nodeType="withEffect">
                                  <p:stCondLst>
                                    <p:cond delay="0"/>
                                  </p:stCondLst>
                                  <p:childTnLst>
                                    <p:set>
                                      <p:cBhvr>
                                        <p:cTn id="126" dur="1" fill="hold">
                                          <p:stCondLst>
                                            <p:cond delay="0"/>
                                          </p:stCondLst>
                                        </p:cTn>
                                        <p:tgtEl>
                                          <p:spTgt spid="64"/>
                                        </p:tgtEl>
                                        <p:attrNameLst>
                                          <p:attrName>style.visibility</p:attrName>
                                        </p:attrNameLst>
                                      </p:cBhvr>
                                      <p:to>
                                        <p:strVal val="visible"/>
                                      </p:to>
                                    </p:set>
                                    <p:anim calcmode="lin" valueType="num">
                                      <p:cBhvr additive="base">
                                        <p:cTn id="127" dur="500" fill="hold"/>
                                        <p:tgtEl>
                                          <p:spTgt spid="64"/>
                                        </p:tgtEl>
                                        <p:attrNameLst>
                                          <p:attrName>ppt_x</p:attrName>
                                        </p:attrNameLst>
                                      </p:cBhvr>
                                      <p:tavLst>
                                        <p:tav tm="0">
                                          <p:val>
                                            <p:strVal val="1+#ppt_w/2"/>
                                          </p:val>
                                        </p:tav>
                                        <p:tav tm="100000">
                                          <p:val>
                                            <p:strVal val="#ppt_x"/>
                                          </p:val>
                                        </p:tav>
                                      </p:tavLst>
                                    </p:anim>
                                    <p:animEffect transition="in" filter="fade">
                                      <p:cBhvr>
                                        <p:cTn id="128" dur="500"/>
                                        <p:tgtEl>
                                          <p:spTgt spid="64"/>
                                        </p:tgtEl>
                                      </p:cBhvr>
                                    </p:animEffect>
                                  </p:childTnLst>
                                </p:cTn>
                              </p:par>
                            </p:childTnLst>
                          </p:cTn>
                        </p:par>
                        <p:par>
                          <p:cTn id="129" fill="hold">
                            <p:stCondLst>
                              <p:cond delay="1605"/>
                            </p:stCondLst>
                            <p:childTnLst>
                              <p:par>
                                <p:cTn id="130" presetID="2" presetClass="entr" presetSubtype="2" fill="hold" nodeType="withEffect">
                                  <p:stCondLst>
                                    <p:cond delay="0"/>
                                  </p:stCondLst>
                                  <p:childTnLst>
                                    <p:set>
                                      <p:cBhvr>
                                        <p:cTn id="131" dur="1" fill="hold">
                                          <p:stCondLst>
                                            <p:cond delay="0"/>
                                          </p:stCondLst>
                                        </p:cTn>
                                        <p:tgtEl>
                                          <p:spTgt spid="65"/>
                                        </p:tgtEl>
                                        <p:attrNameLst>
                                          <p:attrName>style.visibility</p:attrName>
                                        </p:attrNameLst>
                                      </p:cBhvr>
                                      <p:to>
                                        <p:strVal val="visible"/>
                                      </p:to>
                                    </p:set>
                                    <p:anim calcmode="lin" valueType="num">
                                      <p:cBhvr additive="base">
                                        <p:cTn id="132" dur="500" fill="hold"/>
                                        <p:tgtEl>
                                          <p:spTgt spid="65"/>
                                        </p:tgtEl>
                                        <p:attrNameLst>
                                          <p:attrName>ppt_x</p:attrName>
                                        </p:attrNameLst>
                                      </p:cBhvr>
                                      <p:tavLst>
                                        <p:tav tm="0">
                                          <p:val>
                                            <p:strVal val="1+#ppt_w/2"/>
                                          </p:val>
                                        </p:tav>
                                        <p:tav tm="100000">
                                          <p:val>
                                            <p:strVal val="#ppt_x"/>
                                          </p:val>
                                        </p:tav>
                                      </p:tavLst>
                                    </p:anim>
                                    <p:animEffect transition="in" filter="fade">
                                      <p:cBhvr>
                                        <p:cTn id="133" dur="500"/>
                                        <p:tgtEl>
                                          <p:spTgt spid="65"/>
                                        </p:tgtEl>
                                      </p:cBhvr>
                                    </p:animEffect>
                                  </p:childTnLst>
                                </p:cTn>
                              </p:par>
                            </p:childTnLst>
                          </p:cTn>
                        </p:par>
                        <p:par>
                          <p:cTn id="134" fill="hold">
                            <p:stCondLst>
                              <p:cond delay="2305"/>
                            </p:stCondLst>
                            <p:childTnLst>
                              <p:par>
                                <p:cTn id="135" presetID="2" presetClass="entr" presetSubtype="4" fill="hold" nodeType="withEffect">
                                  <p:stCondLst>
                                    <p:cond delay="0"/>
                                  </p:stCondLst>
                                  <p:childTnLst>
                                    <p:set>
                                      <p:cBhvr>
                                        <p:cTn id="136" dur="1" fill="hold">
                                          <p:stCondLst>
                                            <p:cond delay="0"/>
                                          </p:stCondLst>
                                        </p:cTn>
                                        <p:tgtEl>
                                          <p:spTgt spid="46"/>
                                        </p:tgtEl>
                                        <p:attrNameLst>
                                          <p:attrName>style.visibility</p:attrName>
                                        </p:attrNameLst>
                                      </p:cBhvr>
                                      <p:to>
                                        <p:strVal val="visible"/>
                                      </p:to>
                                    </p:set>
                                    <p:anim calcmode="lin" valueType="num">
                                      <p:cBhvr additive="base">
                                        <p:cTn id="137" dur="500" fill="hold"/>
                                        <p:tgtEl>
                                          <p:spTgt spid="46"/>
                                        </p:tgtEl>
                                        <p:attrNameLst>
                                          <p:attrName>ppt_y</p:attrName>
                                        </p:attrNameLst>
                                      </p:cBhvr>
                                      <p:tavLst>
                                        <p:tav tm="0">
                                          <p:val>
                                            <p:strVal val="1+#ppt_h/2"/>
                                          </p:val>
                                        </p:tav>
                                        <p:tav tm="100000">
                                          <p:val>
                                            <p:strVal val="#ppt_y"/>
                                          </p:val>
                                        </p:tav>
                                      </p:tavLst>
                                    </p:anim>
                                    <p:animEffect transition="in" filter="fade">
                                      <p:cBhvr>
                                        <p:cTn id="138" dur="500"/>
                                        <p:tgtEl>
                                          <p:spTgt spid="46"/>
                                        </p:tgtEl>
                                      </p:cBhvr>
                                    </p:animEffect>
                                  </p:childTnLst>
                                </p:cTn>
                              </p:par>
                            </p:childTnLst>
                          </p:cTn>
                        </p:par>
                        <p:par>
                          <p:cTn id="139" fill="hold">
                            <p:stCondLst>
                              <p:cond delay="2305"/>
                            </p:stCondLst>
                            <p:childTnLst>
                              <p:par>
                                <p:cTn id="140" presetID="2" presetClass="entr" presetSubtype="4" fill="hold" nodeType="withEffect">
                                  <p:stCondLst>
                                    <p:cond delay="0"/>
                                  </p:stCondLst>
                                  <p:childTnLst>
                                    <p:set>
                                      <p:cBhvr>
                                        <p:cTn id="141" dur="1" fill="hold">
                                          <p:stCondLst>
                                            <p:cond delay="0"/>
                                          </p:stCondLst>
                                        </p:cTn>
                                        <p:tgtEl>
                                          <p:spTgt spid="47"/>
                                        </p:tgtEl>
                                        <p:attrNameLst>
                                          <p:attrName>style.visibility</p:attrName>
                                        </p:attrNameLst>
                                      </p:cBhvr>
                                      <p:to>
                                        <p:strVal val="visible"/>
                                      </p:to>
                                    </p:set>
                                    <p:anim calcmode="lin" valueType="num">
                                      <p:cBhvr additive="base">
                                        <p:cTn id="142" dur="500" fill="hold"/>
                                        <p:tgtEl>
                                          <p:spTgt spid="47"/>
                                        </p:tgtEl>
                                        <p:attrNameLst>
                                          <p:attrName>ppt_y</p:attrName>
                                        </p:attrNameLst>
                                      </p:cBhvr>
                                      <p:tavLst>
                                        <p:tav tm="0">
                                          <p:val>
                                            <p:strVal val="1+#ppt_h/2"/>
                                          </p:val>
                                        </p:tav>
                                        <p:tav tm="100000">
                                          <p:val>
                                            <p:strVal val="#ppt_y"/>
                                          </p:val>
                                        </p:tav>
                                      </p:tavLst>
                                    </p:anim>
                                    <p:animEffect transition="in" filter="fade">
                                      <p:cBhvr>
                                        <p:cTn id="143" dur="500"/>
                                        <p:tgtEl>
                                          <p:spTgt spid="47"/>
                                        </p:tgtEl>
                                      </p:cBhvr>
                                    </p:animEffect>
                                  </p:childTnLst>
                                </p:cTn>
                              </p:par>
                            </p:childTnLst>
                          </p:cTn>
                        </p:par>
                        <p:par>
                          <p:cTn id="144" fill="hold">
                            <p:stCondLst>
                              <p:cond delay="2365"/>
                            </p:stCondLst>
                            <p:childTnLst>
                              <p:par>
                                <p:cTn id="145" presetID="2" presetClass="entr" presetSubtype="4" fill="hold" nodeType="withEffect">
                                  <p:stCondLst>
                                    <p:cond delay="0"/>
                                  </p:stCondLst>
                                  <p:childTnLst>
                                    <p:set>
                                      <p:cBhvr>
                                        <p:cTn id="146" dur="1" fill="hold">
                                          <p:stCondLst>
                                            <p:cond delay="0"/>
                                          </p:stCondLst>
                                        </p:cTn>
                                        <p:tgtEl>
                                          <p:spTgt spid="25"/>
                                        </p:tgtEl>
                                        <p:attrNameLst>
                                          <p:attrName>style.visibility</p:attrName>
                                        </p:attrNameLst>
                                      </p:cBhvr>
                                      <p:to>
                                        <p:strVal val="visible"/>
                                      </p:to>
                                    </p:set>
                                    <p:anim calcmode="lin" valueType="num">
                                      <p:cBhvr additive="base">
                                        <p:cTn id="147" dur="500" fill="hold"/>
                                        <p:tgtEl>
                                          <p:spTgt spid="25"/>
                                        </p:tgtEl>
                                        <p:attrNameLst>
                                          <p:attrName>ppt_y</p:attrName>
                                        </p:attrNameLst>
                                      </p:cBhvr>
                                      <p:tavLst>
                                        <p:tav tm="0">
                                          <p:val>
                                            <p:strVal val="1+#ppt_h/2"/>
                                          </p:val>
                                        </p:tav>
                                        <p:tav tm="100000">
                                          <p:val>
                                            <p:strVal val="#ppt_y"/>
                                          </p:val>
                                        </p:tav>
                                      </p:tavLst>
                                    </p:anim>
                                    <p:animEffect transition="in" filter="fade">
                                      <p:cBhvr>
                                        <p:cTn id="148" dur="500"/>
                                        <p:tgtEl>
                                          <p:spTgt spid="25"/>
                                        </p:tgtEl>
                                      </p:cBhvr>
                                    </p:animEffect>
                                  </p:childTnLst>
                                </p:cTn>
                              </p:par>
                            </p:childTnLst>
                          </p:cTn>
                        </p:par>
                        <p:par>
                          <p:cTn id="149" fill="hold">
                            <p:stCondLst>
                              <p:cond delay="2420"/>
                            </p:stCondLst>
                            <p:childTnLst>
                              <p:par>
                                <p:cTn id="150" presetID="2" presetClass="entr" presetSubtype="4" fill="hold" nodeType="withEffect">
                                  <p:stCondLst>
                                    <p:cond delay="0"/>
                                  </p:stCondLst>
                                  <p:childTnLst>
                                    <p:set>
                                      <p:cBhvr>
                                        <p:cTn id="151" dur="1" fill="hold">
                                          <p:stCondLst>
                                            <p:cond delay="0"/>
                                          </p:stCondLst>
                                        </p:cTn>
                                        <p:tgtEl>
                                          <p:spTgt spid="26"/>
                                        </p:tgtEl>
                                        <p:attrNameLst>
                                          <p:attrName>style.visibility</p:attrName>
                                        </p:attrNameLst>
                                      </p:cBhvr>
                                      <p:to>
                                        <p:strVal val="visible"/>
                                      </p:to>
                                    </p:set>
                                    <p:anim calcmode="lin" valueType="num">
                                      <p:cBhvr additive="base">
                                        <p:cTn id="152" dur="500" fill="hold"/>
                                        <p:tgtEl>
                                          <p:spTgt spid="26"/>
                                        </p:tgtEl>
                                        <p:attrNameLst>
                                          <p:attrName>ppt_y</p:attrName>
                                        </p:attrNameLst>
                                      </p:cBhvr>
                                      <p:tavLst>
                                        <p:tav tm="0">
                                          <p:val>
                                            <p:strVal val="1+#ppt_h/2"/>
                                          </p:val>
                                        </p:tav>
                                        <p:tav tm="100000">
                                          <p:val>
                                            <p:strVal val="#ppt_y"/>
                                          </p:val>
                                        </p:tav>
                                      </p:tavLst>
                                    </p:anim>
                                    <p:animEffect transition="in" filter="fade">
                                      <p:cBhvr>
                                        <p:cTn id="153" dur="500"/>
                                        <p:tgtEl>
                                          <p:spTgt spid="26"/>
                                        </p:tgtEl>
                                      </p:cBhvr>
                                    </p:animEffect>
                                  </p:childTnLst>
                                </p:cTn>
                              </p:par>
                            </p:childTnLst>
                          </p:cTn>
                        </p:par>
                        <p:par>
                          <p:cTn id="154" fill="hold">
                            <p:stCondLst>
                              <p:cond delay="2475"/>
                            </p:stCondLst>
                            <p:childTnLst>
                              <p:par>
                                <p:cTn id="155" presetID="2" presetClass="entr" presetSubtype="4" fill="hold" nodeType="withEffect">
                                  <p:stCondLst>
                                    <p:cond delay="0"/>
                                  </p:stCondLst>
                                  <p:childTnLst>
                                    <p:set>
                                      <p:cBhvr>
                                        <p:cTn id="156" dur="1" fill="hold">
                                          <p:stCondLst>
                                            <p:cond delay="0"/>
                                          </p:stCondLst>
                                        </p:cTn>
                                        <p:tgtEl>
                                          <p:spTgt spid="27"/>
                                        </p:tgtEl>
                                        <p:attrNameLst>
                                          <p:attrName>style.visibility</p:attrName>
                                        </p:attrNameLst>
                                      </p:cBhvr>
                                      <p:to>
                                        <p:strVal val="visible"/>
                                      </p:to>
                                    </p:set>
                                    <p:anim calcmode="lin" valueType="num">
                                      <p:cBhvr additive="base">
                                        <p:cTn id="157" dur="500" fill="hold"/>
                                        <p:tgtEl>
                                          <p:spTgt spid="27"/>
                                        </p:tgtEl>
                                        <p:attrNameLst>
                                          <p:attrName>ppt_y</p:attrName>
                                        </p:attrNameLst>
                                      </p:cBhvr>
                                      <p:tavLst>
                                        <p:tav tm="0">
                                          <p:val>
                                            <p:strVal val="1+#ppt_h/2"/>
                                          </p:val>
                                        </p:tav>
                                        <p:tav tm="100000">
                                          <p:val>
                                            <p:strVal val="#ppt_y"/>
                                          </p:val>
                                        </p:tav>
                                      </p:tavLst>
                                    </p:anim>
                                    <p:animEffect transition="in" filter="fade">
                                      <p:cBhvr>
                                        <p:cTn id="158" dur="500"/>
                                        <p:tgtEl>
                                          <p:spTgt spid="27"/>
                                        </p:tgtEl>
                                      </p:cBhvr>
                                    </p:animEffect>
                                  </p:childTnLst>
                                </p:cTn>
                              </p:par>
                            </p:childTnLst>
                          </p:cTn>
                        </p:par>
                        <p:par>
                          <p:cTn id="159" fill="hold">
                            <p:stCondLst>
                              <p:cond delay="2530"/>
                            </p:stCondLst>
                            <p:childTnLst>
                              <p:par>
                                <p:cTn id="160" presetID="2" presetClass="entr" presetSubtype="4" fill="hold" nodeType="withEffect">
                                  <p:stCondLst>
                                    <p:cond delay="0"/>
                                  </p:stCondLst>
                                  <p:childTnLst>
                                    <p:set>
                                      <p:cBhvr>
                                        <p:cTn id="161" dur="1" fill="hold">
                                          <p:stCondLst>
                                            <p:cond delay="0"/>
                                          </p:stCondLst>
                                        </p:cTn>
                                        <p:tgtEl>
                                          <p:spTgt spid="28"/>
                                        </p:tgtEl>
                                        <p:attrNameLst>
                                          <p:attrName>style.visibility</p:attrName>
                                        </p:attrNameLst>
                                      </p:cBhvr>
                                      <p:to>
                                        <p:strVal val="visible"/>
                                      </p:to>
                                    </p:set>
                                    <p:anim calcmode="lin" valueType="num">
                                      <p:cBhvr additive="base">
                                        <p:cTn id="162" dur="500" fill="hold"/>
                                        <p:tgtEl>
                                          <p:spTgt spid="28"/>
                                        </p:tgtEl>
                                        <p:attrNameLst>
                                          <p:attrName>ppt_y</p:attrName>
                                        </p:attrNameLst>
                                      </p:cBhvr>
                                      <p:tavLst>
                                        <p:tav tm="0">
                                          <p:val>
                                            <p:strVal val="1+#ppt_h/2"/>
                                          </p:val>
                                        </p:tav>
                                        <p:tav tm="100000">
                                          <p:val>
                                            <p:strVal val="#ppt_y"/>
                                          </p:val>
                                        </p:tav>
                                      </p:tavLst>
                                    </p:anim>
                                    <p:animEffect transition="in" filter="fade">
                                      <p:cBhvr>
                                        <p:cTn id="163" dur="500"/>
                                        <p:tgtEl>
                                          <p:spTgt spid="28"/>
                                        </p:tgtEl>
                                      </p:cBhvr>
                                    </p:animEffect>
                                  </p:childTnLst>
                                </p:cTn>
                              </p:par>
                            </p:childTnLst>
                          </p:cTn>
                        </p:par>
                        <p:par>
                          <p:cTn id="164" fill="hold">
                            <p:stCondLst>
                              <p:cond delay="3085"/>
                            </p:stCondLst>
                            <p:childTnLst>
                              <p:par>
                                <p:cTn id="165" presetID="2" presetClass="entr" presetSubtype="2" fill="hold" nodeType="withEffect">
                                  <p:stCondLst>
                                    <p:cond delay="0"/>
                                  </p:stCondLst>
                                  <p:childTnLst>
                                    <p:set>
                                      <p:cBhvr>
                                        <p:cTn id="166" dur="1" fill="hold">
                                          <p:stCondLst>
                                            <p:cond delay="0"/>
                                          </p:stCondLst>
                                        </p:cTn>
                                        <p:tgtEl>
                                          <p:spTgt spid="56"/>
                                        </p:tgtEl>
                                        <p:attrNameLst>
                                          <p:attrName>style.visibility</p:attrName>
                                        </p:attrNameLst>
                                      </p:cBhvr>
                                      <p:to>
                                        <p:strVal val="visible"/>
                                      </p:to>
                                    </p:set>
                                    <p:anim calcmode="lin" valueType="num">
                                      <p:cBhvr additive="base">
                                        <p:cTn id="167" dur="500" fill="hold"/>
                                        <p:tgtEl>
                                          <p:spTgt spid="56"/>
                                        </p:tgtEl>
                                        <p:attrNameLst>
                                          <p:attrName>ppt_x</p:attrName>
                                        </p:attrNameLst>
                                      </p:cBhvr>
                                      <p:tavLst>
                                        <p:tav tm="0">
                                          <p:val>
                                            <p:strVal val="1+#ppt_w/2"/>
                                          </p:val>
                                        </p:tav>
                                        <p:tav tm="100000">
                                          <p:val>
                                            <p:strVal val="#ppt_x"/>
                                          </p:val>
                                        </p:tav>
                                      </p:tavLst>
                                    </p:anim>
                                    <p:animEffect transition="in" filter="fade">
                                      <p:cBhvr>
                                        <p:cTn id="168" dur="500"/>
                                        <p:tgtEl>
                                          <p:spTgt spid="56"/>
                                        </p:tgtEl>
                                      </p:cBhvr>
                                    </p:animEffect>
                                  </p:childTnLst>
                                </p:cTn>
                              </p:par>
                            </p:childTnLst>
                          </p:cTn>
                        </p:par>
                        <p:par>
                          <p:cTn id="169" fill="hold">
                            <p:stCondLst>
                              <p:cond delay="3085"/>
                            </p:stCondLst>
                            <p:childTnLst>
                              <p:par>
                                <p:cTn id="170" presetID="2" presetClass="entr" presetSubtype="2" fill="hold" nodeType="withEffect">
                                  <p:stCondLst>
                                    <p:cond delay="0"/>
                                  </p:stCondLst>
                                  <p:childTnLst>
                                    <p:set>
                                      <p:cBhvr>
                                        <p:cTn id="171" dur="1" fill="hold">
                                          <p:stCondLst>
                                            <p:cond delay="0"/>
                                          </p:stCondLst>
                                        </p:cTn>
                                        <p:tgtEl>
                                          <p:spTgt spid="57"/>
                                        </p:tgtEl>
                                        <p:attrNameLst>
                                          <p:attrName>style.visibility</p:attrName>
                                        </p:attrNameLst>
                                      </p:cBhvr>
                                      <p:to>
                                        <p:strVal val="visible"/>
                                      </p:to>
                                    </p:set>
                                    <p:anim calcmode="lin" valueType="num">
                                      <p:cBhvr additive="base">
                                        <p:cTn id="172" dur="500" fill="hold"/>
                                        <p:tgtEl>
                                          <p:spTgt spid="57"/>
                                        </p:tgtEl>
                                        <p:attrNameLst>
                                          <p:attrName>ppt_x</p:attrName>
                                        </p:attrNameLst>
                                      </p:cBhvr>
                                      <p:tavLst>
                                        <p:tav tm="0">
                                          <p:val>
                                            <p:strVal val="1+#ppt_w/2"/>
                                          </p:val>
                                        </p:tav>
                                        <p:tav tm="100000">
                                          <p:val>
                                            <p:strVal val="#ppt_x"/>
                                          </p:val>
                                        </p:tav>
                                      </p:tavLst>
                                    </p:anim>
                                    <p:animEffect transition="in" filter="fade">
                                      <p:cBhvr>
                                        <p:cTn id="173" dur="500"/>
                                        <p:tgtEl>
                                          <p:spTgt spid="57"/>
                                        </p:tgtEl>
                                      </p:cBhvr>
                                    </p:animEffect>
                                  </p:childTnLst>
                                </p:cTn>
                              </p:par>
                            </p:childTnLst>
                          </p:cTn>
                        </p:par>
                        <p:par>
                          <p:cTn id="174" fill="hold">
                            <p:stCondLst>
                              <p:cond delay="3085"/>
                            </p:stCondLst>
                            <p:childTnLst>
                              <p:par>
                                <p:cTn id="175" presetID="2" presetClass="entr" presetSubtype="2" fill="hold" nodeType="withEffect">
                                  <p:stCondLst>
                                    <p:cond delay="0"/>
                                  </p:stCondLst>
                                  <p:childTnLst>
                                    <p:set>
                                      <p:cBhvr>
                                        <p:cTn id="176" dur="1" fill="hold">
                                          <p:stCondLst>
                                            <p:cond delay="0"/>
                                          </p:stCondLst>
                                        </p:cTn>
                                        <p:tgtEl>
                                          <p:spTgt spid="58"/>
                                        </p:tgtEl>
                                        <p:attrNameLst>
                                          <p:attrName>style.visibility</p:attrName>
                                        </p:attrNameLst>
                                      </p:cBhvr>
                                      <p:to>
                                        <p:strVal val="visible"/>
                                      </p:to>
                                    </p:set>
                                    <p:anim calcmode="lin" valueType="num">
                                      <p:cBhvr additive="base">
                                        <p:cTn id="177" dur="500" fill="hold"/>
                                        <p:tgtEl>
                                          <p:spTgt spid="58"/>
                                        </p:tgtEl>
                                        <p:attrNameLst>
                                          <p:attrName>ppt_x</p:attrName>
                                        </p:attrNameLst>
                                      </p:cBhvr>
                                      <p:tavLst>
                                        <p:tav tm="0">
                                          <p:val>
                                            <p:strVal val="1+#ppt_w/2"/>
                                          </p:val>
                                        </p:tav>
                                        <p:tav tm="100000">
                                          <p:val>
                                            <p:strVal val="#ppt_x"/>
                                          </p:val>
                                        </p:tav>
                                      </p:tavLst>
                                    </p:anim>
                                    <p:animEffect transition="in" filter="fade">
                                      <p:cBhvr>
                                        <p:cTn id="178" dur="500"/>
                                        <p:tgtEl>
                                          <p:spTgt spid="58"/>
                                        </p:tgtEl>
                                      </p:cBhvr>
                                    </p:animEffect>
                                  </p:childTnLst>
                                </p:cTn>
                              </p:par>
                            </p:childTnLst>
                          </p:cTn>
                        </p:par>
                        <p:par>
                          <p:cTn id="179" fill="hold">
                            <p:stCondLst>
                              <p:cond delay="3085"/>
                            </p:stCondLst>
                            <p:childTnLst>
                              <p:par>
                                <p:cTn id="180" presetID="2" presetClass="entr" presetSubtype="2" fill="hold" nodeType="withEffect">
                                  <p:stCondLst>
                                    <p:cond delay="0"/>
                                  </p:stCondLst>
                                  <p:childTnLst>
                                    <p:set>
                                      <p:cBhvr>
                                        <p:cTn id="181" dur="1" fill="hold">
                                          <p:stCondLst>
                                            <p:cond delay="0"/>
                                          </p:stCondLst>
                                        </p:cTn>
                                        <p:tgtEl>
                                          <p:spTgt spid="59"/>
                                        </p:tgtEl>
                                        <p:attrNameLst>
                                          <p:attrName>style.visibility</p:attrName>
                                        </p:attrNameLst>
                                      </p:cBhvr>
                                      <p:to>
                                        <p:strVal val="visible"/>
                                      </p:to>
                                    </p:set>
                                    <p:anim calcmode="lin" valueType="num">
                                      <p:cBhvr additive="base">
                                        <p:cTn id="182" dur="500" fill="hold"/>
                                        <p:tgtEl>
                                          <p:spTgt spid="59"/>
                                        </p:tgtEl>
                                        <p:attrNameLst>
                                          <p:attrName>ppt_x</p:attrName>
                                        </p:attrNameLst>
                                      </p:cBhvr>
                                      <p:tavLst>
                                        <p:tav tm="0">
                                          <p:val>
                                            <p:strVal val="1+#ppt_w/2"/>
                                          </p:val>
                                        </p:tav>
                                        <p:tav tm="100000">
                                          <p:val>
                                            <p:strVal val="#ppt_x"/>
                                          </p:val>
                                        </p:tav>
                                      </p:tavLst>
                                    </p:anim>
                                    <p:animEffect transition="in" filter="fade">
                                      <p:cBhvr>
                                        <p:cTn id="183" dur="500"/>
                                        <p:tgtEl>
                                          <p:spTgt spid="59"/>
                                        </p:tgtEl>
                                      </p:cBhvr>
                                    </p:animEffect>
                                  </p:childTnLst>
                                </p:cTn>
                              </p:par>
                            </p:childTnLst>
                          </p:cTn>
                        </p:par>
                        <p:par>
                          <p:cTn id="184" fill="hold">
                            <p:stCondLst>
                              <p:cond delay="3085"/>
                            </p:stCondLst>
                            <p:childTnLst>
                              <p:par>
                                <p:cTn id="185" presetID="2" presetClass="entr" presetSubtype="2" fill="hold" nodeType="withEffect">
                                  <p:stCondLst>
                                    <p:cond delay="0"/>
                                  </p:stCondLst>
                                  <p:childTnLst>
                                    <p:set>
                                      <p:cBhvr>
                                        <p:cTn id="186" dur="1" fill="hold">
                                          <p:stCondLst>
                                            <p:cond delay="0"/>
                                          </p:stCondLst>
                                        </p:cTn>
                                        <p:tgtEl>
                                          <p:spTgt spid="60"/>
                                        </p:tgtEl>
                                        <p:attrNameLst>
                                          <p:attrName>style.visibility</p:attrName>
                                        </p:attrNameLst>
                                      </p:cBhvr>
                                      <p:to>
                                        <p:strVal val="visible"/>
                                      </p:to>
                                    </p:set>
                                    <p:anim calcmode="lin" valueType="num">
                                      <p:cBhvr additive="base">
                                        <p:cTn id="187" dur="500" fill="hold"/>
                                        <p:tgtEl>
                                          <p:spTgt spid="60"/>
                                        </p:tgtEl>
                                        <p:attrNameLst>
                                          <p:attrName>ppt_x</p:attrName>
                                        </p:attrNameLst>
                                      </p:cBhvr>
                                      <p:tavLst>
                                        <p:tav tm="0">
                                          <p:val>
                                            <p:strVal val="1+#ppt_w/2"/>
                                          </p:val>
                                        </p:tav>
                                        <p:tav tm="100000">
                                          <p:val>
                                            <p:strVal val="#ppt_x"/>
                                          </p:val>
                                        </p:tav>
                                      </p:tavLst>
                                    </p:anim>
                                    <p:animEffect transition="in" filter="fade">
                                      <p:cBhvr>
                                        <p:cTn id="188" dur="500"/>
                                        <p:tgtEl>
                                          <p:spTgt spid="60"/>
                                        </p:tgtEl>
                                      </p:cBhvr>
                                    </p:animEffect>
                                  </p:childTnLst>
                                </p:cTn>
                              </p:par>
                            </p:childTnLst>
                          </p:cTn>
                        </p:par>
                        <p:par>
                          <p:cTn id="189" fill="hold">
                            <p:stCondLst>
                              <p:cond delay="3785"/>
                            </p:stCondLst>
                            <p:childTnLst>
                              <p:par>
                                <p:cTn id="190" presetID="2" presetClass="entr" presetSubtype="4" fill="hold" nodeType="withEffect">
                                  <p:stCondLst>
                                    <p:cond delay="0"/>
                                  </p:stCondLst>
                                  <p:childTnLst>
                                    <p:set>
                                      <p:cBhvr>
                                        <p:cTn id="191" dur="1" fill="hold">
                                          <p:stCondLst>
                                            <p:cond delay="0"/>
                                          </p:stCondLst>
                                        </p:cTn>
                                        <p:tgtEl>
                                          <p:spTgt spid="48"/>
                                        </p:tgtEl>
                                        <p:attrNameLst>
                                          <p:attrName>style.visibility</p:attrName>
                                        </p:attrNameLst>
                                      </p:cBhvr>
                                      <p:to>
                                        <p:strVal val="visible"/>
                                      </p:to>
                                    </p:set>
                                    <p:anim calcmode="lin" valueType="num">
                                      <p:cBhvr additive="base">
                                        <p:cTn id="192" dur="500" fill="hold"/>
                                        <p:tgtEl>
                                          <p:spTgt spid="48"/>
                                        </p:tgtEl>
                                        <p:attrNameLst>
                                          <p:attrName>ppt_y</p:attrName>
                                        </p:attrNameLst>
                                      </p:cBhvr>
                                      <p:tavLst>
                                        <p:tav tm="0">
                                          <p:val>
                                            <p:strVal val="1+#ppt_h/2"/>
                                          </p:val>
                                        </p:tav>
                                        <p:tav tm="100000">
                                          <p:val>
                                            <p:strVal val="#ppt_y"/>
                                          </p:val>
                                        </p:tav>
                                      </p:tavLst>
                                    </p:anim>
                                    <p:animEffect transition="in" filter="fade">
                                      <p:cBhvr>
                                        <p:cTn id="193" dur="500"/>
                                        <p:tgtEl>
                                          <p:spTgt spid="48"/>
                                        </p:tgtEl>
                                      </p:cBhvr>
                                    </p:animEffect>
                                  </p:childTnLst>
                                </p:cTn>
                              </p:par>
                            </p:childTnLst>
                          </p:cTn>
                        </p:par>
                        <p:par>
                          <p:cTn id="194" fill="hold">
                            <p:stCondLst>
                              <p:cond delay="3785"/>
                            </p:stCondLst>
                            <p:childTnLst>
                              <p:par>
                                <p:cTn id="195" presetID="2" presetClass="entr" presetSubtype="4" fill="hold" nodeType="withEffect">
                                  <p:stCondLst>
                                    <p:cond delay="0"/>
                                  </p:stCondLst>
                                  <p:childTnLst>
                                    <p:set>
                                      <p:cBhvr>
                                        <p:cTn id="196" dur="1" fill="hold">
                                          <p:stCondLst>
                                            <p:cond delay="0"/>
                                          </p:stCondLst>
                                        </p:cTn>
                                        <p:tgtEl>
                                          <p:spTgt spid="49"/>
                                        </p:tgtEl>
                                        <p:attrNameLst>
                                          <p:attrName>style.visibility</p:attrName>
                                        </p:attrNameLst>
                                      </p:cBhvr>
                                      <p:to>
                                        <p:strVal val="visible"/>
                                      </p:to>
                                    </p:set>
                                    <p:anim calcmode="lin" valueType="num">
                                      <p:cBhvr additive="base">
                                        <p:cTn id="197" dur="500" fill="hold"/>
                                        <p:tgtEl>
                                          <p:spTgt spid="49"/>
                                        </p:tgtEl>
                                        <p:attrNameLst>
                                          <p:attrName>ppt_y</p:attrName>
                                        </p:attrNameLst>
                                      </p:cBhvr>
                                      <p:tavLst>
                                        <p:tav tm="0">
                                          <p:val>
                                            <p:strVal val="1+#ppt_h/2"/>
                                          </p:val>
                                        </p:tav>
                                        <p:tav tm="100000">
                                          <p:val>
                                            <p:strVal val="#ppt_y"/>
                                          </p:val>
                                        </p:tav>
                                      </p:tavLst>
                                    </p:anim>
                                    <p:animEffect transition="in" filter="fade">
                                      <p:cBhvr>
                                        <p:cTn id="198" dur="500"/>
                                        <p:tgtEl>
                                          <p:spTgt spid="49"/>
                                        </p:tgtEl>
                                      </p:cBhvr>
                                    </p:animEffect>
                                  </p:childTnLst>
                                </p:cTn>
                              </p:par>
                            </p:childTnLst>
                          </p:cTn>
                        </p:par>
                        <p:par>
                          <p:cTn id="199" fill="hold">
                            <p:stCondLst>
                              <p:cond delay="3845"/>
                            </p:stCondLst>
                            <p:childTnLst>
                              <p:par>
                                <p:cTn id="200" presetID="2" presetClass="entr" presetSubtype="4" fill="hold" nodeType="withEffect">
                                  <p:stCondLst>
                                    <p:cond delay="0"/>
                                  </p:stCondLst>
                                  <p:childTnLst>
                                    <p:set>
                                      <p:cBhvr>
                                        <p:cTn id="201" dur="1" fill="hold">
                                          <p:stCondLst>
                                            <p:cond delay="0"/>
                                          </p:stCondLst>
                                        </p:cTn>
                                        <p:tgtEl>
                                          <p:spTgt spid="29"/>
                                        </p:tgtEl>
                                        <p:attrNameLst>
                                          <p:attrName>style.visibility</p:attrName>
                                        </p:attrNameLst>
                                      </p:cBhvr>
                                      <p:to>
                                        <p:strVal val="visible"/>
                                      </p:to>
                                    </p:set>
                                    <p:anim calcmode="lin" valueType="num">
                                      <p:cBhvr additive="base">
                                        <p:cTn id="202" dur="500" fill="hold"/>
                                        <p:tgtEl>
                                          <p:spTgt spid="29"/>
                                        </p:tgtEl>
                                        <p:attrNameLst>
                                          <p:attrName>ppt_y</p:attrName>
                                        </p:attrNameLst>
                                      </p:cBhvr>
                                      <p:tavLst>
                                        <p:tav tm="0">
                                          <p:val>
                                            <p:strVal val="1+#ppt_h/2"/>
                                          </p:val>
                                        </p:tav>
                                        <p:tav tm="100000">
                                          <p:val>
                                            <p:strVal val="#ppt_y"/>
                                          </p:val>
                                        </p:tav>
                                      </p:tavLst>
                                    </p:anim>
                                    <p:animEffect transition="in" filter="fade">
                                      <p:cBhvr>
                                        <p:cTn id="203" dur="500"/>
                                        <p:tgtEl>
                                          <p:spTgt spid="29"/>
                                        </p:tgtEl>
                                      </p:cBhvr>
                                    </p:animEffect>
                                  </p:childTnLst>
                                </p:cTn>
                              </p:par>
                            </p:childTnLst>
                          </p:cTn>
                        </p:par>
                        <p:par>
                          <p:cTn id="204" fill="hold">
                            <p:stCondLst>
                              <p:cond delay="3900"/>
                            </p:stCondLst>
                            <p:childTnLst>
                              <p:par>
                                <p:cTn id="205" presetID="2" presetClass="entr" presetSubtype="4" fill="hold" nodeType="withEffect">
                                  <p:stCondLst>
                                    <p:cond delay="0"/>
                                  </p:stCondLst>
                                  <p:childTnLst>
                                    <p:set>
                                      <p:cBhvr>
                                        <p:cTn id="206" dur="1" fill="hold">
                                          <p:stCondLst>
                                            <p:cond delay="0"/>
                                          </p:stCondLst>
                                        </p:cTn>
                                        <p:tgtEl>
                                          <p:spTgt spid="30"/>
                                        </p:tgtEl>
                                        <p:attrNameLst>
                                          <p:attrName>style.visibility</p:attrName>
                                        </p:attrNameLst>
                                      </p:cBhvr>
                                      <p:to>
                                        <p:strVal val="visible"/>
                                      </p:to>
                                    </p:set>
                                    <p:anim calcmode="lin" valueType="num">
                                      <p:cBhvr additive="base">
                                        <p:cTn id="207" dur="500" fill="hold"/>
                                        <p:tgtEl>
                                          <p:spTgt spid="30"/>
                                        </p:tgtEl>
                                        <p:attrNameLst>
                                          <p:attrName>ppt_y</p:attrName>
                                        </p:attrNameLst>
                                      </p:cBhvr>
                                      <p:tavLst>
                                        <p:tav tm="0">
                                          <p:val>
                                            <p:strVal val="1+#ppt_h/2"/>
                                          </p:val>
                                        </p:tav>
                                        <p:tav tm="100000">
                                          <p:val>
                                            <p:strVal val="#ppt_y"/>
                                          </p:val>
                                        </p:tav>
                                      </p:tavLst>
                                    </p:anim>
                                    <p:animEffect transition="in" filter="fade">
                                      <p:cBhvr>
                                        <p:cTn id="208" dur="500"/>
                                        <p:tgtEl>
                                          <p:spTgt spid="30"/>
                                        </p:tgtEl>
                                      </p:cBhvr>
                                    </p:animEffect>
                                  </p:childTnLst>
                                </p:cTn>
                              </p:par>
                            </p:childTnLst>
                          </p:cTn>
                        </p:par>
                        <p:par>
                          <p:cTn id="209" fill="hold">
                            <p:stCondLst>
                              <p:cond delay="3955"/>
                            </p:stCondLst>
                            <p:childTnLst>
                              <p:par>
                                <p:cTn id="210" presetID="2" presetClass="entr" presetSubtype="4" fill="hold" nodeType="withEffect">
                                  <p:stCondLst>
                                    <p:cond delay="0"/>
                                  </p:stCondLst>
                                  <p:childTnLst>
                                    <p:set>
                                      <p:cBhvr>
                                        <p:cTn id="211" dur="1" fill="hold">
                                          <p:stCondLst>
                                            <p:cond delay="0"/>
                                          </p:stCondLst>
                                        </p:cTn>
                                        <p:tgtEl>
                                          <p:spTgt spid="39"/>
                                        </p:tgtEl>
                                        <p:attrNameLst>
                                          <p:attrName>style.visibility</p:attrName>
                                        </p:attrNameLst>
                                      </p:cBhvr>
                                      <p:to>
                                        <p:strVal val="visible"/>
                                      </p:to>
                                    </p:set>
                                    <p:anim calcmode="lin" valueType="num">
                                      <p:cBhvr additive="base">
                                        <p:cTn id="212" dur="500" fill="hold"/>
                                        <p:tgtEl>
                                          <p:spTgt spid="39"/>
                                        </p:tgtEl>
                                        <p:attrNameLst>
                                          <p:attrName>ppt_y</p:attrName>
                                        </p:attrNameLst>
                                      </p:cBhvr>
                                      <p:tavLst>
                                        <p:tav tm="0">
                                          <p:val>
                                            <p:strVal val="1+#ppt_h/2"/>
                                          </p:val>
                                        </p:tav>
                                        <p:tav tm="100000">
                                          <p:val>
                                            <p:strVal val="#ppt_y"/>
                                          </p:val>
                                        </p:tav>
                                      </p:tavLst>
                                    </p:anim>
                                    <p:animEffect transition="in" filter="fade">
                                      <p:cBhvr>
                                        <p:cTn id="213" dur="500"/>
                                        <p:tgtEl>
                                          <p:spTgt spid="39"/>
                                        </p:tgtEl>
                                      </p:cBhvr>
                                    </p:animEffect>
                                  </p:childTnLst>
                                </p:cTn>
                              </p:par>
                            </p:childTnLst>
                          </p:cTn>
                        </p:par>
                        <p:par>
                          <p:cTn id="214" fill="hold">
                            <p:stCondLst>
                              <p:cond delay="4010"/>
                            </p:stCondLst>
                            <p:childTnLst>
                              <p:par>
                                <p:cTn id="215" presetID="2" presetClass="entr" presetSubtype="4" fill="hold" nodeType="withEffect">
                                  <p:stCondLst>
                                    <p:cond delay="0"/>
                                  </p:stCondLst>
                                  <p:childTnLst>
                                    <p:set>
                                      <p:cBhvr>
                                        <p:cTn id="216" dur="1" fill="hold">
                                          <p:stCondLst>
                                            <p:cond delay="0"/>
                                          </p:stCondLst>
                                        </p:cTn>
                                        <p:tgtEl>
                                          <p:spTgt spid="40"/>
                                        </p:tgtEl>
                                        <p:attrNameLst>
                                          <p:attrName>style.visibility</p:attrName>
                                        </p:attrNameLst>
                                      </p:cBhvr>
                                      <p:to>
                                        <p:strVal val="visible"/>
                                      </p:to>
                                    </p:set>
                                    <p:anim calcmode="lin" valueType="num">
                                      <p:cBhvr additive="base">
                                        <p:cTn id="217" dur="500" fill="hold"/>
                                        <p:tgtEl>
                                          <p:spTgt spid="40"/>
                                        </p:tgtEl>
                                        <p:attrNameLst>
                                          <p:attrName>ppt_y</p:attrName>
                                        </p:attrNameLst>
                                      </p:cBhvr>
                                      <p:tavLst>
                                        <p:tav tm="0">
                                          <p:val>
                                            <p:strVal val="1+#ppt_h/2"/>
                                          </p:val>
                                        </p:tav>
                                        <p:tav tm="100000">
                                          <p:val>
                                            <p:strVal val="#ppt_y"/>
                                          </p:val>
                                        </p:tav>
                                      </p:tavLst>
                                    </p:anim>
                                    <p:animEffect transition="in" filter="fade">
                                      <p:cBhvr>
                                        <p:cTn id="218" dur="500"/>
                                        <p:tgtEl>
                                          <p:spTgt spid="40"/>
                                        </p:tgtEl>
                                      </p:cBhvr>
                                    </p:animEffect>
                                  </p:childTnLst>
                                </p:cTn>
                              </p:par>
                            </p:childTnLst>
                          </p:cTn>
                        </p:par>
                        <p:par>
                          <p:cTn id="219" fill="hold">
                            <p:stCondLst>
                              <p:cond delay="4065"/>
                            </p:stCondLst>
                            <p:childTnLst>
                              <p:par>
                                <p:cTn id="220" presetID="2" presetClass="entr" presetSubtype="4" fill="hold" nodeType="withEffect">
                                  <p:stCondLst>
                                    <p:cond delay="0"/>
                                  </p:stCondLst>
                                  <p:childTnLst>
                                    <p:set>
                                      <p:cBhvr>
                                        <p:cTn id="221" dur="1" fill="hold">
                                          <p:stCondLst>
                                            <p:cond delay="0"/>
                                          </p:stCondLst>
                                        </p:cTn>
                                        <p:tgtEl>
                                          <p:spTgt spid="31"/>
                                        </p:tgtEl>
                                        <p:attrNameLst>
                                          <p:attrName>style.visibility</p:attrName>
                                        </p:attrNameLst>
                                      </p:cBhvr>
                                      <p:to>
                                        <p:strVal val="visible"/>
                                      </p:to>
                                    </p:set>
                                    <p:anim calcmode="lin" valueType="num">
                                      <p:cBhvr additive="base">
                                        <p:cTn id="222" dur="500" fill="hold"/>
                                        <p:tgtEl>
                                          <p:spTgt spid="31"/>
                                        </p:tgtEl>
                                        <p:attrNameLst>
                                          <p:attrName>ppt_y</p:attrName>
                                        </p:attrNameLst>
                                      </p:cBhvr>
                                      <p:tavLst>
                                        <p:tav tm="0">
                                          <p:val>
                                            <p:strVal val="1+#ppt_h/2"/>
                                          </p:val>
                                        </p:tav>
                                        <p:tav tm="100000">
                                          <p:val>
                                            <p:strVal val="#ppt_y"/>
                                          </p:val>
                                        </p:tav>
                                      </p:tavLst>
                                    </p:anim>
                                    <p:animEffect transition="in" filter="fade">
                                      <p:cBhvr>
                                        <p:cTn id="223" dur="500"/>
                                        <p:tgtEl>
                                          <p:spTgt spid="31"/>
                                        </p:tgtEl>
                                      </p:cBhvr>
                                    </p:animEffect>
                                  </p:childTnLst>
                                </p:cTn>
                              </p:par>
                            </p:childTnLst>
                          </p:cTn>
                        </p:par>
                        <p:par>
                          <p:cTn id="224" fill="hold">
                            <p:stCondLst>
                              <p:cond delay="4120"/>
                            </p:stCondLst>
                            <p:childTnLst>
                              <p:par>
                                <p:cTn id="225" presetID="2" presetClass="entr" presetSubtype="4" fill="hold" nodeType="withEffect">
                                  <p:stCondLst>
                                    <p:cond delay="0"/>
                                  </p:stCondLst>
                                  <p:childTnLst>
                                    <p:set>
                                      <p:cBhvr>
                                        <p:cTn id="226" dur="1" fill="hold">
                                          <p:stCondLst>
                                            <p:cond delay="0"/>
                                          </p:stCondLst>
                                        </p:cTn>
                                        <p:tgtEl>
                                          <p:spTgt spid="32"/>
                                        </p:tgtEl>
                                        <p:attrNameLst>
                                          <p:attrName>style.visibility</p:attrName>
                                        </p:attrNameLst>
                                      </p:cBhvr>
                                      <p:to>
                                        <p:strVal val="visible"/>
                                      </p:to>
                                    </p:set>
                                    <p:anim calcmode="lin" valueType="num">
                                      <p:cBhvr additive="base">
                                        <p:cTn id="227" dur="500" fill="hold"/>
                                        <p:tgtEl>
                                          <p:spTgt spid="32"/>
                                        </p:tgtEl>
                                        <p:attrNameLst>
                                          <p:attrName>ppt_y</p:attrName>
                                        </p:attrNameLst>
                                      </p:cBhvr>
                                      <p:tavLst>
                                        <p:tav tm="0">
                                          <p:val>
                                            <p:strVal val="1+#ppt_h/2"/>
                                          </p:val>
                                        </p:tav>
                                        <p:tav tm="100000">
                                          <p:val>
                                            <p:strVal val="#ppt_y"/>
                                          </p:val>
                                        </p:tav>
                                      </p:tavLst>
                                    </p:anim>
                                    <p:animEffect transition="in" filter="fade">
                                      <p:cBhvr>
                                        <p:cTn id="228" dur="500"/>
                                        <p:tgtEl>
                                          <p:spTgt spid="32"/>
                                        </p:tgtEl>
                                      </p:cBhvr>
                                    </p:animEffect>
                                  </p:childTnLst>
                                </p:cTn>
                              </p:par>
                            </p:childTnLst>
                          </p:cTn>
                        </p:par>
                        <p:par>
                          <p:cTn id="229" fill="hold">
                            <p:stCondLst>
                              <p:cond delay="4175"/>
                            </p:stCondLst>
                            <p:childTnLst>
                              <p:par>
                                <p:cTn id="230" presetID="2" presetClass="entr" presetSubtype="4" fill="hold" nodeType="withEffect">
                                  <p:stCondLst>
                                    <p:cond delay="0"/>
                                  </p:stCondLst>
                                  <p:childTnLst>
                                    <p:set>
                                      <p:cBhvr>
                                        <p:cTn id="231" dur="1" fill="hold">
                                          <p:stCondLst>
                                            <p:cond delay="0"/>
                                          </p:stCondLst>
                                        </p:cTn>
                                        <p:tgtEl>
                                          <p:spTgt spid="33"/>
                                        </p:tgtEl>
                                        <p:attrNameLst>
                                          <p:attrName>style.visibility</p:attrName>
                                        </p:attrNameLst>
                                      </p:cBhvr>
                                      <p:to>
                                        <p:strVal val="visible"/>
                                      </p:to>
                                    </p:set>
                                    <p:anim calcmode="lin" valueType="num">
                                      <p:cBhvr additive="base">
                                        <p:cTn id="232" dur="500" fill="hold"/>
                                        <p:tgtEl>
                                          <p:spTgt spid="33"/>
                                        </p:tgtEl>
                                        <p:attrNameLst>
                                          <p:attrName>ppt_y</p:attrName>
                                        </p:attrNameLst>
                                      </p:cBhvr>
                                      <p:tavLst>
                                        <p:tav tm="0">
                                          <p:val>
                                            <p:strVal val="1+#ppt_h/2"/>
                                          </p:val>
                                        </p:tav>
                                        <p:tav tm="100000">
                                          <p:val>
                                            <p:strVal val="#ppt_y"/>
                                          </p:val>
                                        </p:tav>
                                      </p:tavLst>
                                    </p:anim>
                                    <p:animEffect transition="in" filter="fade">
                                      <p:cBhvr>
                                        <p:cTn id="233" dur="500"/>
                                        <p:tgtEl>
                                          <p:spTgt spid="33"/>
                                        </p:tgtEl>
                                      </p:cBhvr>
                                    </p:animEffect>
                                  </p:childTnLst>
                                </p:cTn>
                              </p:par>
                            </p:childTnLst>
                          </p:cTn>
                        </p:par>
                        <p:par>
                          <p:cTn id="234" fill="hold">
                            <p:stCondLst>
                              <p:cond delay="4230"/>
                            </p:stCondLst>
                            <p:childTnLst>
                              <p:par>
                                <p:cTn id="235" presetID="2" presetClass="entr" presetSubtype="4" fill="hold" nodeType="withEffect">
                                  <p:stCondLst>
                                    <p:cond delay="0"/>
                                  </p:stCondLst>
                                  <p:childTnLst>
                                    <p:set>
                                      <p:cBhvr>
                                        <p:cTn id="236" dur="1" fill="hold">
                                          <p:stCondLst>
                                            <p:cond delay="0"/>
                                          </p:stCondLst>
                                        </p:cTn>
                                        <p:tgtEl>
                                          <p:spTgt spid="34"/>
                                        </p:tgtEl>
                                        <p:attrNameLst>
                                          <p:attrName>style.visibility</p:attrName>
                                        </p:attrNameLst>
                                      </p:cBhvr>
                                      <p:to>
                                        <p:strVal val="visible"/>
                                      </p:to>
                                    </p:set>
                                    <p:anim calcmode="lin" valueType="num">
                                      <p:cBhvr additive="base">
                                        <p:cTn id="237" dur="500" fill="hold"/>
                                        <p:tgtEl>
                                          <p:spTgt spid="34"/>
                                        </p:tgtEl>
                                        <p:attrNameLst>
                                          <p:attrName>ppt_y</p:attrName>
                                        </p:attrNameLst>
                                      </p:cBhvr>
                                      <p:tavLst>
                                        <p:tav tm="0">
                                          <p:val>
                                            <p:strVal val="1+#ppt_h/2"/>
                                          </p:val>
                                        </p:tav>
                                        <p:tav tm="100000">
                                          <p:val>
                                            <p:strVal val="#ppt_y"/>
                                          </p:val>
                                        </p:tav>
                                      </p:tavLst>
                                    </p:anim>
                                    <p:animEffect transition="in" filter="fade">
                                      <p:cBhvr>
                                        <p:cTn id="238" dur="500"/>
                                        <p:tgtEl>
                                          <p:spTgt spid="34"/>
                                        </p:tgtEl>
                                      </p:cBhvr>
                                    </p:animEffect>
                                  </p:childTnLst>
                                </p:cTn>
                              </p:par>
                            </p:childTnLst>
                          </p:cTn>
                        </p:par>
                        <p:par>
                          <p:cTn id="239" fill="hold">
                            <p:stCondLst>
                              <p:cond delay="4285"/>
                            </p:stCondLst>
                            <p:childTnLst>
                              <p:par>
                                <p:cTn id="240" presetID="2" presetClass="entr" presetSubtype="4" fill="hold" nodeType="withEffect">
                                  <p:stCondLst>
                                    <p:cond delay="0"/>
                                  </p:stCondLst>
                                  <p:childTnLst>
                                    <p:set>
                                      <p:cBhvr>
                                        <p:cTn id="241" dur="1" fill="hold">
                                          <p:stCondLst>
                                            <p:cond delay="0"/>
                                          </p:stCondLst>
                                        </p:cTn>
                                        <p:tgtEl>
                                          <p:spTgt spid="35"/>
                                        </p:tgtEl>
                                        <p:attrNameLst>
                                          <p:attrName>style.visibility</p:attrName>
                                        </p:attrNameLst>
                                      </p:cBhvr>
                                      <p:to>
                                        <p:strVal val="visible"/>
                                      </p:to>
                                    </p:set>
                                    <p:anim calcmode="lin" valueType="num">
                                      <p:cBhvr additive="base">
                                        <p:cTn id="242" dur="500" fill="hold"/>
                                        <p:tgtEl>
                                          <p:spTgt spid="35"/>
                                        </p:tgtEl>
                                        <p:attrNameLst>
                                          <p:attrName>ppt_y</p:attrName>
                                        </p:attrNameLst>
                                      </p:cBhvr>
                                      <p:tavLst>
                                        <p:tav tm="0">
                                          <p:val>
                                            <p:strVal val="1+#ppt_h/2"/>
                                          </p:val>
                                        </p:tav>
                                        <p:tav tm="100000">
                                          <p:val>
                                            <p:strVal val="#ppt_y"/>
                                          </p:val>
                                        </p:tav>
                                      </p:tavLst>
                                    </p:anim>
                                    <p:animEffect transition="in" filter="fade">
                                      <p:cBhvr>
                                        <p:cTn id="243" dur="500"/>
                                        <p:tgtEl>
                                          <p:spTgt spid="35"/>
                                        </p:tgtEl>
                                      </p:cBhvr>
                                    </p:animEffect>
                                  </p:childTnLst>
                                </p:cTn>
                              </p:par>
                            </p:childTnLst>
                          </p:cTn>
                        </p:par>
                        <p:par>
                          <p:cTn id="244" fill="hold">
                            <p:stCondLst>
                              <p:cond delay="4340"/>
                            </p:stCondLst>
                            <p:childTnLst>
                              <p:par>
                                <p:cTn id="245" presetID="2" presetClass="entr" presetSubtype="4" fill="hold" nodeType="withEffect">
                                  <p:stCondLst>
                                    <p:cond delay="0"/>
                                  </p:stCondLst>
                                  <p:childTnLst>
                                    <p:set>
                                      <p:cBhvr>
                                        <p:cTn id="246" dur="1" fill="hold">
                                          <p:stCondLst>
                                            <p:cond delay="0"/>
                                          </p:stCondLst>
                                        </p:cTn>
                                        <p:tgtEl>
                                          <p:spTgt spid="36"/>
                                        </p:tgtEl>
                                        <p:attrNameLst>
                                          <p:attrName>style.visibility</p:attrName>
                                        </p:attrNameLst>
                                      </p:cBhvr>
                                      <p:to>
                                        <p:strVal val="visible"/>
                                      </p:to>
                                    </p:set>
                                    <p:anim calcmode="lin" valueType="num">
                                      <p:cBhvr additive="base">
                                        <p:cTn id="247" dur="500" fill="hold"/>
                                        <p:tgtEl>
                                          <p:spTgt spid="36"/>
                                        </p:tgtEl>
                                        <p:attrNameLst>
                                          <p:attrName>ppt_y</p:attrName>
                                        </p:attrNameLst>
                                      </p:cBhvr>
                                      <p:tavLst>
                                        <p:tav tm="0">
                                          <p:val>
                                            <p:strVal val="1+#ppt_h/2"/>
                                          </p:val>
                                        </p:tav>
                                        <p:tav tm="100000">
                                          <p:val>
                                            <p:strVal val="#ppt_y"/>
                                          </p:val>
                                        </p:tav>
                                      </p:tavLst>
                                    </p:anim>
                                    <p:animEffect transition="in" filter="fade">
                                      <p:cBhvr>
                                        <p:cTn id="248" dur="500"/>
                                        <p:tgtEl>
                                          <p:spTgt spid="36"/>
                                        </p:tgtEl>
                                      </p:cBhvr>
                                    </p:animEffect>
                                  </p:childTnLst>
                                </p:cTn>
                              </p:par>
                            </p:childTnLst>
                          </p:cTn>
                        </p:par>
                        <p:par>
                          <p:cTn id="249" fill="hold">
                            <p:stCondLst>
                              <p:cond delay="4395"/>
                            </p:stCondLst>
                            <p:childTnLst>
                              <p:par>
                                <p:cTn id="250" presetID="2" presetClass="entr" presetSubtype="4" fill="hold" nodeType="withEffect">
                                  <p:stCondLst>
                                    <p:cond delay="0"/>
                                  </p:stCondLst>
                                  <p:childTnLst>
                                    <p:set>
                                      <p:cBhvr>
                                        <p:cTn id="251" dur="1" fill="hold">
                                          <p:stCondLst>
                                            <p:cond delay="0"/>
                                          </p:stCondLst>
                                        </p:cTn>
                                        <p:tgtEl>
                                          <p:spTgt spid="37"/>
                                        </p:tgtEl>
                                        <p:attrNameLst>
                                          <p:attrName>style.visibility</p:attrName>
                                        </p:attrNameLst>
                                      </p:cBhvr>
                                      <p:to>
                                        <p:strVal val="visible"/>
                                      </p:to>
                                    </p:set>
                                    <p:anim calcmode="lin" valueType="num">
                                      <p:cBhvr additive="base">
                                        <p:cTn id="252" dur="500" fill="hold"/>
                                        <p:tgtEl>
                                          <p:spTgt spid="37"/>
                                        </p:tgtEl>
                                        <p:attrNameLst>
                                          <p:attrName>ppt_y</p:attrName>
                                        </p:attrNameLst>
                                      </p:cBhvr>
                                      <p:tavLst>
                                        <p:tav tm="0">
                                          <p:val>
                                            <p:strVal val="1+#ppt_h/2"/>
                                          </p:val>
                                        </p:tav>
                                        <p:tav tm="100000">
                                          <p:val>
                                            <p:strVal val="#ppt_y"/>
                                          </p:val>
                                        </p:tav>
                                      </p:tavLst>
                                    </p:anim>
                                    <p:animEffect transition="in" filter="fade">
                                      <p:cBhvr>
                                        <p:cTn id="253" dur="500"/>
                                        <p:tgtEl>
                                          <p:spTgt spid="37"/>
                                        </p:tgtEl>
                                      </p:cBhvr>
                                    </p:animEffect>
                                  </p:childTnLst>
                                </p:cTn>
                              </p:par>
                            </p:childTnLst>
                          </p:cTn>
                        </p:par>
                        <p:par>
                          <p:cTn id="254" fill="hold">
                            <p:stCondLst>
                              <p:cond delay="4450"/>
                            </p:stCondLst>
                            <p:childTnLst>
                              <p:par>
                                <p:cTn id="255" presetID="2" presetClass="entr" presetSubtype="4" fill="hold" nodeType="withEffect">
                                  <p:stCondLst>
                                    <p:cond delay="0"/>
                                  </p:stCondLst>
                                  <p:childTnLst>
                                    <p:set>
                                      <p:cBhvr>
                                        <p:cTn id="256" dur="1" fill="hold">
                                          <p:stCondLst>
                                            <p:cond delay="0"/>
                                          </p:stCondLst>
                                        </p:cTn>
                                        <p:tgtEl>
                                          <p:spTgt spid="38"/>
                                        </p:tgtEl>
                                        <p:attrNameLst>
                                          <p:attrName>style.visibility</p:attrName>
                                        </p:attrNameLst>
                                      </p:cBhvr>
                                      <p:to>
                                        <p:strVal val="visible"/>
                                      </p:to>
                                    </p:set>
                                    <p:anim calcmode="lin" valueType="num">
                                      <p:cBhvr additive="base">
                                        <p:cTn id="257" dur="500" fill="hold"/>
                                        <p:tgtEl>
                                          <p:spTgt spid="38"/>
                                        </p:tgtEl>
                                        <p:attrNameLst>
                                          <p:attrName>ppt_y</p:attrName>
                                        </p:attrNameLst>
                                      </p:cBhvr>
                                      <p:tavLst>
                                        <p:tav tm="0">
                                          <p:val>
                                            <p:strVal val="1+#ppt_h/2"/>
                                          </p:val>
                                        </p:tav>
                                        <p:tav tm="100000">
                                          <p:val>
                                            <p:strVal val="#ppt_y"/>
                                          </p:val>
                                        </p:tav>
                                      </p:tavLst>
                                    </p:anim>
                                    <p:animEffect transition="in" filter="fade">
                                      <p:cBhvr>
                                        <p:cTn id="258" dur="500"/>
                                        <p:tgtEl>
                                          <p:spTgt spid="38"/>
                                        </p:tgtEl>
                                      </p:cBhvr>
                                    </p:animEffect>
                                  </p:childTnLst>
                                </p:cTn>
                              </p:par>
                            </p:childTnLst>
                          </p:cTn>
                        </p:par>
                        <p:par>
                          <p:cTn id="259" fill="hold">
                            <p:stCondLst>
                              <p:cond delay="5005"/>
                            </p:stCondLst>
                            <p:childTnLst>
                              <p:par>
                                <p:cTn id="260" presetID="2" presetClass="entr" presetSubtype="2" fill="hold" nodeType="withEffect">
                                  <p:stCondLst>
                                    <p:cond delay="0"/>
                                  </p:stCondLst>
                                  <p:childTnLst>
                                    <p:set>
                                      <p:cBhvr>
                                        <p:cTn id="261" dur="1" fill="hold">
                                          <p:stCondLst>
                                            <p:cond delay="0"/>
                                          </p:stCondLst>
                                        </p:cTn>
                                        <p:tgtEl>
                                          <p:spTgt spid="51"/>
                                        </p:tgtEl>
                                        <p:attrNameLst>
                                          <p:attrName>style.visibility</p:attrName>
                                        </p:attrNameLst>
                                      </p:cBhvr>
                                      <p:to>
                                        <p:strVal val="visible"/>
                                      </p:to>
                                    </p:set>
                                    <p:anim calcmode="lin" valueType="num">
                                      <p:cBhvr additive="base">
                                        <p:cTn id="262" dur="500" fill="hold"/>
                                        <p:tgtEl>
                                          <p:spTgt spid="51"/>
                                        </p:tgtEl>
                                        <p:attrNameLst>
                                          <p:attrName>ppt_x</p:attrName>
                                        </p:attrNameLst>
                                      </p:cBhvr>
                                      <p:tavLst>
                                        <p:tav tm="0">
                                          <p:val>
                                            <p:strVal val="1+#ppt_w/2"/>
                                          </p:val>
                                        </p:tav>
                                        <p:tav tm="100000">
                                          <p:val>
                                            <p:strVal val="#ppt_x"/>
                                          </p:val>
                                        </p:tav>
                                      </p:tavLst>
                                    </p:anim>
                                    <p:animEffect transition="in" filter="fade">
                                      <p:cBhvr>
                                        <p:cTn id="263" dur="500"/>
                                        <p:tgtEl>
                                          <p:spTgt spid="51"/>
                                        </p:tgtEl>
                                      </p:cBhvr>
                                    </p:animEffect>
                                  </p:childTnLst>
                                </p:cTn>
                              </p:par>
                            </p:childTnLst>
                          </p:cTn>
                        </p:par>
                        <p:par>
                          <p:cTn id="264" fill="hold">
                            <p:stCondLst>
                              <p:cond delay="5005"/>
                            </p:stCondLst>
                            <p:childTnLst>
                              <p:par>
                                <p:cTn id="265" presetID="2" presetClass="entr" presetSubtype="2" fill="hold" nodeType="withEffect">
                                  <p:stCondLst>
                                    <p:cond delay="0"/>
                                  </p:stCondLst>
                                  <p:childTnLst>
                                    <p:set>
                                      <p:cBhvr>
                                        <p:cTn id="266" dur="1" fill="hold">
                                          <p:stCondLst>
                                            <p:cond delay="0"/>
                                          </p:stCondLst>
                                        </p:cTn>
                                        <p:tgtEl>
                                          <p:spTgt spid="52"/>
                                        </p:tgtEl>
                                        <p:attrNameLst>
                                          <p:attrName>style.visibility</p:attrName>
                                        </p:attrNameLst>
                                      </p:cBhvr>
                                      <p:to>
                                        <p:strVal val="visible"/>
                                      </p:to>
                                    </p:set>
                                    <p:anim calcmode="lin" valueType="num">
                                      <p:cBhvr additive="base">
                                        <p:cTn id="267" dur="500" fill="hold"/>
                                        <p:tgtEl>
                                          <p:spTgt spid="52"/>
                                        </p:tgtEl>
                                        <p:attrNameLst>
                                          <p:attrName>ppt_x</p:attrName>
                                        </p:attrNameLst>
                                      </p:cBhvr>
                                      <p:tavLst>
                                        <p:tav tm="0">
                                          <p:val>
                                            <p:strVal val="1+#ppt_w/2"/>
                                          </p:val>
                                        </p:tav>
                                        <p:tav tm="100000">
                                          <p:val>
                                            <p:strVal val="#ppt_x"/>
                                          </p:val>
                                        </p:tav>
                                      </p:tavLst>
                                    </p:anim>
                                    <p:animEffect transition="in" filter="fade">
                                      <p:cBhvr>
                                        <p:cTn id="268" dur="500"/>
                                        <p:tgtEl>
                                          <p:spTgt spid="52"/>
                                        </p:tgtEl>
                                      </p:cBhvr>
                                    </p:animEffect>
                                  </p:childTnLst>
                                </p:cTn>
                              </p:par>
                            </p:childTnLst>
                          </p:cTn>
                        </p:par>
                        <p:par>
                          <p:cTn id="269" fill="hold">
                            <p:stCondLst>
                              <p:cond delay="5005"/>
                            </p:stCondLst>
                            <p:childTnLst>
                              <p:par>
                                <p:cTn id="270" presetID="2" presetClass="entr" presetSubtype="2" fill="hold" nodeType="withEffect">
                                  <p:stCondLst>
                                    <p:cond delay="0"/>
                                  </p:stCondLst>
                                  <p:childTnLst>
                                    <p:set>
                                      <p:cBhvr>
                                        <p:cTn id="271" dur="1" fill="hold">
                                          <p:stCondLst>
                                            <p:cond delay="0"/>
                                          </p:stCondLst>
                                        </p:cTn>
                                        <p:tgtEl>
                                          <p:spTgt spid="53"/>
                                        </p:tgtEl>
                                        <p:attrNameLst>
                                          <p:attrName>style.visibility</p:attrName>
                                        </p:attrNameLst>
                                      </p:cBhvr>
                                      <p:to>
                                        <p:strVal val="visible"/>
                                      </p:to>
                                    </p:set>
                                    <p:anim calcmode="lin" valueType="num">
                                      <p:cBhvr additive="base">
                                        <p:cTn id="272" dur="500" fill="hold"/>
                                        <p:tgtEl>
                                          <p:spTgt spid="53"/>
                                        </p:tgtEl>
                                        <p:attrNameLst>
                                          <p:attrName>ppt_x</p:attrName>
                                        </p:attrNameLst>
                                      </p:cBhvr>
                                      <p:tavLst>
                                        <p:tav tm="0">
                                          <p:val>
                                            <p:strVal val="1+#ppt_w/2"/>
                                          </p:val>
                                        </p:tav>
                                        <p:tav tm="100000">
                                          <p:val>
                                            <p:strVal val="#ppt_x"/>
                                          </p:val>
                                        </p:tav>
                                      </p:tavLst>
                                    </p:anim>
                                    <p:animEffect transition="in" filter="fade">
                                      <p:cBhvr>
                                        <p:cTn id="273" dur="500"/>
                                        <p:tgtEl>
                                          <p:spTgt spid="53"/>
                                        </p:tgtEl>
                                      </p:cBhvr>
                                    </p:animEffect>
                                  </p:childTnLst>
                                </p:cTn>
                              </p:par>
                            </p:childTnLst>
                          </p:cTn>
                        </p:par>
                        <p:par>
                          <p:cTn id="274" fill="hold">
                            <p:stCondLst>
                              <p:cond delay="5005"/>
                            </p:stCondLst>
                            <p:childTnLst>
                              <p:par>
                                <p:cTn id="275" presetID="2" presetClass="entr" presetSubtype="2" fill="hold" nodeType="withEffect">
                                  <p:stCondLst>
                                    <p:cond delay="0"/>
                                  </p:stCondLst>
                                  <p:childTnLst>
                                    <p:set>
                                      <p:cBhvr>
                                        <p:cTn id="276" dur="1" fill="hold">
                                          <p:stCondLst>
                                            <p:cond delay="0"/>
                                          </p:stCondLst>
                                        </p:cTn>
                                        <p:tgtEl>
                                          <p:spTgt spid="54"/>
                                        </p:tgtEl>
                                        <p:attrNameLst>
                                          <p:attrName>style.visibility</p:attrName>
                                        </p:attrNameLst>
                                      </p:cBhvr>
                                      <p:to>
                                        <p:strVal val="visible"/>
                                      </p:to>
                                    </p:set>
                                    <p:anim calcmode="lin" valueType="num">
                                      <p:cBhvr additive="base">
                                        <p:cTn id="277" dur="500" fill="hold"/>
                                        <p:tgtEl>
                                          <p:spTgt spid="54"/>
                                        </p:tgtEl>
                                        <p:attrNameLst>
                                          <p:attrName>ppt_x</p:attrName>
                                        </p:attrNameLst>
                                      </p:cBhvr>
                                      <p:tavLst>
                                        <p:tav tm="0">
                                          <p:val>
                                            <p:strVal val="1+#ppt_w/2"/>
                                          </p:val>
                                        </p:tav>
                                        <p:tav tm="100000">
                                          <p:val>
                                            <p:strVal val="#ppt_x"/>
                                          </p:val>
                                        </p:tav>
                                      </p:tavLst>
                                    </p:anim>
                                    <p:animEffect transition="in" filter="fade">
                                      <p:cBhvr>
                                        <p:cTn id="278" dur="500"/>
                                        <p:tgtEl>
                                          <p:spTgt spid="54"/>
                                        </p:tgtEl>
                                      </p:cBhvr>
                                    </p:animEffect>
                                  </p:childTnLst>
                                </p:cTn>
                              </p:par>
                            </p:childTnLst>
                          </p:cTn>
                        </p:par>
                        <p:par>
                          <p:cTn id="279" fill="hold">
                            <p:stCondLst>
                              <p:cond delay="5005"/>
                            </p:stCondLst>
                            <p:childTnLst>
                              <p:par>
                                <p:cTn id="280" presetID="2" presetClass="entr" presetSubtype="2" fill="hold" nodeType="withEffect">
                                  <p:stCondLst>
                                    <p:cond delay="0"/>
                                  </p:stCondLst>
                                  <p:childTnLst>
                                    <p:set>
                                      <p:cBhvr>
                                        <p:cTn id="281" dur="1" fill="hold">
                                          <p:stCondLst>
                                            <p:cond delay="0"/>
                                          </p:stCondLst>
                                        </p:cTn>
                                        <p:tgtEl>
                                          <p:spTgt spid="55"/>
                                        </p:tgtEl>
                                        <p:attrNameLst>
                                          <p:attrName>style.visibility</p:attrName>
                                        </p:attrNameLst>
                                      </p:cBhvr>
                                      <p:to>
                                        <p:strVal val="visible"/>
                                      </p:to>
                                    </p:set>
                                    <p:anim calcmode="lin" valueType="num">
                                      <p:cBhvr additive="base">
                                        <p:cTn id="282" dur="500" fill="hold"/>
                                        <p:tgtEl>
                                          <p:spTgt spid="55"/>
                                        </p:tgtEl>
                                        <p:attrNameLst>
                                          <p:attrName>ppt_x</p:attrName>
                                        </p:attrNameLst>
                                      </p:cBhvr>
                                      <p:tavLst>
                                        <p:tav tm="0">
                                          <p:val>
                                            <p:strVal val="1+#ppt_w/2"/>
                                          </p:val>
                                        </p:tav>
                                        <p:tav tm="100000">
                                          <p:val>
                                            <p:strVal val="#ppt_x"/>
                                          </p:val>
                                        </p:tav>
                                      </p:tavLst>
                                    </p:anim>
                                    <p:animEffect transition="in" filter="fade">
                                      <p:cBhvr>
                                        <p:cTn id="283" dur="500"/>
                                        <p:tgtEl>
                                          <p:spTgt spid="55"/>
                                        </p:tgtEl>
                                      </p:cBhvr>
                                    </p:animEffect>
                                  </p:childTnLst>
                                </p:cTn>
                              </p:par>
                            </p:childTnLst>
                          </p:cTn>
                        </p:par>
                        <p:par>
                          <p:cTn id="284" fill="hold">
                            <p:stCondLst>
                              <p:cond delay="5705"/>
                            </p:stCondLst>
                            <p:childTnLst>
                              <p:par>
                                <p:cTn id="285" presetID="2" presetClass="entr" presetSubtype="4" fill="hold" nodeType="withEffect">
                                  <p:stCondLst>
                                    <p:cond delay="0"/>
                                  </p:stCondLst>
                                  <p:childTnLst>
                                    <p:set>
                                      <p:cBhvr>
                                        <p:cTn id="286" dur="1" fill="hold">
                                          <p:stCondLst>
                                            <p:cond delay="0"/>
                                          </p:stCondLst>
                                        </p:cTn>
                                        <p:tgtEl>
                                          <p:spTgt spid="41"/>
                                        </p:tgtEl>
                                        <p:attrNameLst>
                                          <p:attrName>style.visibility</p:attrName>
                                        </p:attrNameLst>
                                      </p:cBhvr>
                                      <p:to>
                                        <p:strVal val="visible"/>
                                      </p:to>
                                    </p:set>
                                    <p:anim calcmode="lin" valueType="num">
                                      <p:cBhvr additive="base">
                                        <p:cTn id="287" dur="500" fill="hold"/>
                                        <p:tgtEl>
                                          <p:spTgt spid="41"/>
                                        </p:tgtEl>
                                        <p:attrNameLst>
                                          <p:attrName>ppt_y</p:attrName>
                                        </p:attrNameLst>
                                      </p:cBhvr>
                                      <p:tavLst>
                                        <p:tav tm="0">
                                          <p:val>
                                            <p:strVal val="1+#ppt_h/2"/>
                                          </p:val>
                                        </p:tav>
                                        <p:tav tm="100000">
                                          <p:val>
                                            <p:strVal val="#ppt_y"/>
                                          </p:val>
                                        </p:tav>
                                      </p:tavLst>
                                    </p:anim>
                                    <p:animEffect transition="in" filter="fade">
                                      <p:cBhvr>
                                        <p:cTn id="288" dur="500"/>
                                        <p:tgtEl>
                                          <p:spTgt spid="41"/>
                                        </p:tgtEl>
                                      </p:cBhvr>
                                    </p:animEffect>
                                  </p:childTnLst>
                                </p:cTn>
                              </p:par>
                            </p:childTnLst>
                          </p:cTn>
                        </p:par>
                        <p:par>
                          <p:cTn id="289" fill="hold">
                            <p:stCondLst>
                              <p:cond delay="5855"/>
                            </p:stCondLst>
                            <p:childTnLst>
                              <p:par>
                                <p:cTn id="290" presetID="2" presetClass="entr" presetSubtype="4" fill="hold" nodeType="withEffect">
                                  <p:stCondLst>
                                    <p:cond delay="0"/>
                                  </p:stCondLst>
                                  <p:childTnLst>
                                    <p:set>
                                      <p:cBhvr>
                                        <p:cTn id="291" dur="1" fill="hold">
                                          <p:stCondLst>
                                            <p:cond delay="0"/>
                                          </p:stCondLst>
                                        </p:cTn>
                                        <p:tgtEl>
                                          <p:spTgt spid="42"/>
                                        </p:tgtEl>
                                        <p:attrNameLst>
                                          <p:attrName>style.visibility</p:attrName>
                                        </p:attrNameLst>
                                      </p:cBhvr>
                                      <p:to>
                                        <p:strVal val="visible"/>
                                      </p:to>
                                    </p:set>
                                    <p:anim calcmode="lin" valueType="num">
                                      <p:cBhvr additive="base">
                                        <p:cTn id="292" dur="500" fill="hold"/>
                                        <p:tgtEl>
                                          <p:spTgt spid="42"/>
                                        </p:tgtEl>
                                        <p:attrNameLst>
                                          <p:attrName>ppt_y</p:attrName>
                                        </p:attrNameLst>
                                      </p:cBhvr>
                                      <p:tavLst>
                                        <p:tav tm="0">
                                          <p:val>
                                            <p:strVal val="1+#ppt_h/2"/>
                                          </p:val>
                                        </p:tav>
                                        <p:tav tm="100000">
                                          <p:val>
                                            <p:strVal val="#ppt_y"/>
                                          </p:val>
                                        </p:tav>
                                      </p:tavLst>
                                    </p:anim>
                                    <p:animEffect transition="in" filter="fade">
                                      <p:cBhvr>
                                        <p:cTn id="293" dur="500"/>
                                        <p:tgtEl>
                                          <p:spTgt spid="42"/>
                                        </p:tgtEl>
                                      </p:cBhvr>
                                    </p:animEffect>
                                  </p:childTnLst>
                                </p:cTn>
                              </p:par>
                            </p:childTnLst>
                          </p:cTn>
                        </p:par>
                        <p:par>
                          <p:cTn id="294" fill="hold">
                            <p:stCondLst>
                              <p:cond delay="6005"/>
                            </p:stCondLst>
                            <p:childTnLst>
                              <p:par>
                                <p:cTn id="295" presetID="2" presetClass="entr" presetSubtype="4" fill="hold" nodeType="withEffect">
                                  <p:stCondLst>
                                    <p:cond delay="0"/>
                                  </p:stCondLst>
                                  <p:childTnLst>
                                    <p:set>
                                      <p:cBhvr>
                                        <p:cTn id="296" dur="1" fill="hold">
                                          <p:stCondLst>
                                            <p:cond delay="0"/>
                                          </p:stCondLst>
                                        </p:cTn>
                                        <p:tgtEl>
                                          <p:spTgt spid="43"/>
                                        </p:tgtEl>
                                        <p:attrNameLst>
                                          <p:attrName>style.visibility</p:attrName>
                                        </p:attrNameLst>
                                      </p:cBhvr>
                                      <p:to>
                                        <p:strVal val="visible"/>
                                      </p:to>
                                    </p:set>
                                    <p:anim calcmode="lin" valueType="num">
                                      <p:cBhvr additive="base">
                                        <p:cTn id="297" dur="500" fill="hold"/>
                                        <p:tgtEl>
                                          <p:spTgt spid="43"/>
                                        </p:tgtEl>
                                        <p:attrNameLst>
                                          <p:attrName>ppt_y</p:attrName>
                                        </p:attrNameLst>
                                      </p:cBhvr>
                                      <p:tavLst>
                                        <p:tav tm="0">
                                          <p:val>
                                            <p:strVal val="1+#ppt_h/2"/>
                                          </p:val>
                                        </p:tav>
                                        <p:tav tm="100000">
                                          <p:val>
                                            <p:strVal val="#ppt_y"/>
                                          </p:val>
                                        </p:tav>
                                      </p:tavLst>
                                    </p:anim>
                                    <p:animEffect transition="in" filter="fade">
                                      <p:cBhvr>
                                        <p:cTn id="298" dur="500"/>
                                        <p:tgtEl>
                                          <p:spTgt spid="43"/>
                                        </p:tgtEl>
                                      </p:cBhvr>
                                    </p:animEffect>
                                  </p:childTnLst>
                                </p:cTn>
                              </p:par>
                            </p:childTnLst>
                          </p:cTn>
                        </p:par>
                        <p:par>
                          <p:cTn id="299" fill="hold">
                            <p:stCondLst>
                              <p:cond delay="6405"/>
                            </p:stCondLst>
                            <p:childTnLst>
                              <p:par>
                                <p:cTn id="300" presetID="2" presetClass="entr" presetSubtype="4" fill="hold" nodeType="withEffect">
                                  <p:stCondLst>
                                    <p:cond delay="0"/>
                                  </p:stCondLst>
                                  <p:childTnLst>
                                    <p:set>
                                      <p:cBhvr>
                                        <p:cTn id="301" dur="1" fill="hold">
                                          <p:stCondLst>
                                            <p:cond delay="0"/>
                                          </p:stCondLst>
                                        </p:cTn>
                                        <p:tgtEl>
                                          <p:spTgt spid="66"/>
                                        </p:tgtEl>
                                        <p:attrNameLst>
                                          <p:attrName>style.visibility</p:attrName>
                                        </p:attrNameLst>
                                      </p:cBhvr>
                                      <p:to>
                                        <p:strVal val="visible"/>
                                      </p:to>
                                    </p:set>
                                    <p:anim calcmode="lin" valueType="num">
                                      <p:cBhvr additive="base">
                                        <p:cTn id="302" dur="500" fill="hold"/>
                                        <p:tgtEl>
                                          <p:spTgt spid="66"/>
                                        </p:tgtEl>
                                        <p:attrNameLst>
                                          <p:attrName>ppt_y</p:attrName>
                                        </p:attrNameLst>
                                      </p:cBhvr>
                                      <p:tavLst>
                                        <p:tav tm="0">
                                          <p:val>
                                            <p:strVal val="1+#ppt_h/2"/>
                                          </p:val>
                                        </p:tav>
                                        <p:tav tm="100000">
                                          <p:val>
                                            <p:strVal val="#ppt_y"/>
                                          </p:val>
                                        </p:tav>
                                      </p:tavLst>
                                    </p:anim>
                                    <p:animEffect transition="in" filter="fade">
                                      <p:cBhvr>
                                        <p:cTn id="303" dur="500"/>
                                        <p:tgtEl>
                                          <p:spTgt spid="66"/>
                                        </p:tgtEl>
                                      </p:cBhvr>
                                    </p:animEffect>
                                  </p:childTnLst>
                                </p:cTn>
                              </p:par>
                            </p:childTnLst>
                          </p:cTn>
                        </p:par>
                        <p:par>
                          <p:cTn id="304" fill="hold">
                            <p:stCondLst>
                              <p:cond delay="6405"/>
                            </p:stCondLst>
                            <p:childTnLst>
                              <p:par>
                                <p:cTn id="305" presetID="2" presetClass="entr" presetSubtype="4" fill="hold" nodeType="withEffect">
                                  <p:stCondLst>
                                    <p:cond delay="0"/>
                                  </p:stCondLst>
                                  <p:childTnLst>
                                    <p:set>
                                      <p:cBhvr>
                                        <p:cTn id="306" dur="1" fill="hold">
                                          <p:stCondLst>
                                            <p:cond delay="0"/>
                                          </p:stCondLst>
                                        </p:cTn>
                                        <p:tgtEl>
                                          <p:spTgt spid="67"/>
                                        </p:tgtEl>
                                        <p:attrNameLst>
                                          <p:attrName>style.visibility</p:attrName>
                                        </p:attrNameLst>
                                      </p:cBhvr>
                                      <p:to>
                                        <p:strVal val="visible"/>
                                      </p:to>
                                    </p:set>
                                    <p:anim calcmode="lin" valueType="num">
                                      <p:cBhvr additive="base">
                                        <p:cTn id="307" dur="500" fill="hold"/>
                                        <p:tgtEl>
                                          <p:spTgt spid="67"/>
                                        </p:tgtEl>
                                        <p:attrNameLst>
                                          <p:attrName>ppt_y</p:attrName>
                                        </p:attrNameLst>
                                      </p:cBhvr>
                                      <p:tavLst>
                                        <p:tav tm="0">
                                          <p:val>
                                            <p:strVal val="1+#ppt_h/2"/>
                                          </p:val>
                                        </p:tav>
                                        <p:tav tm="100000">
                                          <p:val>
                                            <p:strVal val="#ppt_y"/>
                                          </p:val>
                                        </p:tav>
                                      </p:tavLst>
                                    </p:anim>
                                    <p:animEffect transition="in" filter="fade">
                                      <p:cBhvr>
                                        <p:cTn id="30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02336"/>
            <a:ext cx="49377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10   —   SIMULATION DESIGN</a:t>
            </a:r>
            <a:endParaRPr lang="en-US" sz="850" dirty="0"/>
          </a:p>
        </p:txBody>
      </p:sp>
      <p:sp>
        <p:nvSpPr>
          <p:cNvPr id="3" name="Text 1"/>
          <p:cNvSpPr/>
          <p:nvPr/>
        </p:nvSpPr>
        <p:spPr>
          <a:xfrm>
            <a:off x="640080" y="585216"/>
            <a:ext cx="6583680" cy="384048"/>
          </a:xfrm>
          <a:prstGeom prst="rect">
            <a:avLst/>
          </a:prstGeom>
          <a:noFill/>
          <a:ln/>
        </p:spPr>
        <p:txBody>
          <a:bodyPr wrap="square" lIns="0" tIns="0" rIns="0" bIns="0" rtlCol="0" anchor="t"/>
          <a:lstStyle/>
          <a:p>
            <a:pPr marL="0" indent="0">
              <a:buNone/>
            </a:pPr>
            <a:r>
              <a:rPr lang="en-US" sz="2500" b="1" dirty="0">
                <a:solidFill>
                  <a:srgbClr val="10243A"/>
                </a:solidFill>
                <a:latin typeface="Calibri" pitchFamily="34" charset="0"/>
                <a:ea typeface="Calibri" pitchFamily="34" charset="-122"/>
                <a:cs typeface="Calibri" pitchFamily="34" charset="-120"/>
              </a:rPr>
              <a:t>What the simulation </a:t>
            </a:r>
            <a:r>
              <a:rPr lang="en-US" sz="2500" b="1" dirty="0">
                <a:solidFill>
                  <a:srgbClr val="0B63CE"/>
                </a:solidFill>
                <a:latin typeface="Calibri" pitchFamily="34" charset="0"/>
                <a:ea typeface="Calibri" pitchFamily="34" charset="-122"/>
                <a:cs typeface="Calibri" pitchFamily="34" charset="-120"/>
              </a:rPr>
              <a:t>will actually test</a:t>
            </a:r>
            <a:endParaRPr lang="en-US" sz="2500" dirty="0"/>
          </a:p>
        </p:txBody>
      </p:sp>
      <p:sp>
        <p:nvSpPr>
          <p:cNvPr id="4" name="simQ"/>
          <p:cNvSpPr/>
          <p:nvPr/>
        </p:nvSpPr>
        <p:spPr>
          <a:xfrm>
            <a:off x="640080" y="1042416"/>
            <a:ext cx="7863840" cy="493776"/>
          </a:xfrm>
          <a:prstGeom prst="roundRect">
            <a:avLst>
              <a:gd name="adj" fmla="val 12963"/>
            </a:avLst>
          </a:prstGeom>
          <a:solidFill>
            <a:srgbClr val="E8F1FC"/>
          </a:solidFill>
          <a:ln w="9525">
            <a:solidFill>
              <a:srgbClr val="C9DFF6"/>
            </a:solidFill>
            <a:prstDash val="solid"/>
          </a:ln>
        </p:spPr>
        <p:txBody>
          <a:bodyPr/>
          <a:lstStyle/>
          <a:p>
            <a:endParaRPr lang="en-US"/>
          </a:p>
        </p:txBody>
      </p:sp>
      <p:sp>
        <p:nvSpPr>
          <p:cNvPr id="5" name="simQt"/>
          <p:cNvSpPr/>
          <p:nvPr/>
        </p:nvSpPr>
        <p:spPr>
          <a:xfrm>
            <a:off x="841248" y="1042416"/>
            <a:ext cx="7461504" cy="493776"/>
          </a:xfrm>
          <a:prstGeom prst="rect">
            <a:avLst/>
          </a:prstGeom>
          <a:noFill/>
          <a:ln/>
        </p:spPr>
        <p:txBody>
          <a:bodyPr wrap="square" lIns="0" tIns="0" rIns="0" bIns="0" rtlCol="0" anchor="ctr"/>
          <a:lstStyle/>
          <a:p>
            <a:pPr marL="0" indent="0">
              <a:lnSpc>
                <a:spcPts val="1250"/>
              </a:lnSpc>
              <a:buNone/>
            </a:pPr>
            <a:r>
              <a:rPr lang="en-US" sz="800" b="1" kern="0" spc="150" dirty="0">
                <a:solidFill>
                  <a:srgbClr val="0B63CE"/>
                </a:solidFill>
                <a:latin typeface="Calibri" pitchFamily="34" charset="0"/>
                <a:ea typeface="Calibri" pitchFamily="34" charset="-122"/>
                <a:cs typeface="Calibri" pitchFamily="34" charset="-120"/>
              </a:rPr>
              <a:t>SIMULATION QUESTION     </a:t>
            </a:r>
            <a:r>
              <a:rPr lang="en-US" sz="950" dirty="0">
                <a:solidFill>
                  <a:srgbClr val="10243A"/>
                </a:solidFill>
                <a:latin typeface="Calibri" pitchFamily="34" charset="0"/>
                <a:ea typeface="Calibri" pitchFamily="34" charset="-122"/>
                <a:cs typeface="Calibri" pitchFamily="34" charset="-120"/>
              </a:rPr>
              <a:t>If we re-run five years of target selection using human genetic evidence instead of animal evidence, how many more medicines reach patients for the same R&amp;D budget?</a:t>
            </a:r>
            <a:endParaRPr lang="en-US" sz="800" dirty="0"/>
          </a:p>
        </p:txBody>
      </p:sp>
      <p:sp>
        <p:nvSpPr>
          <p:cNvPr id="6" name="scen_a"/>
          <p:cNvSpPr/>
          <p:nvPr/>
        </p:nvSpPr>
        <p:spPr>
          <a:xfrm>
            <a:off x="640080" y="1627632"/>
            <a:ext cx="2505456" cy="1353312"/>
          </a:xfrm>
          <a:prstGeom prst="roundRect">
            <a:avLst>
              <a:gd name="adj" fmla="val 4730"/>
            </a:avLst>
          </a:prstGeom>
          <a:solidFill>
            <a:srgbClr val="FFFFFF"/>
          </a:solidFill>
          <a:ln w="11430">
            <a:solidFill>
              <a:srgbClr val="E3E9EF"/>
            </a:solidFill>
            <a:prstDash val="solid"/>
          </a:ln>
          <a:effectLst>
            <a:outerShdw blurRad="101600" dist="25400" dir="5400000" algn="bl" rotWithShape="0">
              <a:srgbClr val="AFC0CE">
                <a:alpha val="26000"/>
              </a:srgbClr>
            </a:outerShdw>
          </a:effectLst>
        </p:spPr>
        <p:txBody>
          <a:bodyPr/>
          <a:lstStyle/>
          <a:p>
            <a:endParaRPr lang="en-US"/>
          </a:p>
        </p:txBody>
      </p:sp>
      <p:sp>
        <p:nvSpPr>
          <p:cNvPr id="7" name="scenb_a"/>
          <p:cNvSpPr/>
          <p:nvPr/>
        </p:nvSpPr>
        <p:spPr>
          <a:xfrm>
            <a:off x="786384" y="1737360"/>
            <a:ext cx="256032" cy="256032"/>
          </a:xfrm>
          <a:prstGeom prst="roundRect">
            <a:avLst>
              <a:gd name="adj" fmla="val 21429"/>
            </a:avLst>
          </a:prstGeom>
          <a:solidFill>
            <a:srgbClr val="F5F7F9"/>
          </a:solidFill>
          <a:ln w="8890">
            <a:solidFill>
              <a:srgbClr val="E3E9EF"/>
            </a:solidFill>
            <a:prstDash val="solid"/>
          </a:ln>
        </p:spPr>
        <p:txBody>
          <a:bodyPr/>
          <a:lstStyle/>
          <a:p>
            <a:endParaRPr lang="en-US"/>
          </a:p>
        </p:txBody>
      </p:sp>
      <p:sp>
        <p:nvSpPr>
          <p:cNvPr id="8" name="scenl_a"/>
          <p:cNvSpPr/>
          <p:nvPr/>
        </p:nvSpPr>
        <p:spPr>
          <a:xfrm>
            <a:off x="786384" y="1737360"/>
            <a:ext cx="256032" cy="256032"/>
          </a:xfrm>
          <a:prstGeom prst="rect">
            <a:avLst/>
          </a:prstGeom>
          <a:noFill/>
          <a:ln/>
        </p:spPr>
        <p:txBody>
          <a:bodyPr wrap="square" lIns="0" tIns="0" rIns="0" bIns="0" rtlCol="0" anchor="ctr"/>
          <a:lstStyle/>
          <a:p>
            <a:pPr marL="0" indent="0" algn="ctr">
              <a:buNone/>
            </a:pPr>
            <a:r>
              <a:rPr lang="en-US" sz="1100" b="1" dirty="0">
                <a:solidFill>
                  <a:srgbClr val="8FA1B2"/>
                </a:solidFill>
                <a:latin typeface="Calibri" pitchFamily="34" charset="0"/>
                <a:ea typeface="Calibri" pitchFamily="34" charset="-122"/>
                <a:cs typeface="Calibri" pitchFamily="34" charset="-120"/>
              </a:rPr>
              <a:t>A</a:t>
            </a:r>
            <a:endParaRPr lang="en-US" sz="1100" dirty="0"/>
          </a:p>
        </p:txBody>
      </p:sp>
      <p:sp>
        <p:nvSpPr>
          <p:cNvPr id="9" name="scentag_a"/>
          <p:cNvSpPr/>
          <p:nvPr/>
        </p:nvSpPr>
        <p:spPr>
          <a:xfrm>
            <a:off x="1115568" y="1737360"/>
            <a:ext cx="1901952" cy="256032"/>
          </a:xfrm>
          <a:prstGeom prst="rect">
            <a:avLst/>
          </a:prstGeom>
          <a:noFill/>
          <a:ln/>
        </p:spPr>
        <p:txBody>
          <a:bodyPr wrap="square" lIns="0" tIns="0" rIns="0" bIns="0" rtlCol="0" anchor="ctr"/>
          <a:lstStyle/>
          <a:p>
            <a:pPr marL="0" indent="0">
              <a:buNone/>
            </a:pPr>
            <a:r>
              <a:rPr lang="en-US" sz="750" b="1" kern="0" spc="130" dirty="0">
                <a:solidFill>
                  <a:srgbClr val="8FA1B2"/>
                </a:solidFill>
                <a:latin typeface="Calibri" pitchFamily="34" charset="0"/>
                <a:ea typeface="Calibri" pitchFamily="34" charset="-122"/>
                <a:cs typeface="Calibri" pitchFamily="34" charset="-120"/>
              </a:rPr>
              <a:t>BASELINE</a:t>
            </a:r>
            <a:endParaRPr lang="en-US" sz="750" dirty="0"/>
          </a:p>
        </p:txBody>
      </p:sp>
      <p:sp>
        <p:nvSpPr>
          <p:cNvPr id="10" name="scent_a"/>
          <p:cNvSpPr/>
          <p:nvPr/>
        </p:nvSpPr>
        <p:spPr>
          <a:xfrm>
            <a:off x="786384" y="2048256"/>
            <a:ext cx="2212848" cy="219456"/>
          </a:xfrm>
          <a:prstGeom prst="rect">
            <a:avLst/>
          </a:prstGeom>
          <a:noFill/>
          <a:ln/>
        </p:spPr>
        <p:txBody>
          <a:bodyPr wrap="square" lIns="0" tIns="0" rIns="0" bIns="0" rtlCol="0" anchor="ctr"/>
          <a:lstStyle/>
          <a:p>
            <a:pPr marL="0" indent="0">
              <a:buNone/>
            </a:pPr>
            <a:r>
              <a:rPr lang="en-US" sz="1150" b="1" dirty="0">
                <a:solidFill>
                  <a:srgbClr val="10243A"/>
                </a:solidFill>
                <a:latin typeface="Calibri" pitchFamily="34" charset="0"/>
                <a:ea typeface="Calibri" pitchFamily="34" charset="-122"/>
                <a:cs typeface="Calibri" pitchFamily="34" charset="-120"/>
              </a:rPr>
              <a:t>The traditional way</a:t>
            </a:r>
            <a:endParaRPr lang="en-US" sz="1150" dirty="0"/>
          </a:p>
        </p:txBody>
      </p:sp>
      <p:sp>
        <p:nvSpPr>
          <p:cNvPr id="11" name="scenb2_a"/>
          <p:cNvSpPr/>
          <p:nvPr/>
        </p:nvSpPr>
        <p:spPr>
          <a:xfrm>
            <a:off x="786384" y="2286000"/>
            <a:ext cx="2212848" cy="475488"/>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Targets chosen by committee on preclinical and animal evidence. No genetic screen. Success 6% unless a target happens to be supported.</a:t>
            </a:r>
            <a:endParaRPr lang="en-US" sz="850" dirty="0"/>
          </a:p>
        </p:txBody>
      </p:sp>
      <p:sp>
        <p:nvSpPr>
          <p:cNvPr id="12" name="scene_a"/>
          <p:cNvSpPr/>
          <p:nvPr/>
        </p:nvSpPr>
        <p:spPr>
          <a:xfrm>
            <a:off x="786384" y="2761488"/>
            <a:ext cx="2212848" cy="164592"/>
          </a:xfrm>
          <a:prstGeom prst="rect">
            <a:avLst/>
          </a:prstGeom>
          <a:noFill/>
          <a:ln/>
        </p:spPr>
        <p:txBody>
          <a:bodyPr wrap="square" lIns="0" tIns="0" rIns="0" bIns="0" rtlCol="0" anchor="ctr"/>
          <a:lstStyle/>
          <a:p>
            <a:pPr marL="0" indent="0">
              <a:buNone/>
            </a:pPr>
            <a:r>
              <a:rPr lang="en-US" sz="750" b="1" dirty="0">
                <a:solidFill>
                  <a:srgbClr val="8FA1B2"/>
                </a:solidFill>
                <a:latin typeface="Calibri" pitchFamily="34" charset="0"/>
                <a:ea typeface="Calibri" pitchFamily="34" charset="-122"/>
                <a:cs typeface="Calibri" pitchFamily="34" charset="-120"/>
              </a:rPr>
              <a:t>Expected: ~$2.5bn per medicine</a:t>
            </a:r>
            <a:endParaRPr lang="en-US" sz="750" dirty="0"/>
          </a:p>
        </p:txBody>
      </p:sp>
      <p:sp>
        <p:nvSpPr>
          <p:cNvPr id="13" name="scen_b"/>
          <p:cNvSpPr/>
          <p:nvPr/>
        </p:nvSpPr>
        <p:spPr>
          <a:xfrm>
            <a:off x="3319272" y="1627632"/>
            <a:ext cx="2505456" cy="1353312"/>
          </a:xfrm>
          <a:prstGeom prst="roundRect">
            <a:avLst>
              <a:gd name="adj" fmla="val 4730"/>
            </a:avLst>
          </a:prstGeom>
          <a:solidFill>
            <a:srgbClr val="FFFFFF"/>
          </a:solidFill>
          <a:ln w="11430">
            <a:solidFill>
              <a:srgbClr val="A9E0DA"/>
            </a:solidFill>
            <a:prstDash val="solid"/>
          </a:ln>
          <a:effectLst>
            <a:outerShdw blurRad="101600" dist="25400" dir="5400000" algn="bl" rotWithShape="0">
              <a:srgbClr val="AFC0CE">
                <a:alpha val="26000"/>
              </a:srgbClr>
            </a:outerShdw>
          </a:effectLst>
        </p:spPr>
        <p:txBody>
          <a:bodyPr/>
          <a:lstStyle/>
          <a:p>
            <a:endParaRPr lang="en-US"/>
          </a:p>
        </p:txBody>
      </p:sp>
      <p:sp>
        <p:nvSpPr>
          <p:cNvPr id="14" name="scenb_b"/>
          <p:cNvSpPr/>
          <p:nvPr/>
        </p:nvSpPr>
        <p:spPr>
          <a:xfrm>
            <a:off x="3465576" y="1737360"/>
            <a:ext cx="256032" cy="256032"/>
          </a:xfrm>
          <a:prstGeom prst="roundRect">
            <a:avLst>
              <a:gd name="adj" fmla="val 21429"/>
            </a:avLst>
          </a:prstGeom>
          <a:solidFill>
            <a:srgbClr val="E0F4F2"/>
          </a:solidFill>
          <a:ln w="8890">
            <a:solidFill>
              <a:srgbClr val="A9E0DA"/>
            </a:solidFill>
            <a:prstDash val="solid"/>
          </a:ln>
        </p:spPr>
        <p:txBody>
          <a:bodyPr/>
          <a:lstStyle/>
          <a:p>
            <a:endParaRPr lang="en-US"/>
          </a:p>
        </p:txBody>
      </p:sp>
      <p:sp>
        <p:nvSpPr>
          <p:cNvPr id="15" name="scenl_b"/>
          <p:cNvSpPr/>
          <p:nvPr/>
        </p:nvSpPr>
        <p:spPr>
          <a:xfrm>
            <a:off x="3465576" y="1737360"/>
            <a:ext cx="256032" cy="256032"/>
          </a:xfrm>
          <a:prstGeom prst="rect">
            <a:avLst/>
          </a:prstGeom>
          <a:noFill/>
          <a:ln/>
        </p:spPr>
        <p:txBody>
          <a:bodyPr wrap="square" lIns="0" tIns="0" rIns="0" bIns="0" rtlCol="0" anchor="ctr"/>
          <a:lstStyle/>
          <a:p>
            <a:pPr marL="0" indent="0" algn="ctr">
              <a:buNone/>
            </a:pPr>
            <a:r>
              <a:rPr lang="en-US" sz="1100" b="1" dirty="0">
                <a:solidFill>
                  <a:srgbClr val="0C8C83"/>
                </a:solidFill>
                <a:latin typeface="Calibri" pitchFamily="34" charset="0"/>
                <a:ea typeface="Calibri" pitchFamily="34" charset="-122"/>
                <a:cs typeface="Calibri" pitchFamily="34" charset="-120"/>
              </a:rPr>
              <a:t>B</a:t>
            </a:r>
            <a:endParaRPr lang="en-US" sz="1100" dirty="0"/>
          </a:p>
        </p:txBody>
      </p:sp>
      <p:sp>
        <p:nvSpPr>
          <p:cNvPr id="16" name="scentag_b"/>
          <p:cNvSpPr/>
          <p:nvPr/>
        </p:nvSpPr>
        <p:spPr>
          <a:xfrm>
            <a:off x="3794760" y="1737360"/>
            <a:ext cx="1901952" cy="256032"/>
          </a:xfrm>
          <a:prstGeom prst="rect">
            <a:avLst/>
          </a:prstGeom>
          <a:noFill/>
          <a:ln/>
        </p:spPr>
        <p:txBody>
          <a:bodyPr wrap="square" lIns="0" tIns="0" rIns="0" bIns="0" rtlCol="0" anchor="ctr"/>
          <a:lstStyle/>
          <a:p>
            <a:pPr marL="0" indent="0">
              <a:buNone/>
            </a:pPr>
            <a:r>
              <a:rPr lang="en-US" sz="750" b="1" kern="0" spc="130" dirty="0">
                <a:solidFill>
                  <a:srgbClr val="0C8C83"/>
                </a:solidFill>
                <a:latin typeface="Calibri" pitchFamily="34" charset="0"/>
                <a:ea typeface="Calibri" pitchFamily="34" charset="-122"/>
                <a:cs typeface="Calibri" pitchFamily="34" charset="-120"/>
              </a:rPr>
              <a:t>AI-LED</a:t>
            </a:r>
            <a:endParaRPr lang="en-US" sz="750" dirty="0"/>
          </a:p>
        </p:txBody>
      </p:sp>
      <p:sp>
        <p:nvSpPr>
          <p:cNvPr id="17" name="scent_b"/>
          <p:cNvSpPr/>
          <p:nvPr/>
        </p:nvSpPr>
        <p:spPr>
          <a:xfrm>
            <a:off x="3465576" y="2048256"/>
            <a:ext cx="2212848" cy="219456"/>
          </a:xfrm>
          <a:prstGeom prst="rect">
            <a:avLst/>
          </a:prstGeom>
          <a:noFill/>
          <a:ln/>
        </p:spPr>
        <p:txBody>
          <a:bodyPr wrap="square" lIns="0" tIns="0" rIns="0" bIns="0" rtlCol="0" anchor="ctr"/>
          <a:lstStyle/>
          <a:p>
            <a:pPr marL="0" indent="0">
              <a:buNone/>
            </a:pPr>
            <a:r>
              <a:rPr lang="en-US" sz="1150" b="1" dirty="0">
                <a:solidFill>
                  <a:srgbClr val="10243A"/>
                </a:solidFill>
                <a:latin typeface="Calibri" pitchFamily="34" charset="0"/>
                <a:ea typeface="Calibri" pitchFamily="34" charset="-122"/>
                <a:cs typeface="Calibri" pitchFamily="34" charset="-120"/>
              </a:rPr>
              <a:t>Genetic evidence first</a:t>
            </a:r>
            <a:endParaRPr lang="en-US" sz="1150" dirty="0"/>
          </a:p>
        </p:txBody>
      </p:sp>
      <p:sp>
        <p:nvSpPr>
          <p:cNvPr id="18" name="scenb2_b"/>
          <p:cNvSpPr/>
          <p:nvPr/>
        </p:nvSpPr>
        <p:spPr>
          <a:xfrm>
            <a:off x="3465576" y="2286000"/>
            <a:ext cx="2212848" cy="475488"/>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Only the 6 best-scoring targets get funded. Genetically supported targets carry the 2.6× uplift from Nature (2024).</a:t>
            </a:r>
            <a:endParaRPr lang="en-US" sz="850" dirty="0"/>
          </a:p>
        </p:txBody>
      </p:sp>
      <p:sp>
        <p:nvSpPr>
          <p:cNvPr id="19" name="scene_b"/>
          <p:cNvSpPr/>
          <p:nvPr/>
        </p:nvSpPr>
        <p:spPr>
          <a:xfrm>
            <a:off x="3465576" y="2761488"/>
            <a:ext cx="2212848" cy="164592"/>
          </a:xfrm>
          <a:prstGeom prst="rect">
            <a:avLst/>
          </a:prstGeom>
          <a:noFill/>
          <a:ln/>
        </p:spPr>
        <p:txBody>
          <a:bodyPr wrap="square" lIns="0" tIns="0" rIns="0" bIns="0" rtlCol="0" anchor="ctr"/>
          <a:lstStyle/>
          <a:p>
            <a:pPr marL="0" indent="0">
              <a:buNone/>
            </a:pPr>
            <a:r>
              <a:rPr lang="en-US" sz="750" b="1" dirty="0">
                <a:solidFill>
                  <a:srgbClr val="0C8C83"/>
                </a:solidFill>
                <a:latin typeface="Calibri" pitchFamily="34" charset="0"/>
                <a:ea typeface="Calibri" pitchFamily="34" charset="-122"/>
                <a:cs typeface="Calibri" pitchFamily="34" charset="-120"/>
              </a:rPr>
              <a:t>Expected: ~$1.5bn per medicine</a:t>
            </a:r>
            <a:endParaRPr lang="en-US" sz="750" dirty="0"/>
          </a:p>
        </p:txBody>
      </p:sp>
      <p:sp>
        <p:nvSpPr>
          <p:cNvPr id="20" name="scen_c"/>
          <p:cNvSpPr/>
          <p:nvPr/>
        </p:nvSpPr>
        <p:spPr>
          <a:xfrm>
            <a:off x="5998464" y="1627632"/>
            <a:ext cx="2505456" cy="1353312"/>
          </a:xfrm>
          <a:prstGeom prst="roundRect">
            <a:avLst>
              <a:gd name="adj" fmla="val 4730"/>
            </a:avLst>
          </a:prstGeom>
          <a:solidFill>
            <a:srgbClr val="FFFFFF"/>
          </a:solidFill>
          <a:ln w="11430">
            <a:solidFill>
              <a:srgbClr val="F2D9A8"/>
            </a:solidFill>
            <a:prstDash val="solid"/>
          </a:ln>
          <a:effectLst>
            <a:outerShdw blurRad="101600" dist="25400" dir="5400000" algn="bl" rotWithShape="0">
              <a:srgbClr val="AFC0CE">
                <a:alpha val="26000"/>
              </a:srgbClr>
            </a:outerShdw>
          </a:effectLst>
        </p:spPr>
        <p:txBody>
          <a:bodyPr/>
          <a:lstStyle/>
          <a:p>
            <a:endParaRPr lang="en-US"/>
          </a:p>
        </p:txBody>
      </p:sp>
      <p:sp>
        <p:nvSpPr>
          <p:cNvPr id="21" name="scenb_c"/>
          <p:cNvSpPr/>
          <p:nvPr/>
        </p:nvSpPr>
        <p:spPr>
          <a:xfrm>
            <a:off x="6144768" y="1737360"/>
            <a:ext cx="256032" cy="256032"/>
          </a:xfrm>
          <a:prstGeom prst="roundRect">
            <a:avLst>
              <a:gd name="adj" fmla="val 21429"/>
            </a:avLst>
          </a:prstGeom>
          <a:solidFill>
            <a:srgbClr val="FDF2E0"/>
          </a:solidFill>
          <a:ln w="8890">
            <a:solidFill>
              <a:srgbClr val="F2D9A8"/>
            </a:solidFill>
            <a:prstDash val="solid"/>
          </a:ln>
        </p:spPr>
        <p:txBody>
          <a:bodyPr/>
          <a:lstStyle/>
          <a:p>
            <a:endParaRPr lang="en-US"/>
          </a:p>
        </p:txBody>
      </p:sp>
      <p:sp>
        <p:nvSpPr>
          <p:cNvPr id="22" name="scenl_c"/>
          <p:cNvSpPr/>
          <p:nvPr/>
        </p:nvSpPr>
        <p:spPr>
          <a:xfrm>
            <a:off x="6144768" y="1737360"/>
            <a:ext cx="256032" cy="256032"/>
          </a:xfrm>
          <a:prstGeom prst="rect">
            <a:avLst/>
          </a:prstGeom>
          <a:noFill/>
          <a:ln/>
        </p:spPr>
        <p:txBody>
          <a:bodyPr wrap="square" lIns="0" tIns="0" rIns="0" bIns="0" rtlCol="0" anchor="ctr"/>
          <a:lstStyle/>
          <a:p>
            <a:pPr marL="0" indent="0" algn="ctr">
              <a:buNone/>
            </a:pPr>
            <a:r>
              <a:rPr lang="en-US" sz="1100" b="1" dirty="0">
                <a:solidFill>
                  <a:srgbClr val="C77A0A"/>
                </a:solidFill>
                <a:latin typeface="Calibri" pitchFamily="34" charset="0"/>
                <a:ea typeface="Calibri" pitchFamily="34" charset="-122"/>
                <a:cs typeface="Calibri" pitchFamily="34" charset="-120"/>
              </a:rPr>
              <a:t>C</a:t>
            </a:r>
            <a:endParaRPr lang="en-US" sz="1100" dirty="0"/>
          </a:p>
        </p:txBody>
      </p:sp>
      <p:sp>
        <p:nvSpPr>
          <p:cNvPr id="23" name="scentag_c"/>
          <p:cNvSpPr/>
          <p:nvPr/>
        </p:nvSpPr>
        <p:spPr>
          <a:xfrm>
            <a:off x="6473952" y="1737360"/>
            <a:ext cx="1901952" cy="256032"/>
          </a:xfrm>
          <a:prstGeom prst="rect">
            <a:avLst/>
          </a:prstGeom>
          <a:noFill/>
          <a:ln/>
        </p:spPr>
        <p:txBody>
          <a:bodyPr wrap="square" lIns="0" tIns="0" rIns="0" bIns="0" rtlCol="0" anchor="ctr"/>
          <a:lstStyle/>
          <a:p>
            <a:pPr marL="0" indent="0">
              <a:buNone/>
            </a:pPr>
            <a:r>
              <a:rPr lang="en-US" sz="750" b="1" kern="0" spc="130" dirty="0">
                <a:solidFill>
                  <a:srgbClr val="C77A0A"/>
                </a:solidFill>
                <a:latin typeface="Calibri" pitchFamily="34" charset="0"/>
                <a:ea typeface="Calibri" pitchFamily="34" charset="-122"/>
                <a:cs typeface="Calibri" pitchFamily="34" charset="-120"/>
              </a:rPr>
              <a:t>STRESS TEST</a:t>
            </a:r>
            <a:endParaRPr lang="en-US" sz="750" dirty="0"/>
          </a:p>
        </p:txBody>
      </p:sp>
      <p:sp>
        <p:nvSpPr>
          <p:cNvPr id="24" name="scent_c"/>
          <p:cNvSpPr/>
          <p:nvPr/>
        </p:nvSpPr>
        <p:spPr>
          <a:xfrm>
            <a:off x="6144768" y="2048256"/>
            <a:ext cx="2212848" cy="219456"/>
          </a:xfrm>
          <a:prstGeom prst="rect">
            <a:avLst/>
          </a:prstGeom>
          <a:noFill/>
          <a:ln/>
        </p:spPr>
        <p:txBody>
          <a:bodyPr wrap="square" lIns="0" tIns="0" rIns="0" bIns="0" rtlCol="0" anchor="ctr"/>
          <a:lstStyle/>
          <a:p>
            <a:pPr marL="0" indent="0">
              <a:buNone/>
            </a:pPr>
            <a:r>
              <a:rPr lang="en-US" sz="1150" b="1" dirty="0">
                <a:solidFill>
                  <a:srgbClr val="10243A"/>
                </a:solidFill>
                <a:latin typeface="Calibri" pitchFamily="34" charset="0"/>
                <a:ea typeface="Calibri" pitchFamily="34" charset="-122"/>
                <a:cs typeface="Calibri" pitchFamily="34" charset="-120"/>
              </a:rPr>
              <a:t>If the edge is smaller</a:t>
            </a:r>
            <a:endParaRPr lang="en-US" sz="1150" dirty="0"/>
          </a:p>
        </p:txBody>
      </p:sp>
      <p:sp>
        <p:nvSpPr>
          <p:cNvPr id="25" name="scenb2_c"/>
          <p:cNvSpPr/>
          <p:nvPr/>
        </p:nvSpPr>
        <p:spPr>
          <a:xfrm>
            <a:off x="6144768" y="2286000"/>
            <a:ext cx="2212848" cy="475488"/>
          </a:xfrm>
          <a:prstGeom prst="rect">
            <a:avLst/>
          </a:prstGeom>
          <a:noFill/>
          <a:ln/>
        </p:spPr>
        <p:txBody>
          <a:bodyPr wrap="square" lIns="0" tIns="0" rIns="0" bIns="0" rtlCol="0" anchor="t"/>
          <a:lstStyle/>
          <a:p>
            <a:pPr marL="0" indent="0">
              <a:lnSpc>
                <a:spcPts val="1100"/>
              </a:lnSpc>
              <a:buNone/>
            </a:pPr>
            <a:r>
              <a:rPr lang="en-US" sz="850" dirty="0">
                <a:solidFill>
                  <a:srgbClr val="55697C"/>
                </a:solidFill>
                <a:latin typeface="Calibri" pitchFamily="34" charset="0"/>
                <a:ea typeface="Calibri" pitchFamily="34" charset="-122"/>
                <a:cs typeface="Calibri" pitchFamily="34" charset="-120"/>
              </a:rPr>
              <a:t>Assume the uplift is only 1.5× not 2.6×, and that one score in five is wrong. Does the decision still hold?</a:t>
            </a:r>
            <a:endParaRPr lang="en-US" sz="850" dirty="0"/>
          </a:p>
        </p:txBody>
      </p:sp>
      <p:sp>
        <p:nvSpPr>
          <p:cNvPr id="26" name="scene_c"/>
          <p:cNvSpPr/>
          <p:nvPr/>
        </p:nvSpPr>
        <p:spPr>
          <a:xfrm>
            <a:off x="6144768" y="2761488"/>
            <a:ext cx="2212848" cy="164592"/>
          </a:xfrm>
          <a:prstGeom prst="rect">
            <a:avLst/>
          </a:prstGeom>
          <a:noFill/>
          <a:ln/>
        </p:spPr>
        <p:txBody>
          <a:bodyPr wrap="square" lIns="0" tIns="0" rIns="0" bIns="0" rtlCol="0" anchor="ctr"/>
          <a:lstStyle/>
          <a:p>
            <a:pPr marL="0" indent="0">
              <a:buNone/>
            </a:pPr>
            <a:r>
              <a:rPr lang="en-US" sz="750" b="1" dirty="0">
                <a:solidFill>
                  <a:srgbClr val="C77A0A"/>
                </a:solidFill>
                <a:latin typeface="Calibri" pitchFamily="34" charset="0"/>
                <a:ea typeface="Calibri" pitchFamily="34" charset="-122"/>
                <a:cs typeface="Calibri" pitchFamily="34" charset="-120"/>
              </a:rPr>
              <a:t>Tests: how fragile is the case?</a:t>
            </a:r>
            <a:endParaRPr lang="en-US" sz="750" dirty="0"/>
          </a:p>
        </p:txBody>
      </p:sp>
      <p:sp>
        <p:nvSpPr>
          <p:cNvPr id="27" name="pan_in"/>
          <p:cNvSpPr/>
          <p:nvPr/>
        </p:nvSpPr>
        <p:spPr>
          <a:xfrm>
            <a:off x="640080" y="3090672"/>
            <a:ext cx="3858768" cy="1024128"/>
          </a:xfrm>
          <a:prstGeom prst="roundRect">
            <a:avLst>
              <a:gd name="adj" fmla="val 6250"/>
            </a:avLst>
          </a:prstGeom>
          <a:solidFill>
            <a:srgbClr val="F3F7FB"/>
          </a:solidFill>
          <a:ln w="9525">
            <a:solidFill>
              <a:srgbClr val="E3E9EF"/>
            </a:solidFill>
            <a:prstDash val="solid"/>
          </a:ln>
        </p:spPr>
        <p:txBody>
          <a:bodyPr/>
          <a:lstStyle/>
          <a:p>
            <a:endParaRPr lang="en-US"/>
          </a:p>
        </p:txBody>
      </p:sp>
      <p:sp>
        <p:nvSpPr>
          <p:cNvPr id="28" name="panic_in"/>
          <p:cNvSpPr/>
          <p:nvPr/>
        </p:nvSpPr>
        <p:spPr>
          <a:xfrm>
            <a:off x="786384" y="3182112"/>
            <a:ext cx="237744" cy="237744"/>
          </a:xfrm>
          <a:prstGeom prst="roundRect">
            <a:avLst>
              <a:gd name="adj" fmla="val 19231"/>
            </a:avLst>
          </a:prstGeom>
          <a:solidFill>
            <a:srgbClr val="E8F1FC"/>
          </a:solidFill>
          <a:ln w="8890">
            <a:solidFill>
              <a:srgbClr val="C9DFF6"/>
            </a:solidFill>
            <a:prstDash val="solid"/>
          </a:ln>
        </p:spPr>
        <p:txBody>
          <a:bodyPr/>
          <a:lstStyle/>
          <a:p>
            <a:endParaRPr lang="en-US"/>
          </a:p>
        </p:txBody>
      </p:sp>
      <p:pic>
        <p:nvPicPr>
          <p:cNvPr id="29" name="Image 0" descr="preencoded.png"/>
          <p:cNvPicPr>
            <a:picLocks noChangeAspect="1"/>
          </p:cNvPicPr>
          <p:nvPr/>
        </p:nvPicPr>
        <p:blipFill>
          <a:blip r:embed="rId3"/>
          <a:stretch>
            <a:fillRect/>
          </a:stretch>
        </p:blipFill>
        <p:spPr>
          <a:xfrm>
            <a:off x="845820" y="3241548"/>
            <a:ext cx="118872" cy="118872"/>
          </a:xfrm>
          <a:prstGeom prst="rect">
            <a:avLst/>
          </a:prstGeom>
        </p:spPr>
      </p:pic>
      <p:sp>
        <p:nvSpPr>
          <p:cNvPr id="30" name="pant_in"/>
          <p:cNvSpPr/>
          <p:nvPr/>
        </p:nvSpPr>
        <p:spPr>
          <a:xfrm>
            <a:off x="1097280" y="3182112"/>
            <a:ext cx="3255264" cy="237744"/>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What goes in — inputs &amp; assumptions</a:t>
            </a:r>
            <a:endParaRPr lang="en-US" sz="950" dirty="0"/>
          </a:p>
        </p:txBody>
      </p:sp>
      <p:sp>
        <p:nvSpPr>
          <p:cNvPr id="31" name="pand_in_0"/>
          <p:cNvSpPr/>
          <p:nvPr/>
        </p:nvSpPr>
        <p:spPr>
          <a:xfrm>
            <a:off x="822960" y="3493008"/>
            <a:ext cx="50292" cy="50292"/>
          </a:xfrm>
          <a:prstGeom prst="roundRect">
            <a:avLst>
              <a:gd name="adj" fmla="val 27273"/>
            </a:avLst>
          </a:prstGeom>
          <a:solidFill>
            <a:srgbClr val="0B63CE"/>
          </a:solidFill>
          <a:ln w="12700">
            <a:solidFill>
              <a:srgbClr val="0B63CE"/>
            </a:solidFill>
            <a:prstDash val="solid"/>
          </a:ln>
        </p:spPr>
        <p:txBody>
          <a:bodyPr/>
          <a:lstStyle/>
          <a:p>
            <a:endParaRPr lang="en-US"/>
          </a:p>
        </p:txBody>
      </p:sp>
      <p:sp>
        <p:nvSpPr>
          <p:cNvPr id="32" name="pani_in_0"/>
          <p:cNvSpPr/>
          <p:nvPr/>
        </p:nvSpPr>
        <p:spPr>
          <a:xfrm>
            <a:off x="950976" y="3438144"/>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20 real variants, scored from the 210,000-row dataset</a:t>
            </a:r>
            <a:endParaRPr lang="en-US" sz="780" dirty="0"/>
          </a:p>
        </p:txBody>
      </p:sp>
      <p:sp>
        <p:nvSpPr>
          <p:cNvPr id="33" name="pand_in_1"/>
          <p:cNvSpPr/>
          <p:nvPr/>
        </p:nvSpPr>
        <p:spPr>
          <a:xfrm>
            <a:off x="822960" y="3616452"/>
            <a:ext cx="50292" cy="50292"/>
          </a:xfrm>
          <a:prstGeom prst="roundRect">
            <a:avLst>
              <a:gd name="adj" fmla="val 27273"/>
            </a:avLst>
          </a:prstGeom>
          <a:solidFill>
            <a:srgbClr val="0B63CE"/>
          </a:solidFill>
          <a:ln w="12700">
            <a:solidFill>
              <a:srgbClr val="0B63CE"/>
            </a:solidFill>
            <a:prstDash val="solid"/>
          </a:ln>
        </p:spPr>
        <p:txBody>
          <a:bodyPr/>
          <a:lstStyle/>
          <a:p>
            <a:endParaRPr lang="en-US"/>
          </a:p>
        </p:txBody>
      </p:sp>
      <p:sp>
        <p:nvSpPr>
          <p:cNvPr id="34" name="pani_in_1"/>
          <p:cNvSpPr/>
          <p:nvPr/>
        </p:nvSpPr>
        <p:spPr>
          <a:xfrm>
            <a:off x="950976" y="3561588"/>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Fixed budget: $1bn per cycle — funds 6 programmes</a:t>
            </a:r>
            <a:endParaRPr lang="en-US" sz="780" dirty="0"/>
          </a:p>
        </p:txBody>
      </p:sp>
      <p:sp>
        <p:nvSpPr>
          <p:cNvPr id="35" name="pand_in_2"/>
          <p:cNvSpPr/>
          <p:nvPr/>
        </p:nvSpPr>
        <p:spPr>
          <a:xfrm>
            <a:off x="822960" y="3739896"/>
            <a:ext cx="50292" cy="50292"/>
          </a:xfrm>
          <a:prstGeom prst="roundRect">
            <a:avLst>
              <a:gd name="adj" fmla="val 27273"/>
            </a:avLst>
          </a:prstGeom>
          <a:solidFill>
            <a:srgbClr val="0B63CE"/>
          </a:solidFill>
          <a:ln w="12700">
            <a:solidFill>
              <a:srgbClr val="0B63CE"/>
            </a:solidFill>
            <a:prstDash val="solid"/>
          </a:ln>
        </p:spPr>
        <p:txBody>
          <a:bodyPr/>
          <a:lstStyle/>
          <a:p>
            <a:endParaRPr lang="en-US"/>
          </a:p>
        </p:txBody>
      </p:sp>
      <p:sp>
        <p:nvSpPr>
          <p:cNvPr id="36" name="pani_in_2"/>
          <p:cNvSpPr/>
          <p:nvPr/>
        </p:nvSpPr>
        <p:spPr>
          <a:xfrm>
            <a:off x="950976" y="3685032"/>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Cost per programme: $55m preclinical + $150m clinical</a:t>
            </a:r>
            <a:endParaRPr lang="en-US" sz="780" dirty="0"/>
          </a:p>
        </p:txBody>
      </p:sp>
      <p:sp>
        <p:nvSpPr>
          <p:cNvPr id="37" name="pand_in_3"/>
          <p:cNvSpPr/>
          <p:nvPr/>
        </p:nvSpPr>
        <p:spPr>
          <a:xfrm>
            <a:off x="822960" y="3863340"/>
            <a:ext cx="50292" cy="50292"/>
          </a:xfrm>
          <a:prstGeom prst="roundRect">
            <a:avLst>
              <a:gd name="adj" fmla="val 27273"/>
            </a:avLst>
          </a:prstGeom>
          <a:solidFill>
            <a:srgbClr val="0B63CE"/>
          </a:solidFill>
          <a:ln w="12700">
            <a:solidFill>
              <a:srgbClr val="0B63CE"/>
            </a:solidFill>
            <a:prstDash val="solid"/>
          </a:ln>
        </p:spPr>
        <p:txBody>
          <a:bodyPr/>
          <a:lstStyle/>
          <a:p>
            <a:endParaRPr lang="en-US"/>
          </a:p>
        </p:txBody>
      </p:sp>
      <p:sp>
        <p:nvSpPr>
          <p:cNvPr id="38" name="pani_in_3"/>
          <p:cNvSpPr/>
          <p:nvPr/>
        </p:nvSpPr>
        <p:spPr>
          <a:xfrm>
            <a:off x="950976" y="3808476"/>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Success 6% unsupported; ×2.6 if genetically supported</a:t>
            </a:r>
            <a:endParaRPr lang="en-US" sz="780" dirty="0"/>
          </a:p>
        </p:txBody>
      </p:sp>
      <p:sp>
        <p:nvSpPr>
          <p:cNvPr id="39" name="pand_in_4"/>
          <p:cNvSpPr/>
          <p:nvPr/>
        </p:nvSpPr>
        <p:spPr>
          <a:xfrm>
            <a:off x="822960" y="3986784"/>
            <a:ext cx="50292" cy="50292"/>
          </a:xfrm>
          <a:prstGeom prst="roundRect">
            <a:avLst>
              <a:gd name="adj" fmla="val 27273"/>
            </a:avLst>
          </a:prstGeom>
          <a:solidFill>
            <a:srgbClr val="0B63CE"/>
          </a:solidFill>
          <a:ln w="12700">
            <a:solidFill>
              <a:srgbClr val="0B63CE"/>
            </a:solidFill>
            <a:prstDash val="solid"/>
          </a:ln>
        </p:spPr>
        <p:txBody>
          <a:bodyPr/>
          <a:lstStyle/>
          <a:p>
            <a:endParaRPr lang="en-US"/>
          </a:p>
        </p:txBody>
      </p:sp>
      <p:sp>
        <p:nvSpPr>
          <p:cNvPr id="40" name="pani_in_4"/>
          <p:cNvSpPr/>
          <p:nvPr/>
        </p:nvSpPr>
        <p:spPr>
          <a:xfrm>
            <a:off x="950976" y="3931920"/>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10,000 Monte Carlo runs in Python (NumPy)</a:t>
            </a:r>
            <a:endParaRPr lang="en-US" sz="780" dirty="0"/>
          </a:p>
        </p:txBody>
      </p:sp>
      <p:sp>
        <p:nvSpPr>
          <p:cNvPr id="41" name="pan_out"/>
          <p:cNvSpPr/>
          <p:nvPr/>
        </p:nvSpPr>
        <p:spPr>
          <a:xfrm>
            <a:off x="4645152" y="3090672"/>
            <a:ext cx="3858768" cy="1024128"/>
          </a:xfrm>
          <a:prstGeom prst="roundRect">
            <a:avLst>
              <a:gd name="adj" fmla="val 6250"/>
            </a:avLst>
          </a:prstGeom>
          <a:solidFill>
            <a:srgbClr val="F3F7FB"/>
          </a:solidFill>
          <a:ln w="9525">
            <a:solidFill>
              <a:srgbClr val="E3E9EF"/>
            </a:solidFill>
            <a:prstDash val="solid"/>
          </a:ln>
        </p:spPr>
        <p:txBody>
          <a:bodyPr/>
          <a:lstStyle/>
          <a:p>
            <a:endParaRPr lang="en-US"/>
          </a:p>
        </p:txBody>
      </p:sp>
      <p:sp>
        <p:nvSpPr>
          <p:cNvPr id="42" name="panic_out"/>
          <p:cNvSpPr/>
          <p:nvPr/>
        </p:nvSpPr>
        <p:spPr>
          <a:xfrm>
            <a:off x="4791456" y="3182112"/>
            <a:ext cx="237744" cy="237744"/>
          </a:xfrm>
          <a:prstGeom prst="roundRect">
            <a:avLst>
              <a:gd name="adj" fmla="val 19231"/>
            </a:avLst>
          </a:prstGeom>
          <a:solidFill>
            <a:srgbClr val="E0F4F2"/>
          </a:solidFill>
          <a:ln w="8890">
            <a:solidFill>
              <a:srgbClr val="A9E0DA"/>
            </a:solidFill>
            <a:prstDash val="solid"/>
          </a:ln>
        </p:spPr>
        <p:txBody>
          <a:bodyPr/>
          <a:lstStyle/>
          <a:p>
            <a:endParaRPr lang="en-US"/>
          </a:p>
        </p:txBody>
      </p:sp>
      <p:pic>
        <p:nvPicPr>
          <p:cNvPr id="43" name="Image 1" descr="preencoded.png"/>
          <p:cNvPicPr>
            <a:picLocks noChangeAspect="1"/>
          </p:cNvPicPr>
          <p:nvPr/>
        </p:nvPicPr>
        <p:blipFill>
          <a:blip r:embed="rId4"/>
          <a:stretch>
            <a:fillRect/>
          </a:stretch>
        </p:blipFill>
        <p:spPr>
          <a:xfrm>
            <a:off x="4850892" y="3241548"/>
            <a:ext cx="118872" cy="118872"/>
          </a:xfrm>
          <a:prstGeom prst="rect">
            <a:avLst/>
          </a:prstGeom>
        </p:spPr>
      </p:pic>
      <p:sp>
        <p:nvSpPr>
          <p:cNvPr id="44" name="pant_out"/>
          <p:cNvSpPr/>
          <p:nvPr/>
        </p:nvSpPr>
        <p:spPr>
          <a:xfrm>
            <a:off x="5102352" y="3182112"/>
            <a:ext cx="3255264" cy="237744"/>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What comes out — what we measure</a:t>
            </a:r>
            <a:endParaRPr lang="en-US" sz="950" dirty="0"/>
          </a:p>
        </p:txBody>
      </p:sp>
      <p:sp>
        <p:nvSpPr>
          <p:cNvPr id="45" name="pand_out_0"/>
          <p:cNvSpPr/>
          <p:nvPr/>
        </p:nvSpPr>
        <p:spPr>
          <a:xfrm>
            <a:off x="4828032" y="3493008"/>
            <a:ext cx="50292" cy="50292"/>
          </a:xfrm>
          <a:prstGeom prst="roundRect">
            <a:avLst>
              <a:gd name="adj" fmla="val 27273"/>
            </a:avLst>
          </a:prstGeom>
          <a:solidFill>
            <a:srgbClr val="0C8C83"/>
          </a:solidFill>
          <a:ln w="12700">
            <a:solidFill>
              <a:srgbClr val="0C8C83"/>
            </a:solidFill>
            <a:prstDash val="solid"/>
          </a:ln>
        </p:spPr>
        <p:txBody>
          <a:bodyPr/>
          <a:lstStyle/>
          <a:p>
            <a:endParaRPr lang="en-US"/>
          </a:p>
        </p:txBody>
      </p:sp>
      <p:sp>
        <p:nvSpPr>
          <p:cNvPr id="46" name="pani_out_0"/>
          <p:cNvSpPr/>
          <p:nvPr/>
        </p:nvSpPr>
        <p:spPr>
          <a:xfrm>
            <a:off x="4956048" y="3438144"/>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Approved medicines per $1bn — the whole distribution</a:t>
            </a:r>
            <a:endParaRPr lang="en-US" sz="780" dirty="0"/>
          </a:p>
        </p:txBody>
      </p:sp>
      <p:sp>
        <p:nvSpPr>
          <p:cNvPr id="47" name="pand_out_1"/>
          <p:cNvSpPr/>
          <p:nvPr/>
        </p:nvSpPr>
        <p:spPr>
          <a:xfrm>
            <a:off x="4828032" y="3616452"/>
            <a:ext cx="50292" cy="50292"/>
          </a:xfrm>
          <a:prstGeom prst="roundRect">
            <a:avLst>
              <a:gd name="adj" fmla="val 27273"/>
            </a:avLst>
          </a:prstGeom>
          <a:solidFill>
            <a:srgbClr val="0C8C83"/>
          </a:solidFill>
          <a:ln w="12700">
            <a:solidFill>
              <a:srgbClr val="0C8C83"/>
            </a:solidFill>
            <a:prstDash val="solid"/>
          </a:ln>
        </p:spPr>
        <p:txBody>
          <a:bodyPr/>
          <a:lstStyle/>
          <a:p>
            <a:endParaRPr lang="en-US"/>
          </a:p>
        </p:txBody>
      </p:sp>
      <p:sp>
        <p:nvSpPr>
          <p:cNvPr id="48" name="pani_out_1"/>
          <p:cNvSpPr/>
          <p:nvPr/>
        </p:nvSpPr>
        <p:spPr>
          <a:xfrm>
            <a:off x="4956048" y="3561588"/>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Cost per approved medicine, vs the published $2.6bn</a:t>
            </a:r>
            <a:endParaRPr lang="en-US" sz="780" dirty="0"/>
          </a:p>
        </p:txBody>
      </p:sp>
      <p:sp>
        <p:nvSpPr>
          <p:cNvPr id="49" name="pand_out_2"/>
          <p:cNvSpPr/>
          <p:nvPr/>
        </p:nvSpPr>
        <p:spPr>
          <a:xfrm>
            <a:off x="4828032" y="3739896"/>
            <a:ext cx="50292" cy="50292"/>
          </a:xfrm>
          <a:prstGeom prst="roundRect">
            <a:avLst>
              <a:gd name="adj" fmla="val 27273"/>
            </a:avLst>
          </a:prstGeom>
          <a:solidFill>
            <a:srgbClr val="0C8C83"/>
          </a:solidFill>
          <a:ln w="12700">
            <a:solidFill>
              <a:srgbClr val="0C8C83"/>
            </a:solidFill>
            <a:prstDash val="solid"/>
          </a:ln>
        </p:spPr>
        <p:txBody>
          <a:bodyPr/>
          <a:lstStyle/>
          <a:p>
            <a:endParaRPr lang="en-US"/>
          </a:p>
        </p:txBody>
      </p:sp>
      <p:sp>
        <p:nvSpPr>
          <p:cNvPr id="50" name="pani_out_2"/>
          <p:cNvSpPr/>
          <p:nvPr/>
        </p:nvSpPr>
        <p:spPr>
          <a:xfrm>
            <a:off x="4956048" y="3685032"/>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Expected portfolio value and value at risk</a:t>
            </a:r>
            <a:endParaRPr lang="en-US" sz="780" dirty="0"/>
          </a:p>
        </p:txBody>
      </p:sp>
      <p:sp>
        <p:nvSpPr>
          <p:cNvPr id="51" name="pand_out_3"/>
          <p:cNvSpPr/>
          <p:nvPr/>
        </p:nvSpPr>
        <p:spPr>
          <a:xfrm>
            <a:off x="4828032" y="3863340"/>
            <a:ext cx="50292" cy="50292"/>
          </a:xfrm>
          <a:prstGeom prst="roundRect">
            <a:avLst>
              <a:gd name="adj" fmla="val 27273"/>
            </a:avLst>
          </a:prstGeom>
          <a:solidFill>
            <a:srgbClr val="0C8C83"/>
          </a:solidFill>
          <a:ln w="12700">
            <a:solidFill>
              <a:srgbClr val="0C8C83"/>
            </a:solidFill>
            <a:prstDash val="solid"/>
          </a:ln>
        </p:spPr>
        <p:txBody>
          <a:bodyPr/>
          <a:lstStyle/>
          <a:p>
            <a:endParaRPr lang="en-US"/>
          </a:p>
        </p:txBody>
      </p:sp>
      <p:sp>
        <p:nvSpPr>
          <p:cNvPr id="52" name="pani_out_3"/>
          <p:cNvSpPr/>
          <p:nvPr/>
        </p:nvSpPr>
        <p:spPr>
          <a:xfrm>
            <a:off x="4956048" y="3808476"/>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How many supported targets each rule actually funds</a:t>
            </a:r>
            <a:endParaRPr lang="en-US" sz="780" dirty="0"/>
          </a:p>
        </p:txBody>
      </p:sp>
      <p:sp>
        <p:nvSpPr>
          <p:cNvPr id="53" name="pand_out_4"/>
          <p:cNvSpPr/>
          <p:nvPr/>
        </p:nvSpPr>
        <p:spPr>
          <a:xfrm>
            <a:off x="4828032" y="3986784"/>
            <a:ext cx="50292" cy="50292"/>
          </a:xfrm>
          <a:prstGeom prst="roundRect">
            <a:avLst>
              <a:gd name="adj" fmla="val 27273"/>
            </a:avLst>
          </a:prstGeom>
          <a:solidFill>
            <a:srgbClr val="0C8C83"/>
          </a:solidFill>
          <a:ln w="12700">
            <a:solidFill>
              <a:srgbClr val="0C8C83"/>
            </a:solidFill>
            <a:prstDash val="solid"/>
          </a:ln>
        </p:spPr>
        <p:txBody>
          <a:bodyPr/>
          <a:lstStyle/>
          <a:p>
            <a:endParaRPr lang="en-US"/>
          </a:p>
        </p:txBody>
      </p:sp>
      <p:sp>
        <p:nvSpPr>
          <p:cNvPr id="54" name="pani_out_4"/>
          <p:cNvSpPr/>
          <p:nvPr/>
        </p:nvSpPr>
        <p:spPr>
          <a:xfrm>
            <a:off x="4956048" y="3931920"/>
            <a:ext cx="3401568" cy="146304"/>
          </a:xfrm>
          <a:prstGeom prst="rect">
            <a:avLst/>
          </a:prstGeom>
          <a:noFill/>
          <a:ln/>
        </p:spPr>
        <p:txBody>
          <a:bodyPr wrap="square" lIns="0" tIns="0" rIns="0" bIns="0" rtlCol="0" anchor="ctr"/>
          <a:lstStyle/>
          <a:p>
            <a:pPr marL="0" indent="0">
              <a:buNone/>
            </a:pPr>
            <a:r>
              <a:rPr lang="en-US" sz="780" dirty="0">
                <a:solidFill>
                  <a:srgbClr val="55697C"/>
                </a:solidFill>
                <a:latin typeface="Calibri" pitchFamily="34" charset="0"/>
                <a:ea typeface="Calibri" pitchFamily="34" charset="-122"/>
                <a:cs typeface="Calibri" pitchFamily="34" charset="-120"/>
              </a:rPr>
              <a:t>How much advantage survives if we are wrong</a:t>
            </a:r>
            <a:endParaRPr lang="en-US" sz="780" dirty="0"/>
          </a:p>
        </p:txBody>
      </p:sp>
      <p:sp>
        <p:nvSpPr>
          <p:cNvPr id="55" name="wk_0"/>
          <p:cNvSpPr/>
          <p:nvPr/>
        </p:nvSpPr>
        <p:spPr>
          <a:xfrm>
            <a:off x="640080" y="4206240"/>
            <a:ext cx="2505456" cy="420624"/>
          </a:xfrm>
          <a:prstGeom prst="roundRect">
            <a:avLst>
              <a:gd name="adj" fmla="val 13043"/>
            </a:avLst>
          </a:prstGeom>
          <a:solidFill>
            <a:srgbClr val="E8F1FC"/>
          </a:solidFill>
          <a:ln w="9525">
            <a:solidFill>
              <a:srgbClr val="C9DFF6"/>
            </a:solidFill>
            <a:prstDash val="solid"/>
          </a:ln>
        </p:spPr>
        <p:txBody>
          <a:bodyPr/>
          <a:lstStyle/>
          <a:p>
            <a:endParaRPr lang="en-US"/>
          </a:p>
        </p:txBody>
      </p:sp>
      <p:sp>
        <p:nvSpPr>
          <p:cNvPr id="56" name="wkl_0"/>
          <p:cNvSpPr/>
          <p:nvPr/>
        </p:nvSpPr>
        <p:spPr>
          <a:xfrm>
            <a:off x="768096" y="4242816"/>
            <a:ext cx="566928" cy="347472"/>
          </a:xfrm>
          <a:prstGeom prst="rect">
            <a:avLst/>
          </a:prstGeom>
          <a:noFill/>
          <a:ln/>
        </p:spPr>
        <p:txBody>
          <a:bodyPr wrap="square" lIns="0" tIns="0" rIns="0" bIns="0" rtlCol="0" anchor="ctr"/>
          <a:lstStyle/>
          <a:p>
            <a:pPr marL="0" indent="0">
              <a:buNone/>
            </a:pPr>
            <a:r>
              <a:rPr lang="en-US" sz="800" b="1" kern="0" spc="110" dirty="0">
                <a:solidFill>
                  <a:srgbClr val="0B63CE"/>
                </a:solidFill>
                <a:latin typeface="Calibri" pitchFamily="34" charset="0"/>
                <a:ea typeface="Calibri" pitchFamily="34" charset="-122"/>
                <a:cs typeface="Calibri" pitchFamily="34" charset="-120"/>
              </a:rPr>
              <a:t>WEEK 5</a:t>
            </a:r>
            <a:endParaRPr lang="en-US" sz="800" dirty="0"/>
          </a:p>
        </p:txBody>
      </p:sp>
      <p:sp>
        <p:nvSpPr>
          <p:cNvPr id="57" name="wkd_0"/>
          <p:cNvSpPr/>
          <p:nvPr/>
        </p:nvSpPr>
        <p:spPr>
          <a:xfrm>
            <a:off x="1371600" y="4224528"/>
            <a:ext cx="1645920" cy="384048"/>
          </a:xfrm>
          <a:prstGeom prst="rect">
            <a:avLst/>
          </a:prstGeom>
          <a:noFill/>
          <a:ln/>
        </p:spPr>
        <p:txBody>
          <a:bodyPr wrap="square" lIns="0" tIns="0" rIns="0" bIns="0" rtlCol="0" anchor="ctr"/>
          <a:lstStyle/>
          <a:p>
            <a:pPr marL="0" indent="0">
              <a:lnSpc>
                <a:spcPts val="950"/>
              </a:lnSpc>
              <a:buNone/>
            </a:pPr>
            <a:r>
              <a:rPr lang="en-US" sz="750" dirty="0">
                <a:solidFill>
                  <a:srgbClr val="55697C"/>
                </a:solidFill>
                <a:latin typeface="Calibri" pitchFamily="34" charset="0"/>
                <a:ea typeface="Calibri" pitchFamily="34" charset="-122"/>
                <a:cs typeface="Calibri" pitchFamily="34" charset="-120"/>
              </a:rPr>
              <a:t>Build the model, load the target data, validate the assumptions</a:t>
            </a:r>
            <a:endParaRPr lang="en-US" sz="750" dirty="0"/>
          </a:p>
        </p:txBody>
      </p:sp>
      <p:sp>
        <p:nvSpPr>
          <p:cNvPr id="58" name="wk_1"/>
          <p:cNvSpPr/>
          <p:nvPr/>
        </p:nvSpPr>
        <p:spPr>
          <a:xfrm>
            <a:off x="3319272" y="4206240"/>
            <a:ext cx="2505456" cy="420624"/>
          </a:xfrm>
          <a:prstGeom prst="roundRect">
            <a:avLst>
              <a:gd name="adj" fmla="val 13043"/>
            </a:avLst>
          </a:prstGeom>
          <a:solidFill>
            <a:srgbClr val="FFFFFF"/>
          </a:solidFill>
          <a:ln w="9525">
            <a:solidFill>
              <a:srgbClr val="E3E9EF"/>
            </a:solidFill>
            <a:prstDash val="solid"/>
          </a:ln>
        </p:spPr>
        <p:txBody>
          <a:bodyPr/>
          <a:lstStyle/>
          <a:p>
            <a:endParaRPr lang="en-US"/>
          </a:p>
        </p:txBody>
      </p:sp>
      <p:sp>
        <p:nvSpPr>
          <p:cNvPr id="59" name="wkl_1"/>
          <p:cNvSpPr/>
          <p:nvPr/>
        </p:nvSpPr>
        <p:spPr>
          <a:xfrm>
            <a:off x="3447288" y="4242816"/>
            <a:ext cx="566928" cy="347472"/>
          </a:xfrm>
          <a:prstGeom prst="rect">
            <a:avLst/>
          </a:prstGeom>
          <a:noFill/>
          <a:ln/>
        </p:spPr>
        <p:txBody>
          <a:bodyPr wrap="square" lIns="0" tIns="0" rIns="0" bIns="0" rtlCol="0" anchor="ctr"/>
          <a:lstStyle/>
          <a:p>
            <a:pPr marL="0" indent="0">
              <a:buNone/>
            </a:pPr>
            <a:r>
              <a:rPr lang="en-US" sz="800" b="1" kern="0" spc="110" dirty="0">
                <a:solidFill>
                  <a:srgbClr val="8FA1B2"/>
                </a:solidFill>
                <a:latin typeface="Calibri" pitchFamily="34" charset="0"/>
                <a:ea typeface="Calibri" pitchFamily="34" charset="-122"/>
                <a:cs typeface="Calibri" pitchFamily="34" charset="-120"/>
              </a:rPr>
              <a:t>WEEK 6</a:t>
            </a:r>
            <a:endParaRPr lang="en-US" sz="800" dirty="0"/>
          </a:p>
        </p:txBody>
      </p:sp>
      <p:sp>
        <p:nvSpPr>
          <p:cNvPr id="60" name="wkd_1"/>
          <p:cNvSpPr/>
          <p:nvPr/>
        </p:nvSpPr>
        <p:spPr>
          <a:xfrm>
            <a:off x="4050792" y="4224528"/>
            <a:ext cx="1645920" cy="384048"/>
          </a:xfrm>
          <a:prstGeom prst="rect">
            <a:avLst/>
          </a:prstGeom>
          <a:noFill/>
          <a:ln/>
        </p:spPr>
        <p:txBody>
          <a:bodyPr wrap="square" lIns="0" tIns="0" rIns="0" bIns="0" rtlCol="0" anchor="ctr"/>
          <a:lstStyle/>
          <a:p>
            <a:pPr marL="0" indent="0">
              <a:lnSpc>
                <a:spcPts val="950"/>
              </a:lnSpc>
              <a:buNone/>
            </a:pPr>
            <a:r>
              <a:rPr lang="en-US" sz="750" dirty="0">
                <a:solidFill>
                  <a:srgbClr val="55697C"/>
                </a:solidFill>
                <a:latin typeface="Calibri" pitchFamily="34" charset="0"/>
                <a:ea typeface="Calibri" pitchFamily="34" charset="-122"/>
                <a:cs typeface="Calibri" pitchFamily="34" charset="-120"/>
              </a:rPr>
              <a:t>Run scenarios A, B and C — 10,000 iterations each</a:t>
            </a:r>
            <a:endParaRPr lang="en-US" sz="750" dirty="0"/>
          </a:p>
        </p:txBody>
      </p:sp>
      <p:sp>
        <p:nvSpPr>
          <p:cNvPr id="61" name="wk_2"/>
          <p:cNvSpPr/>
          <p:nvPr/>
        </p:nvSpPr>
        <p:spPr>
          <a:xfrm>
            <a:off x="5998464" y="4206240"/>
            <a:ext cx="2505456" cy="420624"/>
          </a:xfrm>
          <a:prstGeom prst="roundRect">
            <a:avLst>
              <a:gd name="adj" fmla="val 13043"/>
            </a:avLst>
          </a:prstGeom>
          <a:solidFill>
            <a:srgbClr val="FFFFFF"/>
          </a:solidFill>
          <a:ln w="9525">
            <a:solidFill>
              <a:srgbClr val="E3E9EF"/>
            </a:solidFill>
            <a:prstDash val="solid"/>
          </a:ln>
        </p:spPr>
        <p:txBody>
          <a:bodyPr/>
          <a:lstStyle/>
          <a:p>
            <a:endParaRPr lang="en-US"/>
          </a:p>
        </p:txBody>
      </p:sp>
      <p:sp>
        <p:nvSpPr>
          <p:cNvPr id="62" name="wkl_2"/>
          <p:cNvSpPr/>
          <p:nvPr/>
        </p:nvSpPr>
        <p:spPr>
          <a:xfrm>
            <a:off x="6126480" y="4242816"/>
            <a:ext cx="566928" cy="347472"/>
          </a:xfrm>
          <a:prstGeom prst="rect">
            <a:avLst/>
          </a:prstGeom>
          <a:noFill/>
          <a:ln/>
        </p:spPr>
        <p:txBody>
          <a:bodyPr wrap="square" lIns="0" tIns="0" rIns="0" bIns="0" rtlCol="0" anchor="ctr"/>
          <a:lstStyle/>
          <a:p>
            <a:pPr marL="0" indent="0">
              <a:buNone/>
            </a:pPr>
            <a:r>
              <a:rPr lang="en-US" sz="800" b="1" kern="0" spc="110" dirty="0">
                <a:solidFill>
                  <a:srgbClr val="8FA1B2"/>
                </a:solidFill>
                <a:latin typeface="Calibri" pitchFamily="34" charset="0"/>
                <a:ea typeface="Calibri" pitchFamily="34" charset="-122"/>
                <a:cs typeface="Calibri" pitchFamily="34" charset="-120"/>
              </a:rPr>
              <a:t>WEEK 7</a:t>
            </a:r>
            <a:endParaRPr lang="en-US" sz="800" dirty="0"/>
          </a:p>
        </p:txBody>
      </p:sp>
      <p:sp>
        <p:nvSpPr>
          <p:cNvPr id="63" name="wkd_2"/>
          <p:cNvSpPr/>
          <p:nvPr/>
        </p:nvSpPr>
        <p:spPr>
          <a:xfrm>
            <a:off x="6729984" y="4224528"/>
            <a:ext cx="1645920" cy="384048"/>
          </a:xfrm>
          <a:prstGeom prst="rect">
            <a:avLst/>
          </a:prstGeom>
          <a:noFill/>
          <a:ln/>
        </p:spPr>
        <p:txBody>
          <a:bodyPr wrap="square" lIns="0" tIns="0" rIns="0" bIns="0" rtlCol="0" anchor="ctr"/>
          <a:lstStyle/>
          <a:p>
            <a:pPr marL="0" indent="0">
              <a:lnSpc>
                <a:spcPts val="950"/>
              </a:lnSpc>
              <a:buNone/>
            </a:pPr>
            <a:r>
              <a:rPr lang="en-US" sz="750" dirty="0">
                <a:solidFill>
                  <a:srgbClr val="55697C"/>
                </a:solidFill>
                <a:latin typeface="Calibri" pitchFamily="34" charset="0"/>
                <a:ea typeface="Calibri" pitchFamily="34" charset="-122"/>
                <a:cs typeface="Calibri" pitchFamily="34" charset="-120"/>
              </a:rPr>
              <a:t>Sensitivity analysis, then the recommendation to the board</a:t>
            </a:r>
            <a:endParaRPr lang="en-US" sz="750" dirty="0"/>
          </a:p>
        </p:txBody>
      </p:sp>
      <p:sp>
        <p:nvSpPr>
          <p:cNvPr id="64" name="Text 60"/>
          <p:cNvSpPr/>
          <p:nvPr/>
        </p:nvSpPr>
        <p:spPr>
          <a:xfrm>
            <a:off x="640080" y="4700016"/>
            <a:ext cx="7863840" cy="182880"/>
          </a:xfrm>
          <a:prstGeom prst="rect">
            <a:avLst/>
          </a:prstGeom>
          <a:noFill/>
          <a:ln/>
        </p:spPr>
        <p:txBody>
          <a:bodyPr wrap="square" lIns="0" tIns="0" rIns="0" bIns="0" rtlCol="0" anchor="ctr"/>
          <a:lstStyle/>
          <a:p>
            <a:pPr marL="0" indent="0">
              <a:buNone/>
            </a:pPr>
            <a:r>
              <a:rPr lang="en-US" sz="750" dirty="0">
                <a:solidFill>
                  <a:srgbClr val="8FA1B2"/>
                </a:solidFill>
                <a:latin typeface="Calibri" pitchFamily="34" charset="0"/>
                <a:ea typeface="Calibri" pitchFamily="34" charset="-122"/>
                <a:cs typeface="Calibri" pitchFamily="34" charset="-120"/>
              </a:rPr>
              <a:t>Built and run — slides 11 to 13 show the pipeline, a worked example and the results. Cost and probability inputs are illustrative and documented in simulation.py; the 2.6× uplift is from Minikel et al., Nature (2024).</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ppt_y</p:attrName>
                                        </p:attrNameLst>
                                      </p:cBhvr>
                                      <p:tavLst>
                                        <p:tav tm="0">
                                          <p:val>
                                            <p:strVal val="1+#ppt_h/2"/>
                                          </p:val>
                                        </p:tav>
                                        <p:tav tm="100000">
                                          <p:val>
                                            <p:strVal val="#ppt_y"/>
                                          </p:val>
                                        </p:tav>
                                      </p:tavLst>
                                    </p:anim>
                                    <p:animEffect transition="in" filter="fade">
                                      <p:cBhvr>
                                        <p:cTn id="8" dur="500"/>
                                        <p:tgtEl>
                                          <p:spTgt spid="4"/>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ppt_y</p:attrName>
                                        </p:attrNameLst>
                                      </p:cBhvr>
                                      <p:tavLst>
                                        <p:tav tm="0">
                                          <p:val>
                                            <p:strVal val="1+#ppt_h/2"/>
                                          </p:val>
                                        </p:tav>
                                        <p:tav tm="100000">
                                          <p:val>
                                            <p:strVal val="#ppt_y"/>
                                          </p:val>
                                        </p:tav>
                                      </p:tavLst>
                                    </p:anim>
                                    <p:animEffect transition="in" filter="fade">
                                      <p:cBhvr>
                                        <p:cTn id="13" dur="500"/>
                                        <p:tgtEl>
                                          <p:spTgt spid="5"/>
                                        </p:tgtEl>
                                      </p:cBhvr>
                                    </p:animEffect>
                                  </p:childTnLst>
                                </p:cTn>
                              </p:par>
                            </p:childTnLst>
                          </p:cTn>
                        </p:par>
                        <p:par>
                          <p:cTn id="14" fill="hold">
                            <p:stCondLst>
                              <p:cond delay="500"/>
                            </p:stCondLst>
                            <p:childTnLst>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ppt_y</p:attrName>
                                        </p:attrNameLst>
                                      </p:cBhvr>
                                      <p:tavLst>
                                        <p:tav tm="0">
                                          <p:val>
                                            <p:strVal val="1+#ppt_h/2"/>
                                          </p:val>
                                        </p:tav>
                                        <p:tav tm="100000">
                                          <p:val>
                                            <p:strVal val="#ppt_y"/>
                                          </p:val>
                                        </p:tav>
                                      </p:tavLst>
                                    </p:anim>
                                    <p:animEffect transition="in" filter="fade">
                                      <p:cBhvr>
                                        <p:cTn id="18" dur="500"/>
                                        <p:tgtEl>
                                          <p:spTgt spid="6"/>
                                        </p:tgtEl>
                                      </p:cBhvr>
                                    </p:animEffect>
                                  </p:childTnLst>
                                </p:cTn>
                              </p:par>
                            </p:childTnLst>
                          </p:cTn>
                        </p:par>
                        <p:par>
                          <p:cTn id="19" fill="hold">
                            <p:stCondLst>
                              <p:cond delay="500"/>
                            </p:stCondLst>
                            <p:childTnLst>
                              <p:par>
                                <p:cTn id="20" presetID="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ppt_y</p:attrName>
                                        </p:attrNameLst>
                                      </p:cBhvr>
                                      <p:tavLst>
                                        <p:tav tm="0">
                                          <p:val>
                                            <p:strVal val="1+#ppt_h/2"/>
                                          </p:val>
                                        </p:tav>
                                        <p:tav tm="100000">
                                          <p:val>
                                            <p:strVal val="#ppt_y"/>
                                          </p:val>
                                        </p:tav>
                                      </p:tavLst>
                                    </p:anim>
                                    <p:animEffect transition="in" filter="fade">
                                      <p:cBhvr>
                                        <p:cTn id="23" dur="500"/>
                                        <p:tgtEl>
                                          <p:spTgt spid="7"/>
                                        </p:tgtEl>
                                      </p:cBhvr>
                                    </p:animEffect>
                                  </p:childTnLst>
                                </p:cTn>
                              </p:par>
                            </p:childTnLst>
                          </p:cTn>
                        </p:par>
                        <p:par>
                          <p:cTn id="24" fill="hold">
                            <p:stCondLst>
                              <p:cond delay="500"/>
                            </p:stCondLst>
                            <p:childTnLst>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ppt_y</p:attrName>
                                        </p:attrNameLst>
                                      </p:cBhvr>
                                      <p:tavLst>
                                        <p:tav tm="0">
                                          <p:val>
                                            <p:strVal val="1+#ppt_h/2"/>
                                          </p:val>
                                        </p:tav>
                                        <p:tav tm="100000">
                                          <p:val>
                                            <p:strVal val="#ppt_y"/>
                                          </p:val>
                                        </p:tav>
                                      </p:tavLst>
                                    </p:anim>
                                    <p:animEffect transition="in" filter="fade">
                                      <p:cBhvr>
                                        <p:cTn id="28" dur="500"/>
                                        <p:tgtEl>
                                          <p:spTgt spid="8"/>
                                        </p:tgtEl>
                                      </p:cBhvr>
                                    </p:animEffect>
                                  </p:childTnLst>
                                </p:cTn>
                              </p:par>
                            </p:childTnLst>
                          </p:cTn>
                        </p:par>
                        <p:par>
                          <p:cTn id="29" fill="hold">
                            <p:stCondLst>
                              <p:cond delay="500"/>
                            </p:stCondLst>
                            <p:childTnLst>
                              <p:par>
                                <p:cTn id="30" presetID="2" presetClass="entr" presetSubtype="4"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ppt_y</p:attrName>
                                        </p:attrNameLst>
                                      </p:cBhvr>
                                      <p:tavLst>
                                        <p:tav tm="0">
                                          <p:val>
                                            <p:strVal val="1+#ppt_h/2"/>
                                          </p:val>
                                        </p:tav>
                                        <p:tav tm="100000">
                                          <p:val>
                                            <p:strVal val="#ppt_y"/>
                                          </p:val>
                                        </p:tav>
                                      </p:tavLst>
                                    </p:anim>
                                    <p:animEffect transition="in" filter="fade">
                                      <p:cBhvr>
                                        <p:cTn id="33" dur="500"/>
                                        <p:tgtEl>
                                          <p:spTgt spid="9"/>
                                        </p:tgtEl>
                                      </p:cBhvr>
                                    </p:animEffect>
                                  </p:childTnLst>
                                </p:cTn>
                              </p:par>
                            </p:childTnLst>
                          </p:cTn>
                        </p:par>
                        <p:par>
                          <p:cTn id="34" fill="hold">
                            <p:stCondLst>
                              <p:cond delay="500"/>
                            </p:stCondLst>
                            <p:childTnLst>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ppt_y</p:attrName>
                                        </p:attrNameLst>
                                      </p:cBhvr>
                                      <p:tavLst>
                                        <p:tav tm="0">
                                          <p:val>
                                            <p:strVal val="1+#ppt_h/2"/>
                                          </p:val>
                                        </p:tav>
                                        <p:tav tm="100000">
                                          <p:val>
                                            <p:strVal val="#ppt_y"/>
                                          </p:val>
                                        </p:tav>
                                      </p:tavLst>
                                    </p:anim>
                                    <p:animEffect transition="in" filter="fade">
                                      <p:cBhvr>
                                        <p:cTn id="38" dur="500"/>
                                        <p:tgtEl>
                                          <p:spTgt spid="10"/>
                                        </p:tgtEl>
                                      </p:cBhvr>
                                    </p:animEffect>
                                  </p:childTnLst>
                                </p:cTn>
                              </p:par>
                            </p:childTnLst>
                          </p:cTn>
                        </p:par>
                        <p:par>
                          <p:cTn id="39" fill="hold">
                            <p:stCondLst>
                              <p:cond delay="700"/>
                            </p:stCondLst>
                            <p:childTnLst>
                              <p:par>
                                <p:cTn id="40" presetID="2" presetClass="entr" presetSubtype="4"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ppt_y</p:attrName>
                                        </p:attrNameLst>
                                      </p:cBhvr>
                                      <p:tavLst>
                                        <p:tav tm="0">
                                          <p:val>
                                            <p:strVal val="1+#ppt_h/2"/>
                                          </p:val>
                                        </p:tav>
                                        <p:tav tm="100000">
                                          <p:val>
                                            <p:strVal val="#ppt_y"/>
                                          </p:val>
                                        </p:tav>
                                      </p:tavLst>
                                    </p:anim>
                                    <p:animEffect transition="in" filter="fade">
                                      <p:cBhvr>
                                        <p:cTn id="43" dur="500"/>
                                        <p:tgtEl>
                                          <p:spTgt spid="11"/>
                                        </p:tgtEl>
                                      </p:cBhvr>
                                    </p:animEffect>
                                  </p:childTnLst>
                                </p:cTn>
                              </p:par>
                            </p:childTnLst>
                          </p:cTn>
                        </p:par>
                        <p:par>
                          <p:cTn id="44" fill="hold">
                            <p:stCondLst>
                              <p:cond delay="880"/>
                            </p:stCondLst>
                            <p:childTnLst>
                              <p:par>
                                <p:cTn id="45" presetID="2" presetClass="entr" presetSubtype="8"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0-#ppt_w/2"/>
                                          </p:val>
                                        </p:tav>
                                        <p:tav tm="100000">
                                          <p:val>
                                            <p:strVal val="#ppt_x"/>
                                          </p:val>
                                        </p:tav>
                                      </p:tavLst>
                                    </p:anim>
                                    <p:animEffect transition="in" filter="fade">
                                      <p:cBhvr>
                                        <p:cTn id="48" dur="500"/>
                                        <p:tgtEl>
                                          <p:spTgt spid="12"/>
                                        </p:tgtEl>
                                      </p:cBhvr>
                                    </p:animEffect>
                                  </p:childTnLst>
                                </p:cTn>
                              </p:par>
                            </p:childTnLst>
                          </p:cTn>
                        </p:par>
                        <p:par>
                          <p:cTn id="49" fill="hold">
                            <p:stCondLst>
                              <p:cond delay="1250"/>
                            </p:stCondLst>
                            <p:childTnLst>
                              <p:par>
                                <p:cTn id="50" presetID="2" presetClass="entr" presetSubtype="4"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ppt_y</p:attrName>
                                        </p:attrNameLst>
                                      </p:cBhvr>
                                      <p:tavLst>
                                        <p:tav tm="0">
                                          <p:val>
                                            <p:strVal val="1+#ppt_h/2"/>
                                          </p:val>
                                        </p:tav>
                                        <p:tav tm="100000">
                                          <p:val>
                                            <p:strVal val="#ppt_y"/>
                                          </p:val>
                                        </p:tav>
                                      </p:tavLst>
                                    </p:anim>
                                    <p:animEffect transition="in" filter="fade">
                                      <p:cBhvr>
                                        <p:cTn id="53" dur="500"/>
                                        <p:tgtEl>
                                          <p:spTgt spid="13"/>
                                        </p:tgtEl>
                                      </p:cBhvr>
                                    </p:animEffect>
                                  </p:childTnLst>
                                </p:cTn>
                              </p:par>
                            </p:childTnLst>
                          </p:cTn>
                        </p:par>
                        <p:par>
                          <p:cTn id="54" fill="hold">
                            <p:stCondLst>
                              <p:cond delay="1250"/>
                            </p:stCondLst>
                            <p:childTnLst>
                              <p:par>
                                <p:cTn id="55" presetID="2" presetClass="entr" presetSubtype="4"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ppt_y</p:attrName>
                                        </p:attrNameLst>
                                      </p:cBhvr>
                                      <p:tavLst>
                                        <p:tav tm="0">
                                          <p:val>
                                            <p:strVal val="1+#ppt_h/2"/>
                                          </p:val>
                                        </p:tav>
                                        <p:tav tm="100000">
                                          <p:val>
                                            <p:strVal val="#ppt_y"/>
                                          </p:val>
                                        </p:tav>
                                      </p:tavLst>
                                    </p:anim>
                                    <p:animEffect transition="in" filter="fade">
                                      <p:cBhvr>
                                        <p:cTn id="58" dur="500"/>
                                        <p:tgtEl>
                                          <p:spTgt spid="14"/>
                                        </p:tgtEl>
                                      </p:cBhvr>
                                    </p:animEffect>
                                  </p:childTnLst>
                                </p:cTn>
                              </p:par>
                            </p:childTnLst>
                          </p:cTn>
                        </p:par>
                        <p:par>
                          <p:cTn id="59" fill="hold">
                            <p:stCondLst>
                              <p:cond delay="1250"/>
                            </p:stCondLst>
                            <p:childTnLst>
                              <p:par>
                                <p:cTn id="60" presetID="2" presetClass="entr" presetSubtype="4"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ppt_y</p:attrName>
                                        </p:attrNameLst>
                                      </p:cBhvr>
                                      <p:tavLst>
                                        <p:tav tm="0">
                                          <p:val>
                                            <p:strVal val="1+#ppt_h/2"/>
                                          </p:val>
                                        </p:tav>
                                        <p:tav tm="100000">
                                          <p:val>
                                            <p:strVal val="#ppt_y"/>
                                          </p:val>
                                        </p:tav>
                                      </p:tavLst>
                                    </p:anim>
                                    <p:animEffect transition="in" filter="fade">
                                      <p:cBhvr>
                                        <p:cTn id="63" dur="500"/>
                                        <p:tgtEl>
                                          <p:spTgt spid="15"/>
                                        </p:tgtEl>
                                      </p:cBhvr>
                                    </p:animEffect>
                                  </p:childTnLst>
                                </p:cTn>
                              </p:par>
                            </p:childTnLst>
                          </p:cTn>
                        </p:par>
                        <p:par>
                          <p:cTn id="64" fill="hold">
                            <p:stCondLst>
                              <p:cond delay="1250"/>
                            </p:stCondLst>
                            <p:childTnLst>
                              <p:par>
                                <p:cTn id="65" presetID="2" presetClass="entr" presetSubtype="4"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ppt_y</p:attrName>
                                        </p:attrNameLst>
                                      </p:cBhvr>
                                      <p:tavLst>
                                        <p:tav tm="0">
                                          <p:val>
                                            <p:strVal val="1+#ppt_h/2"/>
                                          </p:val>
                                        </p:tav>
                                        <p:tav tm="100000">
                                          <p:val>
                                            <p:strVal val="#ppt_y"/>
                                          </p:val>
                                        </p:tav>
                                      </p:tavLst>
                                    </p:anim>
                                    <p:animEffect transition="in" filter="fade">
                                      <p:cBhvr>
                                        <p:cTn id="68" dur="500"/>
                                        <p:tgtEl>
                                          <p:spTgt spid="16"/>
                                        </p:tgtEl>
                                      </p:cBhvr>
                                    </p:animEffect>
                                  </p:childTnLst>
                                </p:cTn>
                              </p:par>
                            </p:childTnLst>
                          </p:cTn>
                        </p:par>
                        <p:par>
                          <p:cTn id="69" fill="hold">
                            <p:stCondLst>
                              <p:cond delay="1250"/>
                            </p:stCondLst>
                            <p:childTnLst>
                              <p:par>
                                <p:cTn id="70" presetID="2" presetClass="entr" presetSubtype="4"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ppt_y</p:attrName>
                                        </p:attrNameLst>
                                      </p:cBhvr>
                                      <p:tavLst>
                                        <p:tav tm="0">
                                          <p:val>
                                            <p:strVal val="1+#ppt_h/2"/>
                                          </p:val>
                                        </p:tav>
                                        <p:tav tm="100000">
                                          <p:val>
                                            <p:strVal val="#ppt_y"/>
                                          </p:val>
                                        </p:tav>
                                      </p:tavLst>
                                    </p:anim>
                                    <p:animEffect transition="in" filter="fade">
                                      <p:cBhvr>
                                        <p:cTn id="73" dur="500"/>
                                        <p:tgtEl>
                                          <p:spTgt spid="17"/>
                                        </p:tgtEl>
                                      </p:cBhvr>
                                    </p:animEffect>
                                  </p:childTnLst>
                                </p:cTn>
                              </p:par>
                            </p:childTnLst>
                          </p:cTn>
                        </p:par>
                        <p:par>
                          <p:cTn id="74" fill="hold">
                            <p:stCondLst>
                              <p:cond delay="1450"/>
                            </p:stCondLst>
                            <p:childTnLst>
                              <p:par>
                                <p:cTn id="75" presetID="2" presetClass="entr" presetSubtype="4"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ppt_y</p:attrName>
                                        </p:attrNameLst>
                                      </p:cBhvr>
                                      <p:tavLst>
                                        <p:tav tm="0">
                                          <p:val>
                                            <p:strVal val="1+#ppt_h/2"/>
                                          </p:val>
                                        </p:tav>
                                        <p:tav tm="100000">
                                          <p:val>
                                            <p:strVal val="#ppt_y"/>
                                          </p:val>
                                        </p:tav>
                                      </p:tavLst>
                                    </p:anim>
                                    <p:animEffect transition="in" filter="fade">
                                      <p:cBhvr>
                                        <p:cTn id="78" dur="500"/>
                                        <p:tgtEl>
                                          <p:spTgt spid="18"/>
                                        </p:tgtEl>
                                      </p:cBhvr>
                                    </p:animEffect>
                                  </p:childTnLst>
                                </p:cTn>
                              </p:par>
                            </p:childTnLst>
                          </p:cTn>
                        </p:par>
                        <p:par>
                          <p:cTn id="79" fill="hold">
                            <p:stCondLst>
                              <p:cond delay="1630"/>
                            </p:stCondLst>
                            <p:childTnLst>
                              <p:par>
                                <p:cTn id="80" presetID="2" presetClass="entr" presetSubtype="8"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ppt_x</p:attrName>
                                        </p:attrNameLst>
                                      </p:cBhvr>
                                      <p:tavLst>
                                        <p:tav tm="0">
                                          <p:val>
                                            <p:strVal val="0-#ppt_w/2"/>
                                          </p:val>
                                        </p:tav>
                                        <p:tav tm="100000">
                                          <p:val>
                                            <p:strVal val="#ppt_x"/>
                                          </p:val>
                                        </p:tav>
                                      </p:tavLst>
                                    </p:anim>
                                    <p:animEffect transition="in" filter="fade">
                                      <p:cBhvr>
                                        <p:cTn id="83" dur="500"/>
                                        <p:tgtEl>
                                          <p:spTgt spid="19"/>
                                        </p:tgtEl>
                                      </p:cBhvr>
                                    </p:animEffect>
                                  </p:childTnLst>
                                </p:cTn>
                              </p:par>
                            </p:childTnLst>
                          </p:cTn>
                        </p:par>
                        <p:par>
                          <p:cTn id="84" fill="hold">
                            <p:stCondLst>
                              <p:cond delay="2000"/>
                            </p:stCondLst>
                            <p:childTnLst>
                              <p:par>
                                <p:cTn id="85" presetID="2" presetClass="entr" presetSubtype="4"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ppt_y</p:attrName>
                                        </p:attrNameLst>
                                      </p:cBhvr>
                                      <p:tavLst>
                                        <p:tav tm="0">
                                          <p:val>
                                            <p:strVal val="1+#ppt_h/2"/>
                                          </p:val>
                                        </p:tav>
                                        <p:tav tm="100000">
                                          <p:val>
                                            <p:strVal val="#ppt_y"/>
                                          </p:val>
                                        </p:tav>
                                      </p:tavLst>
                                    </p:anim>
                                    <p:animEffect transition="in" filter="fade">
                                      <p:cBhvr>
                                        <p:cTn id="88" dur="500"/>
                                        <p:tgtEl>
                                          <p:spTgt spid="20"/>
                                        </p:tgtEl>
                                      </p:cBhvr>
                                    </p:animEffect>
                                  </p:childTnLst>
                                </p:cTn>
                              </p:par>
                            </p:childTnLst>
                          </p:cTn>
                        </p:par>
                        <p:par>
                          <p:cTn id="89" fill="hold">
                            <p:stCondLst>
                              <p:cond delay="2000"/>
                            </p:stCondLst>
                            <p:childTnLst>
                              <p:par>
                                <p:cTn id="90" presetID="2" presetClass="entr" presetSubtype="4"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ppt_y</p:attrName>
                                        </p:attrNameLst>
                                      </p:cBhvr>
                                      <p:tavLst>
                                        <p:tav tm="0">
                                          <p:val>
                                            <p:strVal val="1+#ppt_h/2"/>
                                          </p:val>
                                        </p:tav>
                                        <p:tav tm="100000">
                                          <p:val>
                                            <p:strVal val="#ppt_y"/>
                                          </p:val>
                                        </p:tav>
                                      </p:tavLst>
                                    </p:anim>
                                    <p:animEffect transition="in" filter="fade">
                                      <p:cBhvr>
                                        <p:cTn id="93" dur="500"/>
                                        <p:tgtEl>
                                          <p:spTgt spid="21"/>
                                        </p:tgtEl>
                                      </p:cBhvr>
                                    </p:animEffect>
                                  </p:childTnLst>
                                </p:cTn>
                              </p:par>
                            </p:childTnLst>
                          </p:cTn>
                        </p:par>
                        <p:par>
                          <p:cTn id="94" fill="hold">
                            <p:stCondLst>
                              <p:cond delay="2000"/>
                            </p:stCondLst>
                            <p:childTnLst>
                              <p:par>
                                <p:cTn id="95" presetID="2" presetClass="entr" presetSubtype="4"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ppt_y</p:attrName>
                                        </p:attrNameLst>
                                      </p:cBhvr>
                                      <p:tavLst>
                                        <p:tav tm="0">
                                          <p:val>
                                            <p:strVal val="1+#ppt_h/2"/>
                                          </p:val>
                                        </p:tav>
                                        <p:tav tm="100000">
                                          <p:val>
                                            <p:strVal val="#ppt_y"/>
                                          </p:val>
                                        </p:tav>
                                      </p:tavLst>
                                    </p:anim>
                                    <p:animEffect transition="in" filter="fade">
                                      <p:cBhvr>
                                        <p:cTn id="98" dur="500"/>
                                        <p:tgtEl>
                                          <p:spTgt spid="22"/>
                                        </p:tgtEl>
                                      </p:cBhvr>
                                    </p:animEffect>
                                  </p:childTnLst>
                                </p:cTn>
                              </p:par>
                            </p:childTnLst>
                          </p:cTn>
                        </p:par>
                        <p:par>
                          <p:cTn id="99" fill="hold">
                            <p:stCondLst>
                              <p:cond delay="2000"/>
                            </p:stCondLst>
                            <p:childTnLst>
                              <p:par>
                                <p:cTn id="100" presetID="2" presetClass="entr" presetSubtype="4"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ppt_y</p:attrName>
                                        </p:attrNameLst>
                                      </p:cBhvr>
                                      <p:tavLst>
                                        <p:tav tm="0">
                                          <p:val>
                                            <p:strVal val="1+#ppt_h/2"/>
                                          </p:val>
                                        </p:tav>
                                        <p:tav tm="100000">
                                          <p:val>
                                            <p:strVal val="#ppt_y"/>
                                          </p:val>
                                        </p:tav>
                                      </p:tavLst>
                                    </p:anim>
                                    <p:animEffect transition="in" filter="fade">
                                      <p:cBhvr>
                                        <p:cTn id="103" dur="500"/>
                                        <p:tgtEl>
                                          <p:spTgt spid="23"/>
                                        </p:tgtEl>
                                      </p:cBhvr>
                                    </p:animEffect>
                                  </p:childTnLst>
                                </p:cTn>
                              </p:par>
                            </p:childTnLst>
                          </p:cTn>
                        </p:par>
                        <p:par>
                          <p:cTn id="104" fill="hold">
                            <p:stCondLst>
                              <p:cond delay="2000"/>
                            </p:stCondLst>
                            <p:childTnLst>
                              <p:par>
                                <p:cTn id="105" presetID="2" presetClass="entr" presetSubtype="4"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ppt_y</p:attrName>
                                        </p:attrNameLst>
                                      </p:cBhvr>
                                      <p:tavLst>
                                        <p:tav tm="0">
                                          <p:val>
                                            <p:strVal val="1+#ppt_h/2"/>
                                          </p:val>
                                        </p:tav>
                                        <p:tav tm="100000">
                                          <p:val>
                                            <p:strVal val="#ppt_y"/>
                                          </p:val>
                                        </p:tav>
                                      </p:tavLst>
                                    </p:anim>
                                    <p:animEffect transition="in" filter="fade">
                                      <p:cBhvr>
                                        <p:cTn id="108" dur="500"/>
                                        <p:tgtEl>
                                          <p:spTgt spid="24"/>
                                        </p:tgtEl>
                                      </p:cBhvr>
                                    </p:animEffect>
                                  </p:childTnLst>
                                </p:cTn>
                              </p:par>
                            </p:childTnLst>
                          </p:cTn>
                        </p:par>
                        <p:par>
                          <p:cTn id="109" fill="hold">
                            <p:stCondLst>
                              <p:cond delay="2200"/>
                            </p:stCondLst>
                            <p:childTnLst>
                              <p:par>
                                <p:cTn id="110" presetID="2" presetClass="entr" presetSubtype="4"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ppt_y</p:attrName>
                                        </p:attrNameLst>
                                      </p:cBhvr>
                                      <p:tavLst>
                                        <p:tav tm="0">
                                          <p:val>
                                            <p:strVal val="1+#ppt_h/2"/>
                                          </p:val>
                                        </p:tav>
                                        <p:tav tm="100000">
                                          <p:val>
                                            <p:strVal val="#ppt_y"/>
                                          </p:val>
                                        </p:tav>
                                      </p:tavLst>
                                    </p:anim>
                                    <p:animEffect transition="in" filter="fade">
                                      <p:cBhvr>
                                        <p:cTn id="113" dur="500"/>
                                        <p:tgtEl>
                                          <p:spTgt spid="25"/>
                                        </p:tgtEl>
                                      </p:cBhvr>
                                    </p:animEffect>
                                  </p:childTnLst>
                                </p:cTn>
                              </p:par>
                            </p:childTnLst>
                          </p:cTn>
                        </p:par>
                        <p:par>
                          <p:cTn id="114" fill="hold">
                            <p:stCondLst>
                              <p:cond delay="2380"/>
                            </p:stCondLst>
                            <p:childTnLst>
                              <p:par>
                                <p:cTn id="115" presetID="2" presetClass="entr" presetSubtype="8"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0-#ppt_w/2"/>
                                          </p:val>
                                        </p:tav>
                                        <p:tav tm="100000">
                                          <p:val>
                                            <p:strVal val="#ppt_x"/>
                                          </p:val>
                                        </p:tav>
                                      </p:tavLst>
                                    </p:anim>
                                    <p:animEffect transition="in" filter="fade">
                                      <p:cBhvr>
                                        <p:cTn id="118" dur="500"/>
                                        <p:tgtEl>
                                          <p:spTgt spid="26"/>
                                        </p:tgtEl>
                                      </p:cBhvr>
                                    </p:animEffect>
                                  </p:childTnLst>
                                </p:cTn>
                              </p:par>
                            </p:childTnLst>
                          </p:cTn>
                        </p:par>
                        <p:par>
                          <p:cTn id="119" fill="hold">
                            <p:stCondLst>
                              <p:cond delay="2950"/>
                            </p:stCondLst>
                            <p:childTnLst>
                              <p:par>
                                <p:cTn id="120" presetID="2" presetClass="entr" presetSubtype="8"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ppt_x</p:attrName>
                                        </p:attrNameLst>
                                      </p:cBhvr>
                                      <p:tavLst>
                                        <p:tav tm="0">
                                          <p:val>
                                            <p:strVal val="0-#ppt_w/2"/>
                                          </p:val>
                                        </p:tav>
                                        <p:tav tm="100000">
                                          <p:val>
                                            <p:strVal val="#ppt_x"/>
                                          </p:val>
                                        </p:tav>
                                      </p:tavLst>
                                    </p:anim>
                                    <p:animEffect transition="in" filter="fade">
                                      <p:cBhvr>
                                        <p:cTn id="123" dur="500"/>
                                        <p:tgtEl>
                                          <p:spTgt spid="27"/>
                                        </p:tgtEl>
                                      </p:cBhvr>
                                    </p:animEffect>
                                  </p:childTnLst>
                                </p:cTn>
                              </p:par>
                            </p:childTnLst>
                          </p:cTn>
                        </p:par>
                        <p:par>
                          <p:cTn id="124" fill="hold">
                            <p:stCondLst>
                              <p:cond delay="2950"/>
                            </p:stCondLst>
                            <p:childTnLst>
                              <p:par>
                                <p:cTn id="125" presetID="2" presetClass="entr" presetSubtype="8"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ppt_x</p:attrName>
                                        </p:attrNameLst>
                                      </p:cBhvr>
                                      <p:tavLst>
                                        <p:tav tm="0">
                                          <p:val>
                                            <p:strVal val="0-#ppt_w/2"/>
                                          </p:val>
                                        </p:tav>
                                        <p:tav tm="100000">
                                          <p:val>
                                            <p:strVal val="#ppt_x"/>
                                          </p:val>
                                        </p:tav>
                                      </p:tavLst>
                                    </p:anim>
                                    <p:animEffect transition="in" filter="fade">
                                      <p:cBhvr>
                                        <p:cTn id="128" dur="500"/>
                                        <p:tgtEl>
                                          <p:spTgt spid="28"/>
                                        </p:tgtEl>
                                      </p:cBhvr>
                                    </p:animEffect>
                                  </p:childTnLst>
                                </p:cTn>
                              </p:par>
                            </p:childTnLst>
                          </p:cTn>
                        </p:par>
                        <p:par>
                          <p:cTn id="129" fill="hold">
                            <p:stCondLst>
                              <p:cond delay="2950"/>
                            </p:stCondLst>
                            <p:childTnLst>
                              <p:par>
                                <p:cTn id="130" presetID="2" presetClass="entr" presetSubtype="8" fill="hold"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additive="base">
                                        <p:cTn id="132" dur="500" fill="hold"/>
                                        <p:tgtEl>
                                          <p:spTgt spid="30"/>
                                        </p:tgtEl>
                                        <p:attrNameLst>
                                          <p:attrName>ppt_x</p:attrName>
                                        </p:attrNameLst>
                                      </p:cBhvr>
                                      <p:tavLst>
                                        <p:tav tm="0">
                                          <p:val>
                                            <p:strVal val="0-#ppt_w/2"/>
                                          </p:val>
                                        </p:tav>
                                        <p:tav tm="100000">
                                          <p:val>
                                            <p:strVal val="#ppt_x"/>
                                          </p:val>
                                        </p:tav>
                                      </p:tavLst>
                                    </p:anim>
                                    <p:animEffect transition="in" filter="fade">
                                      <p:cBhvr>
                                        <p:cTn id="133" dur="500"/>
                                        <p:tgtEl>
                                          <p:spTgt spid="30"/>
                                        </p:tgtEl>
                                      </p:cBhvr>
                                    </p:animEffect>
                                  </p:childTnLst>
                                </p:cTn>
                              </p:par>
                            </p:childTnLst>
                          </p:cTn>
                        </p:par>
                        <p:par>
                          <p:cTn id="134" fill="hold">
                            <p:stCondLst>
                              <p:cond delay="3150"/>
                            </p:stCondLst>
                            <p:childTnLst>
                              <p:par>
                                <p:cTn id="135" presetID="2" presetClass="entr" presetSubtype="8" fill="hold"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additive="base">
                                        <p:cTn id="137" dur="500" fill="hold"/>
                                        <p:tgtEl>
                                          <p:spTgt spid="31"/>
                                        </p:tgtEl>
                                        <p:attrNameLst>
                                          <p:attrName>ppt_x</p:attrName>
                                        </p:attrNameLst>
                                      </p:cBhvr>
                                      <p:tavLst>
                                        <p:tav tm="0">
                                          <p:val>
                                            <p:strVal val="0-#ppt_w/2"/>
                                          </p:val>
                                        </p:tav>
                                        <p:tav tm="100000">
                                          <p:val>
                                            <p:strVal val="#ppt_x"/>
                                          </p:val>
                                        </p:tav>
                                      </p:tavLst>
                                    </p:anim>
                                    <p:animEffect transition="in" filter="fade">
                                      <p:cBhvr>
                                        <p:cTn id="138" dur="500"/>
                                        <p:tgtEl>
                                          <p:spTgt spid="31"/>
                                        </p:tgtEl>
                                      </p:cBhvr>
                                    </p:animEffect>
                                  </p:childTnLst>
                                </p:cTn>
                              </p:par>
                            </p:childTnLst>
                          </p:cTn>
                        </p:par>
                        <p:par>
                          <p:cTn id="139" fill="hold">
                            <p:stCondLst>
                              <p:cond delay="3150"/>
                            </p:stCondLst>
                            <p:childTnLst>
                              <p:par>
                                <p:cTn id="140" presetID="2" presetClass="entr" presetSubtype="8" fill="hold"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additive="base">
                                        <p:cTn id="142" dur="500" fill="hold"/>
                                        <p:tgtEl>
                                          <p:spTgt spid="32"/>
                                        </p:tgtEl>
                                        <p:attrNameLst>
                                          <p:attrName>ppt_x</p:attrName>
                                        </p:attrNameLst>
                                      </p:cBhvr>
                                      <p:tavLst>
                                        <p:tav tm="0">
                                          <p:val>
                                            <p:strVal val="0-#ppt_w/2"/>
                                          </p:val>
                                        </p:tav>
                                        <p:tav tm="100000">
                                          <p:val>
                                            <p:strVal val="#ppt_x"/>
                                          </p:val>
                                        </p:tav>
                                      </p:tavLst>
                                    </p:anim>
                                    <p:animEffect transition="in" filter="fade">
                                      <p:cBhvr>
                                        <p:cTn id="143" dur="500"/>
                                        <p:tgtEl>
                                          <p:spTgt spid="32"/>
                                        </p:tgtEl>
                                      </p:cBhvr>
                                    </p:animEffect>
                                  </p:childTnLst>
                                </p:cTn>
                              </p:par>
                            </p:childTnLst>
                          </p:cTn>
                        </p:par>
                        <p:par>
                          <p:cTn id="144" fill="hold">
                            <p:stCondLst>
                              <p:cond delay="3270"/>
                            </p:stCondLst>
                            <p:childTnLst>
                              <p:par>
                                <p:cTn id="145" presetID="2" presetClass="entr" presetSubtype="8"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additive="base">
                                        <p:cTn id="147" dur="500" fill="hold"/>
                                        <p:tgtEl>
                                          <p:spTgt spid="33"/>
                                        </p:tgtEl>
                                        <p:attrNameLst>
                                          <p:attrName>ppt_x</p:attrName>
                                        </p:attrNameLst>
                                      </p:cBhvr>
                                      <p:tavLst>
                                        <p:tav tm="0">
                                          <p:val>
                                            <p:strVal val="0-#ppt_w/2"/>
                                          </p:val>
                                        </p:tav>
                                        <p:tav tm="100000">
                                          <p:val>
                                            <p:strVal val="#ppt_x"/>
                                          </p:val>
                                        </p:tav>
                                      </p:tavLst>
                                    </p:anim>
                                    <p:animEffect transition="in" filter="fade">
                                      <p:cBhvr>
                                        <p:cTn id="148" dur="500"/>
                                        <p:tgtEl>
                                          <p:spTgt spid="33"/>
                                        </p:tgtEl>
                                      </p:cBhvr>
                                    </p:animEffect>
                                  </p:childTnLst>
                                </p:cTn>
                              </p:par>
                            </p:childTnLst>
                          </p:cTn>
                        </p:par>
                        <p:par>
                          <p:cTn id="149" fill="hold">
                            <p:stCondLst>
                              <p:cond delay="3270"/>
                            </p:stCondLst>
                            <p:childTnLst>
                              <p:par>
                                <p:cTn id="150" presetID="2" presetClass="entr" presetSubtype="8" fill="hold" nodeType="with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additive="base">
                                        <p:cTn id="152" dur="500" fill="hold"/>
                                        <p:tgtEl>
                                          <p:spTgt spid="34"/>
                                        </p:tgtEl>
                                        <p:attrNameLst>
                                          <p:attrName>ppt_x</p:attrName>
                                        </p:attrNameLst>
                                      </p:cBhvr>
                                      <p:tavLst>
                                        <p:tav tm="0">
                                          <p:val>
                                            <p:strVal val="0-#ppt_w/2"/>
                                          </p:val>
                                        </p:tav>
                                        <p:tav tm="100000">
                                          <p:val>
                                            <p:strVal val="#ppt_x"/>
                                          </p:val>
                                        </p:tav>
                                      </p:tavLst>
                                    </p:anim>
                                    <p:animEffect transition="in" filter="fade">
                                      <p:cBhvr>
                                        <p:cTn id="153" dur="500"/>
                                        <p:tgtEl>
                                          <p:spTgt spid="34"/>
                                        </p:tgtEl>
                                      </p:cBhvr>
                                    </p:animEffect>
                                  </p:childTnLst>
                                </p:cTn>
                              </p:par>
                            </p:childTnLst>
                          </p:cTn>
                        </p:par>
                        <p:par>
                          <p:cTn id="154" fill="hold">
                            <p:stCondLst>
                              <p:cond delay="3390"/>
                            </p:stCondLst>
                            <p:childTnLst>
                              <p:par>
                                <p:cTn id="155" presetID="2" presetClass="entr" presetSubtype="8"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anim calcmode="lin" valueType="num">
                                      <p:cBhvr additive="base">
                                        <p:cTn id="157" dur="500" fill="hold"/>
                                        <p:tgtEl>
                                          <p:spTgt spid="35"/>
                                        </p:tgtEl>
                                        <p:attrNameLst>
                                          <p:attrName>ppt_x</p:attrName>
                                        </p:attrNameLst>
                                      </p:cBhvr>
                                      <p:tavLst>
                                        <p:tav tm="0">
                                          <p:val>
                                            <p:strVal val="0-#ppt_w/2"/>
                                          </p:val>
                                        </p:tav>
                                        <p:tav tm="100000">
                                          <p:val>
                                            <p:strVal val="#ppt_x"/>
                                          </p:val>
                                        </p:tav>
                                      </p:tavLst>
                                    </p:anim>
                                    <p:animEffect transition="in" filter="fade">
                                      <p:cBhvr>
                                        <p:cTn id="158" dur="500"/>
                                        <p:tgtEl>
                                          <p:spTgt spid="35"/>
                                        </p:tgtEl>
                                      </p:cBhvr>
                                    </p:animEffect>
                                  </p:childTnLst>
                                </p:cTn>
                              </p:par>
                            </p:childTnLst>
                          </p:cTn>
                        </p:par>
                        <p:par>
                          <p:cTn id="159" fill="hold">
                            <p:stCondLst>
                              <p:cond delay="3390"/>
                            </p:stCondLst>
                            <p:childTnLst>
                              <p:par>
                                <p:cTn id="160" presetID="2" presetClass="entr" presetSubtype="8" fill="hold" nodeType="withEffect">
                                  <p:stCondLst>
                                    <p:cond delay="0"/>
                                  </p:stCondLst>
                                  <p:childTnLst>
                                    <p:set>
                                      <p:cBhvr>
                                        <p:cTn id="161" dur="1" fill="hold">
                                          <p:stCondLst>
                                            <p:cond delay="0"/>
                                          </p:stCondLst>
                                        </p:cTn>
                                        <p:tgtEl>
                                          <p:spTgt spid="36"/>
                                        </p:tgtEl>
                                        <p:attrNameLst>
                                          <p:attrName>style.visibility</p:attrName>
                                        </p:attrNameLst>
                                      </p:cBhvr>
                                      <p:to>
                                        <p:strVal val="visible"/>
                                      </p:to>
                                    </p:set>
                                    <p:anim calcmode="lin" valueType="num">
                                      <p:cBhvr additive="base">
                                        <p:cTn id="162" dur="500" fill="hold"/>
                                        <p:tgtEl>
                                          <p:spTgt spid="36"/>
                                        </p:tgtEl>
                                        <p:attrNameLst>
                                          <p:attrName>ppt_x</p:attrName>
                                        </p:attrNameLst>
                                      </p:cBhvr>
                                      <p:tavLst>
                                        <p:tav tm="0">
                                          <p:val>
                                            <p:strVal val="0-#ppt_w/2"/>
                                          </p:val>
                                        </p:tav>
                                        <p:tav tm="100000">
                                          <p:val>
                                            <p:strVal val="#ppt_x"/>
                                          </p:val>
                                        </p:tav>
                                      </p:tavLst>
                                    </p:anim>
                                    <p:animEffect transition="in" filter="fade">
                                      <p:cBhvr>
                                        <p:cTn id="163" dur="500"/>
                                        <p:tgtEl>
                                          <p:spTgt spid="36"/>
                                        </p:tgtEl>
                                      </p:cBhvr>
                                    </p:animEffect>
                                  </p:childTnLst>
                                </p:cTn>
                              </p:par>
                            </p:childTnLst>
                          </p:cTn>
                        </p:par>
                        <p:par>
                          <p:cTn id="164" fill="hold">
                            <p:stCondLst>
                              <p:cond delay="3510"/>
                            </p:stCondLst>
                            <p:childTnLst>
                              <p:par>
                                <p:cTn id="165" presetID="2" presetClass="entr" presetSubtype="8" fill="hold" nodeType="with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additive="base">
                                        <p:cTn id="167" dur="500" fill="hold"/>
                                        <p:tgtEl>
                                          <p:spTgt spid="37"/>
                                        </p:tgtEl>
                                        <p:attrNameLst>
                                          <p:attrName>ppt_x</p:attrName>
                                        </p:attrNameLst>
                                      </p:cBhvr>
                                      <p:tavLst>
                                        <p:tav tm="0">
                                          <p:val>
                                            <p:strVal val="0-#ppt_w/2"/>
                                          </p:val>
                                        </p:tav>
                                        <p:tav tm="100000">
                                          <p:val>
                                            <p:strVal val="#ppt_x"/>
                                          </p:val>
                                        </p:tav>
                                      </p:tavLst>
                                    </p:anim>
                                    <p:animEffect transition="in" filter="fade">
                                      <p:cBhvr>
                                        <p:cTn id="168" dur="500"/>
                                        <p:tgtEl>
                                          <p:spTgt spid="37"/>
                                        </p:tgtEl>
                                      </p:cBhvr>
                                    </p:animEffect>
                                  </p:childTnLst>
                                </p:cTn>
                              </p:par>
                            </p:childTnLst>
                          </p:cTn>
                        </p:par>
                        <p:par>
                          <p:cTn id="169" fill="hold">
                            <p:stCondLst>
                              <p:cond delay="3510"/>
                            </p:stCondLst>
                            <p:childTnLst>
                              <p:par>
                                <p:cTn id="170" presetID="2" presetClass="entr" presetSubtype="8"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 calcmode="lin" valueType="num">
                                      <p:cBhvr additive="base">
                                        <p:cTn id="172" dur="500" fill="hold"/>
                                        <p:tgtEl>
                                          <p:spTgt spid="38"/>
                                        </p:tgtEl>
                                        <p:attrNameLst>
                                          <p:attrName>ppt_x</p:attrName>
                                        </p:attrNameLst>
                                      </p:cBhvr>
                                      <p:tavLst>
                                        <p:tav tm="0">
                                          <p:val>
                                            <p:strVal val="0-#ppt_w/2"/>
                                          </p:val>
                                        </p:tav>
                                        <p:tav tm="100000">
                                          <p:val>
                                            <p:strVal val="#ppt_x"/>
                                          </p:val>
                                        </p:tav>
                                      </p:tavLst>
                                    </p:anim>
                                    <p:animEffect transition="in" filter="fade">
                                      <p:cBhvr>
                                        <p:cTn id="173" dur="500"/>
                                        <p:tgtEl>
                                          <p:spTgt spid="38"/>
                                        </p:tgtEl>
                                      </p:cBhvr>
                                    </p:animEffect>
                                  </p:childTnLst>
                                </p:cTn>
                              </p:par>
                            </p:childTnLst>
                          </p:cTn>
                        </p:par>
                        <p:par>
                          <p:cTn id="174" fill="hold">
                            <p:stCondLst>
                              <p:cond delay="3630"/>
                            </p:stCondLst>
                            <p:childTnLst>
                              <p:par>
                                <p:cTn id="175" presetID="2" presetClass="entr" presetSubtype="8" fill="hold" nodeType="withEffect">
                                  <p:stCondLst>
                                    <p:cond delay="0"/>
                                  </p:stCondLst>
                                  <p:childTnLst>
                                    <p:set>
                                      <p:cBhvr>
                                        <p:cTn id="176" dur="1" fill="hold">
                                          <p:stCondLst>
                                            <p:cond delay="0"/>
                                          </p:stCondLst>
                                        </p:cTn>
                                        <p:tgtEl>
                                          <p:spTgt spid="39"/>
                                        </p:tgtEl>
                                        <p:attrNameLst>
                                          <p:attrName>style.visibility</p:attrName>
                                        </p:attrNameLst>
                                      </p:cBhvr>
                                      <p:to>
                                        <p:strVal val="visible"/>
                                      </p:to>
                                    </p:set>
                                    <p:anim calcmode="lin" valueType="num">
                                      <p:cBhvr additive="base">
                                        <p:cTn id="177" dur="500" fill="hold"/>
                                        <p:tgtEl>
                                          <p:spTgt spid="39"/>
                                        </p:tgtEl>
                                        <p:attrNameLst>
                                          <p:attrName>ppt_x</p:attrName>
                                        </p:attrNameLst>
                                      </p:cBhvr>
                                      <p:tavLst>
                                        <p:tav tm="0">
                                          <p:val>
                                            <p:strVal val="0-#ppt_w/2"/>
                                          </p:val>
                                        </p:tav>
                                        <p:tav tm="100000">
                                          <p:val>
                                            <p:strVal val="#ppt_x"/>
                                          </p:val>
                                        </p:tav>
                                      </p:tavLst>
                                    </p:anim>
                                    <p:animEffect transition="in" filter="fade">
                                      <p:cBhvr>
                                        <p:cTn id="178" dur="500"/>
                                        <p:tgtEl>
                                          <p:spTgt spid="39"/>
                                        </p:tgtEl>
                                      </p:cBhvr>
                                    </p:animEffect>
                                  </p:childTnLst>
                                </p:cTn>
                              </p:par>
                            </p:childTnLst>
                          </p:cTn>
                        </p:par>
                        <p:par>
                          <p:cTn id="179" fill="hold">
                            <p:stCondLst>
                              <p:cond delay="3630"/>
                            </p:stCondLst>
                            <p:childTnLst>
                              <p:par>
                                <p:cTn id="180" presetID="2" presetClass="entr" presetSubtype="8" fill="hold" nodeType="withEffect">
                                  <p:stCondLst>
                                    <p:cond delay="0"/>
                                  </p:stCondLst>
                                  <p:childTnLst>
                                    <p:set>
                                      <p:cBhvr>
                                        <p:cTn id="181" dur="1" fill="hold">
                                          <p:stCondLst>
                                            <p:cond delay="0"/>
                                          </p:stCondLst>
                                        </p:cTn>
                                        <p:tgtEl>
                                          <p:spTgt spid="40"/>
                                        </p:tgtEl>
                                        <p:attrNameLst>
                                          <p:attrName>style.visibility</p:attrName>
                                        </p:attrNameLst>
                                      </p:cBhvr>
                                      <p:to>
                                        <p:strVal val="visible"/>
                                      </p:to>
                                    </p:set>
                                    <p:anim calcmode="lin" valueType="num">
                                      <p:cBhvr additive="base">
                                        <p:cTn id="182" dur="500" fill="hold"/>
                                        <p:tgtEl>
                                          <p:spTgt spid="40"/>
                                        </p:tgtEl>
                                        <p:attrNameLst>
                                          <p:attrName>ppt_x</p:attrName>
                                        </p:attrNameLst>
                                      </p:cBhvr>
                                      <p:tavLst>
                                        <p:tav tm="0">
                                          <p:val>
                                            <p:strVal val="0-#ppt_w/2"/>
                                          </p:val>
                                        </p:tav>
                                        <p:tav tm="100000">
                                          <p:val>
                                            <p:strVal val="#ppt_x"/>
                                          </p:val>
                                        </p:tav>
                                      </p:tavLst>
                                    </p:anim>
                                    <p:animEffect transition="in" filter="fade">
                                      <p:cBhvr>
                                        <p:cTn id="183" dur="500"/>
                                        <p:tgtEl>
                                          <p:spTgt spid="40"/>
                                        </p:tgtEl>
                                      </p:cBhvr>
                                    </p:animEffect>
                                  </p:childTnLst>
                                </p:cTn>
                              </p:par>
                            </p:childTnLst>
                          </p:cTn>
                        </p:par>
                        <p:par>
                          <p:cTn id="184" fill="hold">
                            <p:stCondLst>
                              <p:cond delay="3850"/>
                            </p:stCondLst>
                            <p:childTnLst>
                              <p:par>
                                <p:cTn id="185" presetID="2" presetClass="entr" presetSubtype="2" fill="hold" nodeType="with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additive="base">
                                        <p:cTn id="187" dur="500" fill="hold"/>
                                        <p:tgtEl>
                                          <p:spTgt spid="41"/>
                                        </p:tgtEl>
                                        <p:attrNameLst>
                                          <p:attrName>ppt_x</p:attrName>
                                        </p:attrNameLst>
                                      </p:cBhvr>
                                      <p:tavLst>
                                        <p:tav tm="0">
                                          <p:val>
                                            <p:strVal val="1+#ppt_w/2"/>
                                          </p:val>
                                        </p:tav>
                                        <p:tav tm="100000">
                                          <p:val>
                                            <p:strVal val="#ppt_x"/>
                                          </p:val>
                                        </p:tav>
                                      </p:tavLst>
                                    </p:anim>
                                    <p:animEffect transition="in" filter="fade">
                                      <p:cBhvr>
                                        <p:cTn id="188" dur="500"/>
                                        <p:tgtEl>
                                          <p:spTgt spid="41"/>
                                        </p:tgtEl>
                                      </p:cBhvr>
                                    </p:animEffect>
                                  </p:childTnLst>
                                </p:cTn>
                              </p:par>
                            </p:childTnLst>
                          </p:cTn>
                        </p:par>
                        <p:par>
                          <p:cTn id="189" fill="hold">
                            <p:stCondLst>
                              <p:cond delay="3850"/>
                            </p:stCondLst>
                            <p:childTnLst>
                              <p:par>
                                <p:cTn id="190" presetID="2" presetClass="entr" presetSubtype="2" fill="hold" nodeType="withEffect">
                                  <p:stCondLst>
                                    <p:cond delay="0"/>
                                  </p:stCondLst>
                                  <p:childTnLst>
                                    <p:set>
                                      <p:cBhvr>
                                        <p:cTn id="191" dur="1" fill="hold">
                                          <p:stCondLst>
                                            <p:cond delay="0"/>
                                          </p:stCondLst>
                                        </p:cTn>
                                        <p:tgtEl>
                                          <p:spTgt spid="42"/>
                                        </p:tgtEl>
                                        <p:attrNameLst>
                                          <p:attrName>style.visibility</p:attrName>
                                        </p:attrNameLst>
                                      </p:cBhvr>
                                      <p:to>
                                        <p:strVal val="visible"/>
                                      </p:to>
                                    </p:set>
                                    <p:anim calcmode="lin" valueType="num">
                                      <p:cBhvr additive="base">
                                        <p:cTn id="192" dur="500" fill="hold"/>
                                        <p:tgtEl>
                                          <p:spTgt spid="42"/>
                                        </p:tgtEl>
                                        <p:attrNameLst>
                                          <p:attrName>ppt_x</p:attrName>
                                        </p:attrNameLst>
                                      </p:cBhvr>
                                      <p:tavLst>
                                        <p:tav tm="0">
                                          <p:val>
                                            <p:strVal val="1+#ppt_w/2"/>
                                          </p:val>
                                        </p:tav>
                                        <p:tav tm="100000">
                                          <p:val>
                                            <p:strVal val="#ppt_x"/>
                                          </p:val>
                                        </p:tav>
                                      </p:tavLst>
                                    </p:anim>
                                    <p:animEffect transition="in" filter="fade">
                                      <p:cBhvr>
                                        <p:cTn id="193" dur="500"/>
                                        <p:tgtEl>
                                          <p:spTgt spid="42"/>
                                        </p:tgtEl>
                                      </p:cBhvr>
                                    </p:animEffect>
                                  </p:childTnLst>
                                </p:cTn>
                              </p:par>
                            </p:childTnLst>
                          </p:cTn>
                        </p:par>
                        <p:par>
                          <p:cTn id="194" fill="hold">
                            <p:stCondLst>
                              <p:cond delay="3850"/>
                            </p:stCondLst>
                            <p:childTnLst>
                              <p:par>
                                <p:cTn id="195" presetID="2" presetClass="entr" presetSubtype="2" fill="hold" nodeType="withEffect">
                                  <p:stCondLst>
                                    <p:cond delay="0"/>
                                  </p:stCondLst>
                                  <p:childTnLst>
                                    <p:set>
                                      <p:cBhvr>
                                        <p:cTn id="196" dur="1" fill="hold">
                                          <p:stCondLst>
                                            <p:cond delay="0"/>
                                          </p:stCondLst>
                                        </p:cTn>
                                        <p:tgtEl>
                                          <p:spTgt spid="44"/>
                                        </p:tgtEl>
                                        <p:attrNameLst>
                                          <p:attrName>style.visibility</p:attrName>
                                        </p:attrNameLst>
                                      </p:cBhvr>
                                      <p:to>
                                        <p:strVal val="visible"/>
                                      </p:to>
                                    </p:set>
                                    <p:anim calcmode="lin" valueType="num">
                                      <p:cBhvr additive="base">
                                        <p:cTn id="197" dur="500" fill="hold"/>
                                        <p:tgtEl>
                                          <p:spTgt spid="44"/>
                                        </p:tgtEl>
                                        <p:attrNameLst>
                                          <p:attrName>ppt_x</p:attrName>
                                        </p:attrNameLst>
                                      </p:cBhvr>
                                      <p:tavLst>
                                        <p:tav tm="0">
                                          <p:val>
                                            <p:strVal val="1+#ppt_w/2"/>
                                          </p:val>
                                        </p:tav>
                                        <p:tav tm="100000">
                                          <p:val>
                                            <p:strVal val="#ppt_x"/>
                                          </p:val>
                                        </p:tav>
                                      </p:tavLst>
                                    </p:anim>
                                    <p:animEffect transition="in" filter="fade">
                                      <p:cBhvr>
                                        <p:cTn id="198" dur="500"/>
                                        <p:tgtEl>
                                          <p:spTgt spid="44"/>
                                        </p:tgtEl>
                                      </p:cBhvr>
                                    </p:animEffect>
                                  </p:childTnLst>
                                </p:cTn>
                              </p:par>
                            </p:childTnLst>
                          </p:cTn>
                        </p:par>
                        <p:par>
                          <p:cTn id="199" fill="hold">
                            <p:stCondLst>
                              <p:cond delay="4050"/>
                            </p:stCondLst>
                            <p:childTnLst>
                              <p:par>
                                <p:cTn id="200" presetID="2" presetClass="entr" presetSubtype="8" fill="hold" nodeType="withEffect">
                                  <p:stCondLst>
                                    <p:cond delay="0"/>
                                  </p:stCondLst>
                                  <p:childTnLst>
                                    <p:set>
                                      <p:cBhvr>
                                        <p:cTn id="201" dur="1" fill="hold">
                                          <p:stCondLst>
                                            <p:cond delay="0"/>
                                          </p:stCondLst>
                                        </p:cTn>
                                        <p:tgtEl>
                                          <p:spTgt spid="45"/>
                                        </p:tgtEl>
                                        <p:attrNameLst>
                                          <p:attrName>style.visibility</p:attrName>
                                        </p:attrNameLst>
                                      </p:cBhvr>
                                      <p:to>
                                        <p:strVal val="visible"/>
                                      </p:to>
                                    </p:set>
                                    <p:anim calcmode="lin" valueType="num">
                                      <p:cBhvr additive="base">
                                        <p:cTn id="202" dur="500" fill="hold"/>
                                        <p:tgtEl>
                                          <p:spTgt spid="45"/>
                                        </p:tgtEl>
                                        <p:attrNameLst>
                                          <p:attrName>ppt_x</p:attrName>
                                        </p:attrNameLst>
                                      </p:cBhvr>
                                      <p:tavLst>
                                        <p:tav tm="0">
                                          <p:val>
                                            <p:strVal val="0-#ppt_w/2"/>
                                          </p:val>
                                        </p:tav>
                                        <p:tav tm="100000">
                                          <p:val>
                                            <p:strVal val="#ppt_x"/>
                                          </p:val>
                                        </p:tav>
                                      </p:tavLst>
                                    </p:anim>
                                    <p:animEffect transition="in" filter="fade">
                                      <p:cBhvr>
                                        <p:cTn id="203" dur="500"/>
                                        <p:tgtEl>
                                          <p:spTgt spid="45"/>
                                        </p:tgtEl>
                                      </p:cBhvr>
                                    </p:animEffect>
                                  </p:childTnLst>
                                </p:cTn>
                              </p:par>
                            </p:childTnLst>
                          </p:cTn>
                        </p:par>
                        <p:par>
                          <p:cTn id="204" fill="hold">
                            <p:stCondLst>
                              <p:cond delay="4050"/>
                            </p:stCondLst>
                            <p:childTnLst>
                              <p:par>
                                <p:cTn id="205" presetID="2" presetClass="entr" presetSubtype="8" fill="hold" nodeType="withEffect">
                                  <p:stCondLst>
                                    <p:cond delay="0"/>
                                  </p:stCondLst>
                                  <p:childTnLst>
                                    <p:set>
                                      <p:cBhvr>
                                        <p:cTn id="206" dur="1" fill="hold">
                                          <p:stCondLst>
                                            <p:cond delay="0"/>
                                          </p:stCondLst>
                                        </p:cTn>
                                        <p:tgtEl>
                                          <p:spTgt spid="46"/>
                                        </p:tgtEl>
                                        <p:attrNameLst>
                                          <p:attrName>style.visibility</p:attrName>
                                        </p:attrNameLst>
                                      </p:cBhvr>
                                      <p:to>
                                        <p:strVal val="visible"/>
                                      </p:to>
                                    </p:set>
                                    <p:anim calcmode="lin" valueType="num">
                                      <p:cBhvr additive="base">
                                        <p:cTn id="207" dur="500" fill="hold"/>
                                        <p:tgtEl>
                                          <p:spTgt spid="46"/>
                                        </p:tgtEl>
                                        <p:attrNameLst>
                                          <p:attrName>ppt_x</p:attrName>
                                        </p:attrNameLst>
                                      </p:cBhvr>
                                      <p:tavLst>
                                        <p:tav tm="0">
                                          <p:val>
                                            <p:strVal val="0-#ppt_w/2"/>
                                          </p:val>
                                        </p:tav>
                                        <p:tav tm="100000">
                                          <p:val>
                                            <p:strVal val="#ppt_x"/>
                                          </p:val>
                                        </p:tav>
                                      </p:tavLst>
                                    </p:anim>
                                    <p:animEffect transition="in" filter="fade">
                                      <p:cBhvr>
                                        <p:cTn id="208" dur="500"/>
                                        <p:tgtEl>
                                          <p:spTgt spid="46"/>
                                        </p:tgtEl>
                                      </p:cBhvr>
                                    </p:animEffect>
                                  </p:childTnLst>
                                </p:cTn>
                              </p:par>
                            </p:childTnLst>
                          </p:cTn>
                        </p:par>
                        <p:par>
                          <p:cTn id="209" fill="hold">
                            <p:stCondLst>
                              <p:cond delay="4170"/>
                            </p:stCondLst>
                            <p:childTnLst>
                              <p:par>
                                <p:cTn id="210" presetID="2" presetClass="entr" presetSubtype="8" fill="hold" nodeType="withEffect">
                                  <p:stCondLst>
                                    <p:cond delay="0"/>
                                  </p:stCondLst>
                                  <p:childTnLst>
                                    <p:set>
                                      <p:cBhvr>
                                        <p:cTn id="211" dur="1" fill="hold">
                                          <p:stCondLst>
                                            <p:cond delay="0"/>
                                          </p:stCondLst>
                                        </p:cTn>
                                        <p:tgtEl>
                                          <p:spTgt spid="47"/>
                                        </p:tgtEl>
                                        <p:attrNameLst>
                                          <p:attrName>style.visibility</p:attrName>
                                        </p:attrNameLst>
                                      </p:cBhvr>
                                      <p:to>
                                        <p:strVal val="visible"/>
                                      </p:to>
                                    </p:set>
                                    <p:anim calcmode="lin" valueType="num">
                                      <p:cBhvr additive="base">
                                        <p:cTn id="212" dur="500" fill="hold"/>
                                        <p:tgtEl>
                                          <p:spTgt spid="47"/>
                                        </p:tgtEl>
                                        <p:attrNameLst>
                                          <p:attrName>ppt_x</p:attrName>
                                        </p:attrNameLst>
                                      </p:cBhvr>
                                      <p:tavLst>
                                        <p:tav tm="0">
                                          <p:val>
                                            <p:strVal val="0-#ppt_w/2"/>
                                          </p:val>
                                        </p:tav>
                                        <p:tav tm="100000">
                                          <p:val>
                                            <p:strVal val="#ppt_x"/>
                                          </p:val>
                                        </p:tav>
                                      </p:tavLst>
                                    </p:anim>
                                    <p:animEffect transition="in" filter="fade">
                                      <p:cBhvr>
                                        <p:cTn id="213" dur="500"/>
                                        <p:tgtEl>
                                          <p:spTgt spid="47"/>
                                        </p:tgtEl>
                                      </p:cBhvr>
                                    </p:animEffect>
                                  </p:childTnLst>
                                </p:cTn>
                              </p:par>
                            </p:childTnLst>
                          </p:cTn>
                        </p:par>
                        <p:par>
                          <p:cTn id="214" fill="hold">
                            <p:stCondLst>
                              <p:cond delay="4170"/>
                            </p:stCondLst>
                            <p:childTnLst>
                              <p:par>
                                <p:cTn id="215" presetID="2" presetClass="entr" presetSubtype="8" fill="hold" nodeType="withEffect">
                                  <p:stCondLst>
                                    <p:cond delay="0"/>
                                  </p:stCondLst>
                                  <p:childTnLst>
                                    <p:set>
                                      <p:cBhvr>
                                        <p:cTn id="216" dur="1" fill="hold">
                                          <p:stCondLst>
                                            <p:cond delay="0"/>
                                          </p:stCondLst>
                                        </p:cTn>
                                        <p:tgtEl>
                                          <p:spTgt spid="48"/>
                                        </p:tgtEl>
                                        <p:attrNameLst>
                                          <p:attrName>style.visibility</p:attrName>
                                        </p:attrNameLst>
                                      </p:cBhvr>
                                      <p:to>
                                        <p:strVal val="visible"/>
                                      </p:to>
                                    </p:set>
                                    <p:anim calcmode="lin" valueType="num">
                                      <p:cBhvr additive="base">
                                        <p:cTn id="217" dur="500" fill="hold"/>
                                        <p:tgtEl>
                                          <p:spTgt spid="48"/>
                                        </p:tgtEl>
                                        <p:attrNameLst>
                                          <p:attrName>ppt_x</p:attrName>
                                        </p:attrNameLst>
                                      </p:cBhvr>
                                      <p:tavLst>
                                        <p:tav tm="0">
                                          <p:val>
                                            <p:strVal val="0-#ppt_w/2"/>
                                          </p:val>
                                        </p:tav>
                                        <p:tav tm="100000">
                                          <p:val>
                                            <p:strVal val="#ppt_x"/>
                                          </p:val>
                                        </p:tav>
                                      </p:tavLst>
                                    </p:anim>
                                    <p:animEffect transition="in" filter="fade">
                                      <p:cBhvr>
                                        <p:cTn id="218" dur="500"/>
                                        <p:tgtEl>
                                          <p:spTgt spid="48"/>
                                        </p:tgtEl>
                                      </p:cBhvr>
                                    </p:animEffect>
                                  </p:childTnLst>
                                </p:cTn>
                              </p:par>
                            </p:childTnLst>
                          </p:cTn>
                        </p:par>
                        <p:par>
                          <p:cTn id="219" fill="hold">
                            <p:stCondLst>
                              <p:cond delay="4290"/>
                            </p:stCondLst>
                            <p:childTnLst>
                              <p:par>
                                <p:cTn id="220" presetID="2" presetClass="entr" presetSubtype="8" fill="hold" nodeType="withEffect">
                                  <p:stCondLst>
                                    <p:cond delay="0"/>
                                  </p:stCondLst>
                                  <p:childTnLst>
                                    <p:set>
                                      <p:cBhvr>
                                        <p:cTn id="221" dur="1" fill="hold">
                                          <p:stCondLst>
                                            <p:cond delay="0"/>
                                          </p:stCondLst>
                                        </p:cTn>
                                        <p:tgtEl>
                                          <p:spTgt spid="49"/>
                                        </p:tgtEl>
                                        <p:attrNameLst>
                                          <p:attrName>style.visibility</p:attrName>
                                        </p:attrNameLst>
                                      </p:cBhvr>
                                      <p:to>
                                        <p:strVal val="visible"/>
                                      </p:to>
                                    </p:set>
                                    <p:anim calcmode="lin" valueType="num">
                                      <p:cBhvr additive="base">
                                        <p:cTn id="222" dur="500" fill="hold"/>
                                        <p:tgtEl>
                                          <p:spTgt spid="49"/>
                                        </p:tgtEl>
                                        <p:attrNameLst>
                                          <p:attrName>ppt_x</p:attrName>
                                        </p:attrNameLst>
                                      </p:cBhvr>
                                      <p:tavLst>
                                        <p:tav tm="0">
                                          <p:val>
                                            <p:strVal val="0-#ppt_w/2"/>
                                          </p:val>
                                        </p:tav>
                                        <p:tav tm="100000">
                                          <p:val>
                                            <p:strVal val="#ppt_x"/>
                                          </p:val>
                                        </p:tav>
                                      </p:tavLst>
                                    </p:anim>
                                    <p:animEffect transition="in" filter="fade">
                                      <p:cBhvr>
                                        <p:cTn id="223" dur="500"/>
                                        <p:tgtEl>
                                          <p:spTgt spid="49"/>
                                        </p:tgtEl>
                                      </p:cBhvr>
                                    </p:animEffect>
                                  </p:childTnLst>
                                </p:cTn>
                              </p:par>
                            </p:childTnLst>
                          </p:cTn>
                        </p:par>
                        <p:par>
                          <p:cTn id="224" fill="hold">
                            <p:stCondLst>
                              <p:cond delay="4290"/>
                            </p:stCondLst>
                            <p:childTnLst>
                              <p:par>
                                <p:cTn id="225" presetID="2" presetClass="entr" presetSubtype="8" fill="hold" nodeType="withEffect">
                                  <p:stCondLst>
                                    <p:cond delay="0"/>
                                  </p:stCondLst>
                                  <p:childTnLst>
                                    <p:set>
                                      <p:cBhvr>
                                        <p:cTn id="226" dur="1" fill="hold">
                                          <p:stCondLst>
                                            <p:cond delay="0"/>
                                          </p:stCondLst>
                                        </p:cTn>
                                        <p:tgtEl>
                                          <p:spTgt spid="50"/>
                                        </p:tgtEl>
                                        <p:attrNameLst>
                                          <p:attrName>style.visibility</p:attrName>
                                        </p:attrNameLst>
                                      </p:cBhvr>
                                      <p:to>
                                        <p:strVal val="visible"/>
                                      </p:to>
                                    </p:set>
                                    <p:anim calcmode="lin" valueType="num">
                                      <p:cBhvr additive="base">
                                        <p:cTn id="227" dur="500" fill="hold"/>
                                        <p:tgtEl>
                                          <p:spTgt spid="50"/>
                                        </p:tgtEl>
                                        <p:attrNameLst>
                                          <p:attrName>ppt_x</p:attrName>
                                        </p:attrNameLst>
                                      </p:cBhvr>
                                      <p:tavLst>
                                        <p:tav tm="0">
                                          <p:val>
                                            <p:strVal val="0-#ppt_w/2"/>
                                          </p:val>
                                        </p:tav>
                                        <p:tav tm="100000">
                                          <p:val>
                                            <p:strVal val="#ppt_x"/>
                                          </p:val>
                                        </p:tav>
                                      </p:tavLst>
                                    </p:anim>
                                    <p:animEffect transition="in" filter="fade">
                                      <p:cBhvr>
                                        <p:cTn id="228" dur="500"/>
                                        <p:tgtEl>
                                          <p:spTgt spid="50"/>
                                        </p:tgtEl>
                                      </p:cBhvr>
                                    </p:animEffect>
                                  </p:childTnLst>
                                </p:cTn>
                              </p:par>
                            </p:childTnLst>
                          </p:cTn>
                        </p:par>
                        <p:par>
                          <p:cTn id="229" fill="hold">
                            <p:stCondLst>
                              <p:cond delay="4410"/>
                            </p:stCondLst>
                            <p:childTnLst>
                              <p:par>
                                <p:cTn id="230" presetID="2" presetClass="entr" presetSubtype="8" fill="hold" nodeType="withEffect">
                                  <p:stCondLst>
                                    <p:cond delay="0"/>
                                  </p:stCondLst>
                                  <p:childTnLst>
                                    <p:set>
                                      <p:cBhvr>
                                        <p:cTn id="231" dur="1" fill="hold">
                                          <p:stCondLst>
                                            <p:cond delay="0"/>
                                          </p:stCondLst>
                                        </p:cTn>
                                        <p:tgtEl>
                                          <p:spTgt spid="51"/>
                                        </p:tgtEl>
                                        <p:attrNameLst>
                                          <p:attrName>style.visibility</p:attrName>
                                        </p:attrNameLst>
                                      </p:cBhvr>
                                      <p:to>
                                        <p:strVal val="visible"/>
                                      </p:to>
                                    </p:set>
                                    <p:anim calcmode="lin" valueType="num">
                                      <p:cBhvr additive="base">
                                        <p:cTn id="232" dur="500" fill="hold"/>
                                        <p:tgtEl>
                                          <p:spTgt spid="51"/>
                                        </p:tgtEl>
                                        <p:attrNameLst>
                                          <p:attrName>ppt_x</p:attrName>
                                        </p:attrNameLst>
                                      </p:cBhvr>
                                      <p:tavLst>
                                        <p:tav tm="0">
                                          <p:val>
                                            <p:strVal val="0-#ppt_w/2"/>
                                          </p:val>
                                        </p:tav>
                                        <p:tav tm="100000">
                                          <p:val>
                                            <p:strVal val="#ppt_x"/>
                                          </p:val>
                                        </p:tav>
                                      </p:tavLst>
                                    </p:anim>
                                    <p:animEffect transition="in" filter="fade">
                                      <p:cBhvr>
                                        <p:cTn id="233" dur="500"/>
                                        <p:tgtEl>
                                          <p:spTgt spid="51"/>
                                        </p:tgtEl>
                                      </p:cBhvr>
                                    </p:animEffect>
                                  </p:childTnLst>
                                </p:cTn>
                              </p:par>
                            </p:childTnLst>
                          </p:cTn>
                        </p:par>
                        <p:par>
                          <p:cTn id="234" fill="hold">
                            <p:stCondLst>
                              <p:cond delay="4410"/>
                            </p:stCondLst>
                            <p:childTnLst>
                              <p:par>
                                <p:cTn id="235" presetID="2" presetClass="entr" presetSubtype="8" fill="hold" nodeType="withEffect">
                                  <p:stCondLst>
                                    <p:cond delay="0"/>
                                  </p:stCondLst>
                                  <p:childTnLst>
                                    <p:set>
                                      <p:cBhvr>
                                        <p:cTn id="236" dur="1" fill="hold">
                                          <p:stCondLst>
                                            <p:cond delay="0"/>
                                          </p:stCondLst>
                                        </p:cTn>
                                        <p:tgtEl>
                                          <p:spTgt spid="52"/>
                                        </p:tgtEl>
                                        <p:attrNameLst>
                                          <p:attrName>style.visibility</p:attrName>
                                        </p:attrNameLst>
                                      </p:cBhvr>
                                      <p:to>
                                        <p:strVal val="visible"/>
                                      </p:to>
                                    </p:set>
                                    <p:anim calcmode="lin" valueType="num">
                                      <p:cBhvr additive="base">
                                        <p:cTn id="237" dur="500" fill="hold"/>
                                        <p:tgtEl>
                                          <p:spTgt spid="52"/>
                                        </p:tgtEl>
                                        <p:attrNameLst>
                                          <p:attrName>ppt_x</p:attrName>
                                        </p:attrNameLst>
                                      </p:cBhvr>
                                      <p:tavLst>
                                        <p:tav tm="0">
                                          <p:val>
                                            <p:strVal val="0-#ppt_w/2"/>
                                          </p:val>
                                        </p:tav>
                                        <p:tav tm="100000">
                                          <p:val>
                                            <p:strVal val="#ppt_x"/>
                                          </p:val>
                                        </p:tav>
                                      </p:tavLst>
                                    </p:anim>
                                    <p:animEffect transition="in" filter="fade">
                                      <p:cBhvr>
                                        <p:cTn id="238" dur="500"/>
                                        <p:tgtEl>
                                          <p:spTgt spid="52"/>
                                        </p:tgtEl>
                                      </p:cBhvr>
                                    </p:animEffect>
                                  </p:childTnLst>
                                </p:cTn>
                              </p:par>
                            </p:childTnLst>
                          </p:cTn>
                        </p:par>
                        <p:par>
                          <p:cTn id="239" fill="hold">
                            <p:stCondLst>
                              <p:cond delay="4530"/>
                            </p:stCondLst>
                            <p:childTnLst>
                              <p:par>
                                <p:cTn id="240" presetID="2" presetClass="entr" presetSubtype="8" fill="hold" nodeType="withEffect">
                                  <p:stCondLst>
                                    <p:cond delay="0"/>
                                  </p:stCondLst>
                                  <p:childTnLst>
                                    <p:set>
                                      <p:cBhvr>
                                        <p:cTn id="241" dur="1" fill="hold">
                                          <p:stCondLst>
                                            <p:cond delay="0"/>
                                          </p:stCondLst>
                                        </p:cTn>
                                        <p:tgtEl>
                                          <p:spTgt spid="53"/>
                                        </p:tgtEl>
                                        <p:attrNameLst>
                                          <p:attrName>style.visibility</p:attrName>
                                        </p:attrNameLst>
                                      </p:cBhvr>
                                      <p:to>
                                        <p:strVal val="visible"/>
                                      </p:to>
                                    </p:set>
                                    <p:anim calcmode="lin" valueType="num">
                                      <p:cBhvr additive="base">
                                        <p:cTn id="242" dur="500" fill="hold"/>
                                        <p:tgtEl>
                                          <p:spTgt spid="53"/>
                                        </p:tgtEl>
                                        <p:attrNameLst>
                                          <p:attrName>ppt_x</p:attrName>
                                        </p:attrNameLst>
                                      </p:cBhvr>
                                      <p:tavLst>
                                        <p:tav tm="0">
                                          <p:val>
                                            <p:strVal val="0-#ppt_w/2"/>
                                          </p:val>
                                        </p:tav>
                                        <p:tav tm="100000">
                                          <p:val>
                                            <p:strVal val="#ppt_x"/>
                                          </p:val>
                                        </p:tav>
                                      </p:tavLst>
                                    </p:anim>
                                    <p:animEffect transition="in" filter="fade">
                                      <p:cBhvr>
                                        <p:cTn id="243" dur="500"/>
                                        <p:tgtEl>
                                          <p:spTgt spid="53"/>
                                        </p:tgtEl>
                                      </p:cBhvr>
                                    </p:animEffect>
                                  </p:childTnLst>
                                </p:cTn>
                              </p:par>
                            </p:childTnLst>
                          </p:cTn>
                        </p:par>
                        <p:par>
                          <p:cTn id="244" fill="hold">
                            <p:stCondLst>
                              <p:cond delay="4530"/>
                            </p:stCondLst>
                            <p:childTnLst>
                              <p:par>
                                <p:cTn id="245" presetID="2" presetClass="entr" presetSubtype="8" fill="hold" nodeType="withEffect">
                                  <p:stCondLst>
                                    <p:cond delay="0"/>
                                  </p:stCondLst>
                                  <p:childTnLst>
                                    <p:set>
                                      <p:cBhvr>
                                        <p:cTn id="246" dur="1" fill="hold">
                                          <p:stCondLst>
                                            <p:cond delay="0"/>
                                          </p:stCondLst>
                                        </p:cTn>
                                        <p:tgtEl>
                                          <p:spTgt spid="54"/>
                                        </p:tgtEl>
                                        <p:attrNameLst>
                                          <p:attrName>style.visibility</p:attrName>
                                        </p:attrNameLst>
                                      </p:cBhvr>
                                      <p:to>
                                        <p:strVal val="visible"/>
                                      </p:to>
                                    </p:set>
                                    <p:anim calcmode="lin" valueType="num">
                                      <p:cBhvr additive="base">
                                        <p:cTn id="247" dur="500" fill="hold"/>
                                        <p:tgtEl>
                                          <p:spTgt spid="54"/>
                                        </p:tgtEl>
                                        <p:attrNameLst>
                                          <p:attrName>ppt_x</p:attrName>
                                        </p:attrNameLst>
                                      </p:cBhvr>
                                      <p:tavLst>
                                        <p:tav tm="0">
                                          <p:val>
                                            <p:strVal val="0-#ppt_w/2"/>
                                          </p:val>
                                        </p:tav>
                                        <p:tav tm="100000">
                                          <p:val>
                                            <p:strVal val="#ppt_x"/>
                                          </p:val>
                                        </p:tav>
                                      </p:tavLst>
                                    </p:anim>
                                    <p:animEffect transition="in" filter="fade">
                                      <p:cBhvr>
                                        <p:cTn id="248" dur="500"/>
                                        <p:tgtEl>
                                          <p:spTgt spid="54"/>
                                        </p:tgtEl>
                                      </p:cBhvr>
                                    </p:animEffect>
                                  </p:childTnLst>
                                </p:cTn>
                              </p:par>
                            </p:childTnLst>
                          </p:cTn>
                        </p:par>
                        <p:par>
                          <p:cTn id="249" fill="hold">
                            <p:stCondLst>
                              <p:cond delay="4900"/>
                            </p:stCondLst>
                            <p:childTnLst>
                              <p:par>
                                <p:cTn id="250" presetID="2" presetClass="entr" presetSubtype="8" fill="hold" nodeType="withEffect">
                                  <p:stCondLst>
                                    <p:cond delay="0"/>
                                  </p:stCondLst>
                                  <p:childTnLst>
                                    <p:set>
                                      <p:cBhvr>
                                        <p:cTn id="251" dur="1" fill="hold">
                                          <p:stCondLst>
                                            <p:cond delay="0"/>
                                          </p:stCondLst>
                                        </p:cTn>
                                        <p:tgtEl>
                                          <p:spTgt spid="55"/>
                                        </p:tgtEl>
                                        <p:attrNameLst>
                                          <p:attrName>style.visibility</p:attrName>
                                        </p:attrNameLst>
                                      </p:cBhvr>
                                      <p:to>
                                        <p:strVal val="visible"/>
                                      </p:to>
                                    </p:set>
                                    <p:anim calcmode="lin" valueType="num">
                                      <p:cBhvr additive="base">
                                        <p:cTn id="252" dur="500" fill="hold"/>
                                        <p:tgtEl>
                                          <p:spTgt spid="55"/>
                                        </p:tgtEl>
                                        <p:attrNameLst>
                                          <p:attrName>ppt_x</p:attrName>
                                        </p:attrNameLst>
                                      </p:cBhvr>
                                      <p:tavLst>
                                        <p:tav tm="0">
                                          <p:val>
                                            <p:strVal val="0-#ppt_w/2"/>
                                          </p:val>
                                        </p:tav>
                                        <p:tav tm="100000">
                                          <p:val>
                                            <p:strVal val="#ppt_x"/>
                                          </p:val>
                                        </p:tav>
                                      </p:tavLst>
                                    </p:anim>
                                    <p:animEffect transition="in" filter="fade">
                                      <p:cBhvr>
                                        <p:cTn id="253" dur="500"/>
                                        <p:tgtEl>
                                          <p:spTgt spid="55"/>
                                        </p:tgtEl>
                                      </p:cBhvr>
                                    </p:animEffect>
                                  </p:childTnLst>
                                </p:cTn>
                              </p:par>
                            </p:childTnLst>
                          </p:cTn>
                        </p:par>
                        <p:par>
                          <p:cTn id="254" fill="hold">
                            <p:stCondLst>
                              <p:cond delay="4900"/>
                            </p:stCondLst>
                            <p:childTnLst>
                              <p:par>
                                <p:cTn id="255" presetID="2" presetClass="entr" presetSubtype="8" fill="hold" nodeType="withEffect">
                                  <p:stCondLst>
                                    <p:cond delay="0"/>
                                  </p:stCondLst>
                                  <p:childTnLst>
                                    <p:set>
                                      <p:cBhvr>
                                        <p:cTn id="256" dur="1" fill="hold">
                                          <p:stCondLst>
                                            <p:cond delay="0"/>
                                          </p:stCondLst>
                                        </p:cTn>
                                        <p:tgtEl>
                                          <p:spTgt spid="56"/>
                                        </p:tgtEl>
                                        <p:attrNameLst>
                                          <p:attrName>style.visibility</p:attrName>
                                        </p:attrNameLst>
                                      </p:cBhvr>
                                      <p:to>
                                        <p:strVal val="visible"/>
                                      </p:to>
                                    </p:set>
                                    <p:anim calcmode="lin" valueType="num">
                                      <p:cBhvr additive="base">
                                        <p:cTn id="257" dur="500" fill="hold"/>
                                        <p:tgtEl>
                                          <p:spTgt spid="56"/>
                                        </p:tgtEl>
                                        <p:attrNameLst>
                                          <p:attrName>ppt_x</p:attrName>
                                        </p:attrNameLst>
                                      </p:cBhvr>
                                      <p:tavLst>
                                        <p:tav tm="0">
                                          <p:val>
                                            <p:strVal val="0-#ppt_w/2"/>
                                          </p:val>
                                        </p:tav>
                                        <p:tav tm="100000">
                                          <p:val>
                                            <p:strVal val="#ppt_x"/>
                                          </p:val>
                                        </p:tav>
                                      </p:tavLst>
                                    </p:anim>
                                    <p:animEffect transition="in" filter="fade">
                                      <p:cBhvr>
                                        <p:cTn id="258" dur="500"/>
                                        <p:tgtEl>
                                          <p:spTgt spid="56"/>
                                        </p:tgtEl>
                                      </p:cBhvr>
                                    </p:animEffect>
                                  </p:childTnLst>
                                </p:cTn>
                              </p:par>
                            </p:childTnLst>
                          </p:cTn>
                        </p:par>
                        <p:par>
                          <p:cTn id="259" fill="hold">
                            <p:stCondLst>
                              <p:cond delay="5020"/>
                            </p:stCondLst>
                            <p:childTnLst>
                              <p:par>
                                <p:cTn id="260" presetID="2" presetClass="entr" presetSubtype="8" fill="hold" nodeType="withEffect">
                                  <p:stCondLst>
                                    <p:cond delay="0"/>
                                  </p:stCondLst>
                                  <p:childTnLst>
                                    <p:set>
                                      <p:cBhvr>
                                        <p:cTn id="261" dur="1" fill="hold">
                                          <p:stCondLst>
                                            <p:cond delay="0"/>
                                          </p:stCondLst>
                                        </p:cTn>
                                        <p:tgtEl>
                                          <p:spTgt spid="57"/>
                                        </p:tgtEl>
                                        <p:attrNameLst>
                                          <p:attrName>style.visibility</p:attrName>
                                        </p:attrNameLst>
                                      </p:cBhvr>
                                      <p:to>
                                        <p:strVal val="visible"/>
                                      </p:to>
                                    </p:set>
                                    <p:anim calcmode="lin" valueType="num">
                                      <p:cBhvr additive="base">
                                        <p:cTn id="262" dur="500" fill="hold"/>
                                        <p:tgtEl>
                                          <p:spTgt spid="57"/>
                                        </p:tgtEl>
                                        <p:attrNameLst>
                                          <p:attrName>ppt_x</p:attrName>
                                        </p:attrNameLst>
                                      </p:cBhvr>
                                      <p:tavLst>
                                        <p:tav tm="0">
                                          <p:val>
                                            <p:strVal val="0-#ppt_w/2"/>
                                          </p:val>
                                        </p:tav>
                                        <p:tav tm="100000">
                                          <p:val>
                                            <p:strVal val="#ppt_x"/>
                                          </p:val>
                                        </p:tav>
                                      </p:tavLst>
                                    </p:anim>
                                    <p:animEffect transition="in" filter="fade">
                                      <p:cBhvr>
                                        <p:cTn id="263" dur="500"/>
                                        <p:tgtEl>
                                          <p:spTgt spid="57"/>
                                        </p:tgtEl>
                                      </p:cBhvr>
                                    </p:animEffect>
                                  </p:childTnLst>
                                </p:cTn>
                              </p:par>
                            </p:childTnLst>
                          </p:cTn>
                        </p:par>
                        <p:par>
                          <p:cTn id="264" fill="hold">
                            <p:stCondLst>
                              <p:cond delay="5300"/>
                            </p:stCondLst>
                            <p:childTnLst>
                              <p:par>
                                <p:cTn id="265" presetID="2" presetClass="entr" presetSubtype="8" fill="hold" nodeType="withEffect">
                                  <p:stCondLst>
                                    <p:cond delay="0"/>
                                  </p:stCondLst>
                                  <p:childTnLst>
                                    <p:set>
                                      <p:cBhvr>
                                        <p:cTn id="266" dur="1" fill="hold">
                                          <p:stCondLst>
                                            <p:cond delay="0"/>
                                          </p:stCondLst>
                                        </p:cTn>
                                        <p:tgtEl>
                                          <p:spTgt spid="58"/>
                                        </p:tgtEl>
                                        <p:attrNameLst>
                                          <p:attrName>style.visibility</p:attrName>
                                        </p:attrNameLst>
                                      </p:cBhvr>
                                      <p:to>
                                        <p:strVal val="visible"/>
                                      </p:to>
                                    </p:set>
                                    <p:anim calcmode="lin" valueType="num">
                                      <p:cBhvr additive="base">
                                        <p:cTn id="267" dur="500" fill="hold"/>
                                        <p:tgtEl>
                                          <p:spTgt spid="58"/>
                                        </p:tgtEl>
                                        <p:attrNameLst>
                                          <p:attrName>ppt_x</p:attrName>
                                        </p:attrNameLst>
                                      </p:cBhvr>
                                      <p:tavLst>
                                        <p:tav tm="0">
                                          <p:val>
                                            <p:strVal val="0-#ppt_w/2"/>
                                          </p:val>
                                        </p:tav>
                                        <p:tav tm="100000">
                                          <p:val>
                                            <p:strVal val="#ppt_x"/>
                                          </p:val>
                                        </p:tav>
                                      </p:tavLst>
                                    </p:anim>
                                    <p:animEffect transition="in" filter="fade">
                                      <p:cBhvr>
                                        <p:cTn id="268" dur="500"/>
                                        <p:tgtEl>
                                          <p:spTgt spid="58"/>
                                        </p:tgtEl>
                                      </p:cBhvr>
                                    </p:animEffect>
                                  </p:childTnLst>
                                </p:cTn>
                              </p:par>
                            </p:childTnLst>
                          </p:cTn>
                        </p:par>
                        <p:par>
                          <p:cTn id="269" fill="hold">
                            <p:stCondLst>
                              <p:cond delay="5300"/>
                            </p:stCondLst>
                            <p:childTnLst>
                              <p:par>
                                <p:cTn id="270" presetID="2" presetClass="entr" presetSubtype="8" fill="hold" nodeType="withEffect">
                                  <p:stCondLst>
                                    <p:cond delay="0"/>
                                  </p:stCondLst>
                                  <p:childTnLst>
                                    <p:set>
                                      <p:cBhvr>
                                        <p:cTn id="271" dur="1" fill="hold">
                                          <p:stCondLst>
                                            <p:cond delay="0"/>
                                          </p:stCondLst>
                                        </p:cTn>
                                        <p:tgtEl>
                                          <p:spTgt spid="59"/>
                                        </p:tgtEl>
                                        <p:attrNameLst>
                                          <p:attrName>style.visibility</p:attrName>
                                        </p:attrNameLst>
                                      </p:cBhvr>
                                      <p:to>
                                        <p:strVal val="visible"/>
                                      </p:to>
                                    </p:set>
                                    <p:anim calcmode="lin" valueType="num">
                                      <p:cBhvr additive="base">
                                        <p:cTn id="272" dur="500" fill="hold"/>
                                        <p:tgtEl>
                                          <p:spTgt spid="59"/>
                                        </p:tgtEl>
                                        <p:attrNameLst>
                                          <p:attrName>ppt_x</p:attrName>
                                        </p:attrNameLst>
                                      </p:cBhvr>
                                      <p:tavLst>
                                        <p:tav tm="0">
                                          <p:val>
                                            <p:strVal val="0-#ppt_w/2"/>
                                          </p:val>
                                        </p:tav>
                                        <p:tav tm="100000">
                                          <p:val>
                                            <p:strVal val="#ppt_x"/>
                                          </p:val>
                                        </p:tav>
                                      </p:tavLst>
                                    </p:anim>
                                    <p:animEffect transition="in" filter="fade">
                                      <p:cBhvr>
                                        <p:cTn id="273" dur="500"/>
                                        <p:tgtEl>
                                          <p:spTgt spid="59"/>
                                        </p:tgtEl>
                                      </p:cBhvr>
                                    </p:animEffect>
                                  </p:childTnLst>
                                </p:cTn>
                              </p:par>
                            </p:childTnLst>
                          </p:cTn>
                        </p:par>
                        <p:par>
                          <p:cTn id="274" fill="hold">
                            <p:stCondLst>
                              <p:cond delay="5420"/>
                            </p:stCondLst>
                            <p:childTnLst>
                              <p:par>
                                <p:cTn id="275" presetID="2" presetClass="entr" presetSubtype="8" fill="hold" nodeType="withEffect">
                                  <p:stCondLst>
                                    <p:cond delay="0"/>
                                  </p:stCondLst>
                                  <p:childTnLst>
                                    <p:set>
                                      <p:cBhvr>
                                        <p:cTn id="276" dur="1" fill="hold">
                                          <p:stCondLst>
                                            <p:cond delay="0"/>
                                          </p:stCondLst>
                                        </p:cTn>
                                        <p:tgtEl>
                                          <p:spTgt spid="60"/>
                                        </p:tgtEl>
                                        <p:attrNameLst>
                                          <p:attrName>style.visibility</p:attrName>
                                        </p:attrNameLst>
                                      </p:cBhvr>
                                      <p:to>
                                        <p:strVal val="visible"/>
                                      </p:to>
                                    </p:set>
                                    <p:anim calcmode="lin" valueType="num">
                                      <p:cBhvr additive="base">
                                        <p:cTn id="277" dur="500" fill="hold"/>
                                        <p:tgtEl>
                                          <p:spTgt spid="60"/>
                                        </p:tgtEl>
                                        <p:attrNameLst>
                                          <p:attrName>ppt_x</p:attrName>
                                        </p:attrNameLst>
                                      </p:cBhvr>
                                      <p:tavLst>
                                        <p:tav tm="0">
                                          <p:val>
                                            <p:strVal val="0-#ppt_w/2"/>
                                          </p:val>
                                        </p:tav>
                                        <p:tav tm="100000">
                                          <p:val>
                                            <p:strVal val="#ppt_x"/>
                                          </p:val>
                                        </p:tav>
                                      </p:tavLst>
                                    </p:anim>
                                    <p:animEffect transition="in" filter="fade">
                                      <p:cBhvr>
                                        <p:cTn id="278" dur="500"/>
                                        <p:tgtEl>
                                          <p:spTgt spid="60"/>
                                        </p:tgtEl>
                                      </p:cBhvr>
                                    </p:animEffect>
                                  </p:childTnLst>
                                </p:cTn>
                              </p:par>
                            </p:childTnLst>
                          </p:cTn>
                        </p:par>
                        <p:par>
                          <p:cTn id="279" fill="hold">
                            <p:stCondLst>
                              <p:cond delay="5700"/>
                            </p:stCondLst>
                            <p:childTnLst>
                              <p:par>
                                <p:cTn id="280" presetID="2" presetClass="entr" presetSubtype="8" fill="hold" nodeType="withEffect">
                                  <p:stCondLst>
                                    <p:cond delay="0"/>
                                  </p:stCondLst>
                                  <p:childTnLst>
                                    <p:set>
                                      <p:cBhvr>
                                        <p:cTn id="281" dur="1" fill="hold">
                                          <p:stCondLst>
                                            <p:cond delay="0"/>
                                          </p:stCondLst>
                                        </p:cTn>
                                        <p:tgtEl>
                                          <p:spTgt spid="61"/>
                                        </p:tgtEl>
                                        <p:attrNameLst>
                                          <p:attrName>style.visibility</p:attrName>
                                        </p:attrNameLst>
                                      </p:cBhvr>
                                      <p:to>
                                        <p:strVal val="visible"/>
                                      </p:to>
                                    </p:set>
                                    <p:anim calcmode="lin" valueType="num">
                                      <p:cBhvr additive="base">
                                        <p:cTn id="282" dur="500" fill="hold"/>
                                        <p:tgtEl>
                                          <p:spTgt spid="61"/>
                                        </p:tgtEl>
                                        <p:attrNameLst>
                                          <p:attrName>ppt_x</p:attrName>
                                        </p:attrNameLst>
                                      </p:cBhvr>
                                      <p:tavLst>
                                        <p:tav tm="0">
                                          <p:val>
                                            <p:strVal val="0-#ppt_w/2"/>
                                          </p:val>
                                        </p:tav>
                                        <p:tav tm="100000">
                                          <p:val>
                                            <p:strVal val="#ppt_x"/>
                                          </p:val>
                                        </p:tav>
                                      </p:tavLst>
                                    </p:anim>
                                    <p:animEffect transition="in" filter="fade">
                                      <p:cBhvr>
                                        <p:cTn id="283" dur="500"/>
                                        <p:tgtEl>
                                          <p:spTgt spid="61"/>
                                        </p:tgtEl>
                                      </p:cBhvr>
                                    </p:animEffect>
                                  </p:childTnLst>
                                </p:cTn>
                              </p:par>
                            </p:childTnLst>
                          </p:cTn>
                        </p:par>
                        <p:par>
                          <p:cTn id="284" fill="hold">
                            <p:stCondLst>
                              <p:cond delay="5700"/>
                            </p:stCondLst>
                            <p:childTnLst>
                              <p:par>
                                <p:cTn id="285" presetID="2" presetClass="entr" presetSubtype="8" fill="hold" nodeType="withEffect">
                                  <p:stCondLst>
                                    <p:cond delay="0"/>
                                  </p:stCondLst>
                                  <p:childTnLst>
                                    <p:set>
                                      <p:cBhvr>
                                        <p:cTn id="286" dur="1" fill="hold">
                                          <p:stCondLst>
                                            <p:cond delay="0"/>
                                          </p:stCondLst>
                                        </p:cTn>
                                        <p:tgtEl>
                                          <p:spTgt spid="62"/>
                                        </p:tgtEl>
                                        <p:attrNameLst>
                                          <p:attrName>style.visibility</p:attrName>
                                        </p:attrNameLst>
                                      </p:cBhvr>
                                      <p:to>
                                        <p:strVal val="visible"/>
                                      </p:to>
                                    </p:set>
                                    <p:anim calcmode="lin" valueType="num">
                                      <p:cBhvr additive="base">
                                        <p:cTn id="287" dur="500" fill="hold"/>
                                        <p:tgtEl>
                                          <p:spTgt spid="62"/>
                                        </p:tgtEl>
                                        <p:attrNameLst>
                                          <p:attrName>ppt_x</p:attrName>
                                        </p:attrNameLst>
                                      </p:cBhvr>
                                      <p:tavLst>
                                        <p:tav tm="0">
                                          <p:val>
                                            <p:strVal val="0-#ppt_w/2"/>
                                          </p:val>
                                        </p:tav>
                                        <p:tav tm="100000">
                                          <p:val>
                                            <p:strVal val="#ppt_x"/>
                                          </p:val>
                                        </p:tav>
                                      </p:tavLst>
                                    </p:anim>
                                    <p:animEffect transition="in" filter="fade">
                                      <p:cBhvr>
                                        <p:cTn id="288" dur="500"/>
                                        <p:tgtEl>
                                          <p:spTgt spid="62"/>
                                        </p:tgtEl>
                                      </p:cBhvr>
                                    </p:animEffect>
                                  </p:childTnLst>
                                </p:cTn>
                              </p:par>
                            </p:childTnLst>
                          </p:cTn>
                        </p:par>
                        <p:par>
                          <p:cTn id="289" fill="hold">
                            <p:stCondLst>
                              <p:cond delay="5820"/>
                            </p:stCondLst>
                            <p:childTnLst>
                              <p:par>
                                <p:cTn id="290" presetID="2" presetClass="entr" presetSubtype="8" fill="hold" nodeType="withEffect">
                                  <p:stCondLst>
                                    <p:cond delay="0"/>
                                  </p:stCondLst>
                                  <p:childTnLst>
                                    <p:set>
                                      <p:cBhvr>
                                        <p:cTn id="291" dur="1" fill="hold">
                                          <p:stCondLst>
                                            <p:cond delay="0"/>
                                          </p:stCondLst>
                                        </p:cTn>
                                        <p:tgtEl>
                                          <p:spTgt spid="63"/>
                                        </p:tgtEl>
                                        <p:attrNameLst>
                                          <p:attrName>style.visibility</p:attrName>
                                        </p:attrNameLst>
                                      </p:cBhvr>
                                      <p:to>
                                        <p:strVal val="visible"/>
                                      </p:to>
                                    </p:set>
                                    <p:anim calcmode="lin" valueType="num">
                                      <p:cBhvr additive="base">
                                        <p:cTn id="292" dur="500" fill="hold"/>
                                        <p:tgtEl>
                                          <p:spTgt spid="63"/>
                                        </p:tgtEl>
                                        <p:attrNameLst>
                                          <p:attrName>ppt_x</p:attrName>
                                        </p:attrNameLst>
                                      </p:cBhvr>
                                      <p:tavLst>
                                        <p:tav tm="0">
                                          <p:val>
                                            <p:strVal val="0-#ppt_w/2"/>
                                          </p:val>
                                        </p:tav>
                                        <p:tav tm="100000">
                                          <p:val>
                                            <p:strVal val="#ppt_x"/>
                                          </p:val>
                                        </p:tav>
                                      </p:tavLst>
                                    </p:anim>
                                    <p:animEffect transition="in" filter="fade">
                                      <p:cBhvr>
                                        <p:cTn id="29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8521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11   —   HOW THE SIMULATION RUNS</a:t>
            </a:r>
            <a:endParaRPr lang="en-US" sz="850" dirty="0"/>
          </a:p>
        </p:txBody>
      </p:sp>
      <p:sp>
        <p:nvSpPr>
          <p:cNvPr id="3" name="Text 1"/>
          <p:cNvSpPr/>
          <p:nvPr/>
        </p:nvSpPr>
        <p:spPr>
          <a:xfrm>
            <a:off x="640080" y="539496"/>
            <a:ext cx="7863840" cy="365760"/>
          </a:xfrm>
          <a:prstGeom prst="rect">
            <a:avLst/>
          </a:prstGeom>
          <a:noFill/>
          <a:ln/>
        </p:spPr>
        <p:txBody>
          <a:bodyPr wrap="square" lIns="0" tIns="0" rIns="0" bIns="0" rtlCol="0" anchor="t"/>
          <a:lstStyle/>
          <a:p>
            <a:pPr marL="0" indent="0">
              <a:buNone/>
            </a:pPr>
            <a:r>
              <a:rPr lang="en-US" sz="2400" b="1" dirty="0">
                <a:solidFill>
                  <a:srgbClr val="10243A"/>
                </a:solidFill>
                <a:latin typeface="Calibri" pitchFamily="34" charset="0"/>
                <a:ea typeface="Calibri" pitchFamily="34" charset="-122"/>
                <a:cs typeface="Calibri" pitchFamily="34" charset="-120"/>
              </a:rPr>
              <a:t>From 210,000 rows to </a:t>
            </a:r>
            <a:r>
              <a:rPr lang="en-US" sz="2400" b="1" dirty="0">
                <a:solidFill>
                  <a:srgbClr val="0B63CE"/>
                </a:solidFill>
                <a:latin typeface="Calibri" pitchFamily="34" charset="0"/>
                <a:ea typeface="Calibri" pitchFamily="34" charset="-122"/>
                <a:cs typeface="Calibri" pitchFamily="34" charset="-120"/>
              </a:rPr>
              <a:t>a funding decision</a:t>
            </a:r>
            <a:endParaRPr lang="en-US" sz="2400" dirty="0"/>
          </a:p>
        </p:txBody>
      </p:sp>
      <p:sp>
        <p:nvSpPr>
          <p:cNvPr id="4" name="p_bar"/>
          <p:cNvSpPr/>
          <p:nvPr/>
        </p:nvSpPr>
        <p:spPr>
          <a:xfrm>
            <a:off x="640080" y="969264"/>
            <a:ext cx="7863840" cy="365760"/>
          </a:xfrm>
          <a:prstGeom prst="roundRect">
            <a:avLst>
              <a:gd name="adj" fmla="val 15000"/>
            </a:avLst>
          </a:prstGeom>
          <a:solidFill>
            <a:srgbClr val="E0F4F2"/>
          </a:solidFill>
          <a:ln w="9525">
            <a:solidFill>
              <a:srgbClr val="A9E0DA"/>
            </a:solidFill>
            <a:prstDash val="solid"/>
          </a:ln>
        </p:spPr>
        <p:txBody>
          <a:bodyPr/>
          <a:lstStyle/>
          <a:p>
            <a:endParaRPr lang="en-US"/>
          </a:p>
        </p:txBody>
      </p:sp>
      <p:sp>
        <p:nvSpPr>
          <p:cNvPr id="5" name="p_bart"/>
          <p:cNvSpPr/>
          <p:nvPr/>
        </p:nvSpPr>
        <p:spPr>
          <a:xfrm>
            <a:off x="822960" y="969264"/>
            <a:ext cx="7498080" cy="365760"/>
          </a:xfrm>
          <a:prstGeom prst="rect">
            <a:avLst/>
          </a:prstGeom>
          <a:noFill/>
          <a:ln/>
        </p:spPr>
        <p:txBody>
          <a:bodyPr wrap="square" lIns="0" tIns="0" rIns="0" bIns="0" rtlCol="0" anchor="ctr"/>
          <a:lstStyle/>
          <a:p>
            <a:pPr marL="0" indent="0">
              <a:buNone/>
            </a:pPr>
            <a:r>
              <a:rPr lang="en-US" sz="800" b="1" kern="0" spc="140" dirty="0">
                <a:solidFill>
                  <a:srgbClr val="0C8C83"/>
                </a:solidFill>
                <a:latin typeface="Calibri" pitchFamily="34" charset="0"/>
                <a:ea typeface="Calibri" pitchFamily="34" charset="-122"/>
                <a:cs typeface="Calibri" pitchFamily="34" charset="-120"/>
              </a:rPr>
              <a:t>THIS IS NOT A MOCK-UP     </a:t>
            </a:r>
            <a:r>
              <a:rPr lang="en-US" sz="950" dirty="0">
                <a:solidFill>
                  <a:srgbClr val="10243A"/>
                </a:solidFill>
                <a:latin typeface="Calibri" pitchFamily="34" charset="0"/>
                <a:ea typeface="Calibri" pitchFamily="34" charset="-122"/>
                <a:cs typeface="Calibri" pitchFamily="34" charset="-120"/>
              </a:rPr>
              <a:t>Every figure on these three slides was produced by running simulation.py against the workbook — 210,000 rows, 10,000 iterations, seed 2026.</a:t>
            </a:r>
            <a:endParaRPr lang="en-US" sz="800" dirty="0"/>
          </a:p>
        </p:txBody>
      </p:sp>
      <p:sp>
        <p:nvSpPr>
          <p:cNvPr id="6" name="st_0"/>
          <p:cNvSpPr/>
          <p:nvPr/>
        </p:nvSpPr>
        <p:spPr>
          <a:xfrm>
            <a:off x="640080" y="1481328"/>
            <a:ext cx="1499616" cy="1481328"/>
          </a:xfrm>
          <a:prstGeom prst="roundRect">
            <a:avLst>
              <a:gd name="adj" fmla="val 4321"/>
            </a:avLst>
          </a:prstGeom>
          <a:solidFill>
            <a:srgbClr val="FFFFFF"/>
          </a:solidFill>
          <a:ln w="11430">
            <a:solidFill>
              <a:srgbClr val="C9DFF6"/>
            </a:solidFill>
            <a:prstDash val="solid"/>
          </a:ln>
          <a:effectLst>
            <a:outerShdw blurRad="101600" dist="25400" dir="5400000" algn="bl" rotWithShape="0">
              <a:srgbClr val="AFC0CE">
                <a:alpha val="24000"/>
              </a:srgbClr>
            </a:outerShdw>
          </a:effectLst>
        </p:spPr>
        <p:txBody>
          <a:bodyPr/>
          <a:lstStyle/>
          <a:p>
            <a:endParaRPr lang="en-US"/>
          </a:p>
        </p:txBody>
      </p:sp>
      <p:sp>
        <p:nvSpPr>
          <p:cNvPr id="7" name="stb_0"/>
          <p:cNvSpPr/>
          <p:nvPr/>
        </p:nvSpPr>
        <p:spPr>
          <a:xfrm>
            <a:off x="768096" y="1591056"/>
            <a:ext cx="237744" cy="237744"/>
          </a:xfrm>
          <a:prstGeom prst="roundRect">
            <a:avLst>
              <a:gd name="adj" fmla="val 19231"/>
            </a:avLst>
          </a:prstGeom>
          <a:solidFill>
            <a:srgbClr val="E8F1FC"/>
          </a:solidFill>
          <a:ln w="8890">
            <a:solidFill>
              <a:srgbClr val="C9DFF6"/>
            </a:solidFill>
            <a:prstDash val="solid"/>
          </a:ln>
        </p:spPr>
        <p:txBody>
          <a:bodyPr/>
          <a:lstStyle/>
          <a:p>
            <a:endParaRPr lang="en-US"/>
          </a:p>
        </p:txBody>
      </p:sp>
      <p:sp>
        <p:nvSpPr>
          <p:cNvPr id="8" name="stn_0"/>
          <p:cNvSpPr/>
          <p:nvPr/>
        </p:nvSpPr>
        <p:spPr>
          <a:xfrm>
            <a:off x="768096" y="1591056"/>
            <a:ext cx="237744" cy="237744"/>
          </a:xfrm>
          <a:prstGeom prst="rect">
            <a:avLst/>
          </a:prstGeom>
          <a:noFill/>
          <a:ln/>
        </p:spPr>
        <p:txBody>
          <a:bodyPr wrap="square" lIns="0" tIns="0" rIns="0" bIns="0" rtlCol="0" anchor="ctr"/>
          <a:lstStyle/>
          <a:p>
            <a:pPr marL="0" indent="0" algn="ctr">
              <a:buNone/>
            </a:pPr>
            <a:r>
              <a:rPr lang="en-US" sz="1050" b="1" dirty="0">
                <a:solidFill>
                  <a:srgbClr val="0B63CE"/>
                </a:solidFill>
                <a:latin typeface="Calibri" pitchFamily="34" charset="0"/>
                <a:ea typeface="Calibri" pitchFamily="34" charset="-122"/>
                <a:cs typeface="Calibri" pitchFamily="34" charset="-120"/>
              </a:rPr>
              <a:t>1</a:t>
            </a:r>
            <a:endParaRPr lang="en-US" sz="1050" dirty="0"/>
          </a:p>
        </p:txBody>
      </p:sp>
      <p:sp>
        <p:nvSpPr>
          <p:cNvPr id="9" name="stt_0"/>
          <p:cNvSpPr/>
          <p:nvPr/>
        </p:nvSpPr>
        <p:spPr>
          <a:xfrm>
            <a:off x="1069848" y="1591056"/>
            <a:ext cx="950976" cy="237744"/>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Load</a:t>
            </a:r>
            <a:endParaRPr lang="en-US" sz="1100" dirty="0"/>
          </a:p>
        </p:txBody>
      </p:sp>
      <p:sp>
        <p:nvSpPr>
          <p:cNvPr id="10" name="std_0"/>
          <p:cNvSpPr/>
          <p:nvPr/>
        </p:nvSpPr>
        <p:spPr>
          <a:xfrm>
            <a:off x="768096" y="1892808"/>
            <a:ext cx="1243584" cy="749808"/>
          </a:xfrm>
          <a:prstGeom prst="rect">
            <a:avLst/>
          </a:prstGeom>
          <a:noFill/>
          <a:ln/>
        </p:spPr>
        <p:txBody>
          <a:bodyPr wrap="square" lIns="0" tIns="0" rIns="0" bIns="0" rtlCol="0" anchor="t"/>
          <a:lstStyle/>
          <a:p>
            <a:pPr marL="0" indent="0">
              <a:lnSpc>
                <a:spcPts val="1050"/>
              </a:lnSpc>
              <a:buNone/>
            </a:pPr>
            <a:r>
              <a:rPr lang="en-US" sz="800" dirty="0">
                <a:solidFill>
                  <a:srgbClr val="55697C"/>
                </a:solidFill>
                <a:latin typeface="Calibri" pitchFamily="34" charset="0"/>
                <a:ea typeface="Calibri" pitchFamily="34" charset="-122"/>
                <a:cs typeface="Calibri" pitchFamily="34" charset="-120"/>
              </a:rPr>
              <a:t>Join the genotype table to the participant table on participant_id.</a:t>
            </a:r>
            <a:endParaRPr lang="en-US" sz="800" dirty="0"/>
          </a:p>
        </p:txBody>
      </p:sp>
      <p:sp>
        <p:nvSpPr>
          <p:cNvPr id="11" name="sto_0"/>
          <p:cNvSpPr/>
          <p:nvPr/>
        </p:nvSpPr>
        <p:spPr>
          <a:xfrm>
            <a:off x="768096" y="2670048"/>
            <a:ext cx="1243584" cy="219456"/>
          </a:xfrm>
          <a:prstGeom prst="roundRect">
            <a:avLst>
              <a:gd name="adj" fmla="val 16667"/>
            </a:avLst>
          </a:prstGeom>
          <a:solidFill>
            <a:srgbClr val="E8F1FC"/>
          </a:solidFill>
          <a:ln w="7620">
            <a:solidFill>
              <a:srgbClr val="C9DFF6"/>
            </a:solidFill>
            <a:prstDash val="solid"/>
          </a:ln>
        </p:spPr>
        <p:txBody>
          <a:bodyPr/>
          <a:lstStyle/>
          <a:p>
            <a:endParaRPr lang="en-US"/>
          </a:p>
        </p:txBody>
      </p:sp>
      <p:sp>
        <p:nvSpPr>
          <p:cNvPr id="12" name="stot_0"/>
          <p:cNvSpPr/>
          <p:nvPr/>
        </p:nvSpPr>
        <p:spPr>
          <a:xfrm>
            <a:off x="768096" y="2670048"/>
            <a:ext cx="1243584" cy="219456"/>
          </a:xfrm>
          <a:prstGeom prst="rect">
            <a:avLst/>
          </a:prstGeom>
          <a:noFill/>
          <a:ln/>
        </p:spPr>
        <p:txBody>
          <a:bodyPr wrap="square" lIns="0" tIns="0" rIns="0" bIns="0" rtlCol="0" anchor="ctr"/>
          <a:lstStyle/>
          <a:p>
            <a:pPr marL="0" indent="0" algn="ctr">
              <a:buNone/>
            </a:pPr>
            <a:r>
              <a:rPr lang="en-US" sz="760" b="1" dirty="0">
                <a:solidFill>
                  <a:srgbClr val="0B63CE"/>
                </a:solidFill>
                <a:latin typeface="Calibri" pitchFamily="34" charset="0"/>
                <a:ea typeface="Calibri" pitchFamily="34" charset="-122"/>
                <a:cs typeface="Calibri" pitchFamily="34" charset="-120"/>
              </a:rPr>
              <a:t>210,000 rows ready</a:t>
            </a:r>
            <a:endParaRPr lang="en-US" sz="760" dirty="0"/>
          </a:p>
        </p:txBody>
      </p:sp>
      <p:sp>
        <p:nvSpPr>
          <p:cNvPr id="13" name="star_0"/>
          <p:cNvSpPr/>
          <p:nvPr/>
        </p:nvSpPr>
        <p:spPr>
          <a:xfrm>
            <a:off x="2121408" y="2121408"/>
            <a:ext cx="146304" cy="164592"/>
          </a:xfrm>
          <a:prstGeom prst="rect">
            <a:avLst/>
          </a:prstGeom>
          <a:noFill/>
          <a:ln/>
        </p:spPr>
        <p:txBody>
          <a:bodyPr wrap="square" lIns="0" tIns="0" rIns="0" bIns="0" rtlCol="0" anchor="ctr"/>
          <a:lstStyle/>
          <a:p>
            <a:pPr marL="0" indent="0" algn="ctr">
              <a:buNone/>
            </a:pPr>
            <a:r>
              <a:rPr lang="en-US" sz="800" dirty="0">
                <a:solidFill>
                  <a:srgbClr val="8FA1B2"/>
                </a:solidFill>
                <a:latin typeface="Calibri" pitchFamily="34" charset="0"/>
                <a:ea typeface="Calibri" pitchFamily="34" charset="-122"/>
                <a:cs typeface="Calibri" pitchFamily="34" charset="-120"/>
              </a:rPr>
              <a:t>▶</a:t>
            </a:r>
            <a:endParaRPr lang="en-US" sz="800" dirty="0"/>
          </a:p>
        </p:txBody>
      </p:sp>
      <p:sp>
        <p:nvSpPr>
          <p:cNvPr id="14" name="st_1"/>
          <p:cNvSpPr/>
          <p:nvPr/>
        </p:nvSpPr>
        <p:spPr>
          <a:xfrm>
            <a:off x="2244852" y="1481328"/>
            <a:ext cx="1499616" cy="1481328"/>
          </a:xfrm>
          <a:prstGeom prst="roundRect">
            <a:avLst>
              <a:gd name="adj" fmla="val 4321"/>
            </a:avLst>
          </a:prstGeom>
          <a:solidFill>
            <a:srgbClr val="FFFFFF"/>
          </a:solidFill>
          <a:ln w="11430">
            <a:solidFill>
              <a:srgbClr val="C9DFF6"/>
            </a:solidFill>
            <a:prstDash val="solid"/>
          </a:ln>
          <a:effectLst>
            <a:outerShdw blurRad="101600" dist="25400" dir="5400000" algn="bl" rotWithShape="0">
              <a:srgbClr val="AFC0CE">
                <a:alpha val="24000"/>
              </a:srgbClr>
            </a:outerShdw>
          </a:effectLst>
        </p:spPr>
        <p:txBody>
          <a:bodyPr/>
          <a:lstStyle/>
          <a:p>
            <a:endParaRPr lang="en-US"/>
          </a:p>
        </p:txBody>
      </p:sp>
      <p:sp>
        <p:nvSpPr>
          <p:cNvPr id="15" name="stb_1"/>
          <p:cNvSpPr/>
          <p:nvPr/>
        </p:nvSpPr>
        <p:spPr>
          <a:xfrm>
            <a:off x="2372868" y="1591056"/>
            <a:ext cx="237744" cy="237744"/>
          </a:xfrm>
          <a:prstGeom prst="roundRect">
            <a:avLst>
              <a:gd name="adj" fmla="val 19231"/>
            </a:avLst>
          </a:prstGeom>
          <a:solidFill>
            <a:srgbClr val="E8F1FC"/>
          </a:solidFill>
          <a:ln w="8890">
            <a:solidFill>
              <a:srgbClr val="C9DFF6"/>
            </a:solidFill>
            <a:prstDash val="solid"/>
          </a:ln>
        </p:spPr>
        <p:txBody>
          <a:bodyPr/>
          <a:lstStyle/>
          <a:p>
            <a:endParaRPr lang="en-US"/>
          </a:p>
        </p:txBody>
      </p:sp>
      <p:sp>
        <p:nvSpPr>
          <p:cNvPr id="16" name="stn_1"/>
          <p:cNvSpPr/>
          <p:nvPr/>
        </p:nvSpPr>
        <p:spPr>
          <a:xfrm>
            <a:off x="2372868" y="1591056"/>
            <a:ext cx="237744" cy="237744"/>
          </a:xfrm>
          <a:prstGeom prst="rect">
            <a:avLst/>
          </a:prstGeom>
          <a:noFill/>
          <a:ln/>
        </p:spPr>
        <p:txBody>
          <a:bodyPr wrap="square" lIns="0" tIns="0" rIns="0" bIns="0" rtlCol="0" anchor="ctr"/>
          <a:lstStyle/>
          <a:p>
            <a:pPr marL="0" indent="0" algn="ctr">
              <a:buNone/>
            </a:pPr>
            <a:r>
              <a:rPr lang="en-US" sz="1050" b="1" dirty="0">
                <a:solidFill>
                  <a:srgbClr val="0B63CE"/>
                </a:solidFill>
                <a:latin typeface="Calibri" pitchFamily="34" charset="0"/>
                <a:ea typeface="Calibri" pitchFamily="34" charset="-122"/>
                <a:cs typeface="Calibri" pitchFamily="34" charset="-120"/>
              </a:rPr>
              <a:t>2</a:t>
            </a:r>
            <a:endParaRPr lang="en-US" sz="1050" dirty="0"/>
          </a:p>
        </p:txBody>
      </p:sp>
      <p:sp>
        <p:nvSpPr>
          <p:cNvPr id="17" name="stt_1"/>
          <p:cNvSpPr/>
          <p:nvPr/>
        </p:nvSpPr>
        <p:spPr>
          <a:xfrm>
            <a:off x="2674620" y="1591056"/>
            <a:ext cx="950976" cy="237744"/>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Measure</a:t>
            </a:r>
            <a:endParaRPr lang="en-US" sz="1100" dirty="0"/>
          </a:p>
        </p:txBody>
      </p:sp>
      <p:sp>
        <p:nvSpPr>
          <p:cNvPr id="18" name="std_1"/>
          <p:cNvSpPr/>
          <p:nvPr/>
        </p:nvSpPr>
        <p:spPr>
          <a:xfrm>
            <a:off x="2372868" y="1892808"/>
            <a:ext cx="1243584" cy="749808"/>
          </a:xfrm>
          <a:prstGeom prst="rect">
            <a:avLst/>
          </a:prstGeom>
          <a:noFill/>
          <a:ln/>
        </p:spPr>
        <p:txBody>
          <a:bodyPr wrap="square" lIns="0" tIns="0" rIns="0" bIns="0" rtlCol="0" anchor="t"/>
          <a:lstStyle/>
          <a:p>
            <a:pPr marL="0" indent="0">
              <a:lnSpc>
                <a:spcPts val="1050"/>
              </a:lnSpc>
              <a:buNone/>
            </a:pPr>
            <a:r>
              <a:rPr lang="en-US" sz="800" dirty="0">
                <a:solidFill>
                  <a:srgbClr val="55697C"/>
                </a:solidFill>
                <a:latin typeface="Calibri" pitchFamily="34" charset="0"/>
                <a:ea typeface="Calibri" pitchFamily="34" charset="-122"/>
                <a:cs typeface="Calibri" pitchFamily="34" charset="-120"/>
              </a:rPr>
              <a:t>For each gene, screen 7 blood markers, then regress the disease on how many copies of the variant the person carries.</a:t>
            </a:r>
            <a:endParaRPr lang="en-US" sz="800" dirty="0"/>
          </a:p>
        </p:txBody>
      </p:sp>
      <p:sp>
        <p:nvSpPr>
          <p:cNvPr id="19" name="sto_1"/>
          <p:cNvSpPr/>
          <p:nvPr/>
        </p:nvSpPr>
        <p:spPr>
          <a:xfrm>
            <a:off x="2372868" y="2670048"/>
            <a:ext cx="1243584" cy="219456"/>
          </a:xfrm>
          <a:prstGeom prst="roundRect">
            <a:avLst>
              <a:gd name="adj" fmla="val 16667"/>
            </a:avLst>
          </a:prstGeom>
          <a:solidFill>
            <a:srgbClr val="E8F1FC"/>
          </a:solidFill>
          <a:ln w="7620">
            <a:solidFill>
              <a:srgbClr val="C9DFF6"/>
            </a:solidFill>
            <a:prstDash val="solid"/>
          </a:ln>
        </p:spPr>
        <p:txBody>
          <a:bodyPr/>
          <a:lstStyle/>
          <a:p>
            <a:endParaRPr lang="en-US"/>
          </a:p>
        </p:txBody>
      </p:sp>
      <p:sp>
        <p:nvSpPr>
          <p:cNvPr id="20" name="stot_1"/>
          <p:cNvSpPr/>
          <p:nvPr/>
        </p:nvSpPr>
        <p:spPr>
          <a:xfrm>
            <a:off x="2372868" y="2670048"/>
            <a:ext cx="1243584" cy="219456"/>
          </a:xfrm>
          <a:prstGeom prst="rect">
            <a:avLst/>
          </a:prstGeom>
          <a:noFill/>
          <a:ln/>
        </p:spPr>
        <p:txBody>
          <a:bodyPr wrap="square" lIns="0" tIns="0" rIns="0" bIns="0" rtlCol="0" anchor="ctr"/>
          <a:lstStyle/>
          <a:p>
            <a:pPr marL="0" indent="0" algn="ctr">
              <a:buNone/>
            </a:pPr>
            <a:r>
              <a:rPr lang="en-US" sz="760" b="1" dirty="0">
                <a:solidFill>
                  <a:srgbClr val="0B63CE"/>
                </a:solidFill>
                <a:latin typeface="Calibri" pitchFamily="34" charset="0"/>
                <a:ea typeface="Calibri" pitchFamily="34" charset="-122"/>
                <a:cs typeface="Calibri" pitchFamily="34" charset="-120"/>
              </a:rPr>
              <a:t>20 variants tested</a:t>
            </a:r>
            <a:endParaRPr lang="en-US" sz="760" dirty="0"/>
          </a:p>
        </p:txBody>
      </p:sp>
      <p:sp>
        <p:nvSpPr>
          <p:cNvPr id="21" name="star_1"/>
          <p:cNvSpPr/>
          <p:nvPr/>
        </p:nvSpPr>
        <p:spPr>
          <a:xfrm>
            <a:off x="3726180" y="2121408"/>
            <a:ext cx="146304" cy="164592"/>
          </a:xfrm>
          <a:prstGeom prst="rect">
            <a:avLst/>
          </a:prstGeom>
          <a:noFill/>
          <a:ln/>
        </p:spPr>
        <p:txBody>
          <a:bodyPr wrap="square" lIns="0" tIns="0" rIns="0" bIns="0" rtlCol="0" anchor="ctr"/>
          <a:lstStyle/>
          <a:p>
            <a:pPr marL="0" indent="0" algn="ctr">
              <a:buNone/>
            </a:pPr>
            <a:r>
              <a:rPr lang="en-US" sz="800" dirty="0">
                <a:solidFill>
                  <a:srgbClr val="8FA1B2"/>
                </a:solidFill>
                <a:latin typeface="Calibri" pitchFamily="34" charset="0"/>
                <a:ea typeface="Calibri" pitchFamily="34" charset="-122"/>
                <a:cs typeface="Calibri" pitchFamily="34" charset="-120"/>
              </a:rPr>
              <a:t>▶</a:t>
            </a:r>
            <a:endParaRPr lang="en-US" sz="800" dirty="0"/>
          </a:p>
        </p:txBody>
      </p:sp>
      <p:sp>
        <p:nvSpPr>
          <p:cNvPr id="22" name="st_2"/>
          <p:cNvSpPr/>
          <p:nvPr/>
        </p:nvSpPr>
        <p:spPr>
          <a:xfrm>
            <a:off x="3849624" y="1481328"/>
            <a:ext cx="1499616" cy="1481328"/>
          </a:xfrm>
          <a:prstGeom prst="roundRect">
            <a:avLst>
              <a:gd name="adj" fmla="val 4321"/>
            </a:avLst>
          </a:prstGeom>
          <a:solidFill>
            <a:srgbClr val="FFFFFF"/>
          </a:solidFill>
          <a:ln w="11430">
            <a:solidFill>
              <a:srgbClr val="A9E0DA"/>
            </a:solidFill>
            <a:prstDash val="solid"/>
          </a:ln>
          <a:effectLst>
            <a:outerShdw blurRad="101600" dist="25400" dir="5400000" algn="bl" rotWithShape="0">
              <a:srgbClr val="AFC0CE">
                <a:alpha val="24000"/>
              </a:srgbClr>
            </a:outerShdw>
          </a:effectLst>
        </p:spPr>
        <p:txBody>
          <a:bodyPr/>
          <a:lstStyle/>
          <a:p>
            <a:endParaRPr lang="en-US"/>
          </a:p>
        </p:txBody>
      </p:sp>
      <p:sp>
        <p:nvSpPr>
          <p:cNvPr id="23" name="stb_2"/>
          <p:cNvSpPr/>
          <p:nvPr/>
        </p:nvSpPr>
        <p:spPr>
          <a:xfrm>
            <a:off x="3977640" y="1591056"/>
            <a:ext cx="237744" cy="237744"/>
          </a:xfrm>
          <a:prstGeom prst="roundRect">
            <a:avLst>
              <a:gd name="adj" fmla="val 19231"/>
            </a:avLst>
          </a:prstGeom>
          <a:solidFill>
            <a:srgbClr val="E0F4F2"/>
          </a:solidFill>
          <a:ln w="8890">
            <a:solidFill>
              <a:srgbClr val="A9E0DA"/>
            </a:solidFill>
            <a:prstDash val="solid"/>
          </a:ln>
        </p:spPr>
        <p:txBody>
          <a:bodyPr/>
          <a:lstStyle/>
          <a:p>
            <a:endParaRPr lang="en-US"/>
          </a:p>
        </p:txBody>
      </p:sp>
      <p:sp>
        <p:nvSpPr>
          <p:cNvPr id="24" name="stn_2"/>
          <p:cNvSpPr/>
          <p:nvPr/>
        </p:nvSpPr>
        <p:spPr>
          <a:xfrm>
            <a:off x="3977640" y="1591056"/>
            <a:ext cx="237744" cy="237744"/>
          </a:xfrm>
          <a:prstGeom prst="rect">
            <a:avLst/>
          </a:prstGeom>
          <a:noFill/>
          <a:ln/>
        </p:spPr>
        <p:txBody>
          <a:bodyPr wrap="square" lIns="0" tIns="0" rIns="0" bIns="0" rtlCol="0" anchor="ctr"/>
          <a:lstStyle/>
          <a:p>
            <a:pPr marL="0" indent="0" algn="ctr">
              <a:buNone/>
            </a:pPr>
            <a:r>
              <a:rPr lang="en-US" sz="1050" b="1" dirty="0">
                <a:solidFill>
                  <a:srgbClr val="0C8C83"/>
                </a:solidFill>
                <a:latin typeface="Calibri" pitchFamily="34" charset="0"/>
                <a:ea typeface="Calibri" pitchFamily="34" charset="-122"/>
                <a:cs typeface="Calibri" pitchFamily="34" charset="-120"/>
              </a:rPr>
              <a:t>3</a:t>
            </a:r>
            <a:endParaRPr lang="en-US" sz="1050" dirty="0"/>
          </a:p>
        </p:txBody>
      </p:sp>
      <p:sp>
        <p:nvSpPr>
          <p:cNvPr id="25" name="stt_2"/>
          <p:cNvSpPr/>
          <p:nvPr/>
        </p:nvSpPr>
        <p:spPr>
          <a:xfrm>
            <a:off x="4279392" y="1591056"/>
            <a:ext cx="950976" cy="237744"/>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Score</a:t>
            </a:r>
            <a:endParaRPr lang="en-US" sz="1100" dirty="0"/>
          </a:p>
        </p:txBody>
      </p:sp>
      <p:sp>
        <p:nvSpPr>
          <p:cNvPr id="26" name="std_2"/>
          <p:cNvSpPr/>
          <p:nvPr/>
        </p:nvSpPr>
        <p:spPr>
          <a:xfrm>
            <a:off x="3977640" y="1892808"/>
            <a:ext cx="1243584" cy="749808"/>
          </a:xfrm>
          <a:prstGeom prst="rect">
            <a:avLst/>
          </a:prstGeom>
          <a:noFill/>
          <a:ln/>
        </p:spPr>
        <p:txBody>
          <a:bodyPr wrap="square" lIns="0" tIns="0" rIns="0" bIns="0" rtlCol="0" anchor="t"/>
          <a:lstStyle/>
          <a:p>
            <a:pPr marL="0" indent="0">
              <a:lnSpc>
                <a:spcPts val="1050"/>
              </a:lnSpc>
              <a:buNone/>
            </a:pPr>
            <a:r>
              <a:rPr lang="en-US" sz="800" dirty="0">
                <a:solidFill>
                  <a:srgbClr val="55697C"/>
                </a:solidFill>
                <a:latin typeface="Calibri" pitchFamily="34" charset="0"/>
                <a:ea typeface="Calibri" pitchFamily="34" charset="-122"/>
                <a:cs typeface="Calibri" pitchFamily="34" charset="-120"/>
              </a:rPr>
              <a:t>Turn each measurement into one number out of ten: effect size, confidence, disease link, and is the gene switched off.</a:t>
            </a:r>
            <a:endParaRPr lang="en-US" sz="800" dirty="0"/>
          </a:p>
        </p:txBody>
      </p:sp>
      <p:sp>
        <p:nvSpPr>
          <p:cNvPr id="27" name="sto_2"/>
          <p:cNvSpPr/>
          <p:nvPr/>
        </p:nvSpPr>
        <p:spPr>
          <a:xfrm>
            <a:off x="3977640" y="2670048"/>
            <a:ext cx="1243584" cy="219456"/>
          </a:xfrm>
          <a:prstGeom prst="roundRect">
            <a:avLst>
              <a:gd name="adj" fmla="val 16667"/>
            </a:avLst>
          </a:prstGeom>
          <a:solidFill>
            <a:srgbClr val="E0F4F2"/>
          </a:solidFill>
          <a:ln w="7620">
            <a:solidFill>
              <a:srgbClr val="A9E0DA"/>
            </a:solidFill>
            <a:prstDash val="solid"/>
          </a:ln>
        </p:spPr>
        <p:txBody>
          <a:bodyPr/>
          <a:lstStyle/>
          <a:p>
            <a:endParaRPr lang="en-US"/>
          </a:p>
        </p:txBody>
      </p:sp>
      <p:sp>
        <p:nvSpPr>
          <p:cNvPr id="28" name="stot_2"/>
          <p:cNvSpPr/>
          <p:nvPr/>
        </p:nvSpPr>
        <p:spPr>
          <a:xfrm>
            <a:off x="3977640" y="2670048"/>
            <a:ext cx="1243584" cy="219456"/>
          </a:xfrm>
          <a:prstGeom prst="rect">
            <a:avLst/>
          </a:prstGeom>
          <a:noFill/>
          <a:ln/>
        </p:spPr>
        <p:txBody>
          <a:bodyPr wrap="square" lIns="0" tIns="0" rIns="0" bIns="0" rtlCol="0" anchor="ctr"/>
          <a:lstStyle/>
          <a:p>
            <a:pPr marL="0" indent="0" algn="ctr">
              <a:buNone/>
            </a:pPr>
            <a:r>
              <a:rPr lang="en-US" sz="760" b="1" dirty="0">
                <a:solidFill>
                  <a:srgbClr val="0C8C83"/>
                </a:solidFill>
                <a:latin typeface="Calibri" pitchFamily="34" charset="0"/>
                <a:ea typeface="Calibri" pitchFamily="34" charset="-122"/>
                <a:cs typeface="Calibri" pitchFamily="34" charset="-120"/>
              </a:rPr>
              <a:t>evidence score 0–10</a:t>
            </a:r>
            <a:endParaRPr lang="en-US" sz="760" dirty="0"/>
          </a:p>
        </p:txBody>
      </p:sp>
      <p:sp>
        <p:nvSpPr>
          <p:cNvPr id="29" name="star_2"/>
          <p:cNvSpPr/>
          <p:nvPr/>
        </p:nvSpPr>
        <p:spPr>
          <a:xfrm>
            <a:off x="5330952" y="2121408"/>
            <a:ext cx="146304" cy="164592"/>
          </a:xfrm>
          <a:prstGeom prst="rect">
            <a:avLst/>
          </a:prstGeom>
          <a:noFill/>
          <a:ln/>
        </p:spPr>
        <p:txBody>
          <a:bodyPr wrap="square" lIns="0" tIns="0" rIns="0" bIns="0" rtlCol="0" anchor="ctr"/>
          <a:lstStyle/>
          <a:p>
            <a:pPr marL="0" indent="0" algn="ctr">
              <a:buNone/>
            </a:pPr>
            <a:r>
              <a:rPr lang="en-US" sz="800" dirty="0">
                <a:solidFill>
                  <a:srgbClr val="8FA1B2"/>
                </a:solidFill>
                <a:latin typeface="Calibri" pitchFamily="34" charset="0"/>
                <a:ea typeface="Calibri" pitchFamily="34" charset="-122"/>
                <a:cs typeface="Calibri" pitchFamily="34" charset="-120"/>
              </a:rPr>
              <a:t>▶</a:t>
            </a:r>
            <a:endParaRPr lang="en-US" sz="800" dirty="0"/>
          </a:p>
        </p:txBody>
      </p:sp>
      <p:sp>
        <p:nvSpPr>
          <p:cNvPr id="30" name="st_3"/>
          <p:cNvSpPr/>
          <p:nvPr/>
        </p:nvSpPr>
        <p:spPr>
          <a:xfrm>
            <a:off x="5454396" y="1481328"/>
            <a:ext cx="1499616" cy="1481328"/>
          </a:xfrm>
          <a:prstGeom prst="roundRect">
            <a:avLst>
              <a:gd name="adj" fmla="val 4321"/>
            </a:avLst>
          </a:prstGeom>
          <a:solidFill>
            <a:srgbClr val="FFFFFF"/>
          </a:solidFill>
          <a:ln w="11430">
            <a:solidFill>
              <a:srgbClr val="A9E0DA"/>
            </a:solidFill>
            <a:prstDash val="solid"/>
          </a:ln>
          <a:effectLst>
            <a:outerShdw blurRad="101600" dist="25400" dir="5400000" algn="bl" rotWithShape="0">
              <a:srgbClr val="AFC0CE">
                <a:alpha val="24000"/>
              </a:srgbClr>
            </a:outerShdw>
          </a:effectLst>
        </p:spPr>
        <p:txBody>
          <a:bodyPr/>
          <a:lstStyle/>
          <a:p>
            <a:endParaRPr lang="en-US"/>
          </a:p>
        </p:txBody>
      </p:sp>
      <p:sp>
        <p:nvSpPr>
          <p:cNvPr id="31" name="stb_3"/>
          <p:cNvSpPr/>
          <p:nvPr/>
        </p:nvSpPr>
        <p:spPr>
          <a:xfrm>
            <a:off x="5582412" y="1591056"/>
            <a:ext cx="237744" cy="237744"/>
          </a:xfrm>
          <a:prstGeom prst="roundRect">
            <a:avLst>
              <a:gd name="adj" fmla="val 19231"/>
            </a:avLst>
          </a:prstGeom>
          <a:solidFill>
            <a:srgbClr val="E0F4F2"/>
          </a:solidFill>
          <a:ln w="8890">
            <a:solidFill>
              <a:srgbClr val="A9E0DA"/>
            </a:solidFill>
            <a:prstDash val="solid"/>
          </a:ln>
        </p:spPr>
        <p:txBody>
          <a:bodyPr/>
          <a:lstStyle/>
          <a:p>
            <a:endParaRPr lang="en-US"/>
          </a:p>
        </p:txBody>
      </p:sp>
      <p:sp>
        <p:nvSpPr>
          <p:cNvPr id="32" name="stn_3"/>
          <p:cNvSpPr/>
          <p:nvPr/>
        </p:nvSpPr>
        <p:spPr>
          <a:xfrm>
            <a:off x="5582412" y="1591056"/>
            <a:ext cx="237744" cy="237744"/>
          </a:xfrm>
          <a:prstGeom prst="rect">
            <a:avLst/>
          </a:prstGeom>
          <a:noFill/>
          <a:ln/>
        </p:spPr>
        <p:txBody>
          <a:bodyPr wrap="square" lIns="0" tIns="0" rIns="0" bIns="0" rtlCol="0" anchor="ctr"/>
          <a:lstStyle/>
          <a:p>
            <a:pPr marL="0" indent="0" algn="ctr">
              <a:buNone/>
            </a:pPr>
            <a:r>
              <a:rPr lang="en-US" sz="1050" b="1" dirty="0">
                <a:solidFill>
                  <a:srgbClr val="0C8C83"/>
                </a:solidFill>
                <a:latin typeface="Calibri" pitchFamily="34" charset="0"/>
                <a:ea typeface="Calibri" pitchFamily="34" charset="-122"/>
                <a:cs typeface="Calibri" pitchFamily="34" charset="-120"/>
              </a:rPr>
              <a:t>4</a:t>
            </a:r>
            <a:endParaRPr lang="en-US" sz="1050" dirty="0"/>
          </a:p>
        </p:txBody>
      </p:sp>
      <p:sp>
        <p:nvSpPr>
          <p:cNvPr id="33" name="stt_3"/>
          <p:cNvSpPr/>
          <p:nvPr/>
        </p:nvSpPr>
        <p:spPr>
          <a:xfrm>
            <a:off x="5884164" y="1591056"/>
            <a:ext cx="950976" cy="237744"/>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Choose</a:t>
            </a:r>
            <a:endParaRPr lang="en-US" sz="1100" dirty="0"/>
          </a:p>
        </p:txBody>
      </p:sp>
      <p:sp>
        <p:nvSpPr>
          <p:cNvPr id="34" name="std_3"/>
          <p:cNvSpPr/>
          <p:nvPr/>
        </p:nvSpPr>
        <p:spPr>
          <a:xfrm>
            <a:off x="5582412" y="1892808"/>
            <a:ext cx="1243584" cy="749808"/>
          </a:xfrm>
          <a:prstGeom prst="rect">
            <a:avLst/>
          </a:prstGeom>
          <a:noFill/>
          <a:ln/>
        </p:spPr>
        <p:txBody>
          <a:bodyPr wrap="square" lIns="0" tIns="0" rIns="0" bIns="0" rtlCol="0" anchor="t"/>
          <a:lstStyle/>
          <a:p>
            <a:pPr marL="0" indent="0">
              <a:lnSpc>
                <a:spcPts val="1050"/>
              </a:lnSpc>
              <a:buNone/>
            </a:pPr>
            <a:r>
              <a:rPr lang="en-US" sz="800" dirty="0">
                <a:solidFill>
                  <a:srgbClr val="55697C"/>
                </a:solidFill>
                <a:latin typeface="Calibri" pitchFamily="34" charset="0"/>
                <a:ea typeface="Calibri" pitchFamily="34" charset="-122"/>
                <a:cs typeface="Calibri" pitchFamily="34" charset="-120"/>
              </a:rPr>
              <a:t>Fund the 6 best-scoring targets a $1bn budget can carry.</a:t>
            </a:r>
            <a:endParaRPr lang="en-US" sz="800" dirty="0"/>
          </a:p>
        </p:txBody>
      </p:sp>
      <p:sp>
        <p:nvSpPr>
          <p:cNvPr id="35" name="sto_3"/>
          <p:cNvSpPr/>
          <p:nvPr/>
        </p:nvSpPr>
        <p:spPr>
          <a:xfrm>
            <a:off x="5582412" y="2670048"/>
            <a:ext cx="1243584" cy="219456"/>
          </a:xfrm>
          <a:prstGeom prst="roundRect">
            <a:avLst>
              <a:gd name="adj" fmla="val 16667"/>
            </a:avLst>
          </a:prstGeom>
          <a:solidFill>
            <a:srgbClr val="E0F4F2"/>
          </a:solidFill>
          <a:ln w="7620">
            <a:solidFill>
              <a:srgbClr val="A9E0DA"/>
            </a:solidFill>
            <a:prstDash val="solid"/>
          </a:ln>
        </p:spPr>
        <p:txBody>
          <a:bodyPr/>
          <a:lstStyle/>
          <a:p>
            <a:endParaRPr lang="en-US"/>
          </a:p>
        </p:txBody>
      </p:sp>
      <p:sp>
        <p:nvSpPr>
          <p:cNvPr id="36" name="stot_3"/>
          <p:cNvSpPr/>
          <p:nvPr/>
        </p:nvSpPr>
        <p:spPr>
          <a:xfrm>
            <a:off x="5582412" y="2670048"/>
            <a:ext cx="1243584" cy="219456"/>
          </a:xfrm>
          <a:prstGeom prst="rect">
            <a:avLst/>
          </a:prstGeom>
          <a:noFill/>
          <a:ln/>
        </p:spPr>
        <p:txBody>
          <a:bodyPr wrap="square" lIns="0" tIns="0" rIns="0" bIns="0" rtlCol="0" anchor="ctr"/>
          <a:lstStyle/>
          <a:p>
            <a:pPr marL="0" indent="0" algn="ctr">
              <a:buNone/>
            </a:pPr>
            <a:r>
              <a:rPr lang="en-US" sz="760" b="1" dirty="0">
                <a:solidFill>
                  <a:srgbClr val="0C8C83"/>
                </a:solidFill>
                <a:latin typeface="Calibri" pitchFamily="34" charset="0"/>
                <a:ea typeface="Calibri" pitchFamily="34" charset="-122"/>
                <a:cs typeface="Calibri" pitchFamily="34" charset="-120"/>
              </a:rPr>
              <a:t>6 programmes funded</a:t>
            </a:r>
            <a:endParaRPr lang="en-US" sz="760" dirty="0"/>
          </a:p>
        </p:txBody>
      </p:sp>
      <p:sp>
        <p:nvSpPr>
          <p:cNvPr id="37" name="star_3"/>
          <p:cNvSpPr/>
          <p:nvPr/>
        </p:nvSpPr>
        <p:spPr>
          <a:xfrm>
            <a:off x="6935724" y="2121408"/>
            <a:ext cx="146304" cy="164592"/>
          </a:xfrm>
          <a:prstGeom prst="rect">
            <a:avLst/>
          </a:prstGeom>
          <a:noFill/>
          <a:ln/>
        </p:spPr>
        <p:txBody>
          <a:bodyPr wrap="square" lIns="0" tIns="0" rIns="0" bIns="0" rtlCol="0" anchor="ctr"/>
          <a:lstStyle/>
          <a:p>
            <a:pPr marL="0" indent="0" algn="ctr">
              <a:buNone/>
            </a:pPr>
            <a:r>
              <a:rPr lang="en-US" sz="800" dirty="0">
                <a:solidFill>
                  <a:srgbClr val="8FA1B2"/>
                </a:solidFill>
                <a:latin typeface="Calibri" pitchFamily="34" charset="0"/>
                <a:ea typeface="Calibri" pitchFamily="34" charset="-122"/>
                <a:cs typeface="Calibri" pitchFamily="34" charset="-120"/>
              </a:rPr>
              <a:t>▶</a:t>
            </a:r>
            <a:endParaRPr lang="en-US" sz="800" dirty="0"/>
          </a:p>
        </p:txBody>
      </p:sp>
      <p:sp>
        <p:nvSpPr>
          <p:cNvPr id="38" name="st_4"/>
          <p:cNvSpPr/>
          <p:nvPr/>
        </p:nvSpPr>
        <p:spPr>
          <a:xfrm>
            <a:off x="7059168" y="1481328"/>
            <a:ext cx="1499616" cy="1481328"/>
          </a:xfrm>
          <a:prstGeom prst="roundRect">
            <a:avLst>
              <a:gd name="adj" fmla="val 4321"/>
            </a:avLst>
          </a:prstGeom>
          <a:solidFill>
            <a:srgbClr val="FFFFFF"/>
          </a:solidFill>
          <a:ln w="11430">
            <a:solidFill>
              <a:srgbClr val="F2D9A8"/>
            </a:solidFill>
            <a:prstDash val="solid"/>
          </a:ln>
          <a:effectLst>
            <a:outerShdw blurRad="101600" dist="25400" dir="5400000" algn="bl" rotWithShape="0">
              <a:srgbClr val="AFC0CE">
                <a:alpha val="24000"/>
              </a:srgbClr>
            </a:outerShdw>
          </a:effectLst>
        </p:spPr>
        <p:txBody>
          <a:bodyPr/>
          <a:lstStyle/>
          <a:p>
            <a:endParaRPr lang="en-US"/>
          </a:p>
        </p:txBody>
      </p:sp>
      <p:sp>
        <p:nvSpPr>
          <p:cNvPr id="39" name="stb_4"/>
          <p:cNvSpPr/>
          <p:nvPr/>
        </p:nvSpPr>
        <p:spPr>
          <a:xfrm>
            <a:off x="7187184" y="1591056"/>
            <a:ext cx="237744" cy="237744"/>
          </a:xfrm>
          <a:prstGeom prst="roundRect">
            <a:avLst>
              <a:gd name="adj" fmla="val 19231"/>
            </a:avLst>
          </a:prstGeom>
          <a:solidFill>
            <a:srgbClr val="FDF2E0"/>
          </a:solidFill>
          <a:ln w="8890">
            <a:solidFill>
              <a:srgbClr val="F2D9A8"/>
            </a:solidFill>
            <a:prstDash val="solid"/>
          </a:ln>
        </p:spPr>
        <p:txBody>
          <a:bodyPr/>
          <a:lstStyle/>
          <a:p>
            <a:endParaRPr lang="en-US"/>
          </a:p>
        </p:txBody>
      </p:sp>
      <p:sp>
        <p:nvSpPr>
          <p:cNvPr id="40" name="stn_4"/>
          <p:cNvSpPr/>
          <p:nvPr/>
        </p:nvSpPr>
        <p:spPr>
          <a:xfrm>
            <a:off x="7187184" y="1591056"/>
            <a:ext cx="237744" cy="237744"/>
          </a:xfrm>
          <a:prstGeom prst="rect">
            <a:avLst/>
          </a:prstGeom>
          <a:noFill/>
          <a:ln/>
        </p:spPr>
        <p:txBody>
          <a:bodyPr wrap="square" lIns="0" tIns="0" rIns="0" bIns="0" rtlCol="0" anchor="ctr"/>
          <a:lstStyle/>
          <a:p>
            <a:pPr marL="0" indent="0" algn="ctr">
              <a:buNone/>
            </a:pPr>
            <a:r>
              <a:rPr lang="en-US" sz="1050" b="1" dirty="0">
                <a:solidFill>
                  <a:srgbClr val="C77A0A"/>
                </a:solidFill>
                <a:latin typeface="Calibri" pitchFamily="34" charset="0"/>
                <a:ea typeface="Calibri" pitchFamily="34" charset="-122"/>
                <a:cs typeface="Calibri" pitchFamily="34" charset="-120"/>
              </a:rPr>
              <a:t>5</a:t>
            </a:r>
            <a:endParaRPr lang="en-US" sz="1050" dirty="0"/>
          </a:p>
        </p:txBody>
      </p:sp>
      <p:sp>
        <p:nvSpPr>
          <p:cNvPr id="41" name="stt_4"/>
          <p:cNvSpPr/>
          <p:nvPr/>
        </p:nvSpPr>
        <p:spPr>
          <a:xfrm>
            <a:off x="7488936" y="1591056"/>
            <a:ext cx="950976" cy="237744"/>
          </a:xfrm>
          <a:prstGeom prst="rect">
            <a:avLst/>
          </a:prstGeom>
          <a:noFill/>
          <a:ln/>
        </p:spPr>
        <p:txBody>
          <a:bodyPr wrap="square" lIns="0" tIns="0" rIns="0" bIns="0" rtlCol="0" anchor="ctr"/>
          <a:lstStyle/>
          <a:p>
            <a:pPr marL="0" indent="0">
              <a:buNone/>
            </a:pPr>
            <a:r>
              <a:rPr lang="en-US" sz="1100" b="1" dirty="0">
                <a:solidFill>
                  <a:srgbClr val="10243A"/>
                </a:solidFill>
                <a:latin typeface="Calibri" pitchFamily="34" charset="0"/>
                <a:ea typeface="Calibri" pitchFamily="34" charset="-122"/>
                <a:cs typeface="Calibri" pitchFamily="34" charset="-120"/>
              </a:rPr>
              <a:t>Roll the dice</a:t>
            </a:r>
            <a:endParaRPr lang="en-US" sz="1100" dirty="0"/>
          </a:p>
        </p:txBody>
      </p:sp>
      <p:sp>
        <p:nvSpPr>
          <p:cNvPr id="42" name="std_4"/>
          <p:cNvSpPr/>
          <p:nvPr/>
        </p:nvSpPr>
        <p:spPr>
          <a:xfrm>
            <a:off x="7187184" y="1892808"/>
            <a:ext cx="1243584" cy="749808"/>
          </a:xfrm>
          <a:prstGeom prst="rect">
            <a:avLst/>
          </a:prstGeom>
          <a:noFill/>
          <a:ln/>
        </p:spPr>
        <p:txBody>
          <a:bodyPr wrap="square" lIns="0" tIns="0" rIns="0" bIns="0" rtlCol="0" anchor="t"/>
          <a:lstStyle/>
          <a:p>
            <a:pPr marL="0" indent="0">
              <a:lnSpc>
                <a:spcPts val="1050"/>
              </a:lnSpc>
              <a:buNone/>
            </a:pPr>
            <a:r>
              <a:rPr lang="en-US" sz="800" dirty="0">
                <a:solidFill>
                  <a:srgbClr val="55697C"/>
                </a:solidFill>
                <a:latin typeface="Calibri" pitchFamily="34" charset="0"/>
                <a:ea typeface="Calibri" pitchFamily="34" charset="-122"/>
                <a:cs typeface="Calibri" pitchFamily="34" charset="-120"/>
              </a:rPr>
              <a:t>Play the whole cycle out 10,000 times: which survive preclinical, which win approval, what it cost.</a:t>
            </a:r>
            <a:endParaRPr lang="en-US" sz="800" dirty="0"/>
          </a:p>
        </p:txBody>
      </p:sp>
      <p:sp>
        <p:nvSpPr>
          <p:cNvPr id="43" name="sto_4"/>
          <p:cNvSpPr/>
          <p:nvPr/>
        </p:nvSpPr>
        <p:spPr>
          <a:xfrm>
            <a:off x="7187184" y="2670048"/>
            <a:ext cx="1243584" cy="219456"/>
          </a:xfrm>
          <a:prstGeom prst="roundRect">
            <a:avLst>
              <a:gd name="adj" fmla="val 16667"/>
            </a:avLst>
          </a:prstGeom>
          <a:solidFill>
            <a:srgbClr val="FDF2E0"/>
          </a:solidFill>
          <a:ln w="7620">
            <a:solidFill>
              <a:srgbClr val="F2D9A8"/>
            </a:solidFill>
            <a:prstDash val="solid"/>
          </a:ln>
        </p:spPr>
        <p:txBody>
          <a:bodyPr/>
          <a:lstStyle/>
          <a:p>
            <a:endParaRPr lang="en-US"/>
          </a:p>
        </p:txBody>
      </p:sp>
      <p:sp>
        <p:nvSpPr>
          <p:cNvPr id="44" name="stot_4"/>
          <p:cNvSpPr/>
          <p:nvPr/>
        </p:nvSpPr>
        <p:spPr>
          <a:xfrm>
            <a:off x="7187184" y="2670048"/>
            <a:ext cx="1243584" cy="219456"/>
          </a:xfrm>
          <a:prstGeom prst="rect">
            <a:avLst/>
          </a:prstGeom>
          <a:noFill/>
          <a:ln/>
        </p:spPr>
        <p:txBody>
          <a:bodyPr wrap="square" lIns="0" tIns="0" rIns="0" bIns="0" rtlCol="0" anchor="ctr"/>
          <a:lstStyle/>
          <a:p>
            <a:pPr marL="0" indent="0" algn="ctr">
              <a:buNone/>
            </a:pPr>
            <a:r>
              <a:rPr lang="en-US" sz="760" b="1" dirty="0">
                <a:solidFill>
                  <a:srgbClr val="C77A0A"/>
                </a:solidFill>
                <a:latin typeface="Calibri" pitchFamily="34" charset="0"/>
                <a:ea typeface="Calibri" pitchFamily="34" charset="-122"/>
                <a:cs typeface="Calibri" pitchFamily="34" charset="-120"/>
              </a:rPr>
              <a:t>10,000 cycles</a:t>
            </a:r>
            <a:endParaRPr lang="en-US" sz="760" dirty="0"/>
          </a:p>
        </p:txBody>
      </p:sp>
      <p:sp>
        <p:nvSpPr>
          <p:cNvPr id="45" name="codebox"/>
          <p:cNvSpPr/>
          <p:nvPr/>
        </p:nvSpPr>
        <p:spPr>
          <a:xfrm>
            <a:off x="640080" y="3108960"/>
            <a:ext cx="3986784" cy="1499616"/>
          </a:xfrm>
          <a:prstGeom prst="roundRect">
            <a:avLst>
              <a:gd name="adj" fmla="val 4268"/>
            </a:avLst>
          </a:prstGeom>
          <a:solidFill>
            <a:srgbClr val="0F2036"/>
          </a:solidFill>
          <a:ln w="12700">
            <a:solidFill>
              <a:srgbClr val="0F2036"/>
            </a:solidFill>
            <a:prstDash val="solid"/>
          </a:ln>
        </p:spPr>
        <p:txBody>
          <a:bodyPr/>
          <a:lstStyle/>
          <a:p>
            <a:endParaRPr lang="en-US"/>
          </a:p>
        </p:txBody>
      </p:sp>
      <p:sp>
        <p:nvSpPr>
          <p:cNvPr id="46" name="codeh"/>
          <p:cNvSpPr/>
          <p:nvPr/>
        </p:nvSpPr>
        <p:spPr>
          <a:xfrm>
            <a:off x="804672" y="3200400"/>
            <a:ext cx="3657600" cy="164592"/>
          </a:xfrm>
          <a:prstGeom prst="rect">
            <a:avLst/>
          </a:prstGeom>
          <a:noFill/>
          <a:ln/>
        </p:spPr>
        <p:txBody>
          <a:bodyPr wrap="square" lIns="0" tIns="0" rIns="0" bIns="0" rtlCol="0" anchor="ctr"/>
          <a:lstStyle/>
          <a:p>
            <a:pPr marL="0" indent="0">
              <a:buNone/>
            </a:pPr>
            <a:r>
              <a:rPr lang="en-US" sz="700" b="1" kern="0" spc="120" dirty="0">
                <a:solidFill>
                  <a:srgbClr val="7FA8D8"/>
                </a:solidFill>
                <a:latin typeface="Calibri" pitchFamily="34" charset="0"/>
                <a:ea typeface="Calibri" pitchFamily="34" charset="-122"/>
                <a:cs typeface="Calibri" pitchFamily="34" charset="-120"/>
              </a:rPr>
              <a:t>THE MEASUREMENT STEP, IN FULL</a:t>
            </a:r>
            <a:endParaRPr lang="en-US" sz="700" dirty="0"/>
          </a:p>
        </p:txBody>
      </p:sp>
      <p:sp>
        <p:nvSpPr>
          <p:cNvPr id="47" name="codet"/>
          <p:cNvSpPr/>
          <p:nvPr/>
        </p:nvSpPr>
        <p:spPr>
          <a:xfrm>
            <a:off x="804672" y="3392424"/>
            <a:ext cx="3694176" cy="1115568"/>
          </a:xfrm>
          <a:prstGeom prst="rect">
            <a:avLst/>
          </a:prstGeom>
          <a:noFill/>
          <a:ln/>
        </p:spPr>
        <p:txBody>
          <a:bodyPr wrap="square" lIns="0" tIns="0" rIns="0" bIns="0" rtlCol="0" anchor="ctr"/>
          <a:lstStyle/>
          <a:p>
            <a:pPr marL="0" indent="0">
              <a:lnSpc>
                <a:spcPts val="1150"/>
              </a:lnSpc>
              <a:buNone/>
            </a:pPr>
            <a:r>
              <a:rPr lang="en-US" sz="800" dirty="0">
                <a:solidFill>
                  <a:srgbClr val="D9E6F5"/>
                </a:solidFill>
                <a:latin typeface="Consolas" pitchFamily="34" charset="0"/>
                <a:ea typeface="Consolas" pitchFamily="34" charset="-122"/>
                <a:cs typeface="Consolas" pitchFamily="34" charset="-120"/>
              </a:rPr>
              <a:t>X = [1, allele_dosage, age, sex, ancestry]</a:t>
            </a:r>
            <a:endParaRPr lang="en-US" sz="800" dirty="0"/>
          </a:p>
          <a:p>
            <a:pPr marL="0" indent="0">
              <a:lnSpc>
                <a:spcPts val="1150"/>
              </a:lnSpc>
              <a:buNone/>
            </a:pPr>
            <a:r>
              <a:rPr lang="en-US" sz="800" dirty="0">
                <a:solidFill>
                  <a:srgbClr val="D9E6F5"/>
                </a:solidFill>
                <a:latin typeface="Consolas" pitchFamily="34" charset="0"/>
                <a:ea typeface="Consolas" pitchFamily="34" charset="-122"/>
                <a:cs typeface="Consolas" pitchFamily="34" charset="-120"/>
              </a:rPr>
              <a:t>beta, se = logistic_fit(X, has_disease)</a:t>
            </a:r>
            <a:endParaRPr lang="en-US" sz="800" dirty="0"/>
          </a:p>
          <a:p>
            <a:pPr marL="0" indent="0">
              <a:lnSpc>
                <a:spcPts val="1150"/>
              </a:lnSpc>
              <a:buNone/>
            </a:pPr>
            <a:r>
              <a:rPr lang="en-US" sz="800" dirty="0">
                <a:solidFill>
                  <a:srgbClr val="D9E6F5"/>
                </a:solidFill>
                <a:latin typeface="Consolas" pitchFamily="34" charset="0"/>
                <a:ea typeface="Consolas" pitchFamily="34" charset="-122"/>
                <a:cs typeface="Consolas" pitchFamily="34" charset="-120"/>
              </a:rPr>
              <a:t>odds_ratio = exp(beta[dosage])</a:t>
            </a:r>
            <a:endParaRPr lang="en-US" sz="800" dirty="0"/>
          </a:p>
          <a:p>
            <a:pPr marL="0" indent="0">
              <a:lnSpc>
                <a:spcPts val="1150"/>
              </a:lnSpc>
              <a:buNone/>
            </a:pPr>
            <a:r>
              <a:rPr lang="en-US" sz="800" dirty="0">
                <a:solidFill>
                  <a:srgbClr val="D9E6F5"/>
                </a:solidFill>
                <a:latin typeface="Consolas" pitchFamily="34" charset="0"/>
                <a:ea typeface="Consolas" pitchFamily="34" charset="-122"/>
                <a:cs typeface="Consolas" pitchFamily="34" charset="-120"/>
              </a:rPr>
              <a:t>score = 3.0*effect + 2.0*confidence</a:t>
            </a:r>
            <a:endParaRPr lang="en-US" sz="800" dirty="0"/>
          </a:p>
          <a:p>
            <a:pPr marL="0" indent="0">
              <a:lnSpc>
                <a:spcPts val="1150"/>
              </a:lnSpc>
              <a:buNone/>
            </a:pPr>
            <a:r>
              <a:rPr lang="en-US" sz="800" dirty="0">
                <a:solidFill>
                  <a:srgbClr val="D9E6F5"/>
                </a:solidFill>
                <a:latin typeface="Consolas" pitchFamily="34" charset="0"/>
                <a:ea typeface="Consolas" pitchFamily="34" charset="-122"/>
                <a:cs typeface="Consolas" pitchFamily="34" charset="-120"/>
              </a:rPr>
              <a:t>      + 2.0*disease + 3.0*switched_off</a:t>
            </a:r>
            <a:endParaRPr lang="en-US" sz="800" dirty="0"/>
          </a:p>
        </p:txBody>
      </p:sp>
      <p:sp>
        <p:nvSpPr>
          <p:cNvPr id="48" name="outbox"/>
          <p:cNvSpPr/>
          <p:nvPr/>
        </p:nvSpPr>
        <p:spPr>
          <a:xfrm>
            <a:off x="4754880" y="3108960"/>
            <a:ext cx="3749040" cy="1499616"/>
          </a:xfrm>
          <a:prstGeom prst="roundRect">
            <a:avLst>
              <a:gd name="adj" fmla="val 4268"/>
            </a:avLst>
          </a:prstGeom>
          <a:solidFill>
            <a:srgbClr val="F3F7FB"/>
          </a:solidFill>
          <a:ln w="9525">
            <a:solidFill>
              <a:srgbClr val="E3E9EF"/>
            </a:solidFill>
            <a:prstDash val="solid"/>
          </a:ln>
        </p:spPr>
        <p:txBody>
          <a:bodyPr/>
          <a:lstStyle/>
          <a:p>
            <a:endParaRPr lang="en-US"/>
          </a:p>
        </p:txBody>
      </p:sp>
      <p:sp>
        <p:nvSpPr>
          <p:cNvPr id="49" name="outh"/>
          <p:cNvSpPr/>
          <p:nvPr/>
        </p:nvSpPr>
        <p:spPr>
          <a:xfrm>
            <a:off x="4919472" y="3200400"/>
            <a:ext cx="3474720" cy="164592"/>
          </a:xfrm>
          <a:prstGeom prst="rect">
            <a:avLst/>
          </a:prstGeom>
          <a:noFill/>
          <a:ln/>
        </p:spPr>
        <p:txBody>
          <a:bodyPr wrap="square" lIns="0" tIns="0" rIns="0" bIns="0" rtlCol="0" anchor="ctr"/>
          <a:lstStyle/>
          <a:p>
            <a:pPr marL="0" indent="0">
              <a:buNone/>
            </a:pPr>
            <a:r>
              <a:rPr lang="en-US" sz="700" b="1" kern="0" spc="120" dirty="0">
                <a:solidFill>
                  <a:srgbClr val="0B63CE"/>
                </a:solidFill>
                <a:latin typeface="Calibri" pitchFamily="34" charset="0"/>
                <a:ea typeface="Calibri" pitchFamily="34" charset="-122"/>
                <a:cs typeface="Calibri" pitchFamily="34" charset="-120"/>
              </a:rPr>
              <a:t>WHAT IT PRINTED WHEN I RAN IT</a:t>
            </a:r>
            <a:endParaRPr lang="en-US" sz="700" dirty="0"/>
          </a:p>
        </p:txBody>
      </p:sp>
      <p:sp>
        <p:nvSpPr>
          <p:cNvPr id="50" name="outd_0"/>
          <p:cNvSpPr/>
          <p:nvPr/>
        </p:nvSpPr>
        <p:spPr>
          <a:xfrm>
            <a:off x="4919472" y="3410712"/>
            <a:ext cx="128016" cy="201168"/>
          </a:xfrm>
          <a:prstGeom prst="rect">
            <a:avLst/>
          </a:prstGeom>
          <a:noFill/>
          <a:ln/>
        </p:spPr>
        <p:txBody>
          <a:bodyPr wrap="square" lIns="0" tIns="0" rIns="0" bIns="0" rtlCol="0" anchor="ctr"/>
          <a:lstStyle/>
          <a:p>
            <a:pPr marL="0" indent="0">
              <a:buNone/>
            </a:pPr>
            <a:r>
              <a:rPr lang="en-US" sz="800" dirty="0">
                <a:solidFill>
                  <a:srgbClr val="0C8C83"/>
                </a:solidFill>
                <a:latin typeface="Calibri" pitchFamily="34" charset="0"/>
                <a:ea typeface="Calibri" pitchFamily="34" charset="-122"/>
                <a:cs typeface="Calibri" pitchFamily="34" charset="-120"/>
              </a:rPr>
              <a:t>▸</a:t>
            </a:r>
            <a:endParaRPr lang="en-US" sz="800" dirty="0"/>
          </a:p>
        </p:txBody>
      </p:sp>
      <p:sp>
        <p:nvSpPr>
          <p:cNvPr id="51" name="outt_0"/>
          <p:cNvSpPr/>
          <p:nvPr/>
        </p:nvSpPr>
        <p:spPr>
          <a:xfrm>
            <a:off x="5074920" y="3410712"/>
            <a:ext cx="3310128" cy="201168"/>
          </a:xfrm>
          <a:prstGeom prst="rect">
            <a:avLst/>
          </a:prstGeom>
          <a:noFill/>
          <a:ln/>
        </p:spPr>
        <p:txBody>
          <a:bodyPr wrap="square" lIns="0" tIns="0" rIns="0" bIns="0" rtlCol="0" anchor="ctr"/>
          <a:lstStyle/>
          <a:p>
            <a:pPr marL="0" indent="0">
              <a:buNone/>
            </a:pPr>
            <a:r>
              <a:rPr lang="en-US" sz="800" dirty="0">
                <a:solidFill>
                  <a:srgbClr val="0C8C83"/>
                </a:solidFill>
                <a:latin typeface="Consolas" pitchFamily="34" charset="0"/>
                <a:ea typeface="Consolas" pitchFamily="34" charset="-122"/>
                <a:cs typeface="Consolas" pitchFamily="34" charset="-120"/>
              </a:rPr>
              <a:t>17 of 20 variants gave a usable estimate</a:t>
            </a:r>
            <a:endParaRPr lang="en-US" sz="800" dirty="0"/>
          </a:p>
        </p:txBody>
      </p:sp>
      <p:sp>
        <p:nvSpPr>
          <p:cNvPr id="52" name="outd_1"/>
          <p:cNvSpPr/>
          <p:nvPr/>
        </p:nvSpPr>
        <p:spPr>
          <a:xfrm>
            <a:off x="4919472" y="3675888"/>
            <a:ext cx="128016" cy="201168"/>
          </a:xfrm>
          <a:prstGeom prst="rect">
            <a:avLst/>
          </a:prstGeom>
          <a:noFill/>
          <a:ln/>
        </p:spPr>
        <p:txBody>
          <a:bodyPr wrap="square" lIns="0" tIns="0" rIns="0" bIns="0" rtlCol="0" anchor="ctr"/>
          <a:lstStyle/>
          <a:p>
            <a:pPr marL="0" indent="0">
              <a:buNone/>
            </a:pPr>
            <a:r>
              <a:rPr lang="en-US" sz="800" dirty="0">
                <a:solidFill>
                  <a:srgbClr val="D8452A"/>
                </a:solidFill>
                <a:latin typeface="Calibri" pitchFamily="34" charset="0"/>
                <a:ea typeface="Calibri" pitchFamily="34" charset="-122"/>
                <a:cs typeface="Calibri" pitchFamily="34" charset="-120"/>
              </a:rPr>
              <a:t>▸</a:t>
            </a:r>
            <a:endParaRPr lang="en-US" sz="800" dirty="0"/>
          </a:p>
        </p:txBody>
      </p:sp>
      <p:sp>
        <p:nvSpPr>
          <p:cNvPr id="53" name="outt_1"/>
          <p:cNvSpPr/>
          <p:nvPr/>
        </p:nvSpPr>
        <p:spPr>
          <a:xfrm>
            <a:off x="5074920" y="3675888"/>
            <a:ext cx="3310128" cy="201168"/>
          </a:xfrm>
          <a:prstGeom prst="rect">
            <a:avLst/>
          </a:prstGeom>
          <a:noFill/>
          <a:ln/>
        </p:spPr>
        <p:txBody>
          <a:bodyPr wrap="square" lIns="0" tIns="0" rIns="0" bIns="0" rtlCol="0" anchor="ctr"/>
          <a:lstStyle/>
          <a:p>
            <a:pPr marL="0" indent="0">
              <a:buNone/>
            </a:pPr>
            <a:r>
              <a:rPr lang="en-US" sz="800" dirty="0">
                <a:solidFill>
                  <a:srgbClr val="D8452A"/>
                </a:solidFill>
                <a:latin typeface="Consolas" pitchFamily="34" charset="0"/>
                <a:ea typeface="Consolas" pitchFamily="34" charset="-122"/>
                <a:cs typeface="Consolas" pitchFamily="34" charset="-120"/>
              </a:rPr>
              <a:t>3 excluded — too few carriers, or no events</a:t>
            </a:r>
            <a:endParaRPr lang="en-US" sz="800" dirty="0"/>
          </a:p>
        </p:txBody>
      </p:sp>
      <p:sp>
        <p:nvSpPr>
          <p:cNvPr id="54" name="outd_2"/>
          <p:cNvSpPr/>
          <p:nvPr/>
        </p:nvSpPr>
        <p:spPr>
          <a:xfrm>
            <a:off x="4919472" y="3941064"/>
            <a:ext cx="128016" cy="201168"/>
          </a:xfrm>
          <a:prstGeom prst="rect">
            <a:avLst/>
          </a:prstGeom>
          <a:noFill/>
          <a:ln/>
        </p:spPr>
        <p:txBody>
          <a:bodyPr wrap="square" lIns="0" tIns="0" rIns="0" bIns="0" rtlCol="0" anchor="ctr"/>
          <a:lstStyle/>
          <a:p>
            <a:pPr marL="0" indent="0">
              <a:buNone/>
            </a:pPr>
            <a:r>
              <a:rPr lang="en-US" sz="800" dirty="0">
                <a:solidFill>
                  <a:srgbClr val="55697C"/>
                </a:solidFill>
                <a:latin typeface="Calibri" pitchFamily="34" charset="0"/>
                <a:ea typeface="Calibri" pitchFamily="34" charset="-122"/>
                <a:cs typeface="Calibri" pitchFamily="34" charset="-120"/>
              </a:rPr>
              <a:t>▸</a:t>
            </a:r>
            <a:endParaRPr lang="en-US" sz="800" dirty="0"/>
          </a:p>
        </p:txBody>
      </p:sp>
      <p:sp>
        <p:nvSpPr>
          <p:cNvPr id="55" name="outt_2"/>
          <p:cNvSpPr/>
          <p:nvPr/>
        </p:nvSpPr>
        <p:spPr>
          <a:xfrm>
            <a:off x="5074920" y="3941064"/>
            <a:ext cx="3310128" cy="201168"/>
          </a:xfrm>
          <a:prstGeom prst="rect">
            <a:avLst/>
          </a:prstGeom>
          <a:noFill/>
          <a:ln/>
        </p:spPr>
        <p:txBody>
          <a:bodyPr wrap="square" lIns="0" tIns="0" rIns="0" bIns="0" rtlCol="0" anchor="ctr"/>
          <a:lstStyle/>
          <a:p>
            <a:pPr marL="0" indent="0">
              <a:buNone/>
            </a:pPr>
            <a:r>
              <a:rPr lang="en-US" sz="800" dirty="0">
                <a:solidFill>
                  <a:srgbClr val="55697C"/>
                </a:solidFill>
                <a:latin typeface="Consolas" pitchFamily="34" charset="0"/>
                <a:ea typeface="Consolas" pitchFamily="34" charset="-122"/>
                <a:cs typeface="Consolas" pitchFamily="34" charset="-120"/>
              </a:rPr>
              <a:t>top-scoring target: ANGPTL3, score 8.15</a:t>
            </a:r>
            <a:endParaRPr lang="en-US" sz="800" dirty="0"/>
          </a:p>
        </p:txBody>
      </p:sp>
      <p:sp>
        <p:nvSpPr>
          <p:cNvPr id="56" name="outd_3"/>
          <p:cNvSpPr/>
          <p:nvPr/>
        </p:nvSpPr>
        <p:spPr>
          <a:xfrm>
            <a:off x="4919472" y="4206240"/>
            <a:ext cx="128016" cy="201168"/>
          </a:xfrm>
          <a:prstGeom prst="rect">
            <a:avLst/>
          </a:prstGeom>
          <a:noFill/>
          <a:ln/>
        </p:spPr>
        <p:txBody>
          <a:bodyPr wrap="square" lIns="0" tIns="0" rIns="0" bIns="0" rtlCol="0" anchor="ctr"/>
          <a:lstStyle/>
          <a:p>
            <a:pPr marL="0" indent="0">
              <a:buNone/>
            </a:pPr>
            <a:r>
              <a:rPr lang="en-US" sz="800" dirty="0">
                <a:solidFill>
                  <a:srgbClr val="0C8C83"/>
                </a:solidFill>
                <a:latin typeface="Calibri" pitchFamily="34" charset="0"/>
                <a:ea typeface="Calibri" pitchFamily="34" charset="-122"/>
                <a:cs typeface="Calibri" pitchFamily="34" charset="-120"/>
              </a:rPr>
              <a:t>▸</a:t>
            </a:r>
            <a:endParaRPr lang="en-US" sz="800" dirty="0"/>
          </a:p>
        </p:txBody>
      </p:sp>
      <p:sp>
        <p:nvSpPr>
          <p:cNvPr id="57" name="outt_3"/>
          <p:cNvSpPr/>
          <p:nvPr/>
        </p:nvSpPr>
        <p:spPr>
          <a:xfrm>
            <a:off x="5074920" y="4206240"/>
            <a:ext cx="3310128" cy="201168"/>
          </a:xfrm>
          <a:prstGeom prst="rect">
            <a:avLst/>
          </a:prstGeom>
          <a:noFill/>
          <a:ln/>
        </p:spPr>
        <p:txBody>
          <a:bodyPr wrap="square" lIns="0" tIns="0" rIns="0" bIns="0" rtlCol="0" anchor="ctr"/>
          <a:lstStyle/>
          <a:p>
            <a:pPr marL="0" indent="0">
              <a:buNone/>
            </a:pPr>
            <a:r>
              <a:rPr lang="en-US" sz="800" dirty="0">
                <a:solidFill>
                  <a:srgbClr val="0C8C83"/>
                </a:solidFill>
                <a:latin typeface="Consolas" pitchFamily="34" charset="0"/>
                <a:ea typeface="Consolas" pitchFamily="34" charset="-122"/>
                <a:cs typeface="Consolas" pitchFamily="34" charset="-120"/>
              </a:rPr>
              <a:t>ranking AUC vs approved drugs: 0.91</a:t>
            </a:r>
            <a:endParaRPr lang="en-US" sz="800" dirty="0"/>
          </a:p>
        </p:txBody>
      </p:sp>
      <p:sp>
        <p:nvSpPr>
          <p:cNvPr id="58" name="Text 56"/>
          <p:cNvSpPr/>
          <p:nvPr/>
        </p:nvSpPr>
        <p:spPr>
          <a:xfrm>
            <a:off x="640080" y="4727448"/>
            <a:ext cx="7863840" cy="182880"/>
          </a:xfrm>
          <a:prstGeom prst="rect">
            <a:avLst/>
          </a:prstGeom>
          <a:noFill/>
          <a:ln/>
        </p:spPr>
        <p:txBody>
          <a:bodyPr wrap="square" lIns="0" tIns="0" rIns="0" bIns="0" rtlCol="0" anchor="ctr"/>
          <a:lstStyle/>
          <a:p>
            <a:pPr marL="0" indent="0">
              <a:buNone/>
            </a:pPr>
            <a:r>
              <a:rPr lang="en-US" sz="700" dirty="0">
                <a:solidFill>
                  <a:srgbClr val="8FA1B2"/>
                </a:solidFill>
                <a:latin typeface="Calibri" pitchFamily="34" charset="0"/>
                <a:ea typeface="Calibri" pitchFamily="34" charset="-122"/>
                <a:cs typeface="Calibri" pitchFamily="34" charset="-120"/>
              </a:rPr>
              <a:t>simulation.py runs in about 80 seconds on a laptop. The script, the log and the results file are submitted with this deck.</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ppt_y</p:attrName>
                                        </p:attrNameLst>
                                      </p:cBhvr>
                                      <p:tavLst>
                                        <p:tav tm="0">
                                          <p:val>
                                            <p:strVal val="1+#ppt_h/2"/>
                                          </p:val>
                                        </p:tav>
                                        <p:tav tm="100000">
                                          <p:val>
                                            <p:strVal val="#ppt_y"/>
                                          </p:val>
                                        </p:tav>
                                      </p:tavLst>
                                    </p:anim>
                                    <p:animEffect transition="in" filter="fade">
                                      <p:cBhvr>
                                        <p:cTn id="8" dur="500"/>
                                        <p:tgtEl>
                                          <p:spTgt spid="4"/>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ppt_y</p:attrName>
                                        </p:attrNameLst>
                                      </p:cBhvr>
                                      <p:tavLst>
                                        <p:tav tm="0">
                                          <p:val>
                                            <p:strVal val="1+#ppt_h/2"/>
                                          </p:val>
                                        </p:tav>
                                        <p:tav tm="100000">
                                          <p:val>
                                            <p:strVal val="#ppt_y"/>
                                          </p:val>
                                        </p:tav>
                                      </p:tavLst>
                                    </p:anim>
                                    <p:animEffect transition="in" filter="fade">
                                      <p:cBhvr>
                                        <p:cTn id="13" dur="500"/>
                                        <p:tgtEl>
                                          <p:spTgt spid="5"/>
                                        </p:tgtEl>
                                      </p:cBhvr>
                                    </p:animEffect>
                                  </p:childTnLst>
                                </p:cTn>
                              </p:par>
                            </p:childTnLst>
                          </p:cTn>
                        </p:par>
                        <p:par>
                          <p:cTn id="14" fill="hold">
                            <p:stCondLst>
                              <p:cond delay="500"/>
                            </p:stCondLst>
                            <p:childTnLst>
                              <p:par>
                                <p:cTn id="15" presetID="2" presetClass="entr" presetSubtype="8"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Effect transition="in" filter="fade">
                                      <p:cBhvr>
                                        <p:cTn id="18" dur="500"/>
                                        <p:tgtEl>
                                          <p:spTgt spid="6"/>
                                        </p:tgtEl>
                                      </p:cBhvr>
                                    </p:animEffect>
                                  </p:childTnLst>
                                </p:cTn>
                              </p:par>
                            </p:childTnLst>
                          </p:cTn>
                        </p:par>
                        <p:par>
                          <p:cTn id="19" fill="hold">
                            <p:stCondLst>
                              <p:cond delay="500"/>
                            </p:stCondLst>
                            <p:childTnLst>
                              <p:par>
                                <p:cTn id="20" presetID="2" presetClass="entr" presetSubtype="8"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Effect transition="in" filter="fade">
                                      <p:cBhvr>
                                        <p:cTn id="23" dur="500"/>
                                        <p:tgtEl>
                                          <p:spTgt spid="7"/>
                                        </p:tgtEl>
                                      </p:cBhvr>
                                    </p:animEffect>
                                  </p:childTnLst>
                                </p:cTn>
                              </p:par>
                            </p:childTnLst>
                          </p:cTn>
                        </p:par>
                        <p:par>
                          <p:cTn id="24" fill="hold">
                            <p:stCondLst>
                              <p:cond delay="500"/>
                            </p:stCondLst>
                            <p:childTnLst>
                              <p:par>
                                <p:cTn id="25" presetID="2" presetClass="entr" presetSubtype="8"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0-#ppt_w/2"/>
                                          </p:val>
                                        </p:tav>
                                        <p:tav tm="100000">
                                          <p:val>
                                            <p:strVal val="#ppt_x"/>
                                          </p:val>
                                        </p:tav>
                                      </p:tavLst>
                                    </p:anim>
                                    <p:animEffect transition="in" filter="fade">
                                      <p:cBhvr>
                                        <p:cTn id="28" dur="500"/>
                                        <p:tgtEl>
                                          <p:spTgt spid="8"/>
                                        </p:tgtEl>
                                      </p:cBhvr>
                                    </p:animEffect>
                                  </p:childTnLst>
                                </p:cTn>
                              </p:par>
                            </p:childTnLst>
                          </p:cTn>
                        </p:par>
                        <p:par>
                          <p:cTn id="29" fill="hold">
                            <p:stCondLst>
                              <p:cond delay="500"/>
                            </p:stCondLst>
                            <p:childTnLst>
                              <p:par>
                                <p:cTn id="30" presetID="2" presetClass="entr" presetSubtype="8"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Effect transition="in" filter="fade">
                                      <p:cBhvr>
                                        <p:cTn id="33" dur="500"/>
                                        <p:tgtEl>
                                          <p:spTgt spid="9"/>
                                        </p:tgtEl>
                                      </p:cBhvr>
                                    </p:animEffect>
                                  </p:childTnLst>
                                </p:cTn>
                              </p:par>
                            </p:childTnLst>
                          </p:cTn>
                        </p:par>
                        <p:par>
                          <p:cTn id="34" fill="hold">
                            <p:stCondLst>
                              <p:cond delay="680"/>
                            </p:stCondLst>
                            <p:childTnLst>
                              <p:par>
                                <p:cTn id="35" presetID="2" presetClass="entr" presetSubtype="8"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Effect transition="in" filter="fade">
                                      <p:cBhvr>
                                        <p:cTn id="38" dur="500"/>
                                        <p:tgtEl>
                                          <p:spTgt spid="10"/>
                                        </p:tgtEl>
                                      </p:cBhvr>
                                    </p:animEffect>
                                  </p:childTnLst>
                                </p:cTn>
                              </p:par>
                            </p:childTnLst>
                          </p:cTn>
                        </p:par>
                        <p:par>
                          <p:cTn id="39" fill="hold">
                            <p:stCondLst>
                              <p:cond delay="840"/>
                            </p:stCondLst>
                            <p:childTnLst>
                              <p:par>
                                <p:cTn id="40" presetID="2" presetClass="entr" presetSubtype="4"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ppt_y</p:attrName>
                                        </p:attrNameLst>
                                      </p:cBhvr>
                                      <p:tavLst>
                                        <p:tav tm="0">
                                          <p:val>
                                            <p:strVal val="1+#ppt_h/2"/>
                                          </p:val>
                                        </p:tav>
                                        <p:tav tm="100000">
                                          <p:val>
                                            <p:strVal val="#ppt_y"/>
                                          </p:val>
                                        </p:tav>
                                      </p:tavLst>
                                    </p:anim>
                                    <p:animEffect transition="in" filter="fade">
                                      <p:cBhvr>
                                        <p:cTn id="43" dur="500"/>
                                        <p:tgtEl>
                                          <p:spTgt spid="11"/>
                                        </p:tgtEl>
                                      </p:cBhvr>
                                    </p:animEffect>
                                  </p:childTnLst>
                                </p:cTn>
                              </p:par>
                            </p:childTnLst>
                          </p:cTn>
                        </p:par>
                        <p:par>
                          <p:cTn id="44" fill="hold">
                            <p:stCondLst>
                              <p:cond delay="840"/>
                            </p:stCondLst>
                            <p:childTnLst>
                              <p:par>
                                <p:cTn id="45" presetID="2" presetClass="entr" presetSubtype="4"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ppt_y</p:attrName>
                                        </p:attrNameLst>
                                      </p:cBhvr>
                                      <p:tavLst>
                                        <p:tav tm="0">
                                          <p:val>
                                            <p:strVal val="1+#ppt_h/2"/>
                                          </p:val>
                                        </p:tav>
                                        <p:tav tm="100000">
                                          <p:val>
                                            <p:strVal val="#ppt_y"/>
                                          </p:val>
                                        </p:tav>
                                      </p:tavLst>
                                    </p:anim>
                                    <p:animEffect transition="in" filter="fade">
                                      <p:cBhvr>
                                        <p:cTn id="48" dur="500"/>
                                        <p:tgtEl>
                                          <p:spTgt spid="12"/>
                                        </p:tgtEl>
                                      </p:cBhvr>
                                    </p:animEffect>
                                  </p:childTnLst>
                                </p:cTn>
                              </p:par>
                            </p:childTnLst>
                          </p:cTn>
                        </p:par>
                        <p:par>
                          <p:cTn id="49" fill="hold">
                            <p:stCondLst>
                              <p:cond delay="980"/>
                            </p:stCondLst>
                            <p:childTnLst>
                              <p:par>
                                <p:cTn id="50" presetID="2" presetClass="entr" presetSubtype="8"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0-#ppt_w/2"/>
                                          </p:val>
                                        </p:tav>
                                        <p:tav tm="100000">
                                          <p:val>
                                            <p:strVal val="#ppt_x"/>
                                          </p:val>
                                        </p:tav>
                                      </p:tavLst>
                                    </p:anim>
                                    <p:animEffect transition="in" filter="fade">
                                      <p:cBhvr>
                                        <p:cTn id="53" dur="500"/>
                                        <p:tgtEl>
                                          <p:spTgt spid="13"/>
                                        </p:tgtEl>
                                      </p:cBhvr>
                                    </p:animEffect>
                                  </p:childTnLst>
                                </p:cTn>
                              </p:par>
                            </p:childTnLst>
                          </p:cTn>
                        </p:par>
                        <p:par>
                          <p:cTn id="54" fill="hold">
                            <p:stCondLst>
                              <p:cond delay="1120"/>
                            </p:stCondLst>
                            <p:childTnLst>
                              <p:par>
                                <p:cTn id="55" presetID="2" presetClass="entr" presetSubtype="8"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0-#ppt_w/2"/>
                                          </p:val>
                                        </p:tav>
                                        <p:tav tm="100000">
                                          <p:val>
                                            <p:strVal val="#ppt_x"/>
                                          </p:val>
                                        </p:tav>
                                      </p:tavLst>
                                    </p:anim>
                                    <p:animEffect transition="in" filter="fade">
                                      <p:cBhvr>
                                        <p:cTn id="58" dur="500"/>
                                        <p:tgtEl>
                                          <p:spTgt spid="14"/>
                                        </p:tgtEl>
                                      </p:cBhvr>
                                    </p:animEffect>
                                  </p:childTnLst>
                                </p:cTn>
                              </p:par>
                            </p:childTnLst>
                          </p:cTn>
                        </p:par>
                        <p:par>
                          <p:cTn id="59" fill="hold">
                            <p:stCondLst>
                              <p:cond delay="1120"/>
                            </p:stCondLst>
                            <p:childTnLst>
                              <p:par>
                                <p:cTn id="60" presetID="2" presetClass="entr" presetSubtype="8"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0-#ppt_w/2"/>
                                          </p:val>
                                        </p:tav>
                                        <p:tav tm="100000">
                                          <p:val>
                                            <p:strVal val="#ppt_x"/>
                                          </p:val>
                                        </p:tav>
                                      </p:tavLst>
                                    </p:anim>
                                    <p:animEffect transition="in" filter="fade">
                                      <p:cBhvr>
                                        <p:cTn id="63" dur="500"/>
                                        <p:tgtEl>
                                          <p:spTgt spid="15"/>
                                        </p:tgtEl>
                                      </p:cBhvr>
                                    </p:animEffect>
                                  </p:childTnLst>
                                </p:cTn>
                              </p:par>
                            </p:childTnLst>
                          </p:cTn>
                        </p:par>
                        <p:par>
                          <p:cTn id="64" fill="hold">
                            <p:stCondLst>
                              <p:cond delay="1120"/>
                            </p:stCondLst>
                            <p:childTnLst>
                              <p:par>
                                <p:cTn id="65" presetID="2" presetClass="entr" presetSubtype="8"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0-#ppt_w/2"/>
                                          </p:val>
                                        </p:tav>
                                        <p:tav tm="100000">
                                          <p:val>
                                            <p:strVal val="#ppt_x"/>
                                          </p:val>
                                        </p:tav>
                                      </p:tavLst>
                                    </p:anim>
                                    <p:animEffect transition="in" filter="fade">
                                      <p:cBhvr>
                                        <p:cTn id="68" dur="500"/>
                                        <p:tgtEl>
                                          <p:spTgt spid="16"/>
                                        </p:tgtEl>
                                      </p:cBhvr>
                                    </p:animEffect>
                                  </p:childTnLst>
                                </p:cTn>
                              </p:par>
                            </p:childTnLst>
                          </p:cTn>
                        </p:par>
                        <p:par>
                          <p:cTn id="69" fill="hold">
                            <p:stCondLst>
                              <p:cond delay="1120"/>
                            </p:stCondLst>
                            <p:childTnLst>
                              <p:par>
                                <p:cTn id="70" presetID="2" presetClass="entr" presetSubtype="8"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0-#ppt_w/2"/>
                                          </p:val>
                                        </p:tav>
                                        <p:tav tm="100000">
                                          <p:val>
                                            <p:strVal val="#ppt_x"/>
                                          </p:val>
                                        </p:tav>
                                      </p:tavLst>
                                    </p:anim>
                                    <p:animEffect transition="in" filter="fade">
                                      <p:cBhvr>
                                        <p:cTn id="73" dur="500"/>
                                        <p:tgtEl>
                                          <p:spTgt spid="17"/>
                                        </p:tgtEl>
                                      </p:cBhvr>
                                    </p:animEffect>
                                  </p:childTnLst>
                                </p:cTn>
                              </p:par>
                            </p:childTnLst>
                          </p:cTn>
                        </p:par>
                        <p:par>
                          <p:cTn id="74" fill="hold">
                            <p:stCondLst>
                              <p:cond delay="1300"/>
                            </p:stCondLst>
                            <p:childTnLst>
                              <p:par>
                                <p:cTn id="75" presetID="2" presetClass="entr" presetSubtype="8"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0-#ppt_w/2"/>
                                          </p:val>
                                        </p:tav>
                                        <p:tav tm="100000">
                                          <p:val>
                                            <p:strVal val="#ppt_x"/>
                                          </p:val>
                                        </p:tav>
                                      </p:tavLst>
                                    </p:anim>
                                    <p:animEffect transition="in" filter="fade">
                                      <p:cBhvr>
                                        <p:cTn id="78" dur="500"/>
                                        <p:tgtEl>
                                          <p:spTgt spid="18"/>
                                        </p:tgtEl>
                                      </p:cBhvr>
                                    </p:animEffect>
                                  </p:childTnLst>
                                </p:cTn>
                              </p:par>
                            </p:childTnLst>
                          </p:cTn>
                        </p:par>
                        <p:par>
                          <p:cTn id="79" fill="hold">
                            <p:stCondLst>
                              <p:cond delay="1460"/>
                            </p:stCondLst>
                            <p:childTnLst>
                              <p:par>
                                <p:cTn id="80" presetID="2" presetClass="entr" presetSubtype="4"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ppt_y</p:attrName>
                                        </p:attrNameLst>
                                      </p:cBhvr>
                                      <p:tavLst>
                                        <p:tav tm="0">
                                          <p:val>
                                            <p:strVal val="1+#ppt_h/2"/>
                                          </p:val>
                                        </p:tav>
                                        <p:tav tm="100000">
                                          <p:val>
                                            <p:strVal val="#ppt_y"/>
                                          </p:val>
                                        </p:tav>
                                      </p:tavLst>
                                    </p:anim>
                                    <p:animEffect transition="in" filter="fade">
                                      <p:cBhvr>
                                        <p:cTn id="83" dur="500"/>
                                        <p:tgtEl>
                                          <p:spTgt spid="19"/>
                                        </p:tgtEl>
                                      </p:cBhvr>
                                    </p:animEffect>
                                  </p:childTnLst>
                                </p:cTn>
                              </p:par>
                            </p:childTnLst>
                          </p:cTn>
                        </p:par>
                        <p:par>
                          <p:cTn id="84" fill="hold">
                            <p:stCondLst>
                              <p:cond delay="1460"/>
                            </p:stCondLst>
                            <p:childTnLst>
                              <p:par>
                                <p:cTn id="85" presetID="2" presetClass="entr" presetSubtype="4"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ppt_y</p:attrName>
                                        </p:attrNameLst>
                                      </p:cBhvr>
                                      <p:tavLst>
                                        <p:tav tm="0">
                                          <p:val>
                                            <p:strVal val="1+#ppt_h/2"/>
                                          </p:val>
                                        </p:tav>
                                        <p:tav tm="100000">
                                          <p:val>
                                            <p:strVal val="#ppt_y"/>
                                          </p:val>
                                        </p:tav>
                                      </p:tavLst>
                                    </p:anim>
                                    <p:animEffect transition="in" filter="fade">
                                      <p:cBhvr>
                                        <p:cTn id="88" dur="500"/>
                                        <p:tgtEl>
                                          <p:spTgt spid="20"/>
                                        </p:tgtEl>
                                      </p:cBhvr>
                                    </p:animEffect>
                                  </p:childTnLst>
                                </p:cTn>
                              </p:par>
                            </p:childTnLst>
                          </p:cTn>
                        </p:par>
                        <p:par>
                          <p:cTn id="89" fill="hold">
                            <p:stCondLst>
                              <p:cond delay="1600"/>
                            </p:stCondLst>
                            <p:childTnLst>
                              <p:par>
                                <p:cTn id="90" presetID="2" presetClass="entr" presetSubtype="8"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ppt_x</p:attrName>
                                        </p:attrNameLst>
                                      </p:cBhvr>
                                      <p:tavLst>
                                        <p:tav tm="0">
                                          <p:val>
                                            <p:strVal val="0-#ppt_w/2"/>
                                          </p:val>
                                        </p:tav>
                                        <p:tav tm="100000">
                                          <p:val>
                                            <p:strVal val="#ppt_x"/>
                                          </p:val>
                                        </p:tav>
                                      </p:tavLst>
                                    </p:anim>
                                    <p:animEffect transition="in" filter="fade">
                                      <p:cBhvr>
                                        <p:cTn id="93" dur="500"/>
                                        <p:tgtEl>
                                          <p:spTgt spid="21"/>
                                        </p:tgtEl>
                                      </p:cBhvr>
                                    </p:animEffect>
                                  </p:childTnLst>
                                </p:cTn>
                              </p:par>
                            </p:childTnLst>
                          </p:cTn>
                        </p:par>
                        <p:par>
                          <p:cTn id="94" fill="hold">
                            <p:stCondLst>
                              <p:cond delay="1740"/>
                            </p:stCondLst>
                            <p:childTnLst>
                              <p:par>
                                <p:cTn id="95" presetID="2" presetClass="entr" presetSubtype="8"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ppt_x</p:attrName>
                                        </p:attrNameLst>
                                      </p:cBhvr>
                                      <p:tavLst>
                                        <p:tav tm="0">
                                          <p:val>
                                            <p:strVal val="0-#ppt_w/2"/>
                                          </p:val>
                                        </p:tav>
                                        <p:tav tm="100000">
                                          <p:val>
                                            <p:strVal val="#ppt_x"/>
                                          </p:val>
                                        </p:tav>
                                      </p:tavLst>
                                    </p:anim>
                                    <p:animEffect transition="in" filter="fade">
                                      <p:cBhvr>
                                        <p:cTn id="98" dur="500"/>
                                        <p:tgtEl>
                                          <p:spTgt spid="22"/>
                                        </p:tgtEl>
                                      </p:cBhvr>
                                    </p:animEffect>
                                  </p:childTnLst>
                                </p:cTn>
                              </p:par>
                            </p:childTnLst>
                          </p:cTn>
                        </p:par>
                        <p:par>
                          <p:cTn id="99" fill="hold">
                            <p:stCondLst>
                              <p:cond delay="1740"/>
                            </p:stCondLst>
                            <p:childTnLst>
                              <p:par>
                                <p:cTn id="100" presetID="2" presetClass="entr" presetSubtype="8"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ppt_x</p:attrName>
                                        </p:attrNameLst>
                                      </p:cBhvr>
                                      <p:tavLst>
                                        <p:tav tm="0">
                                          <p:val>
                                            <p:strVal val="0-#ppt_w/2"/>
                                          </p:val>
                                        </p:tav>
                                        <p:tav tm="100000">
                                          <p:val>
                                            <p:strVal val="#ppt_x"/>
                                          </p:val>
                                        </p:tav>
                                      </p:tavLst>
                                    </p:anim>
                                    <p:animEffect transition="in" filter="fade">
                                      <p:cBhvr>
                                        <p:cTn id="103" dur="500"/>
                                        <p:tgtEl>
                                          <p:spTgt spid="23"/>
                                        </p:tgtEl>
                                      </p:cBhvr>
                                    </p:animEffect>
                                  </p:childTnLst>
                                </p:cTn>
                              </p:par>
                            </p:childTnLst>
                          </p:cTn>
                        </p:par>
                        <p:par>
                          <p:cTn id="104" fill="hold">
                            <p:stCondLst>
                              <p:cond delay="1740"/>
                            </p:stCondLst>
                            <p:childTnLst>
                              <p:par>
                                <p:cTn id="105" presetID="2" presetClass="entr" presetSubtype="8"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0-#ppt_w/2"/>
                                          </p:val>
                                        </p:tav>
                                        <p:tav tm="100000">
                                          <p:val>
                                            <p:strVal val="#ppt_x"/>
                                          </p:val>
                                        </p:tav>
                                      </p:tavLst>
                                    </p:anim>
                                    <p:animEffect transition="in" filter="fade">
                                      <p:cBhvr>
                                        <p:cTn id="108" dur="500"/>
                                        <p:tgtEl>
                                          <p:spTgt spid="24"/>
                                        </p:tgtEl>
                                      </p:cBhvr>
                                    </p:animEffect>
                                  </p:childTnLst>
                                </p:cTn>
                              </p:par>
                            </p:childTnLst>
                          </p:cTn>
                        </p:par>
                        <p:par>
                          <p:cTn id="109" fill="hold">
                            <p:stCondLst>
                              <p:cond delay="1740"/>
                            </p:stCondLst>
                            <p:childTnLst>
                              <p:par>
                                <p:cTn id="110" presetID="2" presetClass="entr" presetSubtype="8"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ppt_x</p:attrName>
                                        </p:attrNameLst>
                                      </p:cBhvr>
                                      <p:tavLst>
                                        <p:tav tm="0">
                                          <p:val>
                                            <p:strVal val="0-#ppt_w/2"/>
                                          </p:val>
                                        </p:tav>
                                        <p:tav tm="100000">
                                          <p:val>
                                            <p:strVal val="#ppt_x"/>
                                          </p:val>
                                        </p:tav>
                                      </p:tavLst>
                                    </p:anim>
                                    <p:animEffect transition="in" filter="fade">
                                      <p:cBhvr>
                                        <p:cTn id="113" dur="500"/>
                                        <p:tgtEl>
                                          <p:spTgt spid="25"/>
                                        </p:tgtEl>
                                      </p:cBhvr>
                                    </p:animEffect>
                                  </p:childTnLst>
                                </p:cTn>
                              </p:par>
                            </p:childTnLst>
                          </p:cTn>
                        </p:par>
                        <p:par>
                          <p:cTn id="114" fill="hold">
                            <p:stCondLst>
                              <p:cond delay="1920"/>
                            </p:stCondLst>
                            <p:childTnLst>
                              <p:par>
                                <p:cTn id="115" presetID="2" presetClass="entr" presetSubtype="8"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0-#ppt_w/2"/>
                                          </p:val>
                                        </p:tav>
                                        <p:tav tm="100000">
                                          <p:val>
                                            <p:strVal val="#ppt_x"/>
                                          </p:val>
                                        </p:tav>
                                      </p:tavLst>
                                    </p:anim>
                                    <p:animEffect transition="in" filter="fade">
                                      <p:cBhvr>
                                        <p:cTn id="118" dur="500"/>
                                        <p:tgtEl>
                                          <p:spTgt spid="26"/>
                                        </p:tgtEl>
                                      </p:cBhvr>
                                    </p:animEffect>
                                  </p:childTnLst>
                                </p:cTn>
                              </p:par>
                            </p:childTnLst>
                          </p:cTn>
                        </p:par>
                        <p:par>
                          <p:cTn id="119" fill="hold">
                            <p:stCondLst>
                              <p:cond delay="2080"/>
                            </p:stCondLst>
                            <p:childTnLst>
                              <p:par>
                                <p:cTn id="120" presetID="2" presetClass="entr" presetSubtype="4"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ppt_y</p:attrName>
                                        </p:attrNameLst>
                                      </p:cBhvr>
                                      <p:tavLst>
                                        <p:tav tm="0">
                                          <p:val>
                                            <p:strVal val="1+#ppt_h/2"/>
                                          </p:val>
                                        </p:tav>
                                        <p:tav tm="100000">
                                          <p:val>
                                            <p:strVal val="#ppt_y"/>
                                          </p:val>
                                        </p:tav>
                                      </p:tavLst>
                                    </p:anim>
                                    <p:animEffect transition="in" filter="fade">
                                      <p:cBhvr>
                                        <p:cTn id="123" dur="500"/>
                                        <p:tgtEl>
                                          <p:spTgt spid="27"/>
                                        </p:tgtEl>
                                      </p:cBhvr>
                                    </p:animEffect>
                                  </p:childTnLst>
                                </p:cTn>
                              </p:par>
                            </p:childTnLst>
                          </p:cTn>
                        </p:par>
                        <p:par>
                          <p:cTn id="124" fill="hold">
                            <p:stCondLst>
                              <p:cond delay="2080"/>
                            </p:stCondLst>
                            <p:childTnLst>
                              <p:par>
                                <p:cTn id="125" presetID="2" presetClass="entr" presetSubtype="4"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ppt_y</p:attrName>
                                        </p:attrNameLst>
                                      </p:cBhvr>
                                      <p:tavLst>
                                        <p:tav tm="0">
                                          <p:val>
                                            <p:strVal val="1+#ppt_h/2"/>
                                          </p:val>
                                        </p:tav>
                                        <p:tav tm="100000">
                                          <p:val>
                                            <p:strVal val="#ppt_y"/>
                                          </p:val>
                                        </p:tav>
                                      </p:tavLst>
                                    </p:anim>
                                    <p:animEffect transition="in" filter="fade">
                                      <p:cBhvr>
                                        <p:cTn id="128" dur="500"/>
                                        <p:tgtEl>
                                          <p:spTgt spid="28"/>
                                        </p:tgtEl>
                                      </p:cBhvr>
                                    </p:animEffect>
                                  </p:childTnLst>
                                </p:cTn>
                              </p:par>
                            </p:childTnLst>
                          </p:cTn>
                        </p:par>
                        <p:par>
                          <p:cTn id="129" fill="hold">
                            <p:stCondLst>
                              <p:cond delay="2220"/>
                            </p:stCondLst>
                            <p:childTnLst>
                              <p:par>
                                <p:cTn id="130" presetID="2" presetClass="entr" presetSubtype="8"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ppt_x</p:attrName>
                                        </p:attrNameLst>
                                      </p:cBhvr>
                                      <p:tavLst>
                                        <p:tav tm="0">
                                          <p:val>
                                            <p:strVal val="0-#ppt_w/2"/>
                                          </p:val>
                                        </p:tav>
                                        <p:tav tm="100000">
                                          <p:val>
                                            <p:strVal val="#ppt_x"/>
                                          </p:val>
                                        </p:tav>
                                      </p:tavLst>
                                    </p:anim>
                                    <p:animEffect transition="in" filter="fade">
                                      <p:cBhvr>
                                        <p:cTn id="133" dur="500"/>
                                        <p:tgtEl>
                                          <p:spTgt spid="29"/>
                                        </p:tgtEl>
                                      </p:cBhvr>
                                    </p:animEffect>
                                  </p:childTnLst>
                                </p:cTn>
                              </p:par>
                            </p:childTnLst>
                          </p:cTn>
                        </p:par>
                        <p:par>
                          <p:cTn id="134" fill="hold">
                            <p:stCondLst>
                              <p:cond delay="2360"/>
                            </p:stCondLst>
                            <p:childTnLst>
                              <p:par>
                                <p:cTn id="135" presetID="2" presetClass="entr" presetSubtype="8"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ppt_x</p:attrName>
                                        </p:attrNameLst>
                                      </p:cBhvr>
                                      <p:tavLst>
                                        <p:tav tm="0">
                                          <p:val>
                                            <p:strVal val="0-#ppt_w/2"/>
                                          </p:val>
                                        </p:tav>
                                        <p:tav tm="100000">
                                          <p:val>
                                            <p:strVal val="#ppt_x"/>
                                          </p:val>
                                        </p:tav>
                                      </p:tavLst>
                                    </p:anim>
                                    <p:animEffect transition="in" filter="fade">
                                      <p:cBhvr>
                                        <p:cTn id="138" dur="500"/>
                                        <p:tgtEl>
                                          <p:spTgt spid="30"/>
                                        </p:tgtEl>
                                      </p:cBhvr>
                                    </p:animEffect>
                                  </p:childTnLst>
                                </p:cTn>
                              </p:par>
                            </p:childTnLst>
                          </p:cTn>
                        </p:par>
                        <p:par>
                          <p:cTn id="139" fill="hold">
                            <p:stCondLst>
                              <p:cond delay="2360"/>
                            </p:stCondLst>
                            <p:childTnLst>
                              <p:par>
                                <p:cTn id="140" presetID="2" presetClass="entr" presetSubtype="8"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 calcmode="lin" valueType="num">
                                      <p:cBhvr additive="base">
                                        <p:cTn id="142" dur="500" fill="hold"/>
                                        <p:tgtEl>
                                          <p:spTgt spid="31"/>
                                        </p:tgtEl>
                                        <p:attrNameLst>
                                          <p:attrName>ppt_x</p:attrName>
                                        </p:attrNameLst>
                                      </p:cBhvr>
                                      <p:tavLst>
                                        <p:tav tm="0">
                                          <p:val>
                                            <p:strVal val="0-#ppt_w/2"/>
                                          </p:val>
                                        </p:tav>
                                        <p:tav tm="100000">
                                          <p:val>
                                            <p:strVal val="#ppt_x"/>
                                          </p:val>
                                        </p:tav>
                                      </p:tavLst>
                                    </p:anim>
                                    <p:animEffect transition="in" filter="fade">
                                      <p:cBhvr>
                                        <p:cTn id="143" dur="500"/>
                                        <p:tgtEl>
                                          <p:spTgt spid="31"/>
                                        </p:tgtEl>
                                      </p:cBhvr>
                                    </p:animEffect>
                                  </p:childTnLst>
                                </p:cTn>
                              </p:par>
                            </p:childTnLst>
                          </p:cTn>
                        </p:par>
                        <p:par>
                          <p:cTn id="144" fill="hold">
                            <p:stCondLst>
                              <p:cond delay="2360"/>
                            </p:stCondLst>
                            <p:childTnLst>
                              <p:par>
                                <p:cTn id="145" presetID="2" presetClass="entr" presetSubtype="8"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500" fill="hold"/>
                                        <p:tgtEl>
                                          <p:spTgt spid="32"/>
                                        </p:tgtEl>
                                        <p:attrNameLst>
                                          <p:attrName>ppt_x</p:attrName>
                                        </p:attrNameLst>
                                      </p:cBhvr>
                                      <p:tavLst>
                                        <p:tav tm="0">
                                          <p:val>
                                            <p:strVal val="0-#ppt_w/2"/>
                                          </p:val>
                                        </p:tav>
                                        <p:tav tm="100000">
                                          <p:val>
                                            <p:strVal val="#ppt_x"/>
                                          </p:val>
                                        </p:tav>
                                      </p:tavLst>
                                    </p:anim>
                                    <p:animEffect transition="in" filter="fade">
                                      <p:cBhvr>
                                        <p:cTn id="148" dur="500"/>
                                        <p:tgtEl>
                                          <p:spTgt spid="32"/>
                                        </p:tgtEl>
                                      </p:cBhvr>
                                    </p:animEffect>
                                  </p:childTnLst>
                                </p:cTn>
                              </p:par>
                            </p:childTnLst>
                          </p:cTn>
                        </p:par>
                        <p:par>
                          <p:cTn id="149" fill="hold">
                            <p:stCondLst>
                              <p:cond delay="2360"/>
                            </p:stCondLst>
                            <p:childTnLst>
                              <p:par>
                                <p:cTn id="150" presetID="2" presetClass="entr" presetSubtype="8"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500" fill="hold"/>
                                        <p:tgtEl>
                                          <p:spTgt spid="33"/>
                                        </p:tgtEl>
                                        <p:attrNameLst>
                                          <p:attrName>ppt_x</p:attrName>
                                        </p:attrNameLst>
                                      </p:cBhvr>
                                      <p:tavLst>
                                        <p:tav tm="0">
                                          <p:val>
                                            <p:strVal val="0-#ppt_w/2"/>
                                          </p:val>
                                        </p:tav>
                                        <p:tav tm="100000">
                                          <p:val>
                                            <p:strVal val="#ppt_x"/>
                                          </p:val>
                                        </p:tav>
                                      </p:tavLst>
                                    </p:anim>
                                    <p:animEffect transition="in" filter="fade">
                                      <p:cBhvr>
                                        <p:cTn id="153" dur="500"/>
                                        <p:tgtEl>
                                          <p:spTgt spid="33"/>
                                        </p:tgtEl>
                                      </p:cBhvr>
                                    </p:animEffect>
                                  </p:childTnLst>
                                </p:cTn>
                              </p:par>
                            </p:childTnLst>
                          </p:cTn>
                        </p:par>
                        <p:par>
                          <p:cTn id="154" fill="hold">
                            <p:stCondLst>
                              <p:cond delay="2540"/>
                            </p:stCondLst>
                            <p:childTnLst>
                              <p:par>
                                <p:cTn id="155" presetID="2" presetClass="entr" presetSubtype="8"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 calcmode="lin" valueType="num">
                                      <p:cBhvr additive="base">
                                        <p:cTn id="157" dur="500" fill="hold"/>
                                        <p:tgtEl>
                                          <p:spTgt spid="34"/>
                                        </p:tgtEl>
                                        <p:attrNameLst>
                                          <p:attrName>ppt_x</p:attrName>
                                        </p:attrNameLst>
                                      </p:cBhvr>
                                      <p:tavLst>
                                        <p:tav tm="0">
                                          <p:val>
                                            <p:strVal val="0-#ppt_w/2"/>
                                          </p:val>
                                        </p:tav>
                                        <p:tav tm="100000">
                                          <p:val>
                                            <p:strVal val="#ppt_x"/>
                                          </p:val>
                                        </p:tav>
                                      </p:tavLst>
                                    </p:anim>
                                    <p:animEffect transition="in" filter="fade">
                                      <p:cBhvr>
                                        <p:cTn id="158" dur="500"/>
                                        <p:tgtEl>
                                          <p:spTgt spid="34"/>
                                        </p:tgtEl>
                                      </p:cBhvr>
                                    </p:animEffect>
                                  </p:childTnLst>
                                </p:cTn>
                              </p:par>
                            </p:childTnLst>
                          </p:cTn>
                        </p:par>
                        <p:par>
                          <p:cTn id="159" fill="hold">
                            <p:stCondLst>
                              <p:cond delay="2700"/>
                            </p:stCondLst>
                            <p:childTnLst>
                              <p:par>
                                <p:cTn id="160" presetID="2" presetClass="entr" presetSubtype="4"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additive="base">
                                        <p:cTn id="162" dur="500" fill="hold"/>
                                        <p:tgtEl>
                                          <p:spTgt spid="35"/>
                                        </p:tgtEl>
                                        <p:attrNameLst>
                                          <p:attrName>ppt_y</p:attrName>
                                        </p:attrNameLst>
                                      </p:cBhvr>
                                      <p:tavLst>
                                        <p:tav tm="0">
                                          <p:val>
                                            <p:strVal val="1+#ppt_h/2"/>
                                          </p:val>
                                        </p:tav>
                                        <p:tav tm="100000">
                                          <p:val>
                                            <p:strVal val="#ppt_y"/>
                                          </p:val>
                                        </p:tav>
                                      </p:tavLst>
                                    </p:anim>
                                    <p:animEffect transition="in" filter="fade">
                                      <p:cBhvr>
                                        <p:cTn id="163" dur="500"/>
                                        <p:tgtEl>
                                          <p:spTgt spid="35"/>
                                        </p:tgtEl>
                                      </p:cBhvr>
                                    </p:animEffect>
                                  </p:childTnLst>
                                </p:cTn>
                              </p:par>
                            </p:childTnLst>
                          </p:cTn>
                        </p:par>
                        <p:par>
                          <p:cTn id="164" fill="hold">
                            <p:stCondLst>
                              <p:cond delay="2700"/>
                            </p:stCondLst>
                            <p:childTnLst>
                              <p:par>
                                <p:cTn id="165" presetID="2" presetClass="entr" presetSubtype="4"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 calcmode="lin" valueType="num">
                                      <p:cBhvr additive="base">
                                        <p:cTn id="167" dur="500" fill="hold"/>
                                        <p:tgtEl>
                                          <p:spTgt spid="36"/>
                                        </p:tgtEl>
                                        <p:attrNameLst>
                                          <p:attrName>ppt_y</p:attrName>
                                        </p:attrNameLst>
                                      </p:cBhvr>
                                      <p:tavLst>
                                        <p:tav tm="0">
                                          <p:val>
                                            <p:strVal val="1+#ppt_h/2"/>
                                          </p:val>
                                        </p:tav>
                                        <p:tav tm="100000">
                                          <p:val>
                                            <p:strVal val="#ppt_y"/>
                                          </p:val>
                                        </p:tav>
                                      </p:tavLst>
                                    </p:anim>
                                    <p:animEffect transition="in" filter="fade">
                                      <p:cBhvr>
                                        <p:cTn id="168" dur="500"/>
                                        <p:tgtEl>
                                          <p:spTgt spid="36"/>
                                        </p:tgtEl>
                                      </p:cBhvr>
                                    </p:animEffect>
                                  </p:childTnLst>
                                </p:cTn>
                              </p:par>
                            </p:childTnLst>
                          </p:cTn>
                        </p:par>
                        <p:par>
                          <p:cTn id="169" fill="hold">
                            <p:stCondLst>
                              <p:cond delay="2840"/>
                            </p:stCondLst>
                            <p:childTnLst>
                              <p:par>
                                <p:cTn id="170" presetID="2" presetClass="entr" presetSubtype="8"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 calcmode="lin" valueType="num">
                                      <p:cBhvr additive="base">
                                        <p:cTn id="172" dur="500" fill="hold"/>
                                        <p:tgtEl>
                                          <p:spTgt spid="37"/>
                                        </p:tgtEl>
                                        <p:attrNameLst>
                                          <p:attrName>ppt_x</p:attrName>
                                        </p:attrNameLst>
                                      </p:cBhvr>
                                      <p:tavLst>
                                        <p:tav tm="0">
                                          <p:val>
                                            <p:strVal val="0-#ppt_w/2"/>
                                          </p:val>
                                        </p:tav>
                                        <p:tav tm="100000">
                                          <p:val>
                                            <p:strVal val="#ppt_x"/>
                                          </p:val>
                                        </p:tav>
                                      </p:tavLst>
                                    </p:anim>
                                    <p:animEffect transition="in" filter="fade">
                                      <p:cBhvr>
                                        <p:cTn id="173" dur="500"/>
                                        <p:tgtEl>
                                          <p:spTgt spid="37"/>
                                        </p:tgtEl>
                                      </p:cBhvr>
                                    </p:animEffect>
                                  </p:childTnLst>
                                </p:cTn>
                              </p:par>
                            </p:childTnLst>
                          </p:cTn>
                        </p:par>
                        <p:par>
                          <p:cTn id="174" fill="hold">
                            <p:stCondLst>
                              <p:cond delay="2980"/>
                            </p:stCondLst>
                            <p:childTnLst>
                              <p:par>
                                <p:cTn id="175" presetID="2" presetClass="entr" presetSubtype="8"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 calcmode="lin" valueType="num">
                                      <p:cBhvr additive="base">
                                        <p:cTn id="177" dur="500" fill="hold"/>
                                        <p:tgtEl>
                                          <p:spTgt spid="38"/>
                                        </p:tgtEl>
                                        <p:attrNameLst>
                                          <p:attrName>ppt_x</p:attrName>
                                        </p:attrNameLst>
                                      </p:cBhvr>
                                      <p:tavLst>
                                        <p:tav tm="0">
                                          <p:val>
                                            <p:strVal val="0-#ppt_w/2"/>
                                          </p:val>
                                        </p:tav>
                                        <p:tav tm="100000">
                                          <p:val>
                                            <p:strVal val="#ppt_x"/>
                                          </p:val>
                                        </p:tav>
                                      </p:tavLst>
                                    </p:anim>
                                    <p:animEffect transition="in" filter="fade">
                                      <p:cBhvr>
                                        <p:cTn id="178" dur="500"/>
                                        <p:tgtEl>
                                          <p:spTgt spid="38"/>
                                        </p:tgtEl>
                                      </p:cBhvr>
                                    </p:animEffect>
                                  </p:childTnLst>
                                </p:cTn>
                              </p:par>
                            </p:childTnLst>
                          </p:cTn>
                        </p:par>
                        <p:par>
                          <p:cTn id="179" fill="hold">
                            <p:stCondLst>
                              <p:cond delay="2980"/>
                            </p:stCondLst>
                            <p:childTnLst>
                              <p:par>
                                <p:cTn id="180" presetID="2" presetClass="entr" presetSubtype="8"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 calcmode="lin" valueType="num">
                                      <p:cBhvr additive="base">
                                        <p:cTn id="182" dur="500" fill="hold"/>
                                        <p:tgtEl>
                                          <p:spTgt spid="39"/>
                                        </p:tgtEl>
                                        <p:attrNameLst>
                                          <p:attrName>ppt_x</p:attrName>
                                        </p:attrNameLst>
                                      </p:cBhvr>
                                      <p:tavLst>
                                        <p:tav tm="0">
                                          <p:val>
                                            <p:strVal val="0-#ppt_w/2"/>
                                          </p:val>
                                        </p:tav>
                                        <p:tav tm="100000">
                                          <p:val>
                                            <p:strVal val="#ppt_x"/>
                                          </p:val>
                                        </p:tav>
                                      </p:tavLst>
                                    </p:anim>
                                    <p:animEffect transition="in" filter="fade">
                                      <p:cBhvr>
                                        <p:cTn id="183" dur="500"/>
                                        <p:tgtEl>
                                          <p:spTgt spid="39"/>
                                        </p:tgtEl>
                                      </p:cBhvr>
                                    </p:animEffect>
                                  </p:childTnLst>
                                </p:cTn>
                              </p:par>
                            </p:childTnLst>
                          </p:cTn>
                        </p:par>
                        <p:par>
                          <p:cTn id="184" fill="hold">
                            <p:stCondLst>
                              <p:cond delay="2980"/>
                            </p:stCondLst>
                            <p:childTnLst>
                              <p:par>
                                <p:cTn id="185" presetID="2" presetClass="entr" presetSubtype="8"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 calcmode="lin" valueType="num">
                                      <p:cBhvr additive="base">
                                        <p:cTn id="187" dur="500" fill="hold"/>
                                        <p:tgtEl>
                                          <p:spTgt spid="40"/>
                                        </p:tgtEl>
                                        <p:attrNameLst>
                                          <p:attrName>ppt_x</p:attrName>
                                        </p:attrNameLst>
                                      </p:cBhvr>
                                      <p:tavLst>
                                        <p:tav tm="0">
                                          <p:val>
                                            <p:strVal val="0-#ppt_w/2"/>
                                          </p:val>
                                        </p:tav>
                                        <p:tav tm="100000">
                                          <p:val>
                                            <p:strVal val="#ppt_x"/>
                                          </p:val>
                                        </p:tav>
                                      </p:tavLst>
                                    </p:anim>
                                    <p:animEffect transition="in" filter="fade">
                                      <p:cBhvr>
                                        <p:cTn id="188" dur="500"/>
                                        <p:tgtEl>
                                          <p:spTgt spid="40"/>
                                        </p:tgtEl>
                                      </p:cBhvr>
                                    </p:animEffect>
                                  </p:childTnLst>
                                </p:cTn>
                              </p:par>
                            </p:childTnLst>
                          </p:cTn>
                        </p:par>
                        <p:par>
                          <p:cTn id="189" fill="hold">
                            <p:stCondLst>
                              <p:cond delay="2980"/>
                            </p:stCondLst>
                            <p:childTnLst>
                              <p:par>
                                <p:cTn id="190" presetID="2" presetClass="entr" presetSubtype="8"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 calcmode="lin" valueType="num">
                                      <p:cBhvr additive="base">
                                        <p:cTn id="192" dur="500" fill="hold"/>
                                        <p:tgtEl>
                                          <p:spTgt spid="41"/>
                                        </p:tgtEl>
                                        <p:attrNameLst>
                                          <p:attrName>ppt_x</p:attrName>
                                        </p:attrNameLst>
                                      </p:cBhvr>
                                      <p:tavLst>
                                        <p:tav tm="0">
                                          <p:val>
                                            <p:strVal val="0-#ppt_w/2"/>
                                          </p:val>
                                        </p:tav>
                                        <p:tav tm="100000">
                                          <p:val>
                                            <p:strVal val="#ppt_x"/>
                                          </p:val>
                                        </p:tav>
                                      </p:tavLst>
                                    </p:anim>
                                    <p:animEffect transition="in" filter="fade">
                                      <p:cBhvr>
                                        <p:cTn id="193" dur="500"/>
                                        <p:tgtEl>
                                          <p:spTgt spid="41"/>
                                        </p:tgtEl>
                                      </p:cBhvr>
                                    </p:animEffect>
                                  </p:childTnLst>
                                </p:cTn>
                              </p:par>
                            </p:childTnLst>
                          </p:cTn>
                        </p:par>
                        <p:par>
                          <p:cTn id="194" fill="hold">
                            <p:stCondLst>
                              <p:cond delay="3160"/>
                            </p:stCondLst>
                            <p:childTnLst>
                              <p:par>
                                <p:cTn id="195" presetID="2" presetClass="entr" presetSubtype="8"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 calcmode="lin" valueType="num">
                                      <p:cBhvr additive="base">
                                        <p:cTn id="197" dur="500" fill="hold"/>
                                        <p:tgtEl>
                                          <p:spTgt spid="42"/>
                                        </p:tgtEl>
                                        <p:attrNameLst>
                                          <p:attrName>ppt_x</p:attrName>
                                        </p:attrNameLst>
                                      </p:cBhvr>
                                      <p:tavLst>
                                        <p:tav tm="0">
                                          <p:val>
                                            <p:strVal val="0-#ppt_w/2"/>
                                          </p:val>
                                        </p:tav>
                                        <p:tav tm="100000">
                                          <p:val>
                                            <p:strVal val="#ppt_x"/>
                                          </p:val>
                                        </p:tav>
                                      </p:tavLst>
                                    </p:anim>
                                    <p:animEffect transition="in" filter="fade">
                                      <p:cBhvr>
                                        <p:cTn id="198" dur="500"/>
                                        <p:tgtEl>
                                          <p:spTgt spid="42"/>
                                        </p:tgtEl>
                                      </p:cBhvr>
                                    </p:animEffect>
                                  </p:childTnLst>
                                </p:cTn>
                              </p:par>
                            </p:childTnLst>
                          </p:cTn>
                        </p:par>
                        <p:par>
                          <p:cTn id="199" fill="hold">
                            <p:stCondLst>
                              <p:cond delay="3320"/>
                            </p:stCondLst>
                            <p:childTnLst>
                              <p:par>
                                <p:cTn id="200" presetID="2" presetClass="entr" presetSubtype="4"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 calcmode="lin" valueType="num">
                                      <p:cBhvr additive="base">
                                        <p:cTn id="202" dur="500" fill="hold"/>
                                        <p:tgtEl>
                                          <p:spTgt spid="43"/>
                                        </p:tgtEl>
                                        <p:attrNameLst>
                                          <p:attrName>ppt_y</p:attrName>
                                        </p:attrNameLst>
                                      </p:cBhvr>
                                      <p:tavLst>
                                        <p:tav tm="0">
                                          <p:val>
                                            <p:strVal val="1+#ppt_h/2"/>
                                          </p:val>
                                        </p:tav>
                                        <p:tav tm="100000">
                                          <p:val>
                                            <p:strVal val="#ppt_y"/>
                                          </p:val>
                                        </p:tav>
                                      </p:tavLst>
                                    </p:anim>
                                    <p:animEffect transition="in" filter="fade">
                                      <p:cBhvr>
                                        <p:cTn id="203" dur="500"/>
                                        <p:tgtEl>
                                          <p:spTgt spid="43"/>
                                        </p:tgtEl>
                                      </p:cBhvr>
                                    </p:animEffect>
                                  </p:childTnLst>
                                </p:cTn>
                              </p:par>
                            </p:childTnLst>
                          </p:cTn>
                        </p:par>
                        <p:par>
                          <p:cTn id="204" fill="hold">
                            <p:stCondLst>
                              <p:cond delay="3320"/>
                            </p:stCondLst>
                            <p:childTnLst>
                              <p:par>
                                <p:cTn id="205" presetID="2" presetClass="entr" presetSubtype="4"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 calcmode="lin" valueType="num">
                                      <p:cBhvr additive="base">
                                        <p:cTn id="207" dur="500" fill="hold"/>
                                        <p:tgtEl>
                                          <p:spTgt spid="44"/>
                                        </p:tgtEl>
                                        <p:attrNameLst>
                                          <p:attrName>ppt_y</p:attrName>
                                        </p:attrNameLst>
                                      </p:cBhvr>
                                      <p:tavLst>
                                        <p:tav tm="0">
                                          <p:val>
                                            <p:strVal val="1+#ppt_h/2"/>
                                          </p:val>
                                        </p:tav>
                                        <p:tav tm="100000">
                                          <p:val>
                                            <p:strVal val="#ppt_y"/>
                                          </p:val>
                                        </p:tav>
                                      </p:tavLst>
                                    </p:anim>
                                    <p:animEffect transition="in" filter="fade">
                                      <p:cBhvr>
                                        <p:cTn id="208" dur="500"/>
                                        <p:tgtEl>
                                          <p:spTgt spid="44"/>
                                        </p:tgtEl>
                                      </p:cBhvr>
                                    </p:animEffect>
                                  </p:childTnLst>
                                </p:cTn>
                              </p:par>
                            </p:childTnLst>
                          </p:cTn>
                        </p:par>
                        <p:par>
                          <p:cTn id="209" fill="hold">
                            <p:stCondLst>
                              <p:cond delay="3850"/>
                            </p:stCondLst>
                            <p:childTnLst>
                              <p:par>
                                <p:cTn id="210" presetID="2" presetClass="entr" presetSubtype="8"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 calcmode="lin" valueType="num">
                                      <p:cBhvr additive="base">
                                        <p:cTn id="212" dur="500" fill="hold"/>
                                        <p:tgtEl>
                                          <p:spTgt spid="45"/>
                                        </p:tgtEl>
                                        <p:attrNameLst>
                                          <p:attrName>ppt_x</p:attrName>
                                        </p:attrNameLst>
                                      </p:cBhvr>
                                      <p:tavLst>
                                        <p:tav tm="0">
                                          <p:val>
                                            <p:strVal val="0-#ppt_w/2"/>
                                          </p:val>
                                        </p:tav>
                                        <p:tav tm="100000">
                                          <p:val>
                                            <p:strVal val="#ppt_x"/>
                                          </p:val>
                                        </p:tav>
                                      </p:tavLst>
                                    </p:anim>
                                    <p:animEffect transition="in" filter="fade">
                                      <p:cBhvr>
                                        <p:cTn id="213" dur="500"/>
                                        <p:tgtEl>
                                          <p:spTgt spid="45"/>
                                        </p:tgtEl>
                                      </p:cBhvr>
                                    </p:animEffect>
                                  </p:childTnLst>
                                </p:cTn>
                              </p:par>
                            </p:childTnLst>
                          </p:cTn>
                        </p:par>
                        <p:par>
                          <p:cTn id="214" fill="hold">
                            <p:stCondLst>
                              <p:cond delay="3970"/>
                            </p:stCondLst>
                            <p:childTnLst>
                              <p:par>
                                <p:cTn id="215" presetID="2" presetClass="entr" presetSubtype="8"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 calcmode="lin" valueType="num">
                                      <p:cBhvr additive="base">
                                        <p:cTn id="217" dur="500" fill="hold"/>
                                        <p:tgtEl>
                                          <p:spTgt spid="46"/>
                                        </p:tgtEl>
                                        <p:attrNameLst>
                                          <p:attrName>ppt_x</p:attrName>
                                        </p:attrNameLst>
                                      </p:cBhvr>
                                      <p:tavLst>
                                        <p:tav tm="0">
                                          <p:val>
                                            <p:strVal val="0-#ppt_w/2"/>
                                          </p:val>
                                        </p:tav>
                                        <p:tav tm="100000">
                                          <p:val>
                                            <p:strVal val="#ppt_x"/>
                                          </p:val>
                                        </p:tav>
                                      </p:tavLst>
                                    </p:anim>
                                    <p:animEffect transition="in" filter="fade">
                                      <p:cBhvr>
                                        <p:cTn id="218" dur="500"/>
                                        <p:tgtEl>
                                          <p:spTgt spid="46"/>
                                        </p:tgtEl>
                                      </p:cBhvr>
                                    </p:animEffect>
                                  </p:childTnLst>
                                </p:cTn>
                              </p:par>
                            </p:childTnLst>
                          </p:cTn>
                        </p:par>
                        <p:par>
                          <p:cTn id="219" fill="hold">
                            <p:stCondLst>
                              <p:cond delay="4110"/>
                            </p:stCondLst>
                            <p:childTnLst>
                              <p:par>
                                <p:cTn id="220" presetID="2" presetClass="entr" presetSubtype="8"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 calcmode="lin" valueType="num">
                                      <p:cBhvr additive="base">
                                        <p:cTn id="222" dur="500" fill="hold"/>
                                        <p:tgtEl>
                                          <p:spTgt spid="47"/>
                                        </p:tgtEl>
                                        <p:attrNameLst>
                                          <p:attrName>ppt_x</p:attrName>
                                        </p:attrNameLst>
                                      </p:cBhvr>
                                      <p:tavLst>
                                        <p:tav tm="0">
                                          <p:val>
                                            <p:strVal val="0-#ppt_w/2"/>
                                          </p:val>
                                        </p:tav>
                                        <p:tav tm="100000">
                                          <p:val>
                                            <p:strVal val="#ppt_x"/>
                                          </p:val>
                                        </p:tav>
                                      </p:tavLst>
                                    </p:anim>
                                    <p:animEffect transition="in" filter="fade">
                                      <p:cBhvr>
                                        <p:cTn id="223" dur="500"/>
                                        <p:tgtEl>
                                          <p:spTgt spid="47"/>
                                        </p:tgtEl>
                                      </p:cBhvr>
                                    </p:animEffect>
                                  </p:childTnLst>
                                </p:cTn>
                              </p:par>
                            </p:childTnLst>
                          </p:cTn>
                        </p:par>
                        <p:par>
                          <p:cTn id="224" fill="hold">
                            <p:stCondLst>
                              <p:cond delay="4550"/>
                            </p:stCondLst>
                            <p:childTnLst>
                              <p:par>
                                <p:cTn id="225" presetID="2" presetClass="entr" presetSubtype="2"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 calcmode="lin" valueType="num">
                                      <p:cBhvr additive="base">
                                        <p:cTn id="227" dur="500" fill="hold"/>
                                        <p:tgtEl>
                                          <p:spTgt spid="48"/>
                                        </p:tgtEl>
                                        <p:attrNameLst>
                                          <p:attrName>ppt_x</p:attrName>
                                        </p:attrNameLst>
                                      </p:cBhvr>
                                      <p:tavLst>
                                        <p:tav tm="0">
                                          <p:val>
                                            <p:strVal val="1+#ppt_w/2"/>
                                          </p:val>
                                        </p:tav>
                                        <p:tav tm="100000">
                                          <p:val>
                                            <p:strVal val="#ppt_x"/>
                                          </p:val>
                                        </p:tav>
                                      </p:tavLst>
                                    </p:anim>
                                    <p:animEffect transition="in" filter="fade">
                                      <p:cBhvr>
                                        <p:cTn id="228" dur="500"/>
                                        <p:tgtEl>
                                          <p:spTgt spid="48"/>
                                        </p:tgtEl>
                                      </p:cBhvr>
                                    </p:animEffect>
                                  </p:childTnLst>
                                </p:cTn>
                              </p:par>
                            </p:childTnLst>
                          </p:cTn>
                        </p:par>
                        <p:par>
                          <p:cTn id="229" fill="hold">
                            <p:stCondLst>
                              <p:cond delay="4670"/>
                            </p:stCondLst>
                            <p:childTnLst>
                              <p:par>
                                <p:cTn id="230" presetID="2" presetClass="entr" presetSubtype="2"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 calcmode="lin" valueType="num">
                                      <p:cBhvr additive="base">
                                        <p:cTn id="232" dur="500" fill="hold"/>
                                        <p:tgtEl>
                                          <p:spTgt spid="49"/>
                                        </p:tgtEl>
                                        <p:attrNameLst>
                                          <p:attrName>ppt_x</p:attrName>
                                        </p:attrNameLst>
                                      </p:cBhvr>
                                      <p:tavLst>
                                        <p:tav tm="0">
                                          <p:val>
                                            <p:strVal val="1+#ppt_w/2"/>
                                          </p:val>
                                        </p:tav>
                                        <p:tav tm="100000">
                                          <p:val>
                                            <p:strVal val="#ppt_x"/>
                                          </p:val>
                                        </p:tav>
                                      </p:tavLst>
                                    </p:anim>
                                    <p:animEffect transition="in" filter="fade">
                                      <p:cBhvr>
                                        <p:cTn id="233" dur="500"/>
                                        <p:tgtEl>
                                          <p:spTgt spid="49"/>
                                        </p:tgtEl>
                                      </p:cBhvr>
                                    </p:animEffect>
                                  </p:childTnLst>
                                </p:cTn>
                              </p:par>
                            </p:childTnLst>
                          </p:cTn>
                        </p:par>
                        <p:par>
                          <p:cTn id="234" fill="hold">
                            <p:stCondLst>
                              <p:cond delay="4830"/>
                            </p:stCondLst>
                            <p:childTnLst>
                              <p:par>
                                <p:cTn id="235" presetID="2" presetClass="entr" presetSubtype="8"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 calcmode="lin" valueType="num">
                                      <p:cBhvr additive="base">
                                        <p:cTn id="237" dur="500" fill="hold"/>
                                        <p:tgtEl>
                                          <p:spTgt spid="50"/>
                                        </p:tgtEl>
                                        <p:attrNameLst>
                                          <p:attrName>ppt_x</p:attrName>
                                        </p:attrNameLst>
                                      </p:cBhvr>
                                      <p:tavLst>
                                        <p:tav tm="0">
                                          <p:val>
                                            <p:strVal val="0-#ppt_w/2"/>
                                          </p:val>
                                        </p:tav>
                                        <p:tav tm="100000">
                                          <p:val>
                                            <p:strVal val="#ppt_x"/>
                                          </p:val>
                                        </p:tav>
                                      </p:tavLst>
                                    </p:anim>
                                    <p:animEffect transition="in" filter="fade">
                                      <p:cBhvr>
                                        <p:cTn id="238" dur="500"/>
                                        <p:tgtEl>
                                          <p:spTgt spid="50"/>
                                        </p:tgtEl>
                                      </p:cBhvr>
                                    </p:animEffect>
                                  </p:childTnLst>
                                </p:cTn>
                              </p:par>
                            </p:childTnLst>
                          </p:cTn>
                        </p:par>
                        <p:par>
                          <p:cTn id="239" fill="hold">
                            <p:stCondLst>
                              <p:cond delay="4830"/>
                            </p:stCondLst>
                            <p:childTnLst>
                              <p:par>
                                <p:cTn id="240" presetID="2" presetClass="entr" presetSubtype="8"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 calcmode="lin" valueType="num">
                                      <p:cBhvr additive="base">
                                        <p:cTn id="242" dur="500" fill="hold"/>
                                        <p:tgtEl>
                                          <p:spTgt spid="51"/>
                                        </p:tgtEl>
                                        <p:attrNameLst>
                                          <p:attrName>ppt_x</p:attrName>
                                        </p:attrNameLst>
                                      </p:cBhvr>
                                      <p:tavLst>
                                        <p:tav tm="0">
                                          <p:val>
                                            <p:strVal val="0-#ppt_w/2"/>
                                          </p:val>
                                        </p:tav>
                                        <p:tav tm="100000">
                                          <p:val>
                                            <p:strVal val="#ppt_x"/>
                                          </p:val>
                                        </p:tav>
                                      </p:tavLst>
                                    </p:anim>
                                    <p:animEffect transition="in" filter="fade">
                                      <p:cBhvr>
                                        <p:cTn id="243" dur="500"/>
                                        <p:tgtEl>
                                          <p:spTgt spid="51"/>
                                        </p:tgtEl>
                                      </p:cBhvr>
                                    </p:animEffect>
                                  </p:childTnLst>
                                </p:cTn>
                              </p:par>
                            </p:childTnLst>
                          </p:cTn>
                        </p:par>
                        <p:par>
                          <p:cTn id="244" fill="hold">
                            <p:stCondLst>
                              <p:cond delay="5030"/>
                            </p:stCondLst>
                            <p:childTnLst>
                              <p:par>
                                <p:cTn id="245" presetID="2" presetClass="entr" presetSubtype="8"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 calcmode="lin" valueType="num">
                                      <p:cBhvr additive="base">
                                        <p:cTn id="247" dur="500" fill="hold"/>
                                        <p:tgtEl>
                                          <p:spTgt spid="52"/>
                                        </p:tgtEl>
                                        <p:attrNameLst>
                                          <p:attrName>ppt_x</p:attrName>
                                        </p:attrNameLst>
                                      </p:cBhvr>
                                      <p:tavLst>
                                        <p:tav tm="0">
                                          <p:val>
                                            <p:strVal val="0-#ppt_w/2"/>
                                          </p:val>
                                        </p:tav>
                                        <p:tav tm="100000">
                                          <p:val>
                                            <p:strVal val="#ppt_x"/>
                                          </p:val>
                                        </p:tav>
                                      </p:tavLst>
                                    </p:anim>
                                    <p:animEffect transition="in" filter="fade">
                                      <p:cBhvr>
                                        <p:cTn id="248" dur="500"/>
                                        <p:tgtEl>
                                          <p:spTgt spid="52"/>
                                        </p:tgtEl>
                                      </p:cBhvr>
                                    </p:animEffect>
                                  </p:childTnLst>
                                </p:cTn>
                              </p:par>
                            </p:childTnLst>
                          </p:cTn>
                        </p:par>
                        <p:par>
                          <p:cTn id="249" fill="hold">
                            <p:stCondLst>
                              <p:cond delay="5030"/>
                            </p:stCondLst>
                            <p:childTnLst>
                              <p:par>
                                <p:cTn id="250" presetID="2" presetClass="entr" presetSubtype="8"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 calcmode="lin" valueType="num">
                                      <p:cBhvr additive="base">
                                        <p:cTn id="252" dur="500" fill="hold"/>
                                        <p:tgtEl>
                                          <p:spTgt spid="53"/>
                                        </p:tgtEl>
                                        <p:attrNameLst>
                                          <p:attrName>ppt_x</p:attrName>
                                        </p:attrNameLst>
                                      </p:cBhvr>
                                      <p:tavLst>
                                        <p:tav tm="0">
                                          <p:val>
                                            <p:strVal val="0-#ppt_w/2"/>
                                          </p:val>
                                        </p:tav>
                                        <p:tav tm="100000">
                                          <p:val>
                                            <p:strVal val="#ppt_x"/>
                                          </p:val>
                                        </p:tav>
                                      </p:tavLst>
                                    </p:anim>
                                    <p:animEffect transition="in" filter="fade">
                                      <p:cBhvr>
                                        <p:cTn id="253" dur="500"/>
                                        <p:tgtEl>
                                          <p:spTgt spid="53"/>
                                        </p:tgtEl>
                                      </p:cBhvr>
                                    </p:animEffect>
                                  </p:childTnLst>
                                </p:cTn>
                              </p:par>
                            </p:childTnLst>
                          </p:cTn>
                        </p:par>
                        <p:par>
                          <p:cTn id="254" fill="hold">
                            <p:stCondLst>
                              <p:cond delay="5230"/>
                            </p:stCondLst>
                            <p:childTnLst>
                              <p:par>
                                <p:cTn id="255" presetID="2" presetClass="entr" presetSubtype="8"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 calcmode="lin" valueType="num">
                                      <p:cBhvr additive="base">
                                        <p:cTn id="257" dur="500" fill="hold"/>
                                        <p:tgtEl>
                                          <p:spTgt spid="54"/>
                                        </p:tgtEl>
                                        <p:attrNameLst>
                                          <p:attrName>ppt_x</p:attrName>
                                        </p:attrNameLst>
                                      </p:cBhvr>
                                      <p:tavLst>
                                        <p:tav tm="0">
                                          <p:val>
                                            <p:strVal val="0-#ppt_w/2"/>
                                          </p:val>
                                        </p:tav>
                                        <p:tav tm="100000">
                                          <p:val>
                                            <p:strVal val="#ppt_x"/>
                                          </p:val>
                                        </p:tav>
                                      </p:tavLst>
                                    </p:anim>
                                    <p:animEffect transition="in" filter="fade">
                                      <p:cBhvr>
                                        <p:cTn id="258" dur="500"/>
                                        <p:tgtEl>
                                          <p:spTgt spid="54"/>
                                        </p:tgtEl>
                                      </p:cBhvr>
                                    </p:animEffect>
                                  </p:childTnLst>
                                </p:cTn>
                              </p:par>
                            </p:childTnLst>
                          </p:cTn>
                        </p:par>
                        <p:par>
                          <p:cTn id="259" fill="hold">
                            <p:stCondLst>
                              <p:cond delay="5230"/>
                            </p:stCondLst>
                            <p:childTnLst>
                              <p:par>
                                <p:cTn id="260" presetID="2" presetClass="entr" presetSubtype="8"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 calcmode="lin" valueType="num">
                                      <p:cBhvr additive="base">
                                        <p:cTn id="262" dur="500" fill="hold"/>
                                        <p:tgtEl>
                                          <p:spTgt spid="55"/>
                                        </p:tgtEl>
                                        <p:attrNameLst>
                                          <p:attrName>ppt_x</p:attrName>
                                        </p:attrNameLst>
                                      </p:cBhvr>
                                      <p:tavLst>
                                        <p:tav tm="0">
                                          <p:val>
                                            <p:strVal val="0-#ppt_w/2"/>
                                          </p:val>
                                        </p:tav>
                                        <p:tav tm="100000">
                                          <p:val>
                                            <p:strVal val="#ppt_x"/>
                                          </p:val>
                                        </p:tav>
                                      </p:tavLst>
                                    </p:anim>
                                    <p:animEffect transition="in" filter="fade">
                                      <p:cBhvr>
                                        <p:cTn id="263" dur="500"/>
                                        <p:tgtEl>
                                          <p:spTgt spid="55"/>
                                        </p:tgtEl>
                                      </p:cBhvr>
                                    </p:animEffect>
                                  </p:childTnLst>
                                </p:cTn>
                              </p:par>
                            </p:childTnLst>
                          </p:cTn>
                        </p:par>
                        <p:par>
                          <p:cTn id="264" fill="hold">
                            <p:stCondLst>
                              <p:cond delay="5430"/>
                            </p:stCondLst>
                            <p:childTnLst>
                              <p:par>
                                <p:cTn id="265" presetID="2" presetClass="entr" presetSubtype="8"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 calcmode="lin" valueType="num">
                                      <p:cBhvr additive="base">
                                        <p:cTn id="267" dur="500" fill="hold"/>
                                        <p:tgtEl>
                                          <p:spTgt spid="56"/>
                                        </p:tgtEl>
                                        <p:attrNameLst>
                                          <p:attrName>ppt_x</p:attrName>
                                        </p:attrNameLst>
                                      </p:cBhvr>
                                      <p:tavLst>
                                        <p:tav tm="0">
                                          <p:val>
                                            <p:strVal val="0-#ppt_w/2"/>
                                          </p:val>
                                        </p:tav>
                                        <p:tav tm="100000">
                                          <p:val>
                                            <p:strVal val="#ppt_x"/>
                                          </p:val>
                                        </p:tav>
                                      </p:tavLst>
                                    </p:anim>
                                    <p:animEffect transition="in" filter="fade">
                                      <p:cBhvr>
                                        <p:cTn id="268" dur="500"/>
                                        <p:tgtEl>
                                          <p:spTgt spid="56"/>
                                        </p:tgtEl>
                                      </p:cBhvr>
                                    </p:animEffect>
                                  </p:childTnLst>
                                </p:cTn>
                              </p:par>
                            </p:childTnLst>
                          </p:cTn>
                        </p:par>
                        <p:par>
                          <p:cTn id="269" fill="hold">
                            <p:stCondLst>
                              <p:cond delay="5430"/>
                            </p:stCondLst>
                            <p:childTnLst>
                              <p:par>
                                <p:cTn id="270" presetID="2" presetClass="entr" presetSubtype="8"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 calcmode="lin" valueType="num">
                                      <p:cBhvr additive="base">
                                        <p:cTn id="272" dur="500" fill="hold"/>
                                        <p:tgtEl>
                                          <p:spTgt spid="57"/>
                                        </p:tgtEl>
                                        <p:attrNameLst>
                                          <p:attrName>ppt_x</p:attrName>
                                        </p:attrNameLst>
                                      </p:cBhvr>
                                      <p:tavLst>
                                        <p:tav tm="0">
                                          <p:val>
                                            <p:strVal val="0-#ppt_w/2"/>
                                          </p:val>
                                        </p:tav>
                                        <p:tav tm="100000">
                                          <p:val>
                                            <p:strVal val="#ppt_x"/>
                                          </p:val>
                                        </p:tav>
                                      </p:tavLst>
                                    </p:anim>
                                    <p:animEffect transition="in" filter="fade">
                                      <p:cBhvr>
                                        <p:cTn id="27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8521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12   —   WORKED EXAMPLE</a:t>
            </a:r>
            <a:endParaRPr lang="en-US" sz="850" dirty="0"/>
          </a:p>
        </p:txBody>
      </p:sp>
      <p:sp>
        <p:nvSpPr>
          <p:cNvPr id="3" name="Text 1"/>
          <p:cNvSpPr/>
          <p:nvPr/>
        </p:nvSpPr>
        <p:spPr>
          <a:xfrm>
            <a:off x="640080" y="539496"/>
            <a:ext cx="7863840" cy="365760"/>
          </a:xfrm>
          <a:prstGeom prst="rect">
            <a:avLst/>
          </a:prstGeom>
          <a:noFill/>
          <a:ln/>
        </p:spPr>
        <p:txBody>
          <a:bodyPr wrap="square" lIns="0" tIns="0" rIns="0" bIns="0" rtlCol="0" anchor="t"/>
          <a:lstStyle/>
          <a:p>
            <a:pPr marL="0" indent="0">
              <a:buNone/>
            </a:pPr>
            <a:r>
              <a:rPr lang="en-US" sz="2400" b="1" dirty="0">
                <a:solidFill>
                  <a:srgbClr val="10243A"/>
                </a:solidFill>
                <a:latin typeface="Calibri" pitchFamily="34" charset="0"/>
                <a:ea typeface="Calibri" pitchFamily="34" charset="-122"/>
                <a:cs typeface="Calibri" pitchFamily="34" charset="-120"/>
              </a:rPr>
              <a:t>One target, </a:t>
            </a:r>
            <a:r>
              <a:rPr lang="en-US" sz="2400" b="1" dirty="0">
                <a:solidFill>
                  <a:srgbClr val="0B63CE"/>
                </a:solidFill>
                <a:latin typeface="Calibri" pitchFamily="34" charset="0"/>
                <a:ea typeface="Calibri" pitchFamily="34" charset="-122"/>
                <a:cs typeface="Calibri" pitchFamily="34" charset="-120"/>
              </a:rPr>
              <a:t>traced end to end</a:t>
            </a:r>
            <a:endParaRPr lang="en-US" sz="2400" dirty="0"/>
          </a:p>
        </p:txBody>
      </p:sp>
      <p:sp>
        <p:nvSpPr>
          <p:cNvPr id="4" name="w_bar"/>
          <p:cNvSpPr/>
          <p:nvPr/>
        </p:nvSpPr>
        <p:spPr>
          <a:xfrm>
            <a:off x="640080" y="969264"/>
            <a:ext cx="7863840" cy="384048"/>
          </a:xfrm>
          <a:prstGeom prst="roundRect">
            <a:avLst>
              <a:gd name="adj" fmla="val 14286"/>
            </a:avLst>
          </a:prstGeom>
          <a:solidFill>
            <a:srgbClr val="E8F1FC"/>
          </a:solidFill>
          <a:ln w="9525">
            <a:solidFill>
              <a:srgbClr val="C9DFF6"/>
            </a:solidFill>
            <a:prstDash val="solid"/>
          </a:ln>
        </p:spPr>
        <p:txBody>
          <a:bodyPr/>
          <a:lstStyle/>
          <a:p>
            <a:endParaRPr lang="en-US"/>
          </a:p>
        </p:txBody>
      </p:sp>
      <p:sp>
        <p:nvSpPr>
          <p:cNvPr id="5" name="w_bart"/>
          <p:cNvSpPr/>
          <p:nvPr/>
        </p:nvSpPr>
        <p:spPr>
          <a:xfrm>
            <a:off x="822960" y="969264"/>
            <a:ext cx="7498080" cy="384048"/>
          </a:xfrm>
          <a:prstGeom prst="rect">
            <a:avLst/>
          </a:prstGeom>
          <a:noFill/>
          <a:ln/>
        </p:spPr>
        <p:txBody>
          <a:bodyPr wrap="square" lIns="0" tIns="0" rIns="0" bIns="0" rtlCol="0" anchor="ctr"/>
          <a:lstStyle/>
          <a:p>
            <a:pPr marL="0" indent="0">
              <a:buNone/>
            </a:pPr>
            <a:r>
              <a:rPr lang="en-US" sz="1100" b="1" dirty="0">
                <a:solidFill>
                  <a:srgbClr val="0A3E7A"/>
                </a:solidFill>
                <a:latin typeface="Calibri" pitchFamily="34" charset="0"/>
                <a:ea typeface="Calibri" pitchFamily="34" charset="-122"/>
                <a:cs typeface="Calibri" pitchFamily="34" charset="-120"/>
              </a:rPr>
              <a:t>PCSK9   rs11591147     </a:t>
            </a:r>
            <a:r>
              <a:rPr lang="en-US" sz="950" dirty="0">
                <a:solidFill>
                  <a:srgbClr val="10243A"/>
                </a:solidFill>
                <a:latin typeface="Calibri" pitchFamily="34" charset="0"/>
                <a:ea typeface="Calibri" pitchFamily="34" charset="-122"/>
                <a:cs typeface="Calibri" pitchFamily="34" charset="-120"/>
              </a:rPr>
              <a:t>A single letter of this gene is swapped. Carriers make less of a protein that keeps cholesterol high. Follow what the model does with that.</a:t>
            </a:r>
            <a:endParaRPr lang="en-US" sz="1100" dirty="0"/>
          </a:p>
        </p:txBody>
      </p:sp>
      <p:sp>
        <p:nvSpPr>
          <p:cNvPr id="6" name="wst_0"/>
          <p:cNvSpPr/>
          <p:nvPr/>
        </p:nvSpPr>
        <p:spPr>
          <a:xfrm>
            <a:off x="640080" y="1481328"/>
            <a:ext cx="4626864" cy="457200"/>
          </a:xfrm>
          <a:prstGeom prst="roundRect">
            <a:avLst>
              <a:gd name="adj" fmla="val 12000"/>
            </a:avLst>
          </a:prstGeom>
          <a:solidFill>
            <a:srgbClr val="FFFFFF"/>
          </a:solidFill>
          <a:ln w="8890">
            <a:solidFill>
              <a:srgbClr val="E3E9EF"/>
            </a:solidFill>
            <a:prstDash val="solid"/>
          </a:ln>
        </p:spPr>
        <p:txBody>
          <a:bodyPr/>
          <a:lstStyle/>
          <a:p>
            <a:endParaRPr lang="en-US"/>
          </a:p>
        </p:txBody>
      </p:sp>
      <p:sp>
        <p:nvSpPr>
          <p:cNvPr id="7" name="wsc_0"/>
          <p:cNvSpPr/>
          <p:nvPr/>
        </p:nvSpPr>
        <p:spPr>
          <a:xfrm>
            <a:off x="768096" y="1609344"/>
            <a:ext cx="210312" cy="210312"/>
          </a:xfrm>
          <a:prstGeom prst="ellipse">
            <a:avLst/>
          </a:prstGeom>
          <a:solidFill>
            <a:srgbClr val="0B63CE"/>
          </a:solidFill>
          <a:ln w="12700">
            <a:solidFill>
              <a:srgbClr val="0B63CE"/>
            </a:solidFill>
            <a:prstDash val="solid"/>
          </a:ln>
        </p:spPr>
        <p:txBody>
          <a:bodyPr/>
          <a:lstStyle/>
          <a:p>
            <a:endParaRPr lang="en-US"/>
          </a:p>
        </p:txBody>
      </p:sp>
      <p:sp>
        <p:nvSpPr>
          <p:cNvPr id="8" name="wsn_0"/>
          <p:cNvSpPr/>
          <p:nvPr/>
        </p:nvSpPr>
        <p:spPr>
          <a:xfrm>
            <a:off x="768096" y="1609344"/>
            <a:ext cx="210312" cy="21031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wsh_0"/>
          <p:cNvSpPr/>
          <p:nvPr/>
        </p:nvSpPr>
        <p:spPr>
          <a:xfrm>
            <a:off x="1060704" y="1527048"/>
            <a:ext cx="13898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Look in the data</a:t>
            </a:r>
            <a:endParaRPr lang="en-US" sz="950" dirty="0"/>
          </a:p>
        </p:txBody>
      </p:sp>
      <p:sp>
        <p:nvSpPr>
          <p:cNvPr id="10" name="wsd_0"/>
          <p:cNvSpPr/>
          <p:nvPr/>
        </p:nvSpPr>
        <p:spPr>
          <a:xfrm>
            <a:off x="1060704" y="1700784"/>
            <a:ext cx="1755648" cy="219456"/>
          </a:xfrm>
          <a:prstGeom prst="rect">
            <a:avLst/>
          </a:prstGeom>
          <a:noFill/>
          <a:ln/>
        </p:spPr>
        <p:txBody>
          <a:bodyPr wrap="square" lIns="0" tIns="0" rIns="0" bIns="0" rtlCol="0" anchor="ctr"/>
          <a:lstStyle/>
          <a:p>
            <a:pPr marL="0" indent="0">
              <a:lnSpc>
                <a:spcPts val="900"/>
              </a:lnSpc>
              <a:buNone/>
            </a:pPr>
            <a:r>
              <a:rPr lang="en-US" sz="740" dirty="0">
                <a:solidFill>
                  <a:srgbClr val="55697C"/>
                </a:solidFill>
                <a:latin typeface="Calibri" pitchFamily="34" charset="0"/>
                <a:ea typeface="Calibri" pitchFamily="34" charset="-122"/>
                <a:cs typeface="Calibri" pitchFamily="34" charset="-120"/>
              </a:rPr>
              <a:t>10,439 people were examined at this gene.</a:t>
            </a:r>
            <a:endParaRPr lang="en-US" sz="740" dirty="0"/>
          </a:p>
        </p:txBody>
      </p:sp>
      <p:sp>
        <p:nvSpPr>
          <p:cNvPr id="11" name="wsv_0"/>
          <p:cNvSpPr/>
          <p:nvPr/>
        </p:nvSpPr>
        <p:spPr>
          <a:xfrm>
            <a:off x="2907792" y="1527048"/>
            <a:ext cx="2249424" cy="365760"/>
          </a:xfrm>
          <a:prstGeom prst="rect">
            <a:avLst/>
          </a:prstGeom>
          <a:noFill/>
          <a:ln/>
        </p:spPr>
        <p:txBody>
          <a:bodyPr wrap="square" lIns="0" tIns="0" rIns="0" bIns="0" rtlCol="0" anchor="ctr"/>
          <a:lstStyle/>
          <a:p>
            <a:pPr marL="0" indent="0" algn="r">
              <a:buNone/>
            </a:pPr>
            <a:r>
              <a:rPr lang="en-US" sz="840" b="1" dirty="0">
                <a:solidFill>
                  <a:srgbClr val="0B63CE"/>
                </a:solidFill>
                <a:latin typeface="Consolas" pitchFamily="34" charset="0"/>
                <a:ea typeface="Consolas" pitchFamily="34" charset="-122"/>
                <a:cs typeface="Consolas" pitchFamily="34" charset="-120"/>
              </a:rPr>
              <a:t>688 carriers  (6.6%)</a:t>
            </a:r>
            <a:endParaRPr lang="en-US" sz="840" dirty="0"/>
          </a:p>
        </p:txBody>
      </p:sp>
      <p:sp>
        <p:nvSpPr>
          <p:cNvPr id="12" name="wst_1"/>
          <p:cNvSpPr/>
          <p:nvPr/>
        </p:nvSpPr>
        <p:spPr>
          <a:xfrm>
            <a:off x="640080" y="1979676"/>
            <a:ext cx="4626864" cy="457200"/>
          </a:xfrm>
          <a:prstGeom prst="roundRect">
            <a:avLst>
              <a:gd name="adj" fmla="val 12000"/>
            </a:avLst>
          </a:prstGeom>
          <a:solidFill>
            <a:srgbClr val="F3F7FB"/>
          </a:solidFill>
          <a:ln w="8890">
            <a:solidFill>
              <a:srgbClr val="E3E9EF"/>
            </a:solidFill>
            <a:prstDash val="solid"/>
          </a:ln>
        </p:spPr>
        <p:txBody>
          <a:bodyPr/>
          <a:lstStyle/>
          <a:p>
            <a:endParaRPr lang="en-US"/>
          </a:p>
        </p:txBody>
      </p:sp>
      <p:sp>
        <p:nvSpPr>
          <p:cNvPr id="13" name="wsc_1"/>
          <p:cNvSpPr/>
          <p:nvPr/>
        </p:nvSpPr>
        <p:spPr>
          <a:xfrm>
            <a:off x="768096" y="2107692"/>
            <a:ext cx="210312" cy="210312"/>
          </a:xfrm>
          <a:prstGeom prst="ellipse">
            <a:avLst/>
          </a:prstGeom>
          <a:solidFill>
            <a:srgbClr val="0B63CE"/>
          </a:solidFill>
          <a:ln w="12700">
            <a:solidFill>
              <a:srgbClr val="0B63CE"/>
            </a:solidFill>
            <a:prstDash val="solid"/>
          </a:ln>
        </p:spPr>
        <p:txBody>
          <a:bodyPr/>
          <a:lstStyle/>
          <a:p>
            <a:endParaRPr lang="en-US"/>
          </a:p>
        </p:txBody>
      </p:sp>
      <p:sp>
        <p:nvSpPr>
          <p:cNvPr id="14" name="wsn_1"/>
          <p:cNvSpPr/>
          <p:nvPr/>
        </p:nvSpPr>
        <p:spPr>
          <a:xfrm>
            <a:off x="768096" y="2107692"/>
            <a:ext cx="210312" cy="21031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wsh_1"/>
          <p:cNvSpPr/>
          <p:nvPr/>
        </p:nvSpPr>
        <p:spPr>
          <a:xfrm>
            <a:off x="1060704" y="2025396"/>
            <a:ext cx="13898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Screen the blood markers</a:t>
            </a:r>
            <a:endParaRPr lang="en-US" sz="950" dirty="0"/>
          </a:p>
        </p:txBody>
      </p:sp>
      <p:sp>
        <p:nvSpPr>
          <p:cNvPr id="16" name="wsd_1"/>
          <p:cNvSpPr/>
          <p:nvPr/>
        </p:nvSpPr>
        <p:spPr>
          <a:xfrm>
            <a:off x="1060704" y="2199132"/>
            <a:ext cx="1755648" cy="219456"/>
          </a:xfrm>
          <a:prstGeom prst="rect">
            <a:avLst/>
          </a:prstGeom>
          <a:noFill/>
          <a:ln/>
        </p:spPr>
        <p:txBody>
          <a:bodyPr wrap="square" lIns="0" tIns="0" rIns="0" bIns="0" rtlCol="0" anchor="ctr"/>
          <a:lstStyle/>
          <a:p>
            <a:pPr marL="0" indent="0">
              <a:lnSpc>
                <a:spcPts val="900"/>
              </a:lnSpc>
              <a:buNone/>
            </a:pPr>
            <a:r>
              <a:rPr lang="en-US" sz="740" dirty="0">
                <a:solidFill>
                  <a:srgbClr val="55697C"/>
                </a:solidFill>
                <a:latin typeface="Calibri" pitchFamily="34" charset="0"/>
                <a:ea typeface="Calibri" pitchFamily="34" charset="-122"/>
                <a:cs typeface="Calibri" pitchFamily="34" charset="-120"/>
              </a:rPr>
              <a:t>Seven markers tested. The strongest signal by far is LDL cholesterol.</a:t>
            </a:r>
            <a:endParaRPr lang="en-US" sz="740" dirty="0"/>
          </a:p>
        </p:txBody>
      </p:sp>
      <p:sp>
        <p:nvSpPr>
          <p:cNvPr id="17" name="wsv_1"/>
          <p:cNvSpPr/>
          <p:nvPr/>
        </p:nvSpPr>
        <p:spPr>
          <a:xfrm>
            <a:off x="2907792" y="2025396"/>
            <a:ext cx="2249424" cy="365760"/>
          </a:xfrm>
          <a:prstGeom prst="rect">
            <a:avLst/>
          </a:prstGeom>
          <a:noFill/>
          <a:ln/>
        </p:spPr>
        <p:txBody>
          <a:bodyPr wrap="square" lIns="0" tIns="0" rIns="0" bIns="0" rtlCol="0" anchor="ctr"/>
          <a:lstStyle/>
          <a:p>
            <a:pPr marL="0" indent="0" algn="r">
              <a:buNone/>
            </a:pPr>
            <a:r>
              <a:rPr lang="en-US" sz="840" b="1" dirty="0">
                <a:solidFill>
                  <a:srgbClr val="0B63CE"/>
                </a:solidFill>
                <a:latin typeface="Consolas" pitchFamily="34" charset="0"/>
                <a:ea typeface="Consolas" pitchFamily="34" charset="-122"/>
                <a:cs typeface="Consolas" pitchFamily="34" charset="-120"/>
              </a:rPr>
              <a:t>-19.8 mg/dL per copy   z = -16</a:t>
            </a:r>
            <a:endParaRPr lang="en-US" sz="840" dirty="0"/>
          </a:p>
        </p:txBody>
      </p:sp>
      <p:sp>
        <p:nvSpPr>
          <p:cNvPr id="18" name="wst_2"/>
          <p:cNvSpPr/>
          <p:nvPr/>
        </p:nvSpPr>
        <p:spPr>
          <a:xfrm>
            <a:off x="640080" y="2478024"/>
            <a:ext cx="4626864" cy="457200"/>
          </a:xfrm>
          <a:prstGeom prst="roundRect">
            <a:avLst>
              <a:gd name="adj" fmla="val 12000"/>
            </a:avLst>
          </a:prstGeom>
          <a:solidFill>
            <a:srgbClr val="FFFFFF"/>
          </a:solidFill>
          <a:ln w="8890">
            <a:solidFill>
              <a:srgbClr val="E3E9EF"/>
            </a:solidFill>
            <a:prstDash val="solid"/>
          </a:ln>
        </p:spPr>
        <p:txBody>
          <a:bodyPr/>
          <a:lstStyle/>
          <a:p>
            <a:endParaRPr lang="en-US"/>
          </a:p>
        </p:txBody>
      </p:sp>
      <p:sp>
        <p:nvSpPr>
          <p:cNvPr id="19" name="wsc_2"/>
          <p:cNvSpPr/>
          <p:nvPr/>
        </p:nvSpPr>
        <p:spPr>
          <a:xfrm>
            <a:off x="768096" y="2606040"/>
            <a:ext cx="210312" cy="210312"/>
          </a:xfrm>
          <a:prstGeom prst="ellipse">
            <a:avLst/>
          </a:prstGeom>
          <a:solidFill>
            <a:srgbClr val="0C8C83"/>
          </a:solidFill>
          <a:ln w="12700">
            <a:solidFill>
              <a:srgbClr val="0C8C83"/>
            </a:solidFill>
            <a:prstDash val="solid"/>
          </a:ln>
        </p:spPr>
        <p:txBody>
          <a:bodyPr/>
          <a:lstStyle/>
          <a:p>
            <a:endParaRPr lang="en-US"/>
          </a:p>
        </p:txBody>
      </p:sp>
      <p:sp>
        <p:nvSpPr>
          <p:cNvPr id="20" name="wsn_2"/>
          <p:cNvSpPr/>
          <p:nvPr/>
        </p:nvSpPr>
        <p:spPr>
          <a:xfrm>
            <a:off x="768096" y="2606040"/>
            <a:ext cx="210312" cy="21031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wsh_2"/>
          <p:cNvSpPr/>
          <p:nvPr/>
        </p:nvSpPr>
        <p:spPr>
          <a:xfrm>
            <a:off x="1060704" y="2523744"/>
            <a:ext cx="13898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Test the disease</a:t>
            </a:r>
            <a:endParaRPr lang="en-US" sz="950" dirty="0"/>
          </a:p>
        </p:txBody>
      </p:sp>
      <p:sp>
        <p:nvSpPr>
          <p:cNvPr id="22" name="wsd_2"/>
          <p:cNvSpPr/>
          <p:nvPr/>
        </p:nvSpPr>
        <p:spPr>
          <a:xfrm>
            <a:off x="1060704" y="2697480"/>
            <a:ext cx="1755648" cy="219456"/>
          </a:xfrm>
          <a:prstGeom prst="rect">
            <a:avLst/>
          </a:prstGeom>
          <a:noFill/>
          <a:ln/>
        </p:spPr>
        <p:txBody>
          <a:bodyPr wrap="square" lIns="0" tIns="0" rIns="0" bIns="0" rtlCol="0" anchor="ctr"/>
          <a:lstStyle/>
          <a:p>
            <a:pPr marL="0" indent="0">
              <a:lnSpc>
                <a:spcPts val="900"/>
              </a:lnSpc>
              <a:buNone/>
            </a:pPr>
            <a:r>
              <a:rPr lang="en-US" sz="740" dirty="0">
                <a:solidFill>
                  <a:srgbClr val="55697C"/>
                </a:solidFill>
                <a:latin typeface="Calibri" pitchFamily="34" charset="0"/>
                <a:ea typeface="Calibri" pitchFamily="34" charset="-122"/>
                <a:cs typeface="Calibri" pitchFamily="34" charset="-120"/>
              </a:rPr>
              <a:t>Logistic regression on heart disease, adjusted for age, sex and ancestry.</a:t>
            </a:r>
            <a:endParaRPr lang="en-US" sz="740" dirty="0"/>
          </a:p>
        </p:txBody>
      </p:sp>
      <p:sp>
        <p:nvSpPr>
          <p:cNvPr id="23" name="wsv_2"/>
          <p:cNvSpPr/>
          <p:nvPr/>
        </p:nvSpPr>
        <p:spPr>
          <a:xfrm>
            <a:off x="2907792" y="2523744"/>
            <a:ext cx="2249424" cy="365760"/>
          </a:xfrm>
          <a:prstGeom prst="rect">
            <a:avLst/>
          </a:prstGeom>
          <a:noFill/>
          <a:ln/>
        </p:spPr>
        <p:txBody>
          <a:bodyPr wrap="square" lIns="0" tIns="0" rIns="0" bIns="0" rtlCol="0" anchor="ctr"/>
          <a:lstStyle/>
          <a:p>
            <a:pPr marL="0" indent="0" algn="r">
              <a:buNone/>
            </a:pPr>
            <a:r>
              <a:rPr lang="en-US" sz="840" b="1" dirty="0">
                <a:solidFill>
                  <a:srgbClr val="0C8C83"/>
                </a:solidFill>
                <a:latin typeface="Consolas" pitchFamily="34" charset="0"/>
                <a:ea typeface="Consolas" pitchFamily="34" charset="-122"/>
                <a:cs typeface="Consolas" pitchFamily="34" charset="-120"/>
              </a:rPr>
              <a:t>OR 0.72 [0.53–0.98]  p=0.037</a:t>
            </a:r>
            <a:endParaRPr lang="en-US" sz="840" dirty="0"/>
          </a:p>
        </p:txBody>
      </p:sp>
      <p:sp>
        <p:nvSpPr>
          <p:cNvPr id="24" name="wst_3"/>
          <p:cNvSpPr/>
          <p:nvPr/>
        </p:nvSpPr>
        <p:spPr>
          <a:xfrm>
            <a:off x="640080" y="2976372"/>
            <a:ext cx="4626864" cy="457200"/>
          </a:xfrm>
          <a:prstGeom prst="roundRect">
            <a:avLst>
              <a:gd name="adj" fmla="val 12000"/>
            </a:avLst>
          </a:prstGeom>
          <a:solidFill>
            <a:srgbClr val="F3F7FB"/>
          </a:solidFill>
          <a:ln w="8890">
            <a:solidFill>
              <a:srgbClr val="E3E9EF"/>
            </a:solidFill>
            <a:prstDash val="solid"/>
          </a:ln>
        </p:spPr>
        <p:txBody>
          <a:bodyPr/>
          <a:lstStyle/>
          <a:p>
            <a:endParaRPr lang="en-US"/>
          </a:p>
        </p:txBody>
      </p:sp>
      <p:sp>
        <p:nvSpPr>
          <p:cNvPr id="25" name="wsc_3"/>
          <p:cNvSpPr/>
          <p:nvPr/>
        </p:nvSpPr>
        <p:spPr>
          <a:xfrm>
            <a:off x="768096" y="3104388"/>
            <a:ext cx="210312" cy="210312"/>
          </a:xfrm>
          <a:prstGeom prst="ellipse">
            <a:avLst/>
          </a:prstGeom>
          <a:solidFill>
            <a:srgbClr val="0C8C83"/>
          </a:solidFill>
          <a:ln w="12700">
            <a:solidFill>
              <a:srgbClr val="0C8C83"/>
            </a:solidFill>
            <a:prstDash val="solid"/>
          </a:ln>
        </p:spPr>
        <p:txBody>
          <a:bodyPr/>
          <a:lstStyle/>
          <a:p>
            <a:endParaRPr lang="en-US"/>
          </a:p>
        </p:txBody>
      </p:sp>
      <p:sp>
        <p:nvSpPr>
          <p:cNvPr id="26" name="wsn_3"/>
          <p:cNvSpPr/>
          <p:nvPr/>
        </p:nvSpPr>
        <p:spPr>
          <a:xfrm>
            <a:off x="768096" y="3104388"/>
            <a:ext cx="210312" cy="21031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wsh_3"/>
          <p:cNvSpPr/>
          <p:nvPr/>
        </p:nvSpPr>
        <p:spPr>
          <a:xfrm>
            <a:off x="1060704" y="3022092"/>
            <a:ext cx="13898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Score it</a:t>
            </a:r>
            <a:endParaRPr lang="en-US" sz="950" dirty="0"/>
          </a:p>
        </p:txBody>
      </p:sp>
      <p:sp>
        <p:nvSpPr>
          <p:cNvPr id="28" name="wsd_3"/>
          <p:cNvSpPr/>
          <p:nvPr/>
        </p:nvSpPr>
        <p:spPr>
          <a:xfrm>
            <a:off x="1060704" y="3195828"/>
            <a:ext cx="1755648" cy="219456"/>
          </a:xfrm>
          <a:prstGeom prst="rect">
            <a:avLst/>
          </a:prstGeom>
          <a:noFill/>
          <a:ln/>
        </p:spPr>
        <p:txBody>
          <a:bodyPr wrap="square" lIns="0" tIns="0" rIns="0" bIns="0" rtlCol="0" anchor="ctr"/>
          <a:lstStyle/>
          <a:p>
            <a:pPr marL="0" indent="0">
              <a:lnSpc>
                <a:spcPts val="900"/>
              </a:lnSpc>
              <a:buNone/>
            </a:pPr>
            <a:r>
              <a:rPr lang="en-US" sz="740" dirty="0">
                <a:solidFill>
                  <a:srgbClr val="55697C"/>
                </a:solidFill>
                <a:latin typeface="Calibri" pitchFamily="34" charset="0"/>
                <a:ea typeface="Calibri" pitchFamily="34" charset="-122"/>
                <a:cs typeface="Calibri" pitchFamily="34" charset="-120"/>
              </a:rPr>
              <a:t>Effect size, confidence, disease link and whether the gene is switched off.</a:t>
            </a:r>
            <a:endParaRPr lang="en-US" sz="740" dirty="0"/>
          </a:p>
        </p:txBody>
      </p:sp>
      <p:sp>
        <p:nvSpPr>
          <p:cNvPr id="29" name="wsv_3"/>
          <p:cNvSpPr/>
          <p:nvPr/>
        </p:nvSpPr>
        <p:spPr>
          <a:xfrm>
            <a:off x="2907792" y="3022092"/>
            <a:ext cx="2249424" cy="365760"/>
          </a:xfrm>
          <a:prstGeom prst="rect">
            <a:avLst/>
          </a:prstGeom>
          <a:noFill/>
          <a:ln/>
        </p:spPr>
        <p:txBody>
          <a:bodyPr wrap="square" lIns="0" tIns="0" rIns="0" bIns="0" rtlCol="0" anchor="ctr"/>
          <a:lstStyle/>
          <a:p>
            <a:pPr marL="0" indent="0" algn="r">
              <a:buNone/>
            </a:pPr>
            <a:r>
              <a:rPr lang="en-US" sz="840" b="1" dirty="0">
                <a:solidFill>
                  <a:srgbClr val="0C8C83"/>
                </a:solidFill>
                <a:latin typeface="Consolas" pitchFamily="34" charset="0"/>
                <a:ea typeface="Consolas" pitchFamily="34" charset="-122"/>
                <a:cs typeface="Consolas" pitchFamily="34" charset="-120"/>
              </a:rPr>
              <a:t>7.01 / 10   →   rank 5 of 18</a:t>
            </a:r>
            <a:endParaRPr lang="en-US" sz="840" dirty="0"/>
          </a:p>
        </p:txBody>
      </p:sp>
      <p:sp>
        <p:nvSpPr>
          <p:cNvPr id="30" name="wst_4"/>
          <p:cNvSpPr/>
          <p:nvPr/>
        </p:nvSpPr>
        <p:spPr>
          <a:xfrm>
            <a:off x="640080" y="3474720"/>
            <a:ext cx="4626864" cy="457200"/>
          </a:xfrm>
          <a:prstGeom prst="roundRect">
            <a:avLst>
              <a:gd name="adj" fmla="val 12000"/>
            </a:avLst>
          </a:prstGeom>
          <a:solidFill>
            <a:srgbClr val="FFFFFF"/>
          </a:solidFill>
          <a:ln w="8890">
            <a:solidFill>
              <a:srgbClr val="E3E9EF"/>
            </a:solidFill>
            <a:prstDash val="solid"/>
          </a:ln>
        </p:spPr>
        <p:txBody>
          <a:bodyPr/>
          <a:lstStyle/>
          <a:p>
            <a:endParaRPr lang="en-US"/>
          </a:p>
        </p:txBody>
      </p:sp>
      <p:sp>
        <p:nvSpPr>
          <p:cNvPr id="31" name="wsc_4"/>
          <p:cNvSpPr/>
          <p:nvPr/>
        </p:nvSpPr>
        <p:spPr>
          <a:xfrm>
            <a:off x="768096" y="3602736"/>
            <a:ext cx="210312" cy="210312"/>
          </a:xfrm>
          <a:prstGeom prst="ellipse">
            <a:avLst/>
          </a:prstGeom>
          <a:solidFill>
            <a:srgbClr val="C77A0A"/>
          </a:solidFill>
          <a:ln w="12700">
            <a:solidFill>
              <a:srgbClr val="C77A0A"/>
            </a:solidFill>
            <a:prstDash val="solid"/>
          </a:ln>
        </p:spPr>
        <p:txBody>
          <a:bodyPr/>
          <a:lstStyle/>
          <a:p>
            <a:endParaRPr lang="en-US"/>
          </a:p>
        </p:txBody>
      </p:sp>
      <p:sp>
        <p:nvSpPr>
          <p:cNvPr id="32" name="wsn_4"/>
          <p:cNvSpPr/>
          <p:nvPr/>
        </p:nvSpPr>
        <p:spPr>
          <a:xfrm>
            <a:off x="768096" y="3602736"/>
            <a:ext cx="210312" cy="21031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wsh_4"/>
          <p:cNvSpPr/>
          <p:nvPr/>
        </p:nvSpPr>
        <p:spPr>
          <a:xfrm>
            <a:off x="1060704" y="3520440"/>
            <a:ext cx="1389888" cy="182880"/>
          </a:xfrm>
          <a:prstGeom prst="rect">
            <a:avLst/>
          </a:prstGeom>
          <a:noFill/>
          <a:ln/>
        </p:spPr>
        <p:txBody>
          <a:bodyPr wrap="square" lIns="0" tIns="0" rIns="0" bIns="0" rtlCol="0" anchor="ctr"/>
          <a:lstStyle/>
          <a:p>
            <a:pPr marL="0" indent="0">
              <a:buNone/>
            </a:pPr>
            <a:r>
              <a:rPr lang="en-US" sz="950" b="1" dirty="0">
                <a:solidFill>
                  <a:srgbClr val="10243A"/>
                </a:solidFill>
                <a:latin typeface="Calibri" pitchFamily="34" charset="0"/>
                <a:ea typeface="Calibri" pitchFamily="34" charset="-122"/>
                <a:cs typeface="Calibri" pitchFamily="34" charset="-120"/>
              </a:rPr>
              <a:t>Decide</a:t>
            </a:r>
            <a:endParaRPr lang="en-US" sz="950" dirty="0"/>
          </a:p>
        </p:txBody>
      </p:sp>
      <p:sp>
        <p:nvSpPr>
          <p:cNvPr id="34" name="wsd_4"/>
          <p:cNvSpPr/>
          <p:nvPr/>
        </p:nvSpPr>
        <p:spPr>
          <a:xfrm>
            <a:off x="1060704" y="3694176"/>
            <a:ext cx="1755648" cy="219456"/>
          </a:xfrm>
          <a:prstGeom prst="rect">
            <a:avLst/>
          </a:prstGeom>
          <a:noFill/>
          <a:ln/>
        </p:spPr>
        <p:txBody>
          <a:bodyPr wrap="square" lIns="0" tIns="0" rIns="0" bIns="0" rtlCol="0" anchor="ctr"/>
          <a:lstStyle/>
          <a:p>
            <a:pPr marL="0" indent="0">
              <a:lnSpc>
                <a:spcPts val="900"/>
              </a:lnSpc>
              <a:buNone/>
            </a:pPr>
            <a:r>
              <a:rPr lang="en-US" sz="740" dirty="0">
                <a:solidFill>
                  <a:srgbClr val="55697C"/>
                </a:solidFill>
                <a:latin typeface="Calibri" pitchFamily="34" charset="0"/>
                <a:ea typeface="Calibri" pitchFamily="34" charset="-122"/>
                <a:cs typeface="Calibri" pitchFamily="34" charset="-120"/>
              </a:rPr>
              <a:t>Above the funding threshold of 6.0, so it enters the portfolio.</a:t>
            </a:r>
            <a:endParaRPr lang="en-US" sz="740" dirty="0"/>
          </a:p>
        </p:txBody>
      </p:sp>
      <p:sp>
        <p:nvSpPr>
          <p:cNvPr id="35" name="wsv_4"/>
          <p:cNvSpPr/>
          <p:nvPr/>
        </p:nvSpPr>
        <p:spPr>
          <a:xfrm>
            <a:off x="2907792" y="3520440"/>
            <a:ext cx="2249424" cy="365760"/>
          </a:xfrm>
          <a:prstGeom prst="rect">
            <a:avLst/>
          </a:prstGeom>
          <a:noFill/>
          <a:ln/>
        </p:spPr>
        <p:txBody>
          <a:bodyPr wrap="square" lIns="0" tIns="0" rIns="0" bIns="0" rtlCol="0" anchor="ctr"/>
          <a:lstStyle/>
          <a:p>
            <a:pPr marL="0" indent="0" algn="r">
              <a:buNone/>
            </a:pPr>
            <a:r>
              <a:rPr lang="en-US" sz="840" b="1" dirty="0">
                <a:solidFill>
                  <a:srgbClr val="C77A0A"/>
                </a:solidFill>
                <a:latin typeface="Consolas" pitchFamily="34" charset="0"/>
                <a:ea typeface="Consolas" pitchFamily="34" charset="-122"/>
                <a:cs typeface="Consolas" pitchFamily="34" charset="-120"/>
              </a:rPr>
              <a:t>chance of success 6% → 16%</a:t>
            </a:r>
            <a:endParaRPr lang="en-US" sz="840" dirty="0"/>
          </a:p>
        </p:txBody>
      </p:sp>
      <p:pic>
        <p:nvPicPr>
          <p:cNvPr id="36" name="Image 0" descr="preencoded.png"/>
          <p:cNvPicPr>
            <a:picLocks noChangeAspect="1"/>
          </p:cNvPicPr>
          <p:nvPr/>
        </p:nvPicPr>
        <p:blipFill>
          <a:blip r:embed="rId3"/>
          <a:stretch>
            <a:fillRect/>
          </a:stretch>
        </p:blipFill>
        <p:spPr>
          <a:xfrm>
            <a:off x="5413248" y="1463040"/>
            <a:ext cx="3090672" cy="1444752"/>
          </a:xfrm>
          <a:prstGeom prst="rect">
            <a:avLst/>
          </a:prstGeom>
        </p:spPr>
      </p:pic>
      <p:sp>
        <p:nvSpPr>
          <p:cNvPr id="37" name="w_cap"/>
          <p:cNvSpPr/>
          <p:nvPr/>
        </p:nvSpPr>
        <p:spPr>
          <a:xfrm>
            <a:off x="5413248" y="2926080"/>
            <a:ext cx="3090672" cy="164592"/>
          </a:xfrm>
          <a:prstGeom prst="rect">
            <a:avLst/>
          </a:prstGeom>
          <a:noFill/>
          <a:ln/>
        </p:spPr>
        <p:txBody>
          <a:bodyPr wrap="square" lIns="0" tIns="0" rIns="0" bIns="0" rtlCol="0" anchor="ctr"/>
          <a:lstStyle/>
          <a:p>
            <a:pPr marL="0" indent="0" algn="ctr">
              <a:buNone/>
            </a:pPr>
            <a:r>
              <a:rPr lang="en-US" sz="720" dirty="0">
                <a:solidFill>
                  <a:srgbClr val="8FA1B2"/>
                </a:solidFill>
                <a:latin typeface="Calibri" pitchFamily="34" charset="0"/>
                <a:ea typeface="Calibri" pitchFamily="34" charset="-122"/>
                <a:cs typeface="Calibri" pitchFamily="34" charset="-120"/>
              </a:rPr>
              <a:t>What the 10,439 people actually look like</a:t>
            </a:r>
            <a:endParaRPr lang="en-US" sz="720" dirty="0"/>
          </a:p>
        </p:txBody>
      </p:sp>
      <p:sp>
        <p:nvSpPr>
          <p:cNvPr id="38" name="w_real"/>
          <p:cNvSpPr/>
          <p:nvPr/>
        </p:nvSpPr>
        <p:spPr>
          <a:xfrm>
            <a:off x="5413248" y="3163824"/>
            <a:ext cx="3090672" cy="1444752"/>
          </a:xfrm>
          <a:prstGeom prst="roundRect">
            <a:avLst>
              <a:gd name="adj" fmla="val 4430"/>
            </a:avLst>
          </a:prstGeom>
          <a:solidFill>
            <a:srgbClr val="E0F4F2"/>
          </a:solidFill>
          <a:ln w="11430">
            <a:solidFill>
              <a:srgbClr val="A9E0DA"/>
            </a:solidFill>
            <a:prstDash val="solid"/>
          </a:ln>
        </p:spPr>
        <p:txBody>
          <a:bodyPr/>
          <a:lstStyle/>
          <a:p>
            <a:endParaRPr lang="en-US"/>
          </a:p>
        </p:txBody>
      </p:sp>
      <p:sp>
        <p:nvSpPr>
          <p:cNvPr id="39" name="w_realh"/>
          <p:cNvSpPr/>
          <p:nvPr/>
        </p:nvSpPr>
        <p:spPr>
          <a:xfrm>
            <a:off x="5577840" y="3264408"/>
            <a:ext cx="2761488" cy="164592"/>
          </a:xfrm>
          <a:prstGeom prst="rect">
            <a:avLst/>
          </a:prstGeom>
          <a:noFill/>
          <a:ln/>
        </p:spPr>
        <p:txBody>
          <a:bodyPr wrap="square" lIns="0" tIns="0" rIns="0" bIns="0" rtlCol="0" anchor="ctr"/>
          <a:lstStyle/>
          <a:p>
            <a:pPr marL="0" indent="0">
              <a:buNone/>
            </a:pPr>
            <a:r>
              <a:rPr lang="en-US" sz="750" b="1" kern="0" spc="140" dirty="0">
                <a:solidFill>
                  <a:srgbClr val="0C8C83"/>
                </a:solidFill>
                <a:latin typeface="Calibri" pitchFamily="34" charset="0"/>
                <a:ea typeface="Calibri" pitchFamily="34" charset="-122"/>
                <a:cs typeface="Calibri" pitchFamily="34" charset="-120"/>
              </a:rPr>
              <a:t>THE REALITY CHECK</a:t>
            </a:r>
            <a:endParaRPr lang="en-US" sz="750" dirty="0"/>
          </a:p>
        </p:txBody>
      </p:sp>
      <p:sp>
        <p:nvSpPr>
          <p:cNvPr id="40" name="w_realt"/>
          <p:cNvSpPr/>
          <p:nvPr/>
        </p:nvSpPr>
        <p:spPr>
          <a:xfrm>
            <a:off x="5577840" y="3438144"/>
            <a:ext cx="2761488" cy="329184"/>
          </a:xfrm>
          <a:prstGeom prst="rect">
            <a:avLst/>
          </a:prstGeom>
          <a:noFill/>
          <a:ln/>
        </p:spPr>
        <p:txBody>
          <a:bodyPr wrap="square" lIns="0" tIns="0" rIns="0" bIns="0" rtlCol="0" anchor="ctr"/>
          <a:lstStyle/>
          <a:p>
            <a:pPr marL="0" indent="0">
              <a:lnSpc>
                <a:spcPts val="1300"/>
              </a:lnSpc>
              <a:buNone/>
            </a:pPr>
            <a:r>
              <a:rPr lang="en-US" sz="1050" b="1" dirty="0">
                <a:solidFill>
                  <a:srgbClr val="10243A"/>
                </a:solidFill>
                <a:latin typeface="Calibri" pitchFamily="34" charset="0"/>
                <a:ea typeface="Calibri" pitchFamily="34" charset="-122"/>
                <a:cs typeface="Calibri" pitchFamily="34" charset="-120"/>
              </a:rPr>
              <a:t>The model says fund PCSK9.</a:t>
            </a:r>
            <a:endParaRPr lang="en-US" sz="1050" dirty="0"/>
          </a:p>
          <a:p>
            <a:pPr marL="0" indent="0">
              <a:lnSpc>
                <a:spcPts val="1300"/>
              </a:lnSpc>
              <a:buNone/>
            </a:pPr>
            <a:r>
              <a:rPr lang="en-US" sz="1050" b="1" dirty="0">
                <a:solidFill>
                  <a:srgbClr val="10243A"/>
                </a:solidFill>
                <a:latin typeface="Calibri" pitchFamily="34" charset="0"/>
                <a:ea typeface="Calibri" pitchFamily="34" charset="-122"/>
                <a:cs typeface="Calibri" pitchFamily="34" charset="-120"/>
              </a:rPr>
              <a:t>The world already did.</a:t>
            </a:r>
            <a:endParaRPr lang="en-US" sz="1050" dirty="0"/>
          </a:p>
        </p:txBody>
      </p:sp>
      <p:sp>
        <p:nvSpPr>
          <p:cNvPr id="41" name="w_dg_0"/>
          <p:cNvSpPr/>
          <p:nvPr/>
        </p:nvSpPr>
        <p:spPr>
          <a:xfrm>
            <a:off x="5577840" y="3813048"/>
            <a:ext cx="1572768" cy="182880"/>
          </a:xfrm>
          <a:prstGeom prst="rect">
            <a:avLst/>
          </a:prstGeom>
          <a:noFill/>
          <a:ln/>
        </p:spPr>
        <p:txBody>
          <a:bodyPr wrap="square" lIns="0" tIns="0" rIns="0" bIns="0" rtlCol="0" anchor="ctr"/>
          <a:lstStyle/>
          <a:p>
            <a:pPr marL="0" indent="0">
              <a:buNone/>
            </a:pPr>
            <a:r>
              <a:rPr lang="en-US" sz="820" b="1" dirty="0">
                <a:solidFill>
                  <a:srgbClr val="10243A"/>
                </a:solidFill>
                <a:latin typeface="Calibri" pitchFamily="34" charset="0"/>
                <a:ea typeface="Calibri" pitchFamily="34" charset="-122"/>
                <a:cs typeface="Calibri" pitchFamily="34" charset="-120"/>
              </a:rPr>
              <a:t>Alirocumab  (Praluent)</a:t>
            </a:r>
            <a:endParaRPr lang="en-US" sz="820" dirty="0"/>
          </a:p>
        </p:txBody>
      </p:sp>
      <p:sp>
        <p:nvSpPr>
          <p:cNvPr id="42" name="w_dgc_0"/>
          <p:cNvSpPr/>
          <p:nvPr/>
        </p:nvSpPr>
        <p:spPr>
          <a:xfrm>
            <a:off x="7168896" y="3813048"/>
            <a:ext cx="1170432" cy="182880"/>
          </a:xfrm>
          <a:prstGeom prst="rect">
            <a:avLst/>
          </a:prstGeom>
          <a:noFill/>
          <a:ln/>
        </p:spPr>
        <p:txBody>
          <a:bodyPr wrap="square" lIns="0" tIns="0" rIns="0" bIns="0" rtlCol="0" anchor="ctr"/>
          <a:lstStyle/>
          <a:p>
            <a:pPr marL="0" indent="0" algn="r">
              <a:buNone/>
            </a:pPr>
            <a:r>
              <a:rPr lang="en-US" sz="760" dirty="0">
                <a:solidFill>
                  <a:srgbClr val="0C8C83"/>
                </a:solidFill>
                <a:latin typeface="Calibri" pitchFamily="34" charset="0"/>
                <a:ea typeface="Calibri" pitchFamily="34" charset="-122"/>
                <a:cs typeface="Calibri" pitchFamily="34" charset="-120"/>
              </a:rPr>
              <a:t>Regeneron · FDA 2015</a:t>
            </a:r>
            <a:endParaRPr lang="en-US" sz="760" dirty="0"/>
          </a:p>
        </p:txBody>
      </p:sp>
      <p:sp>
        <p:nvSpPr>
          <p:cNvPr id="43" name="w_dg_1"/>
          <p:cNvSpPr/>
          <p:nvPr/>
        </p:nvSpPr>
        <p:spPr>
          <a:xfrm>
            <a:off x="5577840" y="4032504"/>
            <a:ext cx="1572768" cy="182880"/>
          </a:xfrm>
          <a:prstGeom prst="rect">
            <a:avLst/>
          </a:prstGeom>
          <a:noFill/>
          <a:ln/>
        </p:spPr>
        <p:txBody>
          <a:bodyPr wrap="square" lIns="0" tIns="0" rIns="0" bIns="0" rtlCol="0" anchor="ctr"/>
          <a:lstStyle/>
          <a:p>
            <a:pPr marL="0" indent="0">
              <a:buNone/>
            </a:pPr>
            <a:r>
              <a:rPr lang="en-US" sz="820" b="1" dirty="0">
                <a:solidFill>
                  <a:srgbClr val="10243A"/>
                </a:solidFill>
                <a:latin typeface="Calibri" pitchFamily="34" charset="0"/>
                <a:ea typeface="Calibri" pitchFamily="34" charset="-122"/>
                <a:cs typeface="Calibri" pitchFamily="34" charset="-120"/>
              </a:rPr>
              <a:t>Evolocumab  (Repatha)</a:t>
            </a:r>
            <a:endParaRPr lang="en-US" sz="820" dirty="0"/>
          </a:p>
        </p:txBody>
      </p:sp>
      <p:sp>
        <p:nvSpPr>
          <p:cNvPr id="44" name="w_dgc_1"/>
          <p:cNvSpPr/>
          <p:nvPr/>
        </p:nvSpPr>
        <p:spPr>
          <a:xfrm>
            <a:off x="7168896" y="4032504"/>
            <a:ext cx="1170432" cy="182880"/>
          </a:xfrm>
          <a:prstGeom prst="rect">
            <a:avLst/>
          </a:prstGeom>
          <a:noFill/>
          <a:ln/>
        </p:spPr>
        <p:txBody>
          <a:bodyPr wrap="square" lIns="0" tIns="0" rIns="0" bIns="0" rtlCol="0" anchor="ctr"/>
          <a:lstStyle/>
          <a:p>
            <a:pPr marL="0" indent="0" algn="r">
              <a:buNone/>
            </a:pPr>
            <a:r>
              <a:rPr lang="en-US" sz="760" dirty="0">
                <a:solidFill>
                  <a:srgbClr val="0C8C83"/>
                </a:solidFill>
                <a:latin typeface="Calibri" pitchFamily="34" charset="0"/>
                <a:ea typeface="Calibri" pitchFamily="34" charset="-122"/>
                <a:cs typeface="Calibri" pitchFamily="34" charset="-120"/>
              </a:rPr>
              <a:t>Amgen · FDA 2015</a:t>
            </a:r>
            <a:endParaRPr lang="en-US" sz="760" dirty="0"/>
          </a:p>
        </p:txBody>
      </p:sp>
      <p:sp>
        <p:nvSpPr>
          <p:cNvPr id="45" name="w_dg_2"/>
          <p:cNvSpPr/>
          <p:nvPr/>
        </p:nvSpPr>
        <p:spPr>
          <a:xfrm>
            <a:off x="5577840" y="4251960"/>
            <a:ext cx="1572768" cy="182880"/>
          </a:xfrm>
          <a:prstGeom prst="rect">
            <a:avLst/>
          </a:prstGeom>
          <a:noFill/>
          <a:ln/>
        </p:spPr>
        <p:txBody>
          <a:bodyPr wrap="square" lIns="0" tIns="0" rIns="0" bIns="0" rtlCol="0" anchor="ctr"/>
          <a:lstStyle/>
          <a:p>
            <a:pPr marL="0" indent="0">
              <a:buNone/>
            </a:pPr>
            <a:r>
              <a:rPr lang="en-US" sz="820" b="1" dirty="0">
                <a:solidFill>
                  <a:srgbClr val="10243A"/>
                </a:solidFill>
                <a:latin typeface="Calibri" pitchFamily="34" charset="0"/>
                <a:ea typeface="Calibri" pitchFamily="34" charset="-122"/>
                <a:cs typeface="Calibri" pitchFamily="34" charset="-120"/>
              </a:rPr>
              <a:t>Inclisiran  (Leqvio)</a:t>
            </a:r>
            <a:endParaRPr lang="en-US" sz="820" dirty="0"/>
          </a:p>
        </p:txBody>
      </p:sp>
      <p:sp>
        <p:nvSpPr>
          <p:cNvPr id="46" name="w_dgc_2"/>
          <p:cNvSpPr/>
          <p:nvPr/>
        </p:nvSpPr>
        <p:spPr>
          <a:xfrm>
            <a:off x="7168896" y="4251960"/>
            <a:ext cx="1170432" cy="182880"/>
          </a:xfrm>
          <a:prstGeom prst="rect">
            <a:avLst/>
          </a:prstGeom>
          <a:noFill/>
          <a:ln/>
        </p:spPr>
        <p:txBody>
          <a:bodyPr wrap="square" lIns="0" tIns="0" rIns="0" bIns="0" rtlCol="0" anchor="ctr"/>
          <a:lstStyle/>
          <a:p>
            <a:pPr marL="0" indent="0" algn="r">
              <a:buNone/>
            </a:pPr>
            <a:r>
              <a:rPr lang="en-US" sz="760" dirty="0">
                <a:solidFill>
                  <a:srgbClr val="0C8C83"/>
                </a:solidFill>
                <a:latin typeface="Calibri" pitchFamily="34" charset="0"/>
                <a:ea typeface="Calibri" pitchFamily="34" charset="-122"/>
                <a:cs typeface="Calibri" pitchFamily="34" charset="-120"/>
              </a:rPr>
              <a:t>Novartis · FDA 2020</a:t>
            </a:r>
            <a:endParaRPr lang="en-US" sz="760" dirty="0"/>
          </a:p>
        </p:txBody>
      </p:sp>
      <p:sp>
        <p:nvSpPr>
          <p:cNvPr id="47" name="Text 44"/>
          <p:cNvSpPr/>
          <p:nvPr/>
        </p:nvSpPr>
        <p:spPr>
          <a:xfrm>
            <a:off x="640080" y="4727448"/>
            <a:ext cx="7863840" cy="182880"/>
          </a:xfrm>
          <a:prstGeom prst="rect">
            <a:avLst/>
          </a:prstGeom>
          <a:noFill/>
          <a:ln/>
        </p:spPr>
        <p:txBody>
          <a:bodyPr wrap="square" lIns="0" tIns="0" rIns="0" bIns="0" rtlCol="0" anchor="ctr"/>
          <a:lstStyle/>
          <a:p>
            <a:pPr marL="0" indent="0">
              <a:buNone/>
            </a:pPr>
            <a:r>
              <a:rPr lang="en-US" sz="700" dirty="0">
                <a:solidFill>
                  <a:srgbClr val="8FA1B2"/>
                </a:solidFill>
                <a:latin typeface="Calibri" pitchFamily="34" charset="0"/>
                <a:ea typeface="Calibri" pitchFamily="34" charset="-122"/>
                <a:cs typeface="Calibri" pitchFamily="34" charset="-120"/>
              </a:rPr>
              <a:t>Every number in the left-hand column is computed by simulation.py from the workbook. The three medicines on the right are real, approved, and independently verifiable.</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ppt_y</p:attrName>
                                        </p:attrNameLst>
                                      </p:cBhvr>
                                      <p:tavLst>
                                        <p:tav tm="0">
                                          <p:val>
                                            <p:strVal val="1+#ppt_h/2"/>
                                          </p:val>
                                        </p:tav>
                                        <p:tav tm="100000">
                                          <p:val>
                                            <p:strVal val="#ppt_y"/>
                                          </p:val>
                                        </p:tav>
                                      </p:tavLst>
                                    </p:anim>
                                    <p:animEffect transition="in" filter="fade">
                                      <p:cBhvr>
                                        <p:cTn id="8" dur="500"/>
                                        <p:tgtEl>
                                          <p:spTgt spid="4"/>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ppt_y</p:attrName>
                                        </p:attrNameLst>
                                      </p:cBhvr>
                                      <p:tavLst>
                                        <p:tav tm="0">
                                          <p:val>
                                            <p:strVal val="1+#ppt_h/2"/>
                                          </p:val>
                                        </p:tav>
                                        <p:tav tm="100000">
                                          <p:val>
                                            <p:strVal val="#ppt_y"/>
                                          </p:val>
                                        </p:tav>
                                      </p:tavLst>
                                    </p:anim>
                                    <p:animEffect transition="in" filter="fade">
                                      <p:cBhvr>
                                        <p:cTn id="13" dur="500"/>
                                        <p:tgtEl>
                                          <p:spTgt spid="5"/>
                                        </p:tgtEl>
                                      </p:cBhvr>
                                    </p:animEffect>
                                  </p:childTnLst>
                                </p:cTn>
                              </p:par>
                            </p:childTnLst>
                          </p:cTn>
                        </p:par>
                        <p:par>
                          <p:cTn id="14" fill="hold">
                            <p:stCondLst>
                              <p:cond delay="550"/>
                            </p:stCondLst>
                            <p:childTnLst>
                              <p:par>
                                <p:cTn id="15" presetID="2" presetClass="entr" presetSubtype="8"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Effect transition="in" filter="fade">
                                      <p:cBhvr>
                                        <p:cTn id="18" dur="500"/>
                                        <p:tgtEl>
                                          <p:spTgt spid="6"/>
                                        </p:tgtEl>
                                      </p:cBhvr>
                                    </p:animEffect>
                                  </p:childTnLst>
                                </p:cTn>
                              </p:par>
                            </p:childTnLst>
                          </p:cTn>
                        </p:par>
                        <p:par>
                          <p:cTn id="19" fill="hold">
                            <p:stCondLst>
                              <p:cond delay="550"/>
                            </p:stCondLst>
                            <p:childTnLst>
                              <p:par>
                                <p:cTn id="20" presetID="2" presetClass="entr" presetSubtype="8"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Effect transition="in" filter="fade">
                                      <p:cBhvr>
                                        <p:cTn id="23" dur="500"/>
                                        <p:tgtEl>
                                          <p:spTgt spid="7"/>
                                        </p:tgtEl>
                                      </p:cBhvr>
                                    </p:animEffect>
                                  </p:childTnLst>
                                </p:cTn>
                              </p:par>
                            </p:childTnLst>
                          </p:cTn>
                        </p:par>
                        <p:par>
                          <p:cTn id="24" fill="hold">
                            <p:stCondLst>
                              <p:cond delay="550"/>
                            </p:stCondLst>
                            <p:childTnLst>
                              <p:par>
                                <p:cTn id="25" presetID="2" presetClass="entr" presetSubtype="8"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0-#ppt_w/2"/>
                                          </p:val>
                                        </p:tav>
                                        <p:tav tm="100000">
                                          <p:val>
                                            <p:strVal val="#ppt_x"/>
                                          </p:val>
                                        </p:tav>
                                      </p:tavLst>
                                    </p:anim>
                                    <p:animEffect transition="in" filter="fade">
                                      <p:cBhvr>
                                        <p:cTn id="28" dur="500"/>
                                        <p:tgtEl>
                                          <p:spTgt spid="8"/>
                                        </p:tgtEl>
                                      </p:cBhvr>
                                    </p:animEffect>
                                  </p:childTnLst>
                                </p:cTn>
                              </p:par>
                            </p:childTnLst>
                          </p:cTn>
                        </p:par>
                        <p:par>
                          <p:cTn id="29" fill="hold">
                            <p:stCondLst>
                              <p:cond delay="550"/>
                            </p:stCondLst>
                            <p:childTnLst>
                              <p:par>
                                <p:cTn id="30" presetID="2" presetClass="entr" presetSubtype="8"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Effect transition="in" filter="fade">
                                      <p:cBhvr>
                                        <p:cTn id="33" dur="500"/>
                                        <p:tgtEl>
                                          <p:spTgt spid="9"/>
                                        </p:tgtEl>
                                      </p:cBhvr>
                                    </p:animEffect>
                                  </p:childTnLst>
                                </p:cTn>
                              </p:par>
                            </p:childTnLst>
                          </p:cTn>
                        </p:par>
                        <p:par>
                          <p:cTn id="34" fill="hold">
                            <p:stCondLst>
                              <p:cond delay="700"/>
                            </p:stCondLst>
                            <p:childTnLst>
                              <p:par>
                                <p:cTn id="35" presetID="2" presetClass="entr" presetSubtype="8"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Effect transition="in" filter="fade">
                                      <p:cBhvr>
                                        <p:cTn id="38" dur="500"/>
                                        <p:tgtEl>
                                          <p:spTgt spid="10"/>
                                        </p:tgtEl>
                                      </p:cBhvr>
                                    </p:animEffect>
                                  </p:childTnLst>
                                </p:cTn>
                              </p:par>
                            </p:childTnLst>
                          </p:cTn>
                        </p:par>
                        <p:par>
                          <p:cTn id="39" fill="hold">
                            <p:stCondLst>
                              <p:cond delay="870"/>
                            </p:stCondLst>
                            <p:childTnLst>
                              <p:par>
                                <p:cTn id="40" presetID="2" presetClass="entr" presetSubtype="2"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1+#ppt_w/2"/>
                                          </p:val>
                                        </p:tav>
                                        <p:tav tm="100000">
                                          <p:val>
                                            <p:strVal val="#ppt_x"/>
                                          </p:val>
                                        </p:tav>
                                      </p:tavLst>
                                    </p:anim>
                                    <p:animEffect transition="in" filter="fade">
                                      <p:cBhvr>
                                        <p:cTn id="43" dur="500"/>
                                        <p:tgtEl>
                                          <p:spTgt spid="11"/>
                                        </p:tgtEl>
                                      </p:cBhvr>
                                    </p:animEffect>
                                  </p:childTnLst>
                                </p:cTn>
                              </p:par>
                            </p:childTnLst>
                          </p:cTn>
                        </p:par>
                        <p:par>
                          <p:cTn id="44" fill="hold">
                            <p:stCondLst>
                              <p:cond delay="1250"/>
                            </p:stCondLst>
                            <p:childTnLst>
                              <p:par>
                                <p:cTn id="45" presetID="2" presetClass="entr" presetSubtype="8"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0-#ppt_w/2"/>
                                          </p:val>
                                        </p:tav>
                                        <p:tav tm="100000">
                                          <p:val>
                                            <p:strVal val="#ppt_x"/>
                                          </p:val>
                                        </p:tav>
                                      </p:tavLst>
                                    </p:anim>
                                    <p:animEffect transition="in" filter="fade">
                                      <p:cBhvr>
                                        <p:cTn id="48" dur="500"/>
                                        <p:tgtEl>
                                          <p:spTgt spid="12"/>
                                        </p:tgtEl>
                                      </p:cBhvr>
                                    </p:animEffect>
                                  </p:childTnLst>
                                </p:cTn>
                              </p:par>
                            </p:childTnLst>
                          </p:cTn>
                        </p:par>
                        <p:par>
                          <p:cTn id="49" fill="hold">
                            <p:stCondLst>
                              <p:cond delay="1250"/>
                            </p:stCondLst>
                            <p:childTnLst>
                              <p:par>
                                <p:cTn id="50" presetID="2" presetClass="entr" presetSubtype="8"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0-#ppt_w/2"/>
                                          </p:val>
                                        </p:tav>
                                        <p:tav tm="100000">
                                          <p:val>
                                            <p:strVal val="#ppt_x"/>
                                          </p:val>
                                        </p:tav>
                                      </p:tavLst>
                                    </p:anim>
                                    <p:animEffect transition="in" filter="fade">
                                      <p:cBhvr>
                                        <p:cTn id="53" dur="500"/>
                                        <p:tgtEl>
                                          <p:spTgt spid="13"/>
                                        </p:tgtEl>
                                      </p:cBhvr>
                                    </p:animEffect>
                                  </p:childTnLst>
                                </p:cTn>
                              </p:par>
                            </p:childTnLst>
                          </p:cTn>
                        </p:par>
                        <p:par>
                          <p:cTn id="54" fill="hold">
                            <p:stCondLst>
                              <p:cond delay="1250"/>
                            </p:stCondLst>
                            <p:childTnLst>
                              <p:par>
                                <p:cTn id="55" presetID="2" presetClass="entr" presetSubtype="8"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0-#ppt_w/2"/>
                                          </p:val>
                                        </p:tav>
                                        <p:tav tm="100000">
                                          <p:val>
                                            <p:strVal val="#ppt_x"/>
                                          </p:val>
                                        </p:tav>
                                      </p:tavLst>
                                    </p:anim>
                                    <p:animEffect transition="in" filter="fade">
                                      <p:cBhvr>
                                        <p:cTn id="58" dur="500"/>
                                        <p:tgtEl>
                                          <p:spTgt spid="14"/>
                                        </p:tgtEl>
                                      </p:cBhvr>
                                    </p:animEffect>
                                  </p:childTnLst>
                                </p:cTn>
                              </p:par>
                            </p:childTnLst>
                          </p:cTn>
                        </p:par>
                        <p:par>
                          <p:cTn id="59" fill="hold">
                            <p:stCondLst>
                              <p:cond delay="1250"/>
                            </p:stCondLst>
                            <p:childTnLst>
                              <p:par>
                                <p:cTn id="60" presetID="2" presetClass="entr" presetSubtype="8"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0-#ppt_w/2"/>
                                          </p:val>
                                        </p:tav>
                                        <p:tav tm="100000">
                                          <p:val>
                                            <p:strVal val="#ppt_x"/>
                                          </p:val>
                                        </p:tav>
                                      </p:tavLst>
                                    </p:anim>
                                    <p:animEffect transition="in" filter="fade">
                                      <p:cBhvr>
                                        <p:cTn id="63" dur="500"/>
                                        <p:tgtEl>
                                          <p:spTgt spid="15"/>
                                        </p:tgtEl>
                                      </p:cBhvr>
                                    </p:animEffect>
                                  </p:childTnLst>
                                </p:cTn>
                              </p:par>
                            </p:childTnLst>
                          </p:cTn>
                        </p:par>
                        <p:par>
                          <p:cTn id="64" fill="hold">
                            <p:stCondLst>
                              <p:cond delay="1400"/>
                            </p:stCondLst>
                            <p:childTnLst>
                              <p:par>
                                <p:cTn id="65" presetID="2" presetClass="entr" presetSubtype="8"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0-#ppt_w/2"/>
                                          </p:val>
                                        </p:tav>
                                        <p:tav tm="100000">
                                          <p:val>
                                            <p:strVal val="#ppt_x"/>
                                          </p:val>
                                        </p:tav>
                                      </p:tavLst>
                                    </p:anim>
                                    <p:animEffect transition="in" filter="fade">
                                      <p:cBhvr>
                                        <p:cTn id="68" dur="500"/>
                                        <p:tgtEl>
                                          <p:spTgt spid="16"/>
                                        </p:tgtEl>
                                      </p:cBhvr>
                                    </p:animEffect>
                                  </p:childTnLst>
                                </p:cTn>
                              </p:par>
                            </p:childTnLst>
                          </p:cTn>
                        </p:par>
                        <p:par>
                          <p:cTn id="69" fill="hold">
                            <p:stCondLst>
                              <p:cond delay="1570"/>
                            </p:stCondLst>
                            <p:childTnLst>
                              <p:par>
                                <p:cTn id="70" presetID="2" presetClass="entr" presetSubtype="2"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1+#ppt_w/2"/>
                                          </p:val>
                                        </p:tav>
                                        <p:tav tm="100000">
                                          <p:val>
                                            <p:strVal val="#ppt_x"/>
                                          </p:val>
                                        </p:tav>
                                      </p:tavLst>
                                    </p:anim>
                                    <p:animEffect transition="in" filter="fade">
                                      <p:cBhvr>
                                        <p:cTn id="73" dur="500"/>
                                        <p:tgtEl>
                                          <p:spTgt spid="17"/>
                                        </p:tgtEl>
                                      </p:cBhvr>
                                    </p:animEffect>
                                  </p:childTnLst>
                                </p:cTn>
                              </p:par>
                            </p:childTnLst>
                          </p:cTn>
                        </p:par>
                        <p:par>
                          <p:cTn id="74" fill="hold">
                            <p:stCondLst>
                              <p:cond delay="1950"/>
                            </p:stCondLst>
                            <p:childTnLst>
                              <p:par>
                                <p:cTn id="75" presetID="2" presetClass="entr" presetSubtype="8"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0-#ppt_w/2"/>
                                          </p:val>
                                        </p:tav>
                                        <p:tav tm="100000">
                                          <p:val>
                                            <p:strVal val="#ppt_x"/>
                                          </p:val>
                                        </p:tav>
                                      </p:tavLst>
                                    </p:anim>
                                    <p:animEffect transition="in" filter="fade">
                                      <p:cBhvr>
                                        <p:cTn id="78" dur="500"/>
                                        <p:tgtEl>
                                          <p:spTgt spid="18"/>
                                        </p:tgtEl>
                                      </p:cBhvr>
                                    </p:animEffect>
                                  </p:childTnLst>
                                </p:cTn>
                              </p:par>
                            </p:childTnLst>
                          </p:cTn>
                        </p:par>
                        <p:par>
                          <p:cTn id="79" fill="hold">
                            <p:stCondLst>
                              <p:cond delay="1950"/>
                            </p:stCondLst>
                            <p:childTnLst>
                              <p:par>
                                <p:cTn id="80" presetID="2" presetClass="entr" presetSubtype="8"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ppt_x</p:attrName>
                                        </p:attrNameLst>
                                      </p:cBhvr>
                                      <p:tavLst>
                                        <p:tav tm="0">
                                          <p:val>
                                            <p:strVal val="0-#ppt_w/2"/>
                                          </p:val>
                                        </p:tav>
                                        <p:tav tm="100000">
                                          <p:val>
                                            <p:strVal val="#ppt_x"/>
                                          </p:val>
                                        </p:tav>
                                      </p:tavLst>
                                    </p:anim>
                                    <p:animEffect transition="in" filter="fade">
                                      <p:cBhvr>
                                        <p:cTn id="83" dur="500"/>
                                        <p:tgtEl>
                                          <p:spTgt spid="19"/>
                                        </p:tgtEl>
                                      </p:cBhvr>
                                    </p:animEffect>
                                  </p:childTnLst>
                                </p:cTn>
                              </p:par>
                            </p:childTnLst>
                          </p:cTn>
                        </p:par>
                        <p:par>
                          <p:cTn id="84" fill="hold">
                            <p:stCondLst>
                              <p:cond delay="1950"/>
                            </p:stCondLst>
                            <p:childTnLst>
                              <p:par>
                                <p:cTn id="85" presetID="2" presetClass="entr" presetSubtype="8"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ppt_x</p:attrName>
                                        </p:attrNameLst>
                                      </p:cBhvr>
                                      <p:tavLst>
                                        <p:tav tm="0">
                                          <p:val>
                                            <p:strVal val="0-#ppt_w/2"/>
                                          </p:val>
                                        </p:tav>
                                        <p:tav tm="100000">
                                          <p:val>
                                            <p:strVal val="#ppt_x"/>
                                          </p:val>
                                        </p:tav>
                                      </p:tavLst>
                                    </p:anim>
                                    <p:animEffect transition="in" filter="fade">
                                      <p:cBhvr>
                                        <p:cTn id="88" dur="500"/>
                                        <p:tgtEl>
                                          <p:spTgt spid="20"/>
                                        </p:tgtEl>
                                      </p:cBhvr>
                                    </p:animEffect>
                                  </p:childTnLst>
                                </p:cTn>
                              </p:par>
                            </p:childTnLst>
                          </p:cTn>
                        </p:par>
                        <p:par>
                          <p:cTn id="89" fill="hold">
                            <p:stCondLst>
                              <p:cond delay="1950"/>
                            </p:stCondLst>
                            <p:childTnLst>
                              <p:par>
                                <p:cTn id="90" presetID="2" presetClass="entr" presetSubtype="8"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ppt_x</p:attrName>
                                        </p:attrNameLst>
                                      </p:cBhvr>
                                      <p:tavLst>
                                        <p:tav tm="0">
                                          <p:val>
                                            <p:strVal val="0-#ppt_w/2"/>
                                          </p:val>
                                        </p:tav>
                                        <p:tav tm="100000">
                                          <p:val>
                                            <p:strVal val="#ppt_x"/>
                                          </p:val>
                                        </p:tav>
                                      </p:tavLst>
                                    </p:anim>
                                    <p:animEffect transition="in" filter="fade">
                                      <p:cBhvr>
                                        <p:cTn id="93" dur="500"/>
                                        <p:tgtEl>
                                          <p:spTgt spid="21"/>
                                        </p:tgtEl>
                                      </p:cBhvr>
                                    </p:animEffect>
                                  </p:childTnLst>
                                </p:cTn>
                              </p:par>
                            </p:childTnLst>
                          </p:cTn>
                        </p:par>
                        <p:par>
                          <p:cTn id="94" fill="hold">
                            <p:stCondLst>
                              <p:cond delay="2100"/>
                            </p:stCondLst>
                            <p:childTnLst>
                              <p:par>
                                <p:cTn id="95" presetID="2" presetClass="entr" presetSubtype="8"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ppt_x</p:attrName>
                                        </p:attrNameLst>
                                      </p:cBhvr>
                                      <p:tavLst>
                                        <p:tav tm="0">
                                          <p:val>
                                            <p:strVal val="0-#ppt_w/2"/>
                                          </p:val>
                                        </p:tav>
                                        <p:tav tm="100000">
                                          <p:val>
                                            <p:strVal val="#ppt_x"/>
                                          </p:val>
                                        </p:tav>
                                      </p:tavLst>
                                    </p:anim>
                                    <p:animEffect transition="in" filter="fade">
                                      <p:cBhvr>
                                        <p:cTn id="98" dur="500"/>
                                        <p:tgtEl>
                                          <p:spTgt spid="22"/>
                                        </p:tgtEl>
                                      </p:cBhvr>
                                    </p:animEffect>
                                  </p:childTnLst>
                                </p:cTn>
                              </p:par>
                            </p:childTnLst>
                          </p:cTn>
                        </p:par>
                        <p:par>
                          <p:cTn id="99" fill="hold">
                            <p:stCondLst>
                              <p:cond delay="2270"/>
                            </p:stCondLst>
                            <p:childTnLst>
                              <p:par>
                                <p:cTn id="100" presetID="2" presetClass="entr" presetSubtype="2"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ppt_x</p:attrName>
                                        </p:attrNameLst>
                                      </p:cBhvr>
                                      <p:tavLst>
                                        <p:tav tm="0">
                                          <p:val>
                                            <p:strVal val="1+#ppt_w/2"/>
                                          </p:val>
                                        </p:tav>
                                        <p:tav tm="100000">
                                          <p:val>
                                            <p:strVal val="#ppt_x"/>
                                          </p:val>
                                        </p:tav>
                                      </p:tavLst>
                                    </p:anim>
                                    <p:animEffect transition="in" filter="fade">
                                      <p:cBhvr>
                                        <p:cTn id="103" dur="500"/>
                                        <p:tgtEl>
                                          <p:spTgt spid="23"/>
                                        </p:tgtEl>
                                      </p:cBhvr>
                                    </p:animEffect>
                                  </p:childTnLst>
                                </p:cTn>
                              </p:par>
                            </p:childTnLst>
                          </p:cTn>
                        </p:par>
                        <p:par>
                          <p:cTn id="104" fill="hold">
                            <p:stCondLst>
                              <p:cond delay="2650"/>
                            </p:stCondLst>
                            <p:childTnLst>
                              <p:par>
                                <p:cTn id="105" presetID="2" presetClass="entr" presetSubtype="8"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0-#ppt_w/2"/>
                                          </p:val>
                                        </p:tav>
                                        <p:tav tm="100000">
                                          <p:val>
                                            <p:strVal val="#ppt_x"/>
                                          </p:val>
                                        </p:tav>
                                      </p:tavLst>
                                    </p:anim>
                                    <p:animEffect transition="in" filter="fade">
                                      <p:cBhvr>
                                        <p:cTn id="108" dur="500"/>
                                        <p:tgtEl>
                                          <p:spTgt spid="24"/>
                                        </p:tgtEl>
                                      </p:cBhvr>
                                    </p:animEffect>
                                  </p:childTnLst>
                                </p:cTn>
                              </p:par>
                            </p:childTnLst>
                          </p:cTn>
                        </p:par>
                        <p:par>
                          <p:cTn id="109" fill="hold">
                            <p:stCondLst>
                              <p:cond delay="2650"/>
                            </p:stCondLst>
                            <p:childTnLst>
                              <p:par>
                                <p:cTn id="110" presetID="2" presetClass="entr" presetSubtype="8"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ppt_x</p:attrName>
                                        </p:attrNameLst>
                                      </p:cBhvr>
                                      <p:tavLst>
                                        <p:tav tm="0">
                                          <p:val>
                                            <p:strVal val="0-#ppt_w/2"/>
                                          </p:val>
                                        </p:tav>
                                        <p:tav tm="100000">
                                          <p:val>
                                            <p:strVal val="#ppt_x"/>
                                          </p:val>
                                        </p:tav>
                                      </p:tavLst>
                                    </p:anim>
                                    <p:animEffect transition="in" filter="fade">
                                      <p:cBhvr>
                                        <p:cTn id="113" dur="500"/>
                                        <p:tgtEl>
                                          <p:spTgt spid="25"/>
                                        </p:tgtEl>
                                      </p:cBhvr>
                                    </p:animEffect>
                                  </p:childTnLst>
                                </p:cTn>
                              </p:par>
                            </p:childTnLst>
                          </p:cTn>
                        </p:par>
                        <p:par>
                          <p:cTn id="114" fill="hold">
                            <p:stCondLst>
                              <p:cond delay="2650"/>
                            </p:stCondLst>
                            <p:childTnLst>
                              <p:par>
                                <p:cTn id="115" presetID="2" presetClass="entr" presetSubtype="8"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0-#ppt_w/2"/>
                                          </p:val>
                                        </p:tav>
                                        <p:tav tm="100000">
                                          <p:val>
                                            <p:strVal val="#ppt_x"/>
                                          </p:val>
                                        </p:tav>
                                      </p:tavLst>
                                    </p:anim>
                                    <p:animEffect transition="in" filter="fade">
                                      <p:cBhvr>
                                        <p:cTn id="118" dur="500"/>
                                        <p:tgtEl>
                                          <p:spTgt spid="26"/>
                                        </p:tgtEl>
                                      </p:cBhvr>
                                    </p:animEffect>
                                  </p:childTnLst>
                                </p:cTn>
                              </p:par>
                            </p:childTnLst>
                          </p:cTn>
                        </p:par>
                        <p:par>
                          <p:cTn id="119" fill="hold">
                            <p:stCondLst>
                              <p:cond delay="2650"/>
                            </p:stCondLst>
                            <p:childTnLst>
                              <p:par>
                                <p:cTn id="120" presetID="2" presetClass="entr" presetSubtype="8"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ppt_x</p:attrName>
                                        </p:attrNameLst>
                                      </p:cBhvr>
                                      <p:tavLst>
                                        <p:tav tm="0">
                                          <p:val>
                                            <p:strVal val="0-#ppt_w/2"/>
                                          </p:val>
                                        </p:tav>
                                        <p:tav tm="100000">
                                          <p:val>
                                            <p:strVal val="#ppt_x"/>
                                          </p:val>
                                        </p:tav>
                                      </p:tavLst>
                                    </p:anim>
                                    <p:animEffect transition="in" filter="fade">
                                      <p:cBhvr>
                                        <p:cTn id="123" dur="500"/>
                                        <p:tgtEl>
                                          <p:spTgt spid="27"/>
                                        </p:tgtEl>
                                      </p:cBhvr>
                                    </p:animEffect>
                                  </p:childTnLst>
                                </p:cTn>
                              </p:par>
                            </p:childTnLst>
                          </p:cTn>
                        </p:par>
                        <p:par>
                          <p:cTn id="124" fill="hold">
                            <p:stCondLst>
                              <p:cond delay="2800"/>
                            </p:stCondLst>
                            <p:childTnLst>
                              <p:par>
                                <p:cTn id="125" presetID="2" presetClass="entr" presetSubtype="8"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ppt_x</p:attrName>
                                        </p:attrNameLst>
                                      </p:cBhvr>
                                      <p:tavLst>
                                        <p:tav tm="0">
                                          <p:val>
                                            <p:strVal val="0-#ppt_w/2"/>
                                          </p:val>
                                        </p:tav>
                                        <p:tav tm="100000">
                                          <p:val>
                                            <p:strVal val="#ppt_x"/>
                                          </p:val>
                                        </p:tav>
                                      </p:tavLst>
                                    </p:anim>
                                    <p:animEffect transition="in" filter="fade">
                                      <p:cBhvr>
                                        <p:cTn id="128" dur="500"/>
                                        <p:tgtEl>
                                          <p:spTgt spid="28"/>
                                        </p:tgtEl>
                                      </p:cBhvr>
                                    </p:animEffect>
                                  </p:childTnLst>
                                </p:cTn>
                              </p:par>
                            </p:childTnLst>
                          </p:cTn>
                        </p:par>
                        <p:par>
                          <p:cTn id="129" fill="hold">
                            <p:stCondLst>
                              <p:cond delay="2970"/>
                            </p:stCondLst>
                            <p:childTnLst>
                              <p:par>
                                <p:cTn id="130" presetID="2" presetClass="entr" presetSubtype="2"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ppt_x</p:attrName>
                                        </p:attrNameLst>
                                      </p:cBhvr>
                                      <p:tavLst>
                                        <p:tav tm="0">
                                          <p:val>
                                            <p:strVal val="1+#ppt_w/2"/>
                                          </p:val>
                                        </p:tav>
                                        <p:tav tm="100000">
                                          <p:val>
                                            <p:strVal val="#ppt_x"/>
                                          </p:val>
                                        </p:tav>
                                      </p:tavLst>
                                    </p:anim>
                                    <p:animEffect transition="in" filter="fade">
                                      <p:cBhvr>
                                        <p:cTn id="133" dur="500"/>
                                        <p:tgtEl>
                                          <p:spTgt spid="29"/>
                                        </p:tgtEl>
                                      </p:cBhvr>
                                    </p:animEffect>
                                  </p:childTnLst>
                                </p:cTn>
                              </p:par>
                            </p:childTnLst>
                          </p:cTn>
                        </p:par>
                        <p:par>
                          <p:cTn id="134" fill="hold">
                            <p:stCondLst>
                              <p:cond delay="3350"/>
                            </p:stCondLst>
                            <p:childTnLst>
                              <p:par>
                                <p:cTn id="135" presetID="2" presetClass="entr" presetSubtype="8"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ppt_x</p:attrName>
                                        </p:attrNameLst>
                                      </p:cBhvr>
                                      <p:tavLst>
                                        <p:tav tm="0">
                                          <p:val>
                                            <p:strVal val="0-#ppt_w/2"/>
                                          </p:val>
                                        </p:tav>
                                        <p:tav tm="100000">
                                          <p:val>
                                            <p:strVal val="#ppt_x"/>
                                          </p:val>
                                        </p:tav>
                                      </p:tavLst>
                                    </p:anim>
                                    <p:animEffect transition="in" filter="fade">
                                      <p:cBhvr>
                                        <p:cTn id="138" dur="500"/>
                                        <p:tgtEl>
                                          <p:spTgt spid="30"/>
                                        </p:tgtEl>
                                      </p:cBhvr>
                                    </p:animEffect>
                                  </p:childTnLst>
                                </p:cTn>
                              </p:par>
                            </p:childTnLst>
                          </p:cTn>
                        </p:par>
                        <p:par>
                          <p:cTn id="139" fill="hold">
                            <p:stCondLst>
                              <p:cond delay="3350"/>
                            </p:stCondLst>
                            <p:childTnLst>
                              <p:par>
                                <p:cTn id="140" presetID="2" presetClass="entr" presetSubtype="8"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 calcmode="lin" valueType="num">
                                      <p:cBhvr additive="base">
                                        <p:cTn id="142" dur="500" fill="hold"/>
                                        <p:tgtEl>
                                          <p:spTgt spid="31"/>
                                        </p:tgtEl>
                                        <p:attrNameLst>
                                          <p:attrName>ppt_x</p:attrName>
                                        </p:attrNameLst>
                                      </p:cBhvr>
                                      <p:tavLst>
                                        <p:tav tm="0">
                                          <p:val>
                                            <p:strVal val="0-#ppt_w/2"/>
                                          </p:val>
                                        </p:tav>
                                        <p:tav tm="100000">
                                          <p:val>
                                            <p:strVal val="#ppt_x"/>
                                          </p:val>
                                        </p:tav>
                                      </p:tavLst>
                                    </p:anim>
                                    <p:animEffect transition="in" filter="fade">
                                      <p:cBhvr>
                                        <p:cTn id="143" dur="500"/>
                                        <p:tgtEl>
                                          <p:spTgt spid="31"/>
                                        </p:tgtEl>
                                      </p:cBhvr>
                                    </p:animEffect>
                                  </p:childTnLst>
                                </p:cTn>
                              </p:par>
                            </p:childTnLst>
                          </p:cTn>
                        </p:par>
                        <p:par>
                          <p:cTn id="144" fill="hold">
                            <p:stCondLst>
                              <p:cond delay="3350"/>
                            </p:stCondLst>
                            <p:childTnLst>
                              <p:par>
                                <p:cTn id="145" presetID="2" presetClass="entr" presetSubtype="8"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500" fill="hold"/>
                                        <p:tgtEl>
                                          <p:spTgt spid="32"/>
                                        </p:tgtEl>
                                        <p:attrNameLst>
                                          <p:attrName>ppt_x</p:attrName>
                                        </p:attrNameLst>
                                      </p:cBhvr>
                                      <p:tavLst>
                                        <p:tav tm="0">
                                          <p:val>
                                            <p:strVal val="0-#ppt_w/2"/>
                                          </p:val>
                                        </p:tav>
                                        <p:tav tm="100000">
                                          <p:val>
                                            <p:strVal val="#ppt_x"/>
                                          </p:val>
                                        </p:tav>
                                      </p:tavLst>
                                    </p:anim>
                                    <p:animEffect transition="in" filter="fade">
                                      <p:cBhvr>
                                        <p:cTn id="148" dur="500"/>
                                        <p:tgtEl>
                                          <p:spTgt spid="32"/>
                                        </p:tgtEl>
                                      </p:cBhvr>
                                    </p:animEffect>
                                  </p:childTnLst>
                                </p:cTn>
                              </p:par>
                            </p:childTnLst>
                          </p:cTn>
                        </p:par>
                        <p:par>
                          <p:cTn id="149" fill="hold">
                            <p:stCondLst>
                              <p:cond delay="3350"/>
                            </p:stCondLst>
                            <p:childTnLst>
                              <p:par>
                                <p:cTn id="150" presetID="2" presetClass="entr" presetSubtype="8"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500" fill="hold"/>
                                        <p:tgtEl>
                                          <p:spTgt spid="33"/>
                                        </p:tgtEl>
                                        <p:attrNameLst>
                                          <p:attrName>ppt_x</p:attrName>
                                        </p:attrNameLst>
                                      </p:cBhvr>
                                      <p:tavLst>
                                        <p:tav tm="0">
                                          <p:val>
                                            <p:strVal val="0-#ppt_w/2"/>
                                          </p:val>
                                        </p:tav>
                                        <p:tav tm="100000">
                                          <p:val>
                                            <p:strVal val="#ppt_x"/>
                                          </p:val>
                                        </p:tav>
                                      </p:tavLst>
                                    </p:anim>
                                    <p:animEffect transition="in" filter="fade">
                                      <p:cBhvr>
                                        <p:cTn id="153" dur="500"/>
                                        <p:tgtEl>
                                          <p:spTgt spid="33"/>
                                        </p:tgtEl>
                                      </p:cBhvr>
                                    </p:animEffect>
                                  </p:childTnLst>
                                </p:cTn>
                              </p:par>
                            </p:childTnLst>
                          </p:cTn>
                        </p:par>
                        <p:par>
                          <p:cTn id="154" fill="hold">
                            <p:stCondLst>
                              <p:cond delay="3500"/>
                            </p:stCondLst>
                            <p:childTnLst>
                              <p:par>
                                <p:cTn id="155" presetID="2" presetClass="entr" presetSubtype="8"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 calcmode="lin" valueType="num">
                                      <p:cBhvr additive="base">
                                        <p:cTn id="157" dur="500" fill="hold"/>
                                        <p:tgtEl>
                                          <p:spTgt spid="34"/>
                                        </p:tgtEl>
                                        <p:attrNameLst>
                                          <p:attrName>ppt_x</p:attrName>
                                        </p:attrNameLst>
                                      </p:cBhvr>
                                      <p:tavLst>
                                        <p:tav tm="0">
                                          <p:val>
                                            <p:strVal val="0-#ppt_w/2"/>
                                          </p:val>
                                        </p:tav>
                                        <p:tav tm="100000">
                                          <p:val>
                                            <p:strVal val="#ppt_x"/>
                                          </p:val>
                                        </p:tav>
                                      </p:tavLst>
                                    </p:anim>
                                    <p:animEffect transition="in" filter="fade">
                                      <p:cBhvr>
                                        <p:cTn id="158" dur="500"/>
                                        <p:tgtEl>
                                          <p:spTgt spid="34"/>
                                        </p:tgtEl>
                                      </p:cBhvr>
                                    </p:animEffect>
                                  </p:childTnLst>
                                </p:cTn>
                              </p:par>
                            </p:childTnLst>
                          </p:cTn>
                        </p:par>
                        <p:par>
                          <p:cTn id="159" fill="hold">
                            <p:stCondLst>
                              <p:cond delay="3670"/>
                            </p:stCondLst>
                            <p:childTnLst>
                              <p:par>
                                <p:cTn id="160" presetID="2" presetClass="entr" presetSubtype="2"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additive="base">
                                        <p:cTn id="162" dur="500" fill="hold"/>
                                        <p:tgtEl>
                                          <p:spTgt spid="35"/>
                                        </p:tgtEl>
                                        <p:attrNameLst>
                                          <p:attrName>ppt_x</p:attrName>
                                        </p:attrNameLst>
                                      </p:cBhvr>
                                      <p:tavLst>
                                        <p:tav tm="0">
                                          <p:val>
                                            <p:strVal val="1+#ppt_w/2"/>
                                          </p:val>
                                        </p:tav>
                                        <p:tav tm="100000">
                                          <p:val>
                                            <p:strVal val="#ppt_x"/>
                                          </p:val>
                                        </p:tav>
                                      </p:tavLst>
                                    </p:anim>
                                    <p:animEffect transition="in" filter="fade">
                                      <p:cBhvr>
                                        <p:cTn id="163" dur="500"/>
                                        <p:tgtEl>
                                          <p:spTgt spid="35"/>
                                        </p:tgtEl>
                                      </p:cBhvr>
                                    </p:animEffect>
                                  </p:childTnLst>
                                </p:cTn>
                              </p:par>
                            </p:childTnLst>
                          </p:cTn>
                        </p:par>
                        <p:par>
                          <p:cTn id="164" fill="hold">
                            <p:stCondLst>
                              <p:cond delay="4300"/>
                            </p:stCondLst>
                            <p:childTnLst>
                              <p:par>
                                <p:cTn id="165" presetID="2" presetClass="entr" presetSubtype="4" fill="hold" nodeType="with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additive="base">
                                        <p:cTn id="167" dur="500" fill="hold"/>
                                        <p:tgtEl>
                                          <p:spTgt spid="37"/>
                                        </p:tgtEl>
                                        <p:attrNameLst>
                                          <p:attrName>ppt_y</p:attrName>
                                        </p:attrNameLst>
                                      </p:cBhvr>
                                      <p:tavLst>
                                        <p:tav tm="0">
                                          <p:val>
                                            <p:strVal val="1+#ppt_h/2"/>
                                          </p:val>
                                        </p:tav>
                                        <p:tav tm="100000">
                                          <p:val>
                                            <p:strVal val="#ppt_y"/>
                                          </p:val>
                                        </p:tav>
                                      </p:tavLst>
                                    </p:anim>
                                    <p:animEffect transition="in" filter="fade">
                                      <p:cBhvr>
                                        <p:cTn id="168" dur="500"/>
                                        <p:tgtEl>
                                          <p:spTgt spid="37"/>
                                        </p:tgtEl>
                                      </p:cBhvr>
                                    </p:animEffect>
                                  </p:childTnLst>
                                </p:cTn>
                              </p:par>
                            </p:childTnLst>
                          </p:cTn>
                        </p:par>
                        <p:par>
                          <p:cTn id="169" fill="hold">
                            <p:stCondLst>
                              <p:cond delay="4600"/>
                            </p:stCondLst>
                            <p:childTnLst>
                              <p:par>
                                <p:cTn id="170" presetID="2" presetClass="entr" presetSubtype="4"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 calcmode="lin" valueType="num">
                                      <p:cBhvr additive="base">
                                        <p:cTn id="172" dur="500" fill="hold"/>
                                        <p:tgtEl>
                                          <p:spTgt spid="38"/>
                                        </p:tgtEl>
                                        <p:attrNameLst>
                                          <p:attrName>ppt_y</p:attrName>
                                        </p:attrNameLst>
                                      </p:cBhvr>
                                      <p:tavLst>
                                        <p:tav tm="0">
                                          <p:val>
                                            <p:strVal val="1+#ppt_h/2"/>
                                          </p:val>
                                        </p:tav>
                                        <p:tav tm="100000">
                                          <p:val>
                                            <p:strVal val="#ppt_y"/>
                                          </p:val>
                                        </p:tav>
                                      </p:tavLst>
                                    </p:anim>
                                    <p:animEffect transition="in" filter="fade">
                                      <p:cBhvr>
                                        <p:cTn id="173" dur="500"/>
                                        <p:tgtEl>
                                          <p:spTgt spid="38"/>
                                        </p:tgtEl>
                                      </p:cBhvr>
                                    </p:animEffect>
                                  </p:childTnLst>
                                </p:cTn>
                              </p:par>
                            </p:childTnLst>
                          </p:cTn>
                        </p:par>
                        <p:par>
                          <p:cTn id="174" fill="hold">
                            <p:stCondLst>
                              <p:cond delay="4750"/>
                            </p:stCondLst>
                            <p:childTnLst>
                              <p:par>
                                <p:cTn id="175" presetID="2" presetClass="entr" presetSubtype="4" fill="hold" nodeType="withEffect">
                                  <p:stCondLst>
                                    <p:cond delay="0"/>
                                  </p:stCondLst>
                                  <p:childTnLst>
                                    <p:set>
                                      <p:cBhvr>
                                        <p:cTn id="176" dur="1" fill="hold">
                                          <p:stCondLst>
                                            <p:cond delay="0"/>
                                          </p:stCondLst>
                                        </p:cTn>
                                        <p:tgtEl>
                                          <p:spTgt spid="39"/>
                                        </p:tgtEl>
                                        <p:attrNameLst>
                                          <p:attrName>style.visibility</p:attrName>
                                        </p:attrNameLst>
                                      </p:cBhvr>
                                      <p:to>
                                        <p:strVal val="visible"/>
                                      </p:to>
                                    </p:set>
                                    <p:anim calcmode="lin" valueType="num">
                                      <p:cBhvr additive="base">
                                        <p:cTn id="177" dur="500" fill="hold"/>
                                        <p:tgtEl>
                                          <p:spTgt spid="39"/>
                                        </p:tgtEl>
                                        <p:attrNameLst>
                                          <p:attrName>ppt_y</p:attrName>
                                        </p:attrNameLst>
                                      </p:cBhvr>
                                      <p:tavLst>
                                        <p:tav tm="0">
                                          <p:val>
                                            <p:strVal val="1+#ppt_h/2"/>
                                          </p:val>
                                        </p:tav>
                                        <p:tav tm="100000">
                                          <p:val>
                                            <p:strVal val="#ppt_y"/>
                                          </p:val>
                                        </p:tav>
                                      </p:tavLst>
                                    </p:anim>
                                    <p:animEffect transition="in" filter="fade">
                                      <p:cBhvr>
                                        <p:cTn id="178" dur="500"/>
                                        <p:tgtEl>
                                          <p:spTgt spid="39"/>
                                        </p:tgtEl>
                                      </p:cBhvr>
                                    </p:animEffect>
                                  </p:childTnLst>
                                </p:cTn>
                              </p:par>
                            </p:childTnLst>
                          </p:cTn>
                        </p:par>
                        <p:par>
                          <p:cTn id="179" fill="hold">
                            <p:stCondLst>
                              <p:cond delay="4900"/>
                            </p:stCondLst>
                            <p:childTnLst>
                              <p:par>
                                <p:cTn id="180" presetID="2" presetClass="entr" presetSubtype="4" fill="hold" nodeType="withEffect">
                                  <p:stCondLst>
                                    <p:cond delay="0"/>
                                  </p:stCondLst>
                                  <p:childTnLst>
                                    <p:set>
                                      <p:cBhvr>
                                        <p:cTn id="181" dur="1" fill="hold">
                                          <p:stCondLst>
                                            <p:cond delay="0"/>
                                          </p:stCondLst>
                                        </p:cTn>
                                        <p:tgtEl>
                                          <p:spTgt spid="40"/>
                                        </p:tgtEl>
                                        <p:attrNameLst>
                                          <p:attrName>style.visibility</p:attrName>
                                        </p:attrNameLst>
                                      </p:cBhvr>
                                      <p:to>
                                        <p:strVal val="visible"/>
                                      </p:to>
                                    </p:set>
                                    <p:anim calcmode="lin" valueType="num">
                                      <p:cBhvr additive="base">
                                        <p:cTn id="182" dur="500" fill="hold"/>
                                        <p:tgtEl>
                                          <p:spTgt spid="40"/>
                                        </p:tgtEl>
                                        <p:attrNameLst>
                                          <p:attrName>ppt_y</p:attrName>
                                        </p:attrNameLst>
                                      </p:cBhvr>
                                      <p:tavLst>
                                        <p:tav tm="0">
                                          <p:val>
                                            <p:strVal val="1+#ppt_h/2"/>
                                          </p:val>
                                        </p:tav>
                                        <p:tav tm="100000">
                                          <p:val>
                                            <p:strVal val="#ppt_y"/>
                                          </p:val>
                                        </p:tav>
                                      </p:tavLst>
                                    </p:anim>
                                    <p:animEffect transition="in" filter="fade">
                                      <p:cBhvr>
                                        <p:cTn id="183" dur="500"/>
                                        <p:tgtEl>
                                          <p:spTgt spid="40"/>
                                        </p:tgtEl>
                                      </p:cBhvr>
                                    </p:animEffect>
                                  </p:childTnLst>
                                </p:cTn>
                              </p:par>
                            </p:childTnLst>
                          </p:cTn>
                        </p:par>
                        <p:par>
                          <p:cTn id="184" fill="hold">
                            <p:stCondLst>
                              <p:cond delay="5150"/>
                            </p:stCondLst>
                            <p:childTnLst>
                              <p:par>
                                <p:cTn id="185" presetID="2" presetClass="entr" presetSubtype="8" fill="hold" nodeType="with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additive="base">
                                        <p:cTn id="187" dur="500" fill="hold"/>
                                        <p:tgtEl>
                                          <p:spTgt spid="41"/>
                                        </p:tgtEl>
                                        <p:attrNameLst>
                                          <p:attrName>ppt_x</p:attrName>
                                        </p:attrNameLst>
                                      </p:cBhvr>
                                      <p:tavLst>
                                        <p:tav tm="0">
                                          <p:val>
                                            <p:strVal val="0-#ppt_w/2"/>
                                          </p:val>
                                        </p:tav>
                                        <p:tav tm="100000">
                                          <p:val>
                                            <p:strVal val="#ppt_x"/>
                                          </p:val>
                                        </p:tav>
                                      </p:tavLst>
                                    </p:anim>
                                    <p:animEffect transition="in" filter="fade">
                                      <p:cBhvr>
                                        <p:cTn id="188" dur="500"/>
                                        <p:tgtEl>
                                          <p:spTgt spid="41"/>
                                        </p:tgtEl>
                                      </p:cBhvr>
                                    </p:animEffect>
                                  </p:childTnLst>
                                </p:cTn>
                              </p:par>
                            </p:childTnLst>
                          </p:cTn>
                        </p:par>
                        <p:par>
                          <p:cTn id="189" fill="hold">
                            <p:stCondLst>
                              <p:cond delay="5150"/>
                            </p:stCondLst>
                            <p:childTnLst>
                              <p:par>
                                <p:cTn id="190" presetID="2" presetClass="entr" presetSubtype="2" fill="hold" nodeType="withEffect">
                                  <p:stCondLst>
                                    <p:cond delay="0"/>
                                  </p:stCondLst>
                                  <p:childTnLst>
                                    <p:set>
                                      <p:cBhvr>
                                        <p:cTn id="191" dur="1" fill="hold">
                                          <p:stCondLst>
                                            <p:cond delay="0"/>
                                          </p:stCondLst>
                                        </p:cTn>
                                        <p:tgtEl>
                                          <p:spTgt spid="42"/>
                                        </p:tgtEl>
                                        <p:attrNameLst>
                                          <p:attrName>style.visibility</p:attrName>
                                        </p:attrNameLst>
                                      </p:cBhvr>
                                      <p:to>
                                        <p:strVal val="visible"/>
                                      </p:to>
                                    </p:set>
                                    <p:anim calcmode="lin" valueType="num">
                                      <p:cBhvr additive="base">
                                        <p:cTn id="192" dur="500" fill="hold"/>
                                        <p:tgtEl>
                                          <p:spTgt spid="42"/>
                                        </p:tgtEl>
                                        <p:attrNameLst>
                                          <p:attrName>ppt_x</p:attrName>
                                        </p:attrNameLst>
                                      </p:cBhvr>
                                      <p:tavLst>
                                        <p:tav tm="0">
                                          <p:val>
                                            <p:strVal val="1+#ppt_w/2"/>
                                          </p:val>
                                        </p:tav>
                                        <p:tav tm="100000">
                                          <p:val>
                                            <p:strVal val="#ppt_x"/>
                                          </p:val>
                                        </p:tav>
                                      </p:tavLst>
                                    </p:anim>
                                    <p:animEffect transition="in" filter="fade">
                                      <p:cBhvr>
                                        <p:cTn id="193" dur="500"/>
                                        <p:tgtEl>
                                          <p:spTgt spid="42"/>
                                        </p:tgtEl>
                                      </p:cBhvr>
                                    </p:animEffect>
                                  </p:childTnLst>
                                </p:cTn>
                              </p:par>
                            </p:childTnLst>
                          </p:cTn>
                        </p:par>
                        <p:par>
                          <p:cTn id="194" fill="hold">
                            <p:stCondLst>
                              <p:cond delay="5410"/>
                            </p:stCondLst>
                            <p:childTnLst>
                              <p:par>
                                <p:cTn id="195" presetID="2" presetClass="entr" presetSubtype="8" fill="hold" nodeType="withEffect">
                                  <p:stCondLst>
                                    <p:cond delay="0"/>
                                  </p:stCondLst>
                                  <p:childTnLst>
                                    <p:set>
                                      <p:cBhvr>
                                        <p:cTn id="196" dur="1" fill="hold">
                                          <p:stCondLst>
                                            <p:cond delay="0"/>
                                          </p:stCondLst>
                                        </p:cTn>
                                        <p:tgtEl>
                                          <p:spTgt spid="43"/>
                                        </p:tgtEl>
                                        <p:attrNameLst>
                                          <p:attrName>style.visibility</p:attrName>
                                        </p:attrNameLst>
                                      </p:cBhvr>
                                      <p:to>
                                        <p:strVal val="visible"/>
                                      </p:to>
                                    </p:set>
                                    <p:anim calcmode="lin" valueType="num">
                                      <p:cBhvr additive="base">
                                        <p:cTn id="197" dur="500" fill="hold"/>
                                        <p:tgtEl>
                                          <p:spTgt spid="43"/>
                                        </p:tgtEl>
                                        <p:attrNameLst>
                                          <p:attrName>ppt_x</p:attrName>
                                        </p:attrNameLst>
                                      </p:cBhvr>
                                      <p:tavLst>
                                        <p:tav tm="0">
                                          <p:val>
                                            <p:strVal val="0-#ppt_w/2"/>
                                          </p:val>
                                        </p:tav>
                                        <p:tav tm="100000">
                                          <p:val>
                                            <p:strVal val="#ppt_x"/>
                                          </p:val>
                                        </p:tav>
                                      </p:tavLst>
                                    </p:anim>
                                    <p:animEffect transition="in" filter="fade">
                                      <p:cBhvr>
                                        <p:cTn id="198" dur="500"/>
                                        <p:tgtEl>
                                          <p:spTgt spid="43"/>
                                        </p:tgtEl>
                                      </p:cBhvr>
                                    </p:animEffect>
                                  </p:childTnLst>
                                </p:cTn>
                              </p:par>
                            </p:childTnLst>
                          </p:cTn>
                        </p:par>
                        <p:par>
                          <p:cTn id="199" fill="hold">
                            <p:stCondLst>
                              <p:cond delay="5410"/>
                            </p:stCondLst>
                            <p:childTnLst>
                              <p:par>
                                <p:cTn id="200" presetID="2" presetClass="entr" presetSubtype="2" fill="hold" nodeType="withEffect">
                                  <p:stCondLst>
                                    <p:cond delay="0"/>
                                  </p:stCondLst>
                                  <p:childTnLst>
                                    <p:set>
                                      <p:cBhvr>
                                        <p:cTn id="201" dur="1" fill="hold">
                                          <p:stCondLst>
                                            <p:cond delay="0"/>
                                          </p:stCondLst>
                                        </p:cTn>
                                        <p:tgtEl>
                                          <p:spTgt spid="44"/>
                                        </p:tgtEl>
                                        <p:attrNameLst>
                                          <p:attrName>style.visibility</p:attrName>
                                        </p:attrNameLst>
                                      </p:cBhvr>
                                      <p:to>
                                        <p:strVal val="visible"/>
                                      </p:to>
                                    </p:set>
                                    <p:anim calcmode="lin" valueType="num">
                                      <p:cBhvr additive="base">
                                        <p:cTn id="202" dur="500" fill="hold"/>
                                        <p:tgtEl>
                                          <p:spTgt spid="44"/>
                                        </p:tgtEl>
                                        <p:attrNameLst>
                                          <p:attrName>ppt_x</p:attrName>
                                        </p:attrNameLst>
                                      </p:cBhvr>
                                      <p:tavLst>
                                        <p:tav tm="0">
                                          <p:val>
                                            <p:strVal val="1+#ppt_w/2"/>
                                          </p:val>
                                        </p:tav>
                                        <p:tav tm="100000">
                                          <p:val>
                                            <p:strVal val="#ppt_x"/>
                                          </p:val>
                                        </p:tav>
                                      </p:tavLst>
                                    </p:anim>
                                    <p:animEffect transition="in" filter="fade">
                                      <p:cBhvr>
                                        <p:cTn id="203" dur="500"/>
                                        <p:tgtEl>
                                          <p:spTgt spid="44"/>
                                        </p:tgtEl>
                                      </p:cBhvr>
                                    </p:animEffect>
                                  </p:childTnLst>
                                </p:cTn>
                              </p:par>
                            </p:childTnLst>
                          </p:cTn>
                        </p:par>
                        <p:par>
                          <p:cTn id="204" fill="hold">
                            <p:stCondLst>
                              <p:cond delay="5670"/>
                            </p:stCondLst>
                            <p:childTnLst>
                              <p:par>
                                <p:cTn id="205" presetID="2" presetClass="entr" presetSubtype="8" fill="hold" nodeType="withEffect">
                                  <p:stCondLst>
                                    <p:cond delay="0"/>
                                  </p:stCondLst>
                                  <p:childTnLst>
                                    <p:set>
                                      <p:cBhvr>
                                        <p:cTn id="206" dur="1" fill="hold">
                                          <p:stCondLst>
                                            <p:cond delay="0"/>
                                          </p:stCondLst>
                                        </p:cTn>
                                        <p:tgtEl>
                                          <p:spTgt spid="45"/>
                                        </p:tgtEl>
                                        <p:attrNameLst>
                                          <p:attrName>style.visibility</p:attrName>
                                        </p:attrNameLst>
                                      </p:cBhvr>
                                      <p:to>
                                        <p:strVal val="visible"/>
                                      </p:to>
                                    </p:set>
                                    <p:anim calcmode="lin" valueType="num">
                                      <p:cBhvr additive="base">
                                        <p:cTn id="207" dur="500" fill="hold"/>
                                        <p:tgtEl>
                                          <p:spTgt spid="45"/>
                                        </p:tgtEl>
                                        <p:attrNameLst>
                                          <p:attrName>ppt_x</p:attrName>
                                        </p:attrNameLst>
                                      </p:cBhvr>
                                      <p:tavLst>
                                        <p:tav tm="0">
                                          <p:val>
                                            <p:strVal val="0-#ppt_w/2"/>
                                          </p:val>
                                        </p:tav>
                                        <p:tav tm="100000">
                                          <p:val>
                                            <p:strVal val="#ppt_x"/>
                                          </p:val>
                                        </p:tav>
                                      </p:tavLst>
                                    </p:anim>
                                    <p:animEffect transition="in" filter="fade">
                                      <p:cBhvr>
                                        <p:cTn id="208" dur="500"/>
                                        <p:tgtEl>
                                          <p:spTgt spid="45"/>
                                        </p:tgtEl>
                                      </p:cBhvr>
                                    </p:animEffect>
                                  </p:childTnLst>
                                </p:cTn>
                              </p:par>
                            </p:childTnLst>
                          </p:cTn>
                        </p:par>
                        <p:par>
                          <p:cTn id="209" fill="hold">
                            <p:stCondLst>
                              <p:cond delay="5670"/>
                            </p:stCondLst>
                            <p:childTnLst>
                              <p:par>
                                <p:cTn id="210" presetID="2" presetClass="entr" presetSubtype="2" fill="hold" nodeType="withEffect">
                                  <p:stCondLst>
                                    <p:cond delay="0"/>
                                  </p:stCondLst>
                                  <p:childTnLst>
                                    <p:set>
                                      <p:cBhvr>
                                        <p:cTn id="211" dur="1" fill="hold">
                                          <p:stCondLst>
                                            <p:cond delay="0"/>
                                          </p:stCondLst>
                                        </p:cTn>
                                        <p:tgtEl>
                                          <p:spTgt spid="46"/>
                                        </p:tgtEl>
                                        <p:attrNameLst>
                                          <p:attrName>style.visibility</p:attrName>
                                        </p:attrNameLst>
                                      </p:cBhvr>
                                      <p:to>
                                        <p:strVal val="visible"/>
                                      </p:to>
                                    </p:set>
                                    <p:anim calcmode="lin" valueType="num">
                                      <p:cBhvr additive="base">
                                        <p:cTn id="212" dur="500" fill="hold"/>
                                        <p:tgtEl>
                                          <p:spTgt spid="46"/>
                                        </p:tgtEl>
                                        <p:attrNameLst>
                                          <p:attrName>ppt_x</p:attrName>
                                        </p:attrNameLst>
                                      </p:cBhvr>
                                      <p:tavLst>
                                        <p:tav tm="0">
                                          <p:val>
                                            <p:strVal val="1+#ppt_w/2"/>
                                          </p:val>
                                        </p:tav>
                                        <p:tav tm="100000">
                                          <p:val>
                                            <p:strVal val="#ppt_x"/>
                                          </p:val>
                                        </p:tav>
                                      </p:tavLst>
                                    </p:anim>
                                    <p:animEffect transition="in" filter="fade">
                                      <p:cBhvr>
                                        <p:cTn id="21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8521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13   —   WHAT 10,000 RUNS PRODUCED</a:t>
            </a:r>
            <a:endParaRPr lang="en-US" sz="850" dirty="0"/>
          </a:p>
        </p:txBody>
      </p:sp>
      <p:sp>
        <p:nvSpPr>
          <p:cNvPr id="3" name="Text 1"/>
          <p:cNvSpPr/>
          <p:nvPr/>
        </p:nvSpPr>
        <p:spPr>
          <a:xfrm>
            <a:off x="640080" y="539496"/>
            <a:ext cx="7863840" cy="365760"/>
          </a:xfrm>
          <a:prstGeom prst="rect">
            <a:avLst/>
          </a:prstGeom>
          <a:noFill/>
          <a:ln/>
        </p:spPr>
        <p:txBody>
          <a:bodyPr wrap="square" lIns="0" tIns="0" rIns="0" bIns="0" rtlCol="0" anchor="t"/>
          <a:lstStyle/>
          <a:p>
            <a:pPr marL="0" indent="0">
              <a:buNone/>
            </a:pPr>
            <a:r>
              <a:rPr lang="en-US" sz="2400" b="1" dirty="0">
                <a:solidFill>
                  <a:srgbClr val="10243A"/>
                </a:solidFill>
                <a:latin typeface="Calibri" pitchFamily="34" charset="0"/>
                <a:ea typeface="Calibri" pitchFamily="34" charset="-122"/>
                <a:cs typeface="Calibri" pitchFamily="34" charset="-120"/>
              </a:rPr>
              <a:t>The answer, </a:t>
            </a:r>
            <a:r>
              <a:rPr lang="en-US" sz="2400" b="1" dirty="0">
                <a:solidFill>
                  <a:srgbClr val="0B63CE"/>
                </a:solidFill>
                <a:latin typeface="Calibri" pitchFamily="34" charset="0"/>
                <a:ea typeface="Calibri" pitchFamily="34" charset="-122"/>
                <a:cs typeface="Calibri" pitchFamily="34" charset="-120"/>
              </a:rPr>
              <a:t>and how much to trust it</a:t>
            </a:r>
            <a:endParaRPr lang="en-US" sz="2400" dirty="0"/>
          </a:p>
        </p:txBody>
      </p:sp>
      <p:sp>
        <p:nvSpPr>
          <p:cNvPr id="4" name="rc_a"/>
          <p:cNvSpPr/>
          <p:nvPr/>
        </p:nvSpPr>
        <p:spPr>
          <a:xfrm>
            <a:off x="640080" y="1005840"/>
            <a:ext cx="1883664" cy="1298448"/>
          </a:xfrm>
          <a:prstGeom prst="roundRect">
            <a:avLst>
              <a:gd name="adj" fmla="val 4930"/>
            </a:avLst>
          </a:prstGeom>
          <a:solidFill>
            <a:srgbClr val="FFFFFF"/>
          </a:solidFill>
          <a:ln w="12065">
            <a:solidFill>
              <a:srgbClr val="E3E9EF"/>
            </a:solidFill>
            <a:prstDash val="solid"/>
          </a:ln>
          <a:effectLst>
            <a:outerShdw blurRad="101600" dist="25400" dir="5400000" algn="bl" rotWithShape="0">
              <a:srgbClr val="AFC0CE">
                <a:alpha val="26000"/>
              </a:srgbClr>
            </a:outerShdw>
          </a:effectLst>
        </p:spPr>
        <p:txBody>
          <a:bodyPr/>
          <a:lstStyle/>
          <a:p>
            <a:endParaRPr lang="en-US"/>
          </a:p>
        </p:txBody>
      </p:sp>
      <p:sp>
        <p:nvSpPr>
          <p:cNvPr id="5" name="rcb_a"/>
          <p:cNvSpPr/>
          <p:nvPr/>
        </p:nvSpPr>
        <p:spPr>
          <a:xfrm>
            <a:off x="768096" y="1106424"/>
            <a:ext cx="219456" cy="219456"/>
          </a:xfrm>
          <a:prstGeom prst="roundRect">
            <a:avLst>
              <a:gd name="adj" fmla="val 20833"/>
            </a:avLst>
          </a:prstGeom>
          <a:solidFill>
            <a:srgbClr val="F5F7F9"/>
          </a:solidFill>
          <a:ln w="8890">
            <a:solidFill>
              <a:srgbClr val="E3E9EF"/>
            </a:solidFill>
            <a:prstDash val="solid"/>
          </a:ln>
        </p:spPr>
        <p:txBody>
          <a:bodyPr/>
          <a:lstStyle/>
          <a:p>
            <a:endParaRPr lang="en-US"/>
          </a:p>
        </p:txBody>
      </p:sp>
      <p:sp>
        <p:nvSpPr>
          <p:cNvPr id="6" name="rcl_a"/>
          <p:cNvSpPr/>
          <p:nvPr/>
        </p:nvSpPr>
        <p:spPr>
          <a:xfrm>
            <a:off x="768096" y="1106424"/>
            <a:ext cx="219456" cy="219456"/>
          </a:xfrm>
          <a:prstGeom prst="rect">
            <a:avLst/>
          </a:prstGeom>
          <a:noFill/>
          <a:ln/>
        </p:spPr>
        <p:txBody>
          <a:bodyPr wrap="square" lIns="0" tIns="0" rIns="0" bIns="0" rtlCol="0" anchor="ctr"/>
          <a:lstStyle/>
          <a:p>
            <a:pPr marL="0" indent="0" algn="ctr">
              <a:buNone/>
            </a:pPr>
            <a:r>
              <a:rPr lang="en-US" sz="950" b="1" dirty="0">
                <a:solidFill>
                  <a:srgbClr val="8FA1B2"/>
                </a:solidFill>
                <a:latin typeface="Calibri" pitchFamily="34" charset="0"/>
                <a:ea typeface="Calibri" pitchFamily="34" charset="-122"/>
                <a:cs typeface="Calibri" pitchFamily="34" charset="-120"/>
              </a:rPr>
              <a:t>A</a:t>
            </a:r>
            <a:endParaRPr lang="en-US" sz="950" dirty="0"/>
          </a:p>
        </p:txBody>
      </p:sp>
      <p:sp>
        <p:nvSpPr>
          <p:cNvPr id="7" name="rct_a"/>
          <p:cNvSpPr/>
          <p:nvPr/>
        </p:nvSpPr>
        <p:spPr>
          <a:xfrm>
            <a:off x="1051560" y="1106424"/>
            <a:ext cx="1371600" cy="219456"/>
          </a:xfrm>
          <a:prstGeom prst="rect">
            <a:avLst/>
          </a:prstGeom>
          <a:noFill/>
          <a:ln/>
        </p:spPr>
        <p:txBody>
          <a:bodyPr wrap="square" lIns="0" tIns="0" rIns="0" bIns="0" rtlCol="0" anchor="ctr"/>
          <a:lstStyle/>
          <a:p>
            <a:pPr marL="0" indent="0">
              <a:buNone/>
            </a:pPr>
            <a:r>
              <a:rPr lang="en-US" sz="720" b="1" kern="0" spc="120" dirty="0">
                <a:solidFill>
                  <a:srgbClr val="8FA1B2"/>
                </a:solidFill>
                <a:latin typeface="Calibri" pitchFamily="34" charset="0"/>
                <a:ea typeface="Calibri" pitchFamily="34" charset="-122"/>
                <a:cs typeface="Calibri" pitchFamily="34" charset="-120"/>
              </a:rPr>
              <a:t>BASELINE</a:t>
            </a:r>
            <a:endParaRPr lang="en-US" sz="720" dirty="0"/>
          </a:p>
        </p:txBody>
      </p:sp>
      <p:sp>
        <p:nvSpPr>
          <p:cNvPr id="8" name="rcv_a"/>
          <p:cNvSpPr/>
          <p:nvPr/>
        </p:nvSpPr>
        <p:spPr>
          <a:xfrm>
            <a:off x="768096" y="1353312"/>
            <a:ext cx="1627632" cy="365760"/>
          </a:xfrm>
          <a:prstGeom prst="rect">
            <a:avLst/>
          </a:prstGeom>
          <a:noFill/>
          <a:ln/>
        </p:spPr>
        <p:txBody>
          <a:bodyPr wrap="square" lIns="0" tIns="0" rIns="0" bIns="0" rtlCol="0" anchor="ctr"/>
          <a:lstStyle/>
          <a:p>
            <a:pPr marL="0" indent="0">
              <a:buNone/>
            </a:pPr>
            <a:r>
              <a:rPr lang="en-US" sz="2500" b="1" dirty="0">
                <a:solidFill>
                  <a:srgbClr val="8FA1B2"/>
                </a:solidFill>
                <a:latin typeface="Calibri" pitchFamily="34" charset="0"/>
                <a:ea typeface="Calibri" pitchFamily="34" charset="-122"/>
                <a:cs typeface="Calibri" pitchFamily="34" charset="-120"/>
              </a:rPr>
              <a:t>0.38</a:t>
            </a:r>
            <a:endParaRPr lang="en-US" sz="2500" dirty="0"/>
          </a:p>
        </p:txBody>
      </p:sp>
      <p:sp>
        <p:nvSpPr>
          <p:cNvPr id="9" name="rcs_a"/>
          <p:cNvSpPr/>
          <p:nvPr/>
        </p:nvSpPr>
        <p:spPr>
          <a:xfrm>
            <a:off x="768096" y="1719072"/>
            <a:ext cx="1627632" cy="164592"/>
          </a:xfrm>
          <a:prstGeom prst="rect">
            <a:avLst/>
          </a:prstGeom>
          <a:noFill/>
          <a:ln/>
        </p:spPr>
        <p:txBody>
          <a:bodyPr wrap="square" lIns="0" tIns="0" rIns="0" bIns="0" rtlCol="0" anchor="ctr"/>
          <a:lstStyle/>
          <a:p>
            <a:pPr marL="0" indent="0">
              <a:buNone/>
            </a:pPr>
            <a:r>
              <a:rPr lang="en-US" sz="740" dirty="0">
                <a:solidFill>
                  <a:srgbClr val="55697C"/>
                </a:solidFill>
                <a:latin typeface="Calibri" pitchFamily="34" charset="0"/>
                <a:ea typeface="Calibri" pitchFamily="34" charset="-122"/>
                <a:cs typeface="Calibri" pitchFamily="34" charset="-120"/>
              </a:rPr>
              <a:t>approved medicines per $1bn</a:t>
            </a:r>
            <a:endParaRPr lang="en-US" sz="740" dirty="0"/>
          </a:p>
        </p:txBody>
      </p:sp>
      <p:sp>
        <p:nvSpPr>
          <p:cNvPr id="10" name="rc2_a"/>
          <p:cNvSpPr/>
          <p:nvPr/>
        </p:nvSpPr>
        <p:spPr>
          <a:xfrm>
            <a:off x="768096" y="1901952"/>
            <a:ext cx="1627632" cy="155448"/>
          </a:xfrm>
          <a:prstGeom prst="rect">
            <a:avLst/>
          </a:prstGeom>
          <a:noFill/>
          <a:ln/>
        </p:spPr>
        <p:txBody>
          <a:bodyPr wrap="square" lIns="0" tIns="0" rIns="0" bIns="0" rtlCol="0" anchor="ctr"/>
          <a:lstStyle/>
          <a:p>
            <a:pPr marL="0" indent="0">
              <a:buNone/>
            </a:pPr>
            <a:r>
              <a:rPr lang="en-US" sz="760" b="1" dirty="0">
                <a:solidFill>
                  <a:srgbClr val="10243A"/>
                </a:solidFill>
                <a:latin typeface="Calibri" pitchFamily="34" charset="0"/>
                <a:ea typeface="Calibri" pitchFamily="34" charset="-122"/>
                <a:cs typeface="Calibri" pitchFamily="34" charset="-120"/>
              </a:rPr>
              <a:t>$2.54bn per medicine</a:t>
            </a:r>
            <a:endParaRPr lang="en-US" sz="760" dirty="0"/>
          </a:p>
        </p:txBody>
      </p:sp>
      <p:sp>
        <p:nvSpPr>
          <p:cNvPr id="11" name="rc3_a"/>
          <p:cNvSpPr/>
          <p:nvPr/>
        </p:nvSpPr>
        <p:spPr>
          <a:xfrm>
            <a:off x="768096" y="2057400"/>
            <a:ext cx="1627632" cy="201168"/>
          </a:xfrm>
          <a:prstGeom prst="rect">
            <a:avLst/>
          </a:prstGeom>
          <a:noFill/>
          <a:ln/>
        </p:spPr>
        <p:txBody>
          <a:bodyPr wrap="square" lIns="0" tIns="0" rIns="0" bIns="0" rtlCol="0" anchor="ctr"/>
          <a:lstStyle/>
          <a:p>
            <a:pPr marL="0" indent="0">
              <a:lnSpc>
                <a:spcPts val="800"/>
              </a:lnSpc>
              <a:buNone/>
            </a:pPr>
            <a:r>
              <a:rPr lang="en-US" sz="680" dirty="0">
                <a:solidFill>
                  <a:srgbClr val="8FA1B2"/>
                </a:solidFill>
                <a:latin typeface="Calibri" pitchFamily="34" charset="0"/>
                <a:ea typeface="Calibri" pitchFamily="34" charset="-122"/>
                <a:cs typeface="Calibri" pitchFamily="34" charset="-120"/>
              </a:rPr>
              <a:t>funds 1.8 of 6 supported targets, by luck</a:t>
            </a:r>
            <a:endParaRPr lang="en-US" sz="680" dirty="0"/>
          </a:p>
        </p:txBody>
      </p:sp>
      <p:sp>
        <p:nvSpPr>
          <p:cNvPr id="12" name="rc_b"/>
          <p:cNvSpPr/>
          <p:nvPr/>
        </p:nvSpPr>
        <p:spPr>
          <a:xfrm>
            <a:off x="2651760" y="1005840"/>
            <a:ext cx="1883664" cy="1298448"/>
          </a:xfrm>
          <a:prstGeom prst="roundRect">
            <a:avLst>
              <a:gd name="adj" fmla="val 4930"/>
            </a:avLst>
          </a:prstGeom>
          <a:solidFill>
            <a:srgbClr val="FFFFFF"/>
          </a:solidFill>
          <a:ln w="12065">
            <a:solidFill>
              <a:srgbClr val="A9E0DA"/>
            </a:solidFill>
            <a:prstDash val="solid"/>
          </a:ln>
          <a:effectLst>
            <a:outerShdw blurRad="101600" dist="25400" dir="5400000" algn="bl" rotWithShape="0">
              <a:srgbClr val="AFC0CE">
                <a:alpha val="26000"/>
              </a:srgbClr>
            </a:outerShdw>
          </a:effectLst>
        </p:spPr>
        <p:txBody>
          <a:bodyPr/>
          <a:lstStyle/>
          <a:p>
            <a:endParaRPr lang="en-US"/>
          </a:p>
        </p:txBody>
      </p:sp>
      <p:sp>
        <p:nvSpPr>
          <p:cNvPr id="13" name="rcb_b"/>
          <p:cNvSpPr/>
          <p:nvPr/>
        </p:nvSpPr>
        <p:spPr>
          <a:xfrm>
            <a:off x="2779776" y="1106424"/>
            <a:ext cx="219456" cy="219456"/>
          </a:xfrm>
          <a:prstGeom prst="roundRect">
            <a:avLst>
              <a:gd name="adj" fmla="val 20833"/>
            </a:avLst>
          </a:prstGeom>
          <a:solidFill>
            <a:srgbClr val="E0F4F2"/>
          </a:solidFill>
          <a:ln w="8890">
            <a:solidFill>
              <a:srgbClr val="A9E0DA"/>
            </a:solidFill>
            <a:prstDash val="solid"/>
          </a:ln>
        </p:spPr>
        <p:txBody>
          <a:bodyPr/>
          <a:lstStyle/>
          <a:p>
            <a:endParaRPr lang="en-US"/>
          </a:p>
        </p:txBody>
      </p:sp>
      <p:sp>
        <p:nvSpPr>
          <p:cNvPr id="14" name="rcl_b"/>
          <p:cNvSpPr/>
          <p:nvPr/>
        </p:nvSpPr>
        <p:spPr>
          <a:xfrm>
            <a:off x="2779776" y="1106424"/>
            <a:ext cx="219456" cy="219456"/>
          </a:xfrm>
          <a:prstGeom prst="rect">
            <a:avLst/>
          </a:prstGeom>
          <a:noFill/>
          <a:ln/>
        </p:spPr>
        <p:txBody>
          <a:bodyPr wrap="square" lIns="0" tIns="0" rIns="0" bIns="0" rtlCol="0" anchor="ctr"/>
          <a:lstStyle/>
          <a:p>
            <a:pPr marL="0" indent="0" algn="ctr">
              <a:buNone/>
            </a:pPr>
            <a:r>
              <a:rPr lang="en-US" sz="950" b="1" dirty="0">
                <a:solidFill>
                  <a:srgbClr val="0C8C83"/>
                </a:solidFill>
                <a:latin typeface="Calibri" pitchFamily="34" charset="0"/>
                <a:ea typeface="Calibri" pitchFamily="34" charset="-122"/>
                <a:cs typeface="Calibri" pitchFamily="34" charset="-120"/>
              </a:rPr>
              <a:t>B</a:t>
            </a:r>
            <a:endParaRPr lang="en-US" sz="950" dirty="0"/>
          </a:p>
        </p:txBody>
      </p:sp>
      <p:sp>
        <p:nvSpPr>
          <p:cNvPr id="15" name="rct_b"/>
          <p:cNvSpPr/>
          <p:nvPr/>
        </p:nvSpPr>
        <p:spPr>
          <a:xfrm>
            <a:off x="3063240" y="1106424"/>
            <a:ext cx="1371600" cy="219456"/>
          </a:xfrm>
          <a:prstGeom prst="rect">
            <a:avLst/>
          </a:prstGeom>
          <a:noFill/>
          <a:ln/>
        </p:spPr>
        <p:txBody>
          <a:bodyPr wrap="square" lIns="0" tIns="0" rIns="0" bIns="0" rtlCol="0" anchor="ctr"/>
          <a:lstStyle/>
          <a:p>
            <a:pPr marL="0" indent="0">
              <a:buNone/>
            </a:pPr>
            <a:r>
              <a:rPr lang="en-US" sz="720" b="1" kern="0" spc="120" dirty="0">
                <a:solidFill>
                  <a:srgbClr val="0C8C83"/>
                </a:solidFill>
                <a:latin typeface="Calibri" pitchFamily="34" charset="0"/>
                <a:ea typeface="Calibri" pitchFamily="34" charset="-122"/>
                <a:cs typeface="Calibri" pitchFamily="34" charset="-120"/>
              </a:rPr>
              <a:t>AI-LED</a:t>
            </a:r>
            <a:endParaRPr lang="en-US" sz="720" dirty="0"/>
          </a:p>
        </p:txBody>
      </p:sp>
      <p:sp>
        <p:nvSpPr>
          <p:cNvPr id="16" name="rcv_b"/>
          <p:cNvSpPr/>
          <p:nvPr/>
        </p:nvSpPr>
        <p:spPr>
          <a:xfrm>
            <a:off x="2779776" y="1353312"/>
            <a:ext cx="1627632" cy="365760"/>
          </a:xfrm>
          <a:prstGeom prst="rect">
            <a:avLst/>
          </a:prstGeom>
          <a:noFill/>
          <a:ln/>
        </p:spPr>
        <p:txBody>
          <a:bodyPr wrap="square" lIns="0" tIns="0" rIns="0" bIns="0" rtlCol="0" anchor="ctr"/>
          <a:lstStyle/>
          <a:p>
            <a:pPr marL="0" indent="0">
              <a:buNone/>
            </a:pPr>
            <a:r>
              <a:rPr lang="en-US" sz="2500" b="1" dirty="0">
                <a:solidFill>
                  <a:srgbClr val="0C8C83"/>
                </a:solidFill>
                <a:latin typeface="Calibri" pitchFamily="34" charset="0"/>
                <a:ea typeface="Calibri" pitchFamily="34" charset="-122"/>
                <a:cs typeface="Calibri" pitchFamily="34" charset="-120"/>
              </a:rPr>
              <a:t>0.66</a:t>
            </a:r>
            <a:endParaRPr lang="en-US" sz="2500" dirty="0"/>
          </a:p>
        </p:txBody>
      </p:sp>
      <p:sp>
        <p:nvSpPr>
          <p:cNvPr id="17" name="rcs_b"/>
          <p:cNvSpPr/>
          <p:nvPr/>
        </p:nvSpPr>
        <p:spPr>
          <a:xfrm>
            <a:off x="2779776" y="1719072"/>
            <a:ext cx="1627632" cy="164592"/>
          </a:xfrm>
          <a:prstGeom prst="rect">
            <a:avLst/>
          </a:prstGeom>
          <a:noFill/>
          <a:ln/>
        </p:spPr>
        <p:txBody>
          <a:bodyPr wrap="square" lIns="0" tIns="0" rIns="0" bIns="0" rtlCol="0" anchor="ctr"/>
          <a:lstStyle/>
          <a:p>
            <a:pPr marL="0" indent="0">
              <a:buNone/>
            </a:pPr>
            <a:r>
              <a:rPr lang="en-US" sz="740" dirty="0">
                <a:solidFill>
                  <a:srgbClr val="55697C"/>
                </a:solidFill>
                <a:latin typeface="Calibri" pitchFamily="34" charset="0"/>
                <a:ea typeface="Calibri" pitchFamily="34" charset="-122"/>
                <a:cs typeface="Calibri" pitchFamily="34" charset="-120"/>
              </a:rPr>
              <a:t>approved medicines per $1bn</a:t>
            </a:r>
            <a:endParaRPr lang="en-US" sz="740" dirty="0"/>
          </a:p>
        </p:txBody>
      </p:sp>
      <p:sp>
        <p:nvSpPr>
          <p:cNvPr id="18" name="rc2_b"/>
          <p:cNvSpPr/>
          <p:nvPr/>
        </p:nvSpPr>
        <p:spPr>
          <a:xfrm>
            <a:off x="2779776" y="1901952"/>
            <a:ext cx="1627632" cy="155448"/>
          </a:xfrm>
          <a:prstGeom prst="rect">
            <a:avLst/>
          </a:prstGeom>
          <a:noFill/>
          <a:ln/>
        </p:spPr>
        <p:txBody>
          <a:bodyPr wrap="square" lIns="0" tIns="0" rIns="0" bIns="0" rtlCol="0" anchor="ctr"/>
          <a:lstStyle/>
          <a:p>
            <a:pPr marL="0" indent="0">
              <a:buNone/>
            </a:pPr>
            <a:r>
              <a:rPr lang="en-US" sz="760" b="1" dirty="0">
                <a:solidFill>
                  <a:srgbClr val="10243A"/>
                </a:solidFill>
                <a:latin typeface="Calibri" pitchFamily="34" charset="0"/>
                <a:ea typeface="Calibri" pitchFamily="34" charset="-122"/>
                <a:cs typeface="Calibri" pitchFamily="34" charset="-120"/>
              </a:rPr>
              <a:t>$1.48bn per medicine</a:t>
            </a:r>
            <a:endParaRPr lang="en-US" sz="760" dirty="0"/>
          </a:p>
        </p:txBody>
      </p:sp>
      <p:sp>
        <p:nvSpPr>
          <p:cNvPr id="19" name="rc3_b"/>
          <p:cNvSpPr/>
          <p:nvPr/>
        </p:nvSpPr>
        <p:spPr>
          <a:xfrm>
            <a:off x="2779776" y="2057400"/>
            <a:ext cx="1627632" cy="201168"/>
          </a:xfrm>
          <a:prstGeom prst="rect">
            <a:avLst/>
          </a:prstGeom>
          <a:noFill/>
          <a:ln/>
        </p:spPr>
        <p:txBody>
          <a:bodyPr wrap="square" lIns="0" tIns="0" rIns="0" bIns="0" rtlCol="0" anchor="ctr"/>
          <a:lstStyle/>
          <a:p>
            <a:pPr marL="0" indent="0">
              <a:lnSpc>
                <a:spcPts val="800"/>
              </a:lnSpc>
              <a:buNone/>
            </a:pPr>
            <a:r>
              <a:rPr lang="en-US" sz="680" dirty="0">
                <a:solidFill>
                  <a:srgbClr val="8FA1B2"/>
                </a:solidFill>
                <a:latin typeface="Calibri" pitchFamily="34" charset="0"/>
                <a:ea typeface="Calibri" pitchFamily="34" charset="-122"/>
                <a:cs typeface="Calibri" pitchFamily="34" charset="-120"/>
              </a:rPr>
              <a:t>funds 6.0 of 6 supported targets, on purpose</a:t>
            </a:r>
            <a:endParaRPr lang="en-US" sz="680" dirty="0"/>
          </a:p>
        </p:txBody>
      </p:sp>
      <p:sp>
        <p:nvSpPr>
          <p:cNvPr id="20" name="rc_c"/>
          <p:cNvSpPr/>
          <p:nvPr/>
        </p:nvSpPr>
        <p:spPr>
          <a:xfrm>
            <a:off x="4663440" y="1005840"/>
            <a:ext cx="1883664" cy="1298448"/>
          </a:xfrm>
          <a:prstGeom prst="roundRect">
            <a:avLst>
              <a:gd name="adj" fmla="val 4930"/>
            </a:avLst>
          </a:prstGeom>
          <a:solidFill>
            <a:srgbClr val="FFFFFF"/>
          </a:solidFill>
          <a:ln w="12065">
            <a:solidFill>
              <a:srgbClr val="F2D9A8"/>
            </a:solidFill>
            <a:prstDash val="solid"/>
          </a:ln>
          <a:effectLst>
            <a:outerShdw blurRad="101600" dist="25400" dir="5400000" algn="bl" rotWithShape="0">
              <a:srgbClr val="AFC0CE">
                <a:alpha val="26000"/>
              </a:srgbClr>
            </a:outerShdw>
          </a:effectLst>
        </p:spPr>
        <p:txBody>
          <a:bodyPr/>
          <a:lstStyle/>
          <a:p>
            <a:endParaRPr lang="en-US"/>
          </a:p>
        </p:txBody>
      </p:sp>
      <p:sp>
        <p:nvSpPr>
          <p:cNvPr id="21" name="rcb_c"/>
          <p:cNvSpPr/>
          <p:nvPr/>
        </p:nvSpPr>
        <p:spPr>
          <a:xfrm>
            <a:off x="4791456" y="1106424"/>
            <a:ext cx="219456" cy="219456"/>
          </a:xfrm>
          <a:prstGeom prst="roundRect">
            <a:avLst>
              <a:gd name="adj" fmla="val 20833"/>
            </a:avLst>
          </a:prstGeom>
          <a:solidFill>
            <a:srgbClr val="FDF2E0"/>
          </a:solidFill>
          <a:ln w="8890">
            <a:solidFill>
              <a:srgbClr val="F2D9A8"/>
            </a:solidFill>
            <a:prstDash val="solid"/>
          </a:ln>
        </p:spPr>
        <p:txBody>
          <a:bodyPr/>
          <a:lstStyle/>
          <a:p>
            <a:endParaRPr lang="en-US"/>
          </a:p>
        </p:txBody>
      </p:sp>
      <p:sp>
        <p:nvSpPr>
          <p:cNvPr id="22" name="rcl_c"/>
          <p:cNvSpPr/>
          <p:nvPr/>
        </p:nvSpPr>
        <p:spPr>
          <a:xfrm>
            <a:off x="4791456" y="1106424"/>
            <a:ext cx="219456" cy="219456"/>
          </a:xfrm>
          <a:prstGeom prst="rect">
            <a:avLst/>
          </a:prstGeom>
          <a:noFill/>
          <a:ln/>
        </p:spPr>
        <p:txBody>
          <a:bodyPr wrap="square" lIns="0" tIns="0" rIns="0" bIns="0" rtlCol="0" anchor="ctr"/>
          <a:lstStyle/>
          <a:p>
            <a:pPr marL="0" indent="0" algn="ctr">
              <a:buNone/>
            </a:pPr>
            <a:r>
              <a:rPr lang="en-US" sz="950" b="1" dirty="0">
                <a:solidFill>
                  <a:srgbClr val="C77A0A"/>
                </a:solidFill>
                <a:latin typeface="Calibri" pitchFamily="34" charset="0"/>
                <a:ea typeface="Calibri" pitchFamily="34" charset="-122"/>
                <a:cs typeface="Calibri" pitchFamily="34" charset="-120"/>
              </a:rPr>
              <a:t>C</a:t>
            </a:r>
            <a:endParaRPr lang="en-US" sz="950" dirty="0"/>
          </a:p>
        </p:txBody>
      </p:sp>
      <p:sp>
        <p:nvSpPr>
          <p:cNvPr id="23" name="rct_c"/>
          <p:cNvSpPr/>
          <p:nvPr/>
        </p:nvSpPr>
        <p:spPr>
          <a:xfrm>
            <a:off x="5074920" y="1106424"/>
            <a:ext cx="1371600" cy="219456"/>
          </a:xfrm>
          <a:prstGeom prst="rect">
            <a:avLst/>
          </a:prstGeom>
          <a:noFill/>
          <a:ln/>
        </p:spPr>
        <p:txBody>
          <a:bodyPr wrap="square" lIns="0" tIns="0" rIns="0" bIns="0" rtlCol="0" anchor="ctr"/>
          <a:lstStyle/>
          <a:p>
            <a:pPr marL="0" indent="0">
              <a:buNone/>
            </a:pPr>
            <a:r>
              <a:rPr lang="en-US" sz="720" b="1" kern="0" spc="120" dirty="0">
                <a:solidFill>
                  <a:srgbClr val="C77A0A"/>
                </a:solidFill>
                <a:latin typeface="Calibri" pitchFamily="34" charset="0"/>
                <a:ea typeface="Calibri" pitchFamily="34" charset="-122"/>
                <a:cs typeface="Calibri" pitchFamily="34" charset="-120"/>
              </a:rPr>
              <a:t>STRESS TEST</a:t>
            </a:r>
            <a:endParaRPr lang="en-US" sz="720" dirty="0"/>
          </a:p>
        </p:txBody>
      </p:sp>
      <p:sp>
        <p:nvSpPr>
          <p:cNvPr id="24" name="rcv_c"/>
          <p:cNvSpPr/>
          <p:nvPr/>
        </p:nvSpPr>
        <p:spPr>
          <a:xfrm>
            <a:off x="4791456" y="1353312"/>
            <a:ext cx="1627632" cy="365760"/>
          </a:xfrm>
          <a:prstGeom prst="rect">
            <a:avLst/>
          </a:prstGeom>
          <a:noFill/>
          <a:ln/>
        </p:spPr>
        <p:txBody>
          <a:bodyPr wrap="square" lIns="0" tIns="0" rIns="0" bIns="0" rtlCol="0" anchor="ctr"/>
          <a:lstStyle/>
          <a:p>
            <a:pPr marL="0" indent="0">
              <a:buNone/>
            </a:pPr>
            <a:r>
              <a:rPr lang="en-US" sz="2500" b="1" dirty="0">
                <a:solidFill>
                  <a:srgbClr val="C77A0A"/>
                </a:solidFill>
                <a:latin typeface="Calibri" pitchFamily="34" charset="0"/>
                <a:ea typeface="Calibri" pitchFamily="34" charset="-122"/>
                <a:cs typeface="Calibri" pitchFamily="34" charset="-120"/>
              </a:rPr>
              <a:t>+27%</a:t>
            </a:r>
            <a:endParaRPr lang="en-US" sz="2500" dirty="0"/>
          </a:p>
        </p:txBody>
      </p:sp>
      <p:sp>
        <p:nvSpPr>
          <p:cNvPr id="25" name="rcs_c"/>
          <p:cNvSpPr/>
          <p:nvPr/>
        </p:nvSpPr>
        <p:spPr>
          <a:xfrm>
            <a:off x="4791456" y="1719072"/>
            <a:ext cx="1627632" cy="164592"/>
          </a:xfrm>
          <a:prstGeom prst="rect">
            <a:avLst/>
          </a:prstGeom>
          <a:noFill/>
          <a:ln/>
        </p:spPr>
        <p:txBody>
          <a:bodyPr wrap="square" lIns="0" tIns="0" rIns="0" bIns="0" rtlCol="0" anchor="ctr"/>
          <a:lstStyle/>
          <a:p>
            <a:pPr marL="0" indent="0">
              <a:buNone/>
            </a:pPr>
            <a:r>
              <a:rPr lang="en-US" sz="740" dirty="0">
                <a:solidFill>
                  <a:srgbClr val="55697C"/>
                </a:solidFill>
                <a:latin typeface="Calibri" pitchFamily="34" charset="0"/>
                <a:ea typeface="Calibri" pitchFamily="34" charset="-122"/>
                <a:cs typeface="Calibri" pitchFamily="34" charset="-120"/>
              </a:rPr>
              <a:t>still ahead of the committee</a:t>
            </a:r>
            <a:endParaRPr lang="en-US" sz="740" dirty="0"/>
          </a:p>
        </p:txBody>
      </p:sp>
      <p:sp>
        <p:nvSpPr>
          <p:cNvPr id="26" name="rc2_c"/>
          <p:cNvSpPr/>
          <p:nvPr/>
        </p:nvSpPr>
        <p:spPr>
          <a:xfrm>
            <a:off x="4791456" y="1901952"/>
            <a:ext cx="1627632" cy="155448"/>
          </a:xfrm>
          <a:prstGeom prst="rect">
            <a:avLst/>
          </a:prstGeom>
          <a:noFill/>
          <a:ln/>
        </p:spPr>
        <p:txBody>
          <a:bodyPr wrap="square" lIns="0" tIns="0" rIns="0" bIns="0" rtlCol="0" anchor="ctr"/>
          <a:lstStyle/>
          <a:p>
            <a:pPr marL="0" indent="0">
              <a:buNone/>
            </a:pPr>
            <a:r>
              <a:rPr lang="en-US" sz="760" b="1" dirty="0">
                <a:solidFill>
                  <a:srgbClr val="10243A"/>
                </a:solidFill>
                <a:latin typeface="Calibri" pitchFamily="34" charset="0"/>
                <a:ea typeface="Calibri" pitchFamily="34" charset="-122"/>
                <a:cs typeface="Calibri" pitchFamily="34" charset="-120"/>
              </a:rPr>
              <a:t>uplift only 1.5×, one score in five wrong</a:t>
            </a:r>
            <a:endParaRPr lang="en-US" sz="760" dirty="0"/>
          </a:p>
        </p:txBody>
      </p:sp>
      <p:sp>
        <p:nvSpPr>
          <p:cNvPr id="27" name="rc3_c"/>
          <p:cNvSpPr/>
          <p:nvPr/>
        </p:nvSpPr>
        <p:spPr>
          <a:xfrm>
            <a:off x="4791456" y="2057400"/>
            <a:ext cx="1627632" cy="201168"/>
          </a:xfrm>
          <a:prstGeom prst="rect">
            <a:avLst/>
          </a:prstGeom>
          <a:noFill/>
          <a:ln/>
        </p:spPr>
        <p:txBody>
          <a:bodyPr wrap="square" lIns="0" tIns="0" rIns="0" bIns="0" rtlCol="0" anchor="ctr"/>
          <a:lstStyle/>
          <a:p>
            <a:pPr marL="0" indent="0">
              <a:lnSpc>
                <a:spcPts val="800"/>
              </a:lnSpc>
              <a:buNone/>
            </a:pPr>
            <a:r>
              <a:rPr lang="en-US" sz="680" dirty="0">
                <a:solidFill>
                  <a:srgbClr val="8FA1B2"/>
                </a:solidFill>
                <a:latin typeface="Calibri" pitchFamily="34" charset="0"/>
                <a:ea typeface="Calibri" pitchFamily="34" charset="-122"/>
                <a:cs typeface="Calibri" pitchFamily="34" charset="-120"/>
              </a:rPr>
              <a:t>compared with a committee in that same world</a:t>
            </a:r>
            <a:endParaRPr lang="en-US" sz="680" dirty="0"/>
          </a:p>
        </p:txBody>
      </p:sp>
      <p:sp>
        <p:nvSpPr>
          <p:cNvPr id="28" name="rc_head"/>
          <p:cNvSpPr/>
          <p:nvPr/>
        </p:nvSpPr>
        <p:spPr>
          <a:xfrm>
            <a:off x="6675120" y="1005840"/>
            <a:ext cx="1828800" cy="1298448"/>
          </a:xfrm>
          <a:prstGeom prst="roundRect">
            <a:avLst>
              <a:gd name="adj" fmla="val 4930"/>
            </a:avLst>
          </a:prstGeom>
          <a:solidFill>
            <a:srgbClr val="0C8C83"/>
          </a:solidFill>
          <a:ln w="12700">
            <a:solidFill>
              <a:srgbClr val="0C8C83"/>
            </a:solidFill>
            <a:prstDash val="solid"/>
          </a:ln>
        </p:spPr>
        <p:txBody>
          <a:bodyPr/>
          <a:lstStyle/>
          <a:p>
            <a:endParaRPr lang="en-US"/>
          </a:p>
        </p:txBody>
      </p:sp>
      <p:sp>
        <p:nvSpPr>
          <p:cNvPr id="29" name="rc_headk"/>
          <p:cNvSpPr/>
          <p:nvPr/>
        </p:nvSpPr>
        <p:spPr>
          <a:xfrm>
            <a:off x="6821424" y="1106424"/>
            <a:ext cx="1554480" cy="164592"/>
          </a:xfrm>
          <a:prstGeom prst="rect">
            <a:avLst/>
          </a:prstGeom>
          <a:noFill/>
          <a:ln/>
        </p:spPr>
        <p:txBody>
          <a:bodyPr wrap="square" lIns="0" tIns="0" rIns="0" bIns="0" rtlCol="0" anchor="ctr"/>
          <a:lstStyle/>
          <a:p>
            <a:pPr marL="0" indent="0">
              <a:buNone/>
            </a:pPr>
            <a:r>
              <a:rPr lang="en-US" sz="720" b="1" kern="0" spc="140" dirty="0">
                <a:solidFill>
                  <a:srgbClr val="BDEDE8"/>
                </a:solidFill>
                <a:latin typeface="Calibri" pitchFamily="34" charset="0"/>
                <a:ea typeface="Calibri" pitchFamily="34" charset="-122"/>
                <a:cs typeface="Calibri" pitchFamily="34" charset="-120"/>
              </a:rPr>
              <a:t>THE ANSWER</a:t>
            </a:r>
            <a:endParaRPr lang="en-US" sz="720" dirty="0"/>
          </a:p>
        </p:txBody>
      </p:sp>
      <p:sp>
        <p:nvSpPr>
          <p:cNvPr id="30" name="rc_headv"/>
          <p:cNvSpPr/>
          <p:nvPr/>
        </p:nvSpPr>
        <p:spPr>
          <a:xfrm>
            <a:off x="6821424" y="1298448"/>
            <a:ext cx="1554480" cy="420624"/>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+72%</a:t>
            </a:r>
            <a:endParaRPr lang="en-US" sz="3000" dirty="0"/>
          </a:p>
        </p:txBody>
      </p:sp>
      <p:sp>
        <p:nvSpPr>
          <p:cNvPr id="31" name="rc_headt"/>
          <p:cNvSpPr/>
          <p:nvPr/>
        </p:nvSpPr>
        <p:spPr>
          <a:xfrm>
            <a:off x="6821424" y="1737360"/>
            <a:ext cx="1554480" cy="512064"/>
          </a:xfrm>
          <a:prstGeom prst="rect">
            <a:avLst/>
          </a:prstGeom>
          <a:noFill/>
          <a:ln/>
        </p:spPr>
        <p:txBody>
          <a:bodyPr wrap="square" lIns="0" tIns="0" rIns="0" bIns="0" rtlCol="0" anchor="ctr"/>
          <a:lstStyle/>
          <a:p>
            <a:pPr marL="0" indent="0">
              <a:lnSpc>
                <a:spcPts val="900"/>
              </a:lnSpc>
              <a:buNone/>
            </a:pPr>
            <a:r>
              <a:rPr lang="en-US" sz="760" dirty="0">
                <a:solidFill>
                  <a:srgbClr val="DFF5F2"/>
                </a:solidFill>
                <a:latin typeface="Calibri" pitchFamily="34" charset="0"/>
                <a:ea typeface="Calibri" pitchFamily="34" charset="-122"/>
                <a:cs typeface="Calibri" pitchFamily="34" charset="-120"/>
              </a:rPr>
              <a:t>more approved medicines for the same $1bn, by choosing targets on human genetic evidence.</a:t>
            </a:r>
            <a:endParaRPr lang="en-US" sz="760" dirty="0"/>
          </a:p>
        </p:txBody>
      </p:sp>
      <p:pic>
        <p:nvPicPr>
          <p:cNvPr id="32" name="Image 0" descr="preencoded.png"/>
          <p:cNvPicPr>
            <a:picLocks noChangeAspect="1"/>
          </p:cNvPicPr>
          <p:nvPr/>
        </p:nvPicPr>
        <p:blipFill>
          <a:blip r:embed="rId3"/>
          <a:stretch>
            <a:fillRect/>
          </a:stretch>
        </p:blipFill>
        <p:spPr>
          <a:xfrm>
            <a:off x="640080" y="2414016"/>
            <a:ext cx="3968496" cy="1819656"/>
          </a:xfrm>
          <a:prstGeom prst="rect">
            <a:avLst/>
          </a:prstGeom>
        </p:spPr>
      </p:pic>
      <p:pic>
        <p:nvPicPr>
          <p:cNvPr id="33" name="Image 1" descr="preencoded.png"/>
          <p:cNvPicPr>
            <a:picLocks noChangeAspect="1"/>
          </p:cNvPicPr>
          <p:nvPr/>
        </p:nvPicPr>
        <p:blipFill>
          <a:blip r:embed="rId4"/>
          <a:stretch>
            <a:fillRect/>
          </a:stretch>
        </p:blipFill>
        <p:spPr>
          <a:xfrm>
            <a:off x="4809744" y="2414016"/>
            <a:ext cx="1920240" cy="1819656"/>
          </a:xfrm>
          <a:prstGeom prst="rect">
            <a:avLst/>
          </a:prstGeom>
        </p:spPr>
      </p:pic>
      <p:pic>
        <p:nvPicPr>
          <p:cNvPr id="34" name="Image 2" descr="preencoded.png"/>
          <p:cNvPicPr>
            <a:picLocks noChangeAspect="1"/>
          </p:cNvPicPr>
          <p:nvPr/>
        </p:nvPicPr>
        <p:blipFill>
          <a:blip r:embed="rId5"/>
          <a:stretch>
            <a:fillRect/>
          </a:stretch>
        </p:blipFill>
        <p:spPr>
          <a:xfrm>
            <a:off x="6803136" y="2414016"/>
            <a:ext cx="1737360" cy="795528"/>
          </a:xfrm>
          <a:prstGeom prst="rect">
            <a:avLst/>
          </a:prstGeom>
        </p:spPr>
      </p:pic>
      <p:sp>
        <p:nvSpPr>
          <p:cNvPr id="35" name="val_box"/>
          <p:cNvSpPr/>
          <p:nvPr/>
        </p:nvSpPr>
        <p:spPr>
          <a:xfrm>
            <a:off x="6876288" y="3255264"/>
            <a:ext cx="1627632" cy="978408"/>
          </a:xfrm>
          <a:prstGeom prst="roundRect">
            <a:avLst>
              <a:gd name="adj" fmla="val 5607"/>
            </a:avLst>
          </a:prstGeom>
          <a:solidFill>
            <a:srgbClr val="F3F7FB"/>
          </a:solidFill>
          <a:ln w="8890">
            <a:solidFill>
              <a:srgbClr val="E3E9EF"/>
            </a:solidFill>
            <a:prstDash val="solid"/>
          </a:ln>
        </p:spPr>
        <p:txBody>
          <a:bodyPr/>
          <a:lstStyle/>
          <a:p>
            <a:endParaRPr lang="en-US"/>
          </a:p>
        </p:txBody>
      </p:sp>
      <p:sp>
        <p:nvSpPr>
          <p:cNvPr id="36" name="val_h"/>
          <p:cNvSpPr/>
          <p:nvPr/>
        </p:nvSpPr>
        <p:spPr>
          <a:xfrm>
            <a:off x="6986016" y="3319272"/>
            <a:ext cx="1426464" cy="146304"/>
          </a:xfrm>
          <a:prstGeom prst="rect">
            <a:avLst/>
          </a:prstGeom>
          <a:noFill/>
          <a:ln/>
        </p:spPr>
        <p:txBody>
          <a:bodyPr wrap="square" lIns="0" tIns="0" rIns="0" bIns="0" rtlCol="0" anchor="ctr"/>
          <a:lstStyle/>
          <a:p>
            <a:pPr marL="0" indent="0">
              <a:buNone/>
            </a:pPr>
            <a:r>
              <a:rPr lang="en-US" sz="640" b="1" kern="0" spc="80" dirty="0">
                <a:solidFill>
                  <a:srgbClr val="0B63CE"/>
                </a:solidFill>
                <a:latin typeface="Calibri" pitchFamily="34" charset="0"/>
                <a:ea typeface="Calibri" pitchFamily="34" charset="-122"/>
                <a:cs typeface="Calibri" pitchFamily="34" charset="-120"/>
              </a:rPr>
              <a:t>THREE CHECKS I DID NOT RIG</a:t>
            </a:r>
            <a:endParaRPr lang="en-US" sz="640" dirty="0"/>
          </a:p>
        </p:txBody>
      </p:sp>
      <p:sp>
        <p:nvSpPr>
          <p:cNvPr id="37" name="val_v_0"/>
          <p:cNvSpPr/>
          <p:nvPr/>
        </p:nvSpPr>
        <p:spPr>
          <a:xfrm>
            <a:off x="6986016" y="3502152"/>
            <a:ext cx="475488" cy="201168"/>
          </a:xfrm>
          <a:prstGeom prst="rect">
            <a:avLst/>
          </a:prstGeom>
          <a:noFill/>
          <a:ln/>
        </p:spPr>
        <p:txBody>
          <a:bodyPr wrap="square" lIns="0" tIns="0" rIns="0" bIns="0" rtlCol="0" anchor="ctr"/>
          <a:lstStyle/>
          <a:p>
            <a:pPr marL="0" indent="0">
              <a:buNone/>
            </a:pPr>
            <a:r>
              <a:rPr lang="en-US" sz="840" b="1" dirty="0">
                <a:solidFill>
                  <a:srgbClr val="0C8C83"/>
                </a:solidFill>
                <a:latin typeface="Calibri" pitchFamily="34" charset="0"/>
                <a:ea typeface="Calibri" pitchFamily="34" charset="-122"/>
                <a:cs typeface="Calibri" pitchFamily="34" charset="-120"/>
              </a:rPr>
              <a:t>$2.54bn</a:t>
            </a:r>
            <a:endParaRPr lang="en-US" sz="840" dirty="0"/>
          </a:p>
        </p:txBody>
      </p:sp>
      <p:sp>
        <p:nvSpPr>
          <p:cNvPr id="38" name="val_t_0"/>
          <p:cNvSpPr/>
          <p:nvPr/>
        </p:nvSpPr>
        <p:spPr>
          <a:xfrm>
            <a:off x="7479792" y="3502152"/>
            <a:ext cx="932688" cy="201168"/>
          </a:xfrm>
          <a:prstGeom prst="rect">
            <a:avLst/>
          </a:prstGeom>
          <a:noFill/>
          <a:ln/>
        </p:spPr>
        <p:txBody>
          <a:bodyPr wrap="square" lIns="0" tIns="0" rIns="0" bIns="0" rtlCol="0" anchor="ctr"/>
          <a:lstStyle/>
          <a:p>
            <a:pPr marL="0" indent="0">
              <a:lnSpc>
                <a:spcPts val="740"/>
              </a:lnSpc>
              <a:buNone/>
            </a:pPr>
            <a:r>
              <a:rPr lang="en-US" sz="620" dirty="0">
                <a:solidFill>
                  <a:srgbClr val="55697C"/>
                </a:solidFill>
                <a:latin typeface="Calibri" pitchFamily="34" charset="0"/>
                <a:ea typeface="Calibri" pitchFamily="34" charset="-122"/>
                <a:cs typeface="Calibri" pitchFamily="34" charset="-120"/>
              </a:rPr>
              <a:t>per medicine vs the published $2.6bn</a:t>
            </a:r>
            <a:endParaRPr lang="en-US" sz="620" dirty="0"/>
          </a:p>
        </p:txBody>
      </p:sp>
      <p:sp>
        <p:nvSpPr>
          <p:cNvPr id="39" name="val_v_1"/>
          <p:cNvSpPr/>
          <p:nvPr/>
        </p:nvSpPr>
        <p:spPr>
          <a:xfrm>
            <a:off x="6986016" y="3739896"/>
            <a:ext cx="475488" cy="201168"/>
          </a:xfrm>
          <a:prstGeom prst="rect">
            <a:avLst/>
          </a:prstGeom>
          <a:noFill/>
          <a:ln/>
        </p:spPr>
        <p:txBody>
          <a:bodyPr wrap="square" lIns="0" tIns="0" rIns="0" bIns="0" rtlCol="0" anchor="ctr"/>
          <a:lstStyle/>
          <a:p>
            <a:pPr marL="0" indent="0">
              <a:buNone/>
            </a:pPr>
            <a:r>
              <a:rPr lang="en-US" sz="840" b="1" dirty="0">
                <a:solidFill>
                  <a:srgbClr val="0C8C83"/>
                </a:solidFill>
                <a:latin typeface="Calibri" pitchFamily="34" charset="0"/>
                <a:ea typeface="Calibri" pitchFamily="34" charset="-122"/>
                <a:cs typeface="Calibri" pitchFamily="34" charset="-120"/>
              </a:rPr>
              <a:t>8.9%</a:t>
            </a:r>
            <a:endParaRPr lang="en-US" sz="840" dirty="0"/>
          </a:p>
        </p:txBody>
      </p:sp>
      <p:sp>
        <p:nvSpPr>
          <p:cNvPr id="40" name="val_t_1"/>
          <p:cNvSpPr/>
          <p:nvPr/>
        </p:nvSpPr>
        <p:spPr>
          <a:xfrm>
            <a:off x="7479792" y="3739896"/>
            <a:ext cx="932688" cy="201168"/>
          </a:xfrm>
          <a:prstGeom prst="rect">
            <a:avLst/>
          </a:prstGeom>
          <a:noFill/>
          <a:ln/>
        </p:spPr>
        <p:txBody>
          <a:bodyPr wrap="square" lIns="0" tIns="0" rIns="0" bIns="0" rtlCol="0" anchor="ctr"/>
          <a:lstStyle/>
          <a:p>
            <a:pPr marL="0" indent="0">
              <a:lnSpc>
                <a:spcPts val="740"/>
              </a:lnSpc>
              <a:buNone/>
            </a:pPr>
            <a:r>
              <a:rPr lang="en-US" sz="620" dirty="0">
                <a:solidFill>
                  <a:srgbClr val="55697C"/>
                </a:solidFill>
                <a:latin typeface="Calibri" pitchFamily="34" charset="0"/>
                <a:ea typeface="Calibri" pitchFamily="34" charset="-122"/>
                <a:cs typeface="Calibri" pitchFamily="34" charset="-120"/>
              </a:rPr>
              <a:t>portfolio success vs 7.9–11.8% reported</a:t>
            </a:r>
            <a:endParaRPr lang="en-US" sz="620" dirty="0"/>
          </a:p>
        </p:txBody>
      </p:sp>
      <p:sp>
        <p:nvSpPr>
          <p:cNvPr id="41" name="val_v_2"/>
          <p:cNvSpPr/>
          <p:nvPr/>
        </p:nvSpPr>
        <p:spPr>
          <a:xfrm>
            <a:off x="6986016" y="3977640"/>
            <a:ext cx="475488" cy="201168"/>
          </a:xfrm>
          <a:prstGeom prst="rect">
            <a:avLst/>
          </a:prstGeom>
          <a:noFill/>
          <a:ln/>
        </p:spPr>
        <p:txBody>
          <a:bodyPr wrap="square" lIns="0" tIns="0" rIns="0" bIns="0" rtlCol="0" anchor="ctr"/>
          <a:lstStyle/>
          <a:p>
            <a:pPr marL="0" indent="0">
              <a:buNone/>
            </a:pPr>
            <a:r>
              <a:rPr lang="en-US" sz="840" b="1" dirty="0">
                <a:solidFill>
                  <a:srgbClr val="0C8C83"/>
                </a:solidFill>
                <a:latin typeface="Calibri" pitchFamily="34" charset="0"/>
                <a:ea typeface="Calibri" pitchFamily="34" charset="-122"/>
                <a:cs typeface="Calibri" pitchFamily="34" charset="-120"/>
              </a:rPr>
              <a:t>AUC 0.91</a:t>
            </a:r>
            <a:endParaRPr lang="en-US" sz="840" dirty="0"/>
          </a:p>
        </p:txBody>
      </p:sp>
      <p:sp>
        <p:nvSpPr>
          <p:cNvPr id="42" name="val_t_2"/>
          <p:cNvSpPr/>
          <p:nvPr/>
        </p:nvSpPr>
        <p:spPr>
          <a:xfrm>
            <a:off x="7479792" y="3977640"/>
            <a:ext cx="932688" cy="201168"/>
          </a:xfrm>
          <a:prstGeom prst="rect">
            <a:avLst/>
          </a:prstGeom>
          <a:noFill/>
          <a:ln/>
        </p:spPr>
        <p:txBody>
          <a:bodyPr wrap="square" lIns="0" tIns="0" rIns="0" bIns="0" rtlCol="0" anchor="ctr"/>
          <a:lstStyle/>
          <a:p>
            <a:pPr marL="0" indent="0">
              <a:lnSpc>
                <a:spcPts val="740"/>
              </a:lnSpc>
              <a:buNone/>
            </a:pPr>
            <a:r>
              <a:rPr lang="en-US" sz="620" dirty="0">
                <a:solidFill>
                  <a:srgbClr val="55697C"/>
                </a:solidFill>
                <a:latin typeface="Calibri" pitchFamily="34" charset="0"/>
                <a:ea typeface="Calibri" pitchFamily="34" charset="-122"/>
                <a:cs typeface="Calibri" pitchFamily="34" charset="-120"/>
              </a:rPr>
              <a:t>ranking vs drugs it was never shown</a:t>
            </a:r>
            <a:endParaRPr lang="en-US" sz="620" dirty="0"/>
          </a:p>
        </p:txBody>
      </p:sp>
      <p:sp>
        <p:nvSpPr>
          <p:cNvPr id="43" name="ch_cap"/>
          <p:cNvSpPr/>
          <p:nvPr/>
        </p:nvSpPr>
        <p:spPr>
          <a:xfrm>
            <a:off x="640080" y="4279392"/>
            <a:ext cx="7863840" cy="164592"/>
          </a:xfrm>
          <a:prstGeom prst="rect">
            <a:avLst/>
          </a:prstGeom>
          <a:noFill/>
          <a:ln/>
        </p:spPr>
        <p:txBody>
          <a:bodyPr wrap="square" lIns="0" tIns="0" rIns="0" bIns="0" rtlCol="0" anchor="ctr"/>
          <a:lstStyle/>
          <a:p>
            <a:pPr marL="0" indent="0">
              <a:buNone/>
            </a:pPr>
            <a:r>
              <a:rPr lang="en-US" sz="700" dirty="0">
                <a:solidFill>
                  <a:srgbClr val="8FA1B2"/>
                </a:solidFill>
                <a:latin typeface="Calibri" pitchFamily="34" charset="0"/>
                <a:ea typeface="Calibri" pitchFamily="34" charset="-122"/>
                <a:cs typeface="Calibri" pitchFamily="34" charset="-120"/>
              </a:rPr>
              <a:t>Left: the full distribution, not just the average.    Middle: the model ranked the already-drugged genes to the top without being told.    Right: how much advantage survives being wrong.</a:t>
            </a:r>
            <a:endParaRPr lang="en-US" sz="700" dirty="0"/>
          </a:p>
        </p:txBody>
      </p:sp>
      <p:sp>
        <p:nvSpPr>
          <p:cNvPr id="44" name="hon_bar"/>
          <p:cNvSpPr/>
          <p:nvPr/>
        </p:nvSpPr>
        <p:spPr>
          <a:xfrm>
            <a:off x="640080" y="4462272"/>
            <a:ext cx="7863840" cy="329184"/>
          </a:xfrm>
          <a:prstGeom prst="roundRect">
            <a:avLst>
              <a:gd name="adj" fmla="val 13889"/>
            </a:avLst>
          </a:prstGeom>
          <a:solidFill>
            <a:srgbClr val="FDEDE9"/>
          </a:solidFill>
          <a:ln w="9525">
            <a:solidFill>
              <a:srgbClr val="F6C4B8"/>
            </a:solidFill>
            <a:prstDash val="solid"/>
          </a:ln>
        </p:spPr>
        <p:txBody>
          <a:bodyPr/>
          <a:lstStyle/>
          <a:p>
            <a:endParaRPr lang="en-US"/>
          </a:p>
        </p:txBody>
      </p:sp>
      <p:sp>
        <p:nvSpPr>
          <p:cNvPr id="45" name="hon_bart"/>
          <p:cNvSpPr/>
          <p:nvPr/>
        </p:nvSpPr>
        <p:spPr>
          <a:xfrm>
            <a:off x="804672" y="4462272"/>
            <a:ext cx="7589520" cy="329184"/>
          </a:xfrm>
          <a:prstGeom prst="rect">
            <a:avLst/>
          </a:prstGeom>
          <a:noFill/>
          <a:ln/>
        </p:spPr>
        <p:txBody>
          <a:bodyPr wrap="square" lIns="0" tIns="0" rIns="0" bIns="0" rtlCol="0" anchor="ctr"/>
          <a:lstStyle/>
          <a:p>
            <a:pPr marL="0" indent="0">
              <a:buNone/>
            </a:pPr>
            <a:r>
              <a:rPr lang="en-US" sz="750" b="1" kern="0" spc="130" dirty="0">
                <a:solidFill>
                  <a:srgbClr val="D8452A"/>
                </a:solidFill>
                <a:latin typeface="Calibri" pitchFamily="34" charset="0"/>
                <a:ea typeface="Calibri" pitchFamily="34" charset="-122"/>
                <a:cs typeface="Calibri" pitchFamily="34" charset="-120"/>
              </a:rPr>
              <a:t>WHAT WOULD BREAK THIS     </a:t>
            </a:r>
            <a:r>
              <a:rPr lang="en-US" sz="800" dirty="0">
                <a:solidFill>
                  <a:srgbClr val="10243A"/>
                </a:solidFill>
                <a:latin typeface="Calibri" pitchFamily="34" charset="0"/>
                <a:ea typeface="Calibri" pitchFamily="34" charset="-122"/>
                <a:cs typeface="Calibri" pitchFamily="34" charset="-120"/>
              </a:rPr>
              <a:t>There is no break-even point: the advantage only disappears if the genetic uplift is exactly 1.0× — if human genetics tells you nothing. Half the advantage survives at 1.7×, and survives 32% of the model's scores being wrong.</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ppt_y</p:attrName>
                                        </p:attrNameLst>
                                      </p:cBhvr>
                                      <p:tavLst>
                                        <p:tav tm="0">
                                          <p:val>
                                            <p:strVal val="1+#ppt_h/2"/>
                                          </p:val>
                                        </p:tav>
                                        <p:tav tm="100000">
                                          <p:val>
                                            <p:strVal val="#ppt_y"/>
                                          </p:val>
                                        </p:tav>
                                      </p:tavLst>
                                    </p:anim>
                                    <p:animEffect transition="in" filter="fade">
                                      <p:cBhvr>
                                        <p:cTn id="8" dur="500"/>
                                        <p:tgtEl>
                                          <p:spTgt spid="4"/>
                                        </p:tgtEl>
                                      </p:cBhvr>
                                    </p:animEffect>
                                  </p:childTnLst>
                                </p:cTn>
                              </p:par>
                            </p:childTnLst>
                          </p:cTn>
                        </p:par>
                        <p:par>
                          <p:cTn id="9" fill="hold">
                            <p:stCondLst>
                              <p:cond delay="0"/>
                            </p:stCondLst>
                            <p:childTnLst>
                              <p:par>
                                <p:cTn id="10" presetID="2" presetClass="entr" presetSubtype="4"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ppt_y</p:attrName>
                                        </p:attrNameLst>
                                      </p:cBhvr>
                                      <p:tavLst>
                                        <p:tav tm="0">
                                          <p:val>
                                            <p:strVal val="1+#ppt_h/2"/>
                                          </p:val>
                                        </p:tav>
                                        <p:tav tm="100000">
                                          <p:val>
                                            <p:strVal val="#ppt_y"/>
                                          </p:val>
                                        </p:tav>
                                      </p:tavLst>
                                    </p:anim>
                                    <p:animEffect transition="in" filter="fade">
                                      <p:cBhvr>
                                        <p:cTn id="13" dur="500"/>
                                        <p:tgtEl>
                                          <p:spTgt spid="5"/>
                                        </p:tgtEl>
                                      </p:cBhvr>
                                    </p:animEffect>
                                  </p:childTnLst>
                                </p:cTn>
                              </p:par>
                            </p:childTnLst>
                          </p:cTn>
                        </p:par>
                        <p:par>
                          <p:cTn id="14" fill="hold">
                            <p:stCondLst>
                              <p:cond delay="0"/>
                            </p:stCondLst>
                            <p:childTnLst>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ppt_y</p:attrName>
                                        </p:attrNameLst>
                                      </p:cBhvr>
                                      <p:tavLst>
                                        <p:tav tm="0">
                                          <p:val>
                                            <p:strVal val="1+#ppt_h/2"/>
                                          </p:val>
                                        </p:tav>
                                        <p:tav tm="100000">
                                          <p:val>
                                            <p:strVal val="#ppt_y"/>
                                          </p:val>
                                        </p:tav>
                                      </p:tavLst>
                                    </p:anim>
                                    <p:animEffect transition="in" filter="fade">
                                      <p:cBhvr>
                                        <p:cTn id="18" dur="500"/>
                                        <p:tgtEl>
                                          <p:spTgt spid="6"/>
                                        </p:tgtEl>
                                      </p:cBhvr>
                                    </p:animEffect>
                                  </p:childTnLst>
                                </p:cTn>
                              </p:par>
                            </p:childTnLst>
                          </p:cTn>
                        </p:par>
                        <p:par>
                          <p:cTn id="19" fill="hold">
                            <p:stCondLst>
                              <p:cond delay="0"/>
                            </p:stCondLst>
                            <p:childTnLst>
                              <p:par>
                                <p:cTn id="20" presetID="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ppt_y</p:attrName>
                                        </p:attrNameLst>
                                      </p:cBhvr>
                                      <p:tavLst>
                                        <p:tav tm="0">
                                          <p:val>
                                            <p:strVal val="1+#ppt_h/2"/>
                                          </p:val>
                                        </p:tav>
                                        <p:tav tm="100000">
                                          <p:val>
                                            <p:strVal val="#ppt_y"/>
                                          </p:val>
                                        </p:tav>
                                      </p:tavLst>
                                    </p:anim>
                                    <p:animEffect transition="in" filter="fade">
                                      <p:cBhvr>
                                        <p:cTn id="23" dur="500"/>
                                        <p:tgtEl>
                                          <p:spTgt spid="7"/>
                                        </p:tgtEl>
                                      </p:cBhvr>
                                    </p:animEffect>
                                  </p:childTnLst>
                                </p:cTn>
                              </p:par>
                            </p:childTnLst>
                          </p:cTn>
                        </p:par>
                        <p:par>
                          <p:cTn id="24" fill="hold">
                            <p:stCondLst>
                              <p:cond delay="200"/>
                            </p:stCondLst>
                            <p:childTnLst>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ppt_y</p:attrName>
                                        </p:attrNameLst>
                                      </p:cBhvr>
                                      <p:tavLst>
                                        <p:tav tm="0">
                                          <p:val>
                                            <p:strVal val="1+#ppt_h/2"/>
                                          </p:val>
                                        </p:tav>
                                        <p:tav tm="100000">
                                          <p:val>
                                            <p:strVal val="#ppt_y"/>
                                          </p:val>
                                        </p:tav>
                                      </p:tavLst>
                                    </p:anim>
                                    <p:animEffect transition="in" filter="fade">
                                      <p:cBhvr>
                                        <p:cTn id="28" dur="500"/>
                                        <p:tgtEl>
                                          <p:spTgt spid="8"/>
                                        </p:tgtEl>
                                      </p:cBhvr>
                                    </p:animEffect>
                                  </p:childTnLst>
                                </p:cTn>
                              </p:par>
                            </p:childTnLst>
                          </p:cTn>
                        </p:par>
                        <p:par>
                          <p:cTn id="29" fill="hold">
                            <p:stCondLst>
                              <p:cond delay="320"/>
                            </p:stCondLst>
                            <p:childTnLst>
                              <p:par>
                                <p:cTn id="30" presetID="2" presetClass="entr" presetSubtype="4"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ppt_y</p:attrName>
                                        </p:attrNameLst>
                                      </p:cBhvr>
                                      <p:tavLst>
                                        <p:tav tm="0">
                                          <p:val>
                                            <p:strVal val="1+#ppt_h/2"/>
                                          </p:val>
                                        </p:tav>
                                        <p:tav tm="100000">
                                          <p:val>
                                            <p:strVal val="#ppt_y"/>
                                          </p:val>
                                        </p:tav>
                                      </p:tavLst>
                                    </p:anim>
                                    <p:animEffect transition="in" filter="fade">
                                      <p:cBhvr>
                                        <p:cTn id="33" dur="500"/>
                                        <p:tgtEl>
                                          <p:spTgt spid="9"/>
                                        </p:tgtEl>
                                      </p:cBhvr>
                                    </p:animEffect>
                                  </p:childTnLst>
                                </p:cTn>
                              </p:par>
                            </p:childTnLst>
                          </p:cTn>
                        </p:par>
                        <p:par>
                          <p:cTn id="34" fill="hold">
                            <p:stCondLst>
                              <p:cond delay="430"/>
                            </p:stCondLst>
                            <p:childTnLst>
                              <p:par>
                                <p:cTn id="35" presetID="2" presetClass="entr" presetSubtype="8"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Effect transition="in" filter="fade">
                                      <p:cBhvr>
                                        <p:cTn id="38" dur="500"/>
                                        <p:tgtEl>
                                          <p:spTgt spid="10"/>
                                        </p:tgtEl>
                                      </p:cBhvr>
                                    </p:animEffect>
                                  </p:childTnLst>
                                </p:cTn>
                              </p:par>
                            </p:childTnLst>
                          </p:cTn>
                        </p:par>
                        <p:par>
                          <p:cTn id="39" fill="hold">
                            <p:stCondLst>
                              <p:cond delay="540"/>
                            </p:stCondLst>
                            <p:childTnLst>
                              <p:par>
                                <p:cTn id="40" presetID="2" presetClass="entr" presetSubtype="8"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0-#ppt_w/2"/>
                                          </p:val>
                                        </p:tav>
                                        <p:tav tm="100000">
                                          <p:val>
                                            <p:strVal val="#ppt_x"/>
                                          </p:val>
                                        </p:tav>
                                      </p:tavLst>
                                    </p:anim>
                                    <p:animEffect transition="in" filter="fade">
                                      <p:cBhvr>
                                        <p:cTn id="43" dur="500"/>
                                        <p:tgtEl>
                                          <p:spTgt spid="11"/>
                                        </p:tgtEl>
                                      </p:cBhvr>
                                    </p:animEffect>
                                  </p:childTnLst>
                                </p:cTn>
                              </p:par>
                            </p:childTnLst>
                          </p:cTn>
                        </p:par>
                        <p:par>
                          <p:cTn id="44" fill="hold">
                            <p:stCondLst>
                              <p:cond delay="720"/>
                            </p:stCondLst>
                            <p:childTnLst>
                              <p:par>
                                <p:cTn id="45" presetID="2" presetClass="entr" presetSubtype="4"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ppt_y</p:attrName>
                                        </p:attrNameLst>
                                      </p:cBhvr>
                                      <p:tavLst>
                                        <p:tav tm="0">
                                          <p:val>
                                            <p:strVal val="1+#ppt_h/2"/>
                                          </p:val>
                                        </p:tav>
                                        <p:tav tm="100000">
                                          <p:val>
                                            <p:strVal val="#ppt_y"/>
                                          </p:val>
                                        </p:tav>
                                      </p:tavLst>
                                    </p:anim>
                                    <p:animEffect transition="in" filter="fade">
                                      <p:cBhvr>
                                        <p:cTn id="48" dur="500"/>
                                        <p:tgtEl>
                                          <p:spTgt spid="12"/>
                                        </p:tgtEl>
                                      </p:cBhvr>
                                    </p:animEffect>
                                  </p:childTnLst>
                                </p:cTn>
                              </p:par>
                            </p:childTnLst>
                          </p:cTn>
                        </p:par>
                        <p:par>
                          <p:cTn id="49" fill="hold">
                            <p:stCondLst>
                              <p:cond delay="720"/>
                            </p:stCondLst>
                            <p:childTnLst>
                              <p:par>
                                <p:cTn id="50" presetID="2" presetClass="entr" presetSubtype="4"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ppt_y</p:attrName>
                                        </p:attrNameLst>
                                      </p:cBhvr>
                                      <p:tavLst>
                                        <p:tav tm="0">
                                          <p:val>
                                            <p:strVal val="1+#ppt_h/2"/>
                                          </p:val>
                                        </p:tav>
                                        <p:tav tm="100000">
                                          <p:val>
                                            <p:strVal val="#ppt_y"/>
                                          </p:val>
                                        </p:tav>
                                      </p:tavLst>
                                    </p:anim>
                                    <p:animEffect transition="in" filter="fade">
                                      <p:cBhvr>
                                        <p:cTn id="53" dur="500"/>
                                        <p:tgtEl>
                                          <p:spTgt spid="13"/>
                                        </p:tgtEl>
                                      </p:cBhvr>
                                    </p:animEffect>
                                  </p:childTnLst>
                                </p:cTn>
                              </p:par>
                            </p:childTnLst>
                          </p:cTn>
                        </p:par>
                        <p:par>
                          <p:cTn id="54" fill="hold">
                            <p:stCondLst>
                              <p:cond delay="720"/>
                            </p:stCondLst>
                            <p:childTnLst>
                              <p:par>
                                <p:cTn id="55" presetID="2" presetClass="entr" presetSubtype="4"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ppt_y</p:attrName>
                                        </p:attrNameLst>
                                      </p:cBhvr>
                                      <p:tavLst>
                                        <p:tav tm="0">
                                          <p:val>
                                            <p:strVal val="1+#ppt_h/2"/>
                                          </p:val>
                                        </p:tav>
                                        <p:tav tm="100000">
                                          <p:val>
                                            <p:strVal val="#ppt_y"/>
                                          </p:val>
                                        </p:tav>
                                      </p:tavLst>
                                    </p:anim>
                                    <p:animEffect transition="in" filter="fade">
                                      <p:cBhvr>
                                        <p:cTn id="58" dur="500"/>
                                        <p:tgtEl>
                                          <p:spTgt spid="14"/>
                                        </p:tgtEl>
                                      </p:cBhvr>
                                    </p:animEffect>
                                  </p:childTnLst>
                                </p:cTn>
                              </p:par>
                            </p:childTnLst>
                          </p:cTn>
                        </p:par>
                        <p:par>
                          <p:cTn id="59" fill="hold">
                            <p:stCondLst>
                              <p:cond delay="720"/>
                            </p:stCondLst>
                            <p:childTnLst>
                              <p:par>
                                <p:cTn id="60" presetID="2" presetClass="entr" presetSubtype="4"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ppt_y</p:attrName>
                                        </p:attrNameLst>
                                      </p:cBhvr>
                                      <p:tavLst>
                                        <p:tav tm="0">
                                          <p:val>
                                            <p:strVal val="1+#ppt_h/2"/>
                                          </p:val>
                                        </p:tav>
                                        <p:tav tm="100000">
                                          <p:val>
                                            <p:strVal val="#ppt_y"/>
                                          </p:val>
                                        </p:tav>
                                      </p:tavLst>
                                    </p:anim>
                                    <p:animEffect transition="in" filter="fade">
                                      <p:cBhvr>
                                        <p:cTn id="63" dur="500"/>
                                        <p:tgtEl>
                                          <p:spTgt spid="15"/>
                                        </p:tgtEl>
                                      </p:cBhvr>
                                    </p:animEffect>
                                  </p:childTnLst>
                                </p:cTn>
                              </p:par>
                            </p:childTnLst>
                          </p:cTn>
                        </p:par>
                        <p:par>
                          <p:cTn id="64" fill="hold">
                            <p:stCondLst>
                              <p:cond delay="920"/>
                            </p:stCondLst>
                            <p:childTnLst>
                              <p:par>
                                <p:cTn id="65" presetID="2" presetClass="entr" presetSubtype="4"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ppt_y</p:attrName>
                                        </p:attrNameLst>
                                      </p:cBhvr>
                                      <p:tavLst>
                                        <p:tav tm="0">
                                          <p:val>
                                            <p:strVal val="1+#ppt_h/2"/>
                                          </p:val>
                                        </p:tav>
                                        <p:tav tm="100000">
                                          <p:val>
                                            <p:strVal val="#ppt_y"/>
                                          </p:val>
                                        </p:tav>
                                      </p:tavLst>
                                    </p:anim>
                                    <p:animEffect transition="in" filter="fade">
                                      <p:cBhvr>
                                        <p:cTn id="68" dur="500"/>
                                        <p:tgtEl>
                                          <p:spTgt spid="16"/>
                                        </p:tgtEl>
                                      </p:cBhvr>
                                    </p:animEffect>
                                  </p:childTnLst>
                                </p:cTn>
                              </p:par>
                            </p:childTnLst>
                          </p:cTn>
                        </p:par>
                        <p:par>
                          <p:cTn id="69" fill="hold">
                            <p:stCondLst>
                              <p:cond delay="1040"/>
                            </p:stCondLst>
                            <p:childTnLst>
                              <p:par>
                                <p:cTn id="70" presetID="2" presetClass="entr" presetSubtype="4"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ppt_y</p:attrName>
                                        </p:attrNameLst>
                                      </p:cBhvr>
                                      <p:tavLst>
                                        <p:tav tm="0">
                                          <p:val>
                                            <p:strVal val="1+#ppt_h/2"/>
                                          </p:val>
                                        </p:tav>
                                        <p:tav tm="100000">
                                          <p:val>
                                            <p:strVal val="#ppt_y"/>
                                          </p:val>
                                        </p:tav>
                                      </p:tavLst>
                                    </p:anim>
                                    <p:animEffect transition="in" filter="fade">
                                      <p:cBhvr>
                                        <p:cTn id="73" dur="500"/>
                                        <p:tgtEl>
                                          <p:spTgt spid="17"/>
                                        </p:tgtEl>
                                      </p:cBhvr>
                                    </p:animEffect>
                                  </p:childTnLst>
                                </p:cTn>
                              </p:par>
                            </p:childTnLst>
                          </p:cTn>
                        </p:par>
                        <p:par>
                          <p:cTn id="74" fill="hold">
                            <p:stCondLst>
                              <p:cond delay="1150"/>
                            </p:stCondLst>
                            <p:childTnLst>
                              <p:par>
                                <p:cTn id="75" presetID="2" presetClass="entr" presetSubtype="8"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0-#ppt_w/2"/>
                                          </p:val>
                                        </p:tav>
                                        <p:tav tm="100000">
                                          <p:val>
                                            <p:strVal val="#ppt_x"/>
                                          </p:val>
                                        </p:tav>
                                      </p:tavLst>
                                    </p:anim>
                                    <p:animEffect transition="in" filter="fade">
                                      <p:cBhvr>
                                        <p:cTn id="78" dur="500"/>
                                        <p:tgtEl>
                                          <p:spTgt spid="18"/>
                                        </p:tgtEl>
                                      </p:cBhvr>
                                    </p:animEffect>
                                  </p:childTnLst>
                                </p:cTn>
                              </p:par>
                            </p:childTnLst>
                          </p:cTn>
                        </p:par>
                        <p:par>
                          <p:cTn id="79" fill="hold">
                            <p:stCondLst>
                              <p:cond delay="1260"/>
                            </p:stCondLst>
                            <p:childTnLst>
                              <p:par>
                                <p:cTn id="80" presetID="2" presetClass="entr" presetSubtype="8"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ppt_x</p:attrName>
                                        </p:attrNameLst>
                                      </p:cBhvr>
                                      <p:tavLst>
                                        <p:tav tm="0">
                                          <p:val>
                                            <p:strVal val="0-#ppt_w/2"/>
                                          </p:val>
                                        </p:tav>
                                        <p:tav tm="100000">
                                          <p:val>
                                            <p:strVal val="#ppt_x"/>
                                          </p:val>
                                        </p:tav>
                                      </p:tavLst>
                                    </p:anim>
                                    <p:animEffect transition="in" filter="fade">
                                      <p:cBhvr>
                                        <p:cTn id="83" dur="500"/>
                                        <p:tgtEl>
                                          <p:spTgt spid="19"/>
                                        </p:tgtEl>
                                      </p:cBhvr>
                                    </p:animEffect>
                                  </p:childTnLst>
                                </p:cTn>
                              </p:par>
                            </p:childTnLst>
                          </p:cTn>
                        </p:par>
                        <p:par>
                          <p:cTn id="84" fill="hold">
                            <p:stCondLst>
                              <p:cond delay="1440"/>
                            </p:stCondLst>
                            <p:childTnLst>
                              <p:par>
                                <p:cTn id="85" presetID="2" presetClass="entr" presetSubtype="4"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ppt_y</p:attrName>
                                        </p:attrNameLst>
                                      </p:cBhvr>
                                      <p:tavLst>
                                        <p:tav tm="0">
                                          <p:val>
                                            <p:strVal val="1+#ppt_h/2"/>
                                          </p:val>
                                        </p:tav>
                                        <p:tav tm="100000">
                                          <p:val>
                                            <p:strVal val="#ppt_y"/>
                                          </p:val>
                                        </p:tav>
                                      </p:tavLst>
                                    </p:anim>
                                    <p:animEffect transition="in" filter="fade">
                                      <p:cBhvr>
                                        <p:cTn id="88" dur="500"/>
                                        <p:tgtEl>
                                          <p:spTgt spid="20"/>
                                        </p:tgtEl>
                                      </p:cBhvr>
                                    </p:animEffect>
                                  </p:childTnLst>
                                </p:cTn>
                              </p:par>
                            </p:childTnLst>
                          </p:cTn>
                        </p:par>
                        <p:par>
                          <p:cTn id="89" fill="hold">
                            <p:stCondLst>
                              <p:cond delay="1440"/>
                            </p:stCondLst>
                            <p:childTnLst>
                              <p:par>
                                <p:cTn id="90" presetID="2" presetClass="entr" presetSubtype="4"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ppt_y</p:attrName>
                                        </p:attrNameLst>
                                      </p:cBhvr>
                                      <p:tavLst>
                                        <p:tav tm="0">
                                          <p:val>
                                            <p:strVal val="1+#ppt_h/2"/>
                                          </p:val>
                                        </p:tav>
                                        <p:tav tm="100000">
                                          <p:val>
                                            <p:strVal val="#ppt_y"/>
                                          </p:val>
                                        </p:tav>
                                      </p:tavLst>
                                    </p:anim>
                                    <p:animEffect transition="in" filter="fade">
                                      <p:cBhvr>
                                        <p:cTn id="93" dur="500"/>
                                        <p:tgtEl>
                                          <p:spTgt spid="21"/>
                                        </p:tgtEl>
                                      </p:cBhvr>
                                    </p:animEffect>
                                  </p:childTnLst>
                                </p:cTn>
                              </p:par>
                            </p:childTnLst>
                          </p:cTn>
                        </p:par>
                        <p:par>
                          <p:cTn id="94" fill="hold">
                            <p:stCondLst>
                              <p:cond delay="1440"/>
                            </p:stCondLst>
                            <p:childTnLst>
                              <p:par>
                                <p:cTn id="95" presetID="2" presetClass="entr" presetSubtype="4"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ppt_y</p:attrName>
                                        </p:attrNameLst>
                                      </p:cBhvr>
                                      <p:tavLst>
                                        <p:tav tm="0">
                                          <p:val>
                                            <p:strVal val="1+#ppt_h/2"/>
                                          </p:val>
                                        </p:tav>
                                        <p:tav tm="100000">
                                          <p:val>
                                            <p:strVal val="#ppt_y"/>
                                          </p:val>
                                        </p:tav>
                                      </p:tavLst>
                                    </p:anim>
                                    <p:animEffect transition="in" filter="fade">
                                      <p:cBhvr>
                                        <p:cTn id="98" dur="500"/>
                                        <p:tgtEl>
                                          <p:spTgt spid="22"/>
                                        </p:tgtEl>
                                      </p:cBhvr>
                                    </p:animEffect>
                                  </p:childTnLst>
                                </p:cTn>
                              </p:par>
                            </p:childTnLst>
                          </p:cTn>
                        </p:par>
                        <p:par>
                          <p:cTn id="99" fill="hold">
                            <p:stCondLst>
                              <p:cond delay="1440"/>
                            </p:stCondLst>
                            <p:childTnLst>
                              <p:par>
                                <p:cTn id="100" presetID="2" presetClass="entr" presetSubtype="4"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ppt_y</p:attrName>
                                        </p:attrNameLst>
                                      </p:cBhvr>
                                      <p:tavLst>
                                        <p:tav tm="0">
                                          <p:val>
                                            <p:strVal val="1+#ppt_h/2"/>
                                          </p:val>
                                        </p:tav>
                                        <p:tav tm="100000">
                                          <p:val>
                                            <p:strVal val="#ppt_y"/>
                                          </p:val>
                                        </p:tav>
                                      </p:tavLst>
                                    </p:anim>
                                    <p:animEffect transition="in" filter="fade">
                                      <p:cBhvr>
                                        <p:cTn id="103" dur="500"/>
                                        <p:tgtEl>
                                          <p:spTgt spid="23"/>
                                        </p:tgtEl>
                                      </p:cBhvr>
                                    </p:animEffect>
                                  </p:childTnLst>
                                </p:cTn>
                              </p:par>
                            </p:childTnLst>
                          </p:cTn>
                        </p:par>
                        <p:par>
                          <p:cTn id="104" fill="hold">
                            <p:stCondLst>
                              <p:cond delay="1640"/>
                            </p:stCondLst>
                            <p:childTnLst>
                              <p:par>
                                <p:cTn id="105" presetID="2" presetClass="entr" presetSubtype="4"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ppt_y</p:attrName>
                                        </p:attrNameLst>
                                      </p:cBhvr>
                                      <p:tavLst>
                                        <p:tav tm="0">
                                          <p:val>
                                            <p:strVal val="1+#ppt_h/2"/>
                                          </p:val>
                                        </p:tav>
                                        <p:tav tm="100000">
                                          <p:val>
                                            <p:strVal val="#ppt_y"/>
                                          </p:val>
                                        </p:tav>
                                      </p:tavLst>
                                    </p:anim>
                                    <p:animEffect transition="in" filter="fade">
                                      <p:cBhvr>
                                        <p:cTn id="108" dur="500"/>
                                        <p:tgtEl>
                                          <p:spTgt spid="24"/>
                                        </p:tgtEl>
                                      </p:cBhvr>
                                    </p:animEffect>
                                  </p:childTnLst>
                                </p:cTn>
                              </p:par>
                            </p:childTnLst>
                          </p:cTn>
                        </p:par>
                        <p:par>
                          <p:cTn id="109" fill="hold">
                            <p:stCondLst>
                              <p:cond delay="1760"/>
                            </p:stCondLst>
                            <p:childTnLst>
                              <p:par>
                                <p:cTn id="110" presetID="2" presetClass="entr" presetSubtype="4"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ppt_y</p:attrName>
                                        </p:attrNameLst>
                                      </p:cBhvr>
                                      <p:tavLst>
                                        <p:tav tm="0">
                                          <p:val>
                                            <p:strVal val="1+#ppt_h/2"/>
                                          </p:val>
                                        </p:tav>
                                        <p:tav tm="100000">
                                          <p:val>
                                            <p:strVal val="#ppt_y"/>
                                          </p:val>
                                        </p:tav>
                                      </p:tavLst>
                                    </p:anim>
                                    <p:animEffect transition="in" filter="fade">
                                      <p:cBhvr>
                                        <p:cTn id="113" dur="500"/>
                                        <p:tgtEl>
                                          <p:spTgt spid="25"/>
                                        </p:tgtEl>
                                      </p:cBhvr>
                                    </p:animEffect>
                                  </p:childTnLst>
                                </p:cTn>
                              </p:par>
                            </p:childTnLst>
                          </p:cTn>
                        </p:par>
                        <p:par>
                          <p:cTn id="114" fill="hold">
                            <p:stCondLst>
                              <p:cond delay="1870"/>
                            </p:stCondLst>
                            <p:childTnLst>
                              <p:par>
                                <p:cTn id="115" presetID="2" presetClass="entr" presetSubtype="8"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0-#ppt_w/2"/>
                                          </p:val>
                                        </p:tav>
                                        <p:tav tm="100000">
                                          <p:val>
                                            <p:strVal val="#ppt_x"/>
                                          </p:val>
                                        </p:tav>
                                      </p:tavLst>
                                    </p:anim>
                                    <p:animEffect transition="in" filter="fade">
                                      <p:cBhvr>
                                        <p:cTn id="118" dur="500"/>
                                        <p:tgtEl>
                                          <p:spTgt spid="26"/>
                                        </p:tgtEl>
                                      </p:cBhvr>
                                    </p:animEffect>
                                  </p:childTnLst>
                                </p:cTn>
                              </p:par>
                            </p:childTnLst>
                          </p:cTn>
                        </p:par>
                        <p:par>
                          <p:cTn id="119" fill="hold">
                            <p:stCondLst>
                              <p:cond delay="1980"/>
                            </p:stCondLst>
                            <p:childTnLst>
                              <p:par>
                                <p:cTn id="120" presetID="2" presetClass="entr" presetSubtype="8"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ppt_x</p:attrName>
                                        </p:attrNameLst>
                                      </p:cBhvr>
                                      <p:tavLst>
                                        <p:tav tm="0">
                                          <p:val>
                                            <p:strVal val="0-#ppt_w/2"/>
                                          </p:val>
                                        </p:tav>
                                        <p:tav tm="100000">
                                          <p:val>
                                            <p:strVal val="#ppt_x"/>
                                          </p:val>
                                        </p:tav>
                                      </p:tavLst>
                                    </p:anim>
                                    <p:animEffect transition="in" filter="fade">
                                      <p:cBhvr>
                                        <p:cTn id="123" dur="500"/>
                                        <p:tgtEl>
                                          <p:spTgt spid="27"/>
                                        </p:tgtEl>
                                      </p:cBhvr>
                                    </p:animEffect>
                                  </p:childTnLst>
                                </p:cTn>
                              </p:par>
                            </p:childTnLst>
                          </p:cTn>
                        </p:par>
                        <p:par>
                          <p:cTn id="124" fill="hold">
                            <p:stCondLst>
                              <p:cond delay="2410"/>
                            </p:stCondLst>
                            <p:childTnLst>
                              <p:par>
                                <p:cTn id="125" presetID="2" presetClass="entr" presetSubtype="2"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ppt_x</p:attrName>
                                        </p:attrNameLst>
                                      </p:cBhvr>
                                      <p:tavLst>
                                        <p:tav tm="0">
                                          <p:val>
                                            <p:strVal val="1+#ppt_w/2"/>
                                          </p:val>
                                        </p:tav>
                                        <p:tav tm="100000">
                                          <p:val>
                                            <p:strVal val="#ppt_x"/>
                                          </p:val>
                                        </p:tav>
                                      </p:tavLst>
                                    </p:anim>
                                    <p:animEffect transition="in" filter="fade">
                                      <p:cBhvr>
                                        <p:cTn id="128" dur="500"/>
                                        <p:tgtEl>
                                          <p:spTgt spid="28"/>
                                        </p:tgtEl>
                                      </p:cBhvr>
                                    </p:animEffect>
                                  </p:childTnLst>
                                </p:cTn>
                              </p:par>
                            </p:childTnLst>
                          </p:cTn>
                        </p:par>
                        <p:par>
                          <p:cTn id="129" fill="hold">
                            <p:stCondLst>
                              <p:cond delay="2560"/>
                            </p:stCondLst>
                            <p:childTnLst>
                              <p:par>
                                <p:cTn id="130" presetID="2" presetClass="entr" presetSubtype="2"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ppt_x</p:attrName>
                                        </p:attrNameLst>
                                      </p:cBhvr>
                                      <p:tavLst>
                                        <p:tav tm="0">
                                          <p:val>
                                            <p:strVal val="1+#ppt_w/2"/>
                                          </p:val>
                                        </p:tav>
                                        <p:tav tm="100000">
                                          <p:val>
                                            <p:strVal val="#ppt_x"/>
                                          </p:val>
                                        </p:tav>
                                      </p:tavLst>
                                    </p:anim>
                                    <p:animEffect transition="in" filter="fade">
                                      <p:cBhvr>
                                        <p:cTn id="133" dur="500"/>
                                        <p:tgtEl>
                                          <p:spTgt spid="29"/>
                                        </p:tgtEl>
                                      </p:cBhvr>
                                    </p:animEffect>
                                  </p:childTnLst>
                                </p:cTn>
                              </p:par>
                            </p:childTnLst>
                          </p:cTn>
                        </p:par>
                        <p:par>
                          <p:cTn id="134" fill="hold">
                            <p:stCondLst>
                              <p:cond delay="2710"/>
                            </p:stCondLst>
                            <p:childTnLst>
                              <p:par>
                                <p:cTn id="135" presetID="2" presetClass="entr" presetSubtype="2"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ppt_x</p:attrName>
                                        </p:attrNameLst>
                                      </p:cBhvr>
                                      <p:tavLst>
                                        <p:tav tm="0">
                                          <p:val>
                                            <p:strVal val="1+#ppt_w/2"/>
                                          </p:val>
                                        </p:tav>
                                        <p:tav tm="100000">
                                          <p:val>
                                            <p:strVal val="#ppt_x"/>
                                          </p:val>
                                        </p:tav>
                                      </p:tavLst>
                                    </p:anim>
                                    <p:animEffect transition="in" filter="fade">
                                      <p:cBhvr>
                                        <p:cTn id="138" dur="500"/>
                                        <p:tgtEl>
                                          <p:spTgt spid="30"/>
                                        </p:tgtEl>
                                      </p:cBhvr>
                                    </p:animEffect>
                                  </p:childTnLst>
                                </p:cTn>
                              </p:par>
                            </p:childTnLst>
                          </p:cTn>
                        </p:par>
                        <p:par>
                          <p:cTn id="139" fill="hold">
                            <p:stCondLst>
                              <p:cond delay="2860"/>
                            </p:stCondLst>
                            <p:childTnLst>
                              <p:par>
                                <p:cTn id="140" presetID="2" presetClass="entr" presetSubtype="2"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 calcmode="lin" valueType="num">
                                      <p:cBhvr additive="base">
                                        <p:cTn id="142" dur="500" fill="hold"/>
                                        <p:tgtEl>
                                          <p:spTgt spid="31"/>
                                        </p:tgtEl>
                                        <p:attrNameLst>
                                          <p:attrName>ppt_x</p:attrName>
                                        </p:attrNameLst>
                                      </p:cBhvr>
                                      <p:tavLst>
                                        <p:tav tm="0">
                                          <p:val>
                                            <p:strVal val="1+#ppt_w/2"/>
                                          </p:val>
                                        </p:tav>
                                        <p:tav tm="100000">
                                          <p:val>
                                            <p:strVal val="#ppt_x"/>
                                          </p:val>
                                        </p:tav>
                                      </p:tavLst>
                                    </p:anim>
                                    <p:animEffect transition="in" filter="fade">
                                      <p:cBhvr>
                                        <p:cTn id="143" dur="500"/>
                                        <p:tgtEl>
                                          <p:spTgt spid="31"/>
                                        </p:tgtEl>
                                      </p:cBhvr>
                                    </p:animEffect>
                                  </p:childTnLst>
                                </p:cTn>
                              </p:par>
                            </p:childTnLst>
                          </p:cTn>
                        </p:par>
                        <p:par>
                          <p:cTn id="144" fill="hold">
                            <p:stCondLst>
                              <p:cond delay="3310"/>
                            </p:stCondLst>
                            <p:childTnLst>
                              <p:par>
                                <p:cTn id="145" presetID="2" presetClass="entr" presetSubtype="4" fill="hold" nodeType="withEffect">
                                  <p:stCondLst>
                                    <p:cond delay="0"/>
                                  </p:stCondLst>
                                  <p:childTnLst>
                                    <p:set>
                                      <p:cBhvr>
                                        <p:cTn id="146" dur="1" fill="hold">
                                          <p:stCondLst>
                                            <p:cond delay="0"/>
                                          </p:stCondLst>
                                        </p:cTn>
                                        <p:tgtEl>
                                          <p:spTgt spid="35"/>
                                        </p:tgtEl>
                                        <p:attrNameLst>
                                          <p:attrName>style.visibility</p:attrName>
                                        </p:attrNameLst>
                                      </p:cBhvr>
                                      <p:to>
                                        <p:strVal val="visible"/>
                                      </p:to>
                                    </p:set>
                                    <p:anim calcmode="lin" valueType="num">
                                      <p:cBhvr additive="base">
                                        <p:cTn id="147" dur="500" fill="hold"/>
                                        <p:tgtEl>
                                          <p:spTgt spid="35"/>
                                        </p:tgtEl>
                                        <p:attrNameLst>
                                          <p:attrName>ppt_y</p:attrName>
                                        </p:attrNameLst>
                                      </p:cBhvr>
                                      <p:tavLst>
                                        <p:tav tm="0">
                                          <p:val>
                                            <p:strVal val="1+#ppt_h/2"/>
                                          </p:val>
                                        </p:tav>
                                        <p:tav tm="100000">
                                          <p:val>
                                            <p:strVal val="#ppt_y"/>
                                          </p:val>
                                        </p:tav>
                                      </p:tavLst>
                                    </p:anim>
                                    <p:animEffect transition="in" filter="fade">
                                      <p:cBhvr>
                                        <p:cTn id="148" dur="500"/>
                                        <p:tgtEl>
                                          <p:spTgt spid="35"/>
                                        </p:tgtEl>
                                      </p:cBhvr>
                                    </p:animEffect>
                                  </p:childTnLst>
                                </p:cTn>
                              </p:par>
                            </p:childTnLst>
                          </p:cTn>
                        </p:par>
                        <p:par>
                          <p:cTn id="149" fill="hold">
                            <p:stCondLst>
                              <p:cond delay="3430"/>
                            </p:stCondLst>
                            <p:childTnLst>
                              <p:par>
                                <p:cTn id="150" presetID="2" presetClass="entr" presetSubtype="4" fill="hold" nodeType="withEffect">
                                  <p:stCondLst>
                                    <p:cond delay="0"/>
                                  </p:stCondLst>
                                  <p:childTnLst>
                                    <p:set>
                                      <p:cBhvr>
                                        <p:cTn id="151" dur="1" fill="hold">
                                          <p:stCondLst>
                                            <p:cond delay="0"/>
                                          </p:stCondLst>
                                        </p:cTn>
                                        <p:tgtEl>
                                          <p:spTgt spid="36"/>
                                        </p:tgtEl>
                                        <p:attrNameLst>
                                          <p:attrName>style.visibility</p:attrName>
                                        </p:attrNameLst>
                                      </p:cBhvr>
                                      <p:to>
                                        <p:strVal val="visible"/>
                                      </p:to>
                                    </p:set>
                                    <p:anim calcmode="lin" valueType="num">
                                      <p:cBhvr additive="base">
                                        <p:cTn id="152" dur="500" fill="hold"/>
                                        <p:tgtEl>
                                          <p:spTgt spid="36"/>
                                        </p:tgtEl>
                                        <p:attrNameLst>
                                          <p:attrName>ppt_y</p:attrName>
                                        </p:attrNameLst>
                                      </p:cBhvr>
                                      <p:tavLst>
                                        <p:tav tm="0">
                                          <p:val>
                                            <p:strVal val="1+#ppt_h/2"/>
                                          </p:val>
                                        </p:tav>
                                        <p:tav tm="100000">
                                          <p:val>
                                            <p:strVal val="#ppt_y"/>
                                          </p:val>
                                        </p:tav>
                                      </p:tavLst>
                                    </p:anim>
                                    <p:animEffect transition="in" filter="fade">
                                      <p:cBhvr>
                                        <p:cTn id="153" dur="500"/>
                                        <p:tgtEl>
                                          <p:spTgt spid="36"/>
                                        </p:tgtEl>
                                      </p:cBhvr>
                                    </p:animEffect>
                                  </p:childTnLst>
                                </p:cTn>
                              </p:par>
                            </p:childTnLst>
                          </p:cTn>
                        </p:par>
                        <p:par>
                          <p:cTn id="154" fill="hold">
                            <p:stCondLst>
                              <p:cond delay="3590"/>
                            </p:stCondLst>
                            <p:childTnLst>
                              <p:par>
                                <p:cTn id="155" presetID="2" presetClass="entr" presetSubtype="8" fill="hold" nodeType="withEffect">
                                  <p:stCondLst>
                                    <p:cond delay="0"/>
                                  </p:stCondLst>
                                  <p:childTnLst>
                                    <p:set>
                                      <p:cBhvr>
                                        <p:cTn id="156" dur="1" fill="hold">
                                          <p:stCondLst>
                                            <p:cond delay="0"/>
                                          </p:stCondLst>
                                        </p:cTn>
                                        <p:tgtEl>
                                          <p:spTgt spid="37"/>
                                        </p:tgtEl>
                                        <p:attrNameLst>
                                          <p:attrName>style.visibility</p:attrName>
                                        </p:attrNameLst>
                                      </p:cBhvr>
                                      <p:to>
                                        <p:strVal val="visible"/>
                                      </p:to>
                                    </p:set>
                                    <p:anim calcmode="lin" valueType="num">
                                      <p:cBhvr additive="base">
                                        <p:cTn id="157" dur="500" fill="hold"/>
                                        <p:tgtEl>
                                          <p:spTgt spid="37"/>
                                        </p:tgtEl>
                                        <p:attrNameLst>
                                          <p:attrName>ppt_x</p:attrName>
                                        </p:attrNameLst>
                                      </p:cBhvr>
                                      <p:tavLst>
                                        <p:tav tm="0">
                                          <p:val>
                                            <p:strVal val="0-#ppt_w/2"/>
                                          </p:val>
                                        </p:tav>
                                        <p:tav tm="100000">
                                          <p:val>
                                            <p:strVal val="#ppt_x"/>
                                          </p:val>
                                        </p:tav>
                                      </p:tavLst>
                                    </p:anim>
                                    <p:animEffect transition="in" filter="fade">
                                      <p:cBhvr>
                                        <p:cTn id="158" dur="500"/>
                                        <p:tgtEl>
                                          <p:spTgt spid="37"/>
                                        </p:tgtEl>
                                      </p:cBhvr>
                                    </p:animEffect>
                                  </p:childTnLst>
                                </p:cTn>
                              </p:par>
                            </p:childTnLst>
                          </p:cTn>
                        </p:par>
                        <p:par>
                          <p:cTn id="159" fill="hold">
                            <p:stCondLst>
                              <p:cond delay="3590"/>
                            </p:stCondLst>
                            <p:childTnLst>
                              <p:par>
                                <p:cTn id="160" presetID="2" presetClass="entr" presetSubtype="8" fill="hold" nodeType="withEffect">
                                  <p:stCondLst>
                                    <p:cond delay="0"/>
                                  </p:stCondLst>
                                  <p:childTnLst>
                                    <p:set>
                                      <p:cBhvr>
                                        <p:cTn id="161" dur="1" fill="hold">
                                          <p:stCondLst>
                                            <p:cond delay="0"/>
                                          </p:stCondLst>
                                        </p:cTn>
                                        <p:tgtEl>
                                          <p:spTgt spid="38"/>
                                        </p:tgtEl>
                                        <p:attrNameLst>
                                          <p:attrName>style.visibility</p:attrName>
                                        </p:attrNameLst>
                                      </p:cBhvr>
                                      <p:to>
                                        <p:strVal val="visible"/>
                                      </p:to>
                                    </p:set>
                                    <p:anim calcmode="lin" valueType="num">
                                      <p:cBhvr additive="base">
                                        <p:cTn id="162" dur="500" fill="hold"/>
                                        <p:tgtEl>
                                          <p:spTgt spid="38"/>
                                        </p:tgtEl>
                                        <p:attrNameLst>
                                          <p:attrName>ppt_x</p:attrName>
                                        </p:attrNameLst>
                                      </p:cBhvr>
                                      <p:tavLst>
                                        <p:tav tm="0">
                                          <p:val>
                                            <p:strVal val="0-#ppt_w/2"/>
                                          </p:val>
                                        </p:tav>
                                        <p:tav tm="100000">
                                          <p:val>
                                            <p:strVal val="#ppt_x"/>
                                          </p:val>
                                        </p:tav>
                                      </p:tavLst>
                                    </p:anim>
                                    <p:animEffect transition="in" filter="fade">
                                      <p:cBhvr>
                                        <p:cTn id="163" dur="500"/>
                                        <p:tgtEl>
                                          <p:spTgt spid="38"/>
                                        </p:tgtEl>
                                      </p:cBhvr>
                                    </p:animEffect>
                                  </p:childTnLst>
                                </p:cTn>
                              </p:par>
                            </p:childTnLst>
                          </p:cTn>
                        </p:par>
                        <p:par>
                          <p:cTn id="164" fill="hold">
                            <p:stCondLst>
                              <p:cond delay="3810"/>
                            </p:stCondLst>
                            <p:childTnLst>
                              <p:par>
                                <p:cTn id="165" presetID="2" presetClass="entr" presetSubtype="8" fill="hold" nodeType="withEffect">
                                  <p:stCondLst>
                                    <p:cond delay="0"/>
                                  </p:stCondLst>
                                  <p:childTnLst>
                                    <p:set>
                                      <p:cBhvr>
                                        <p:cTn id="166" dur="1" fill="hold">
                                          <p:stCondLst>
                                            <p:cond delay="0"/>
                                          </p:stCondLst>
                                        </p:cTn>
                                        <p:tgtEl>
                                          <p:spTgt spid="39"/>
                                        </p:tgtEl>
                                        <p:attrNameLst>
                                          <p:attrName>style.visibility</p:attrName>
                                        </p:attrNameLst>
                                      </p:cBhvr>
                                      <p:to>
                                        <p:strVal val="visible"/>
                                      </p:to>
                                    </p:set>
                                    <p:anim calcmode="lin" valueType="num">
                                      <p:cBhvr additive="base">
                                        <p:cTn id="167" dur="500" fill="hold"/>
                                        <p:tgtEl>
                                          <p:spTgt spid="39"/>
                                        </p:tgtEl>
                                        <p:attrNameLst>
                                          <p:attrName>ppt_x</p:attrName>
                                        </p:attrNameLst>
                                      </p:cBhvr>
                                      <p:tavLst>
                                        <p:tav tm="0">
                                          <p:val>
                                            <p:strVal val="0-#ppt_w/2"/>
                                          </p:val>
                                        </p:tav>
                                        <p:tav tm="100000">
                                          <p:val>
                                            <p:strVal val="#ppt_x"/>
                                          </p:val>
                                        </p:tav>
                                      </p:tavLst>
                                    </p:anim>
                                    <p:animEffect transition="in" filter="fade">
                                      <p:cBhvr>
                                        <p:cTn id="168" dur="500"/>
                                        <p:tgtEl>
                                          <p:spTgt spid="39"/>
                                        </p:tgtEl>
                                      </p:cBhvr>
                                    </p:animEffect>
                                  </p:childTnLst>
                                </p:cTn>
                              </p:par>
                            </p:childTnLst>
                          </p:cTn>
                        </p:par>
                        <p:par>
                          <p:cTn id="169" fill="hold">
                            <p:stCondLst>
                              <p:cond delay="3810"/>
                            </p:stCondLst>
                            <p:childTnLst>
                              <p:par>
                                <p:cTn id="170" presetID="2" presetClass="entr" presetSubtype="8" fill="hold" nodeType="withEffect">
                                  <p:stCondLst>
                                    <p:cond delay="0"/>
                                  </p:stCondLst>
                                  <p:childTnLst>
                                    <p:set>
                                      <p:cBhvr>
                                        <p:cTn id="171" dur="1" fill="hold">
                                          <p:stCondLst>
                                            <p:cond delay="0"/>
                                          </p:stCondLst>
                                        </p:cTn>
                                        <p:tgtEl>
                                          <p:spTgt spid="40"/>
                                        </p:tgtEl>
                                        <p:attrNameLst>
                                          <p:attrName>style.visibility</p:attrName>
                                        </p:attrNameLst>
                                      </p:cBhvr>
                                      <p:to>
                                        <p:strVal val="visible"/>
                                      </p:to>
                                    </p:set>
                                    <p:anim calcmode="lin" valueType="num">
                                      <p:cBhvr additive="base">
                                        <p:cTn id="172" dur="500" fill="hold"/>
                                        <p:tgtEl>
                                          <p:spTgt spid="40"/>
                                        </p:tgtEl>
                                        <p:attrNameLst>
                                          <p:attrName>ppt_x</p:attrName>
                                        </p:attrNameLst>
                                      </p:cBhvr>
                                      <p:tavLst>
                                        <p:tav tm="0">
                                          <p:val>
                                            <p:strVal val="0-#ppt_w/2"/>
                                          </p:val>
                                        </p:tav>
                                        <p:tav tm="100000">
                                          <p:val>
                                            <p:strVal val="#ppt_x"/>
                                          </p:val>
                                        </p:tav>
                                      </p:tavLst>
                                    </p:anim>
                                    <p:animEffect transition="in" filter="fade">
                                      <p:cBhvr>
                                        <p:cTn id="173" dur="500"/>
                                        <p:tgtEl>
                                          <p:spTgt spid="40"/>
                                        </p:tgtEl>
                                      </p:cBhvr>
                                    </p:animEffect>
                                  </p:childTnLst>
                                </p:cTn>
                              </p:par>
                            </p:childTnLst>
                          </p:cTn>
                        </p:par>
                        <p:par>
                          <p:cTn id="174" fill="hold">
                            <p:stCondLst>
                              <p:cond delay="4030"/>
                            </p:stCondLst>
                            <p:childTnLst>
                              <p:par>
                                <p:cTn id="175" presetID="2" presetClass="entr" presetSubtype="8" fill="hold" nodeType="withEffect">
                                  <p:stCondLst>
                                    <p:cond delay="0"/>
                                  </p:stCondLst>
                                  <p:childTnLst>
                                    <p:set>
                                      <p:cBhvr>
                                        <p:cTn id="176" dur="1" fill="hold">
                                          <p:stCondLst>
                                            <p:cond delay="0"/>
                                          </p:stCondLst>
                                        </p:cTn>
                                        <p:tgtEl>
                                          <p:spTgt spid="41"/>
                                        </p:tgtEl>
                                        <p:attrNameLst>
                                          <p:attrName>style.visibility</p:attrName>
                                        </p:attrNameLst>
                                      </p:cBhvr>
                                      <p:to>
                                        <p:strVal val="visible"/>
                                      </p:to>
                                    </p:set>
                                    <p:anim calcmode="lin" valueType="num">
                                      <p:cBhvr additive="base">
                                        <p:cTn id="177" dur="500" fill="hold"/>
                                        <p:tgtEl>
                                          <p:spTgt spid="41"/>
                                        </p:tgtEl>
                                        <p:attrNameLst>
                                          <p:attrName>ppt_x</p:attrName>
                                        </p:attrNameLst>
                                      </p:cBhvr>
                                      <p:tavLst>
                                        <p:tav tm="0">
                                          <p:val>
                                            <p:strVal val="0-#ppt_w/2"/>
                                          </p:val>
                                        </p:tav>
                                        <p:tav tm="100000">
                                          <p:val>
                                            <p:strVal val="#ppt_x"/>
                                          </p:val>
                                        </p:tav>
                                      </p:tavLst>
                                    </p:anim>
                                    <p:animEffect transition="in" filter="fade">
                                      <p:cBhvr>
                                        <p:cTn id="178" dur="500"/>
                                        <p:tgtEl>
                                          <p:spTgt spid="41"/>
                                        </p:tgtEl>
                                      </p:cBhvr>
                                    </p:animEffect>
                                  </p:childTnLst>
                                </p:cTn>
                              </p:par>
                            </p:childTnLst>
                          </p:cTn>
                        </p:par>
                        <p:par>
                          <p:cTn id="179" fill="hold">
                            <p:stCondLst>
                              <p:cond delay="4030"/>
                            </p:stCondLst>
                            <p:childTnLst>
                              <p:par>
                                <p:cTn id="180" presetID="2" presetClass="entr" presetSubtype="8" fill="hold" nodeType="withEffect">
                                  <p:stCondLst>
                                    <p:cond delay="0"/>
                                  </p:stCondLst>
                                  <p:childTnLst>
                                    <p:set>
                                      <p:cBhvr>
                                        <p:cTn id="181" dur="1" fill="hold">
                                          <p:stCondLst>
                                            <p:cond delay="0"/>
                                          </p:stCondLst>
                                        </p:cTn>
                                        <p:tgtEl>
                                          <p:spTgt spid="42"/>
                                        </p:tgtEl>
                                        <p:attrNameLst>
                                          <p:attrName>style.visibility</p:attrName>
                                        </p:attrNameLst>
                                      </p:cBhvr>
                                      <p:to>
                                        <p:strVal val="visible"/>
                                      </p:to>
                                    </p:set>
                                    <p:anim calcmode="lin" valueType="num">
                                      <p:cBhvr additive="base">
                                        <p:cTn id="182" dur="500" fill="hold"/>
                                        <p:tgtEl>
                                          <p:spTgt spid="42"/>
                                        </p:tgtEl>
                                        <p:attrNameLst>
                                          <p:attrName>ppt_x</p:attrName>
                                        </p:attrNameLst>
                                      </p:cBhvr>
                                      <p:tavLst>
                                        <p:tav tm="0">
                                          <p:val>
                                            <p:strVal val="0-#ppt_w/2"/>
                                          </p:val>
                                        </p:tav>
                                        <p:tav tm="100000">
                                          <p:val>
                                            <p:strVal val="#ppt_x"/>
                                          </p:val>
                                        </p:tav>
                                      </p:tavLst>
                                    </p:anim>
                                    <p:animEffect transition="in" filter="fade">
                                      <p:cBhvr>
                                        <p:cTn id="183" dur="500"/>
                                        <p:tgtEl>
                                          <p:spTgt spid="42"/>
                                        </p:tgtEl>
                                      </p:cBhvr>
                                    </p:animEffect>
                                  </p:childTnLst>
                                </p:cTn>
                              </p:par>
                            </p:childTnLst>
                          </p:cTn>
                        </p:par>
                        <p:par>
                          <p:cTn id="184" fill="hold">
                            <p:stCondLst>
                              <p:cond delay="4410"/>
                            </p:stCondLst>
                            <p:childTnLst>
                              <p:par>
                                <p:cTn id="185" presetID="2" presetClass="entr" presetSubtype="4" fill="hold" nodeType="withEffect">
                                  <p:stCondLst>
                                    <p:cond delay="0"/>
                                  </p:stCondLst>
                                  <p:childTnLst>
                                    <p:set>
                                      <p:cBhvr>
                                        <p:cTn id="186" dur="1" fill="hold">
                                          <p:stCondLst>
                                            <p:cond delay="0"/>
                                          </p:stCondLst>
                                        </p:cTn>
                                        <p:tgtEl>
                                          <p:spTgt spid="43"/>
                                        </p:tgtEl>
                                        <p:attrNameLst>
                                          <p:attrName>style.visibility</p:attrName>
                                        </p:attrNameLst>
                                      </p:cBhvr>
                                      <p:to>
                                        <p:strVal val="visible"/>
                                      </p:to>
                                    </p:set>
                                    <p:anim calcmode="lin" valueType="num">
                                      <p:cBhvr additive="base">
                                        <p:cTn id="187" dur="500" fill="hold"/>
                                        <p:tgtEl>
                                          <p:spTgt spid="43"/>
                                        </p:tgtEl>
                                        <p:attrNameLst>
                                          <p:attrName>ppt_y</p:attrName>
                                        </p:attrNameLst>
                                      </p:cBhvr>
                                      <p:tavLst>
                                        <p:tav tm="0">
                                          <p:val>
                                            <p:strVal val="1+#ppt_h/2"/>
                                          </p:val>
                                        </p:tav>
                                        <p:tav tm="100000">
                                          <p:val>
                                            <p:strVal val="#ppt_y"/>
                                          </p:val>
                                        </p:tav>
                                      </p:tavLst>
                                    </p:anim>
                                    <p:animEffect transition="in" filter="fade">
                                      <p:cBhvr>
                                        <p:cTn id="188" dur="500"/>
                                        <p:tgtEl>
                                          <p:spTgt spid="43"/>
                                        </p:tgtEl>
                                      </p:cBhvr>
                                    </p:animEffect>
                                  </p:childTnLst>
                                </p:cTn>
                              </p:par>
                            </p:childTnLst>
                          </p:cTn>
                        </p:par>
                        <p:par>
                          <p:cTn id="189" fill="hold">
                            <p:stCondLst>
                              <p:cond delay="4710"/>
                            </p:stCondLst>
                            <p:childTnLst>
                              <p:par>
                                <p:cTn id="190" presetID="2" presetClass="entr" presetSubtype="4" fill="hold" nodeType="withEffect">
                                  <p:stCondLst>
                                    <p:cond delay="0"/>
                                  </p:stCondLst>
                                  <p:childTnLst>
                                    <p:set>
                                      <p:cBhvr>
                                        <p:cTn id="191" dur="1" fill="hold">
                                          <p:stCondLst>
                                            <p:cond delay="0"/>
                                          </p:stCondLst>
                                        </p:cTn>
                                        <p:tgtEl>
                                          <p:spTgt spid="44"/>
                                        </p:tgtEl>
                                        <p:attrNameLst>
                                          <p:attrName>style.visibility</p:attrName>
                                        </p:attrNameLst>
                                      </p:cBhvr>
                                      <p:to>
                                        <p:strVal val="visible"/>
                                      </p:to>
                                    </p:set>
                                    <p:anim calcmode="lin" valueType="num">
                                      <p:cBhvr additive="base">
                                        <p:cTn id="192" dur="500" fill="hold"/>
                                        <p:tgtEl>
                                          <p:spTgt spid="44"/>
                                        </p:tgtEl>
                                        <p:attrNameLst>
                                          <p:attrName>ppt_y</p:attrName>
                                        </p:attrNameLst>
                                      </p:cBhvr>
                                      <p:tavLst>
                                        <p:tav tm="0">
                                          <p:val>
                                            <p:strVal val="1+#ppt_h/2"/>
                                          </p:val>
                                        </p:tav>
                                        <p:tav tm="100000">
                                          <p:val>
                                            <p:strVal val="#ppt_y"/>
                                          </p:val>
                                        </p:tav>
                                      </p:tavLst>
                                    </p:anim>
                                    <p:animEffect transition="in" filter="fade">
                                      <p:cBhvr>
                                        <p:cTn id="193" dur="500"/>
                                        <p:tgtEl>
                                          <p:spTgt spid="44"/>
                                        </p:tgtEl>
                                      </p:cBhvr>
                                    </p:animEffect>
                                  </p:childTnLst>
                                </p:cTn>
                              </p:par>
                            </p:childTnLst>
                          </p:cTn>
                        </p:par>
                        <p:par>
                          <p:cTn id="194" fill="hold">
                            <p:stCondLst>
                              <p:cond delay="4860"/>
                            </p:stCondLst>
                            <p:childTnLst>
                              <p:par>
                                <p:cTn id="195" presetID="2" presetClass="entr" presetSubtype="4" fill="hold" nodeType="withEffect">
                                  <p:stCondLst>
                                    <p:cond delay="0"/>
                                  </p:stCondLst>
                                  <p:childTnLst>
                                    <p:set>
                                      <p:cBhvr>
                                        <p:cTn id="196" dur="1" fill="hold">
                                          <p:stCondLst>
                                            <p:cond delay="0"/>
                                          </p:stCondLst>
                                        </p:cTn>
                                        <p:tgtEl>
                                          <p:spTgt spid="45"/>
                                        </p:tgtEl>
                                        <p:attrNameLst>
                                          <p:attrName>style.visibility</p:attrName>
                                        </p:attrNameLst>
                                      </p:cBhvr>
                                      <p:to>
                                        <p:strVal val="visible"/>
                                      </p:to>
                                    </p:set>
                                    <p:anim calcmode="lin" valueType="num">
                                      <p:cBhvr additive="base">
                                        <p:cTn id="197" dur="500" fill="hold"/>
                                        <p:tgtEl>
                                          <p:spTgt spid="45"/>
                                        </p:tgtEl>
                                        <p:attrNameLst>
                                          <p:attrName>ppt_y</p:attrName>
                                        </p:attrNameLst>
                                      </p:cBhvr>
                                      <p:tavLst>
                                        <p:tav tm="0">
                                          <p:val>
                                            <p:strVal val="1+#ppt_h/2"/>
                                          </p:val>
                                        </p:tav>
                                        <p:tav tm="100000">
                                          <p:val>
                                            <p:strVal val="#ppt_y"/>
                                          </p:val>
                                        </p:tav>
                                      </p:tavLst>
                                    </p:anim>
                                    <p:animEffect transition="in" filter="fade">
                                      <p:cBhvr>
                                        <p:cTn id="19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9184"/>
            <a:ext cx="58521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14   —   THE SIMULATION MODEL</a:t>
            </a:r>
            <a:endParaRPr lang="en-US" sz="850" dirty="0"/>
          </a:p>
        </p:txBody>
      </p:sp>
      <p:sp>
        <p:nvSpPr>
          <p:cNvPr id="3" name="Text 1"/>
          <p:cNvSpPr/>
          <p:nvPr/>
        </p:nvSpPr>
        <p:spPr>
          <a:xfrm>
            <a:off x="640080" y="502920"/>
            <a:ext cx="7863840" cy="347472"/>
          </a:xfrm>
          <a:prstGeom prst="rect">
            <a:avLst/>
          </a:prstGeom>
          <a:noFill/>
          <a:ln/>
        </p:spPr>
        <p:txBody>
          <a:bodyPr wrap="square" lIns="0" tIns="0" rIns="0" bIns="0" rtlCol="0" anchor="t"/>
          <a:lstStyle/>
          <a:p>
            <a:pPr marL="0" indent="0">
              <a:buNone/>
            </a:pPr>
            <a:r>
              <a:rPr lang="en-US" sz="2300" b="1" dirty="0">
                <a:solidFill>
                  <a:srgbClr val="10243A"/>
                </a:solidFill>
                <a:latin typeface="Calibri" pitchFamily="34" charset="0"/>
                <a:ea typeface="Calibri" pitchFamily="34" charset="-122"/>
                <a:cs typeface="Calibri" pitchFamily="34" charset="-120"/>
              </a:rPr>
              <a:t>The whole system </a:t>
            </a:r>
            <a:r>
              <a:rPr lang="en-US" sz="2300" b="1" dirty="0">
                <a:solidFill>
                  <a:srgbClr val="0B63CE"/>
                </a:solidFill>
                <a:latin typeface="Calibri" pitchFamily="34" charset="0"/>
                <a:ea typeface="Calibri" pitchFamily="34" charset="-122"/>
                <a:cs typeface="Calibri" pitchFamily="34" charset="-120"/>
              </a:rPr>
              <a:t>on one canvas</a:t>
            </a:r>
            <a:endParaRPr lang="en-US" sz="2300" dirty="0"/>
          </a:p>
        </p:txBody>
      </p:sp>
      <p:sp>
        <p:nvSpPr>
          <p:cNvPr id="4" name="canvas"/>
          <p:cNvSpPr/>
          <p:nvPr/>
        </p:nvSpPr>
        <p:spPr>
          <a:xfrm>
            <a:off x="640080" y="914400"/>
            <a:ext cx="5394960" cy="3310128"/>
          </a:xfrm>
          <a:prstGeom prst="roundRect">
            <a:avLst>
              <a:gd name="adj" fmla="val 1657"/>
            </a:avLst>
          </a:prstGeom>
          <a:solidFill>
            <a:srgbClr val="FCFDFE"/>
          </a:solidFill>
          <a:ln w="11430">
            <a:solidFill>
              <a:srgbClr val="E3E9EF"/>
            </a:solidFill>
            <a:prstDash val="solid"/>
          </a:ln>
        </p:spPr>
        <p:txBody>
          <a:bodyPr/>
          <a:lstStyle/>
          <a:p>
            <a:endParaRPr lang="en-US"/>
          </a:p>
        </p:txBody>
      </p:sp>
      <p:sp>
        <p:nvSpPr>
          <p:cNvPr id="5" name="canvas_h"/>
          <p:cNvSpPr/>
          <p:nvPr/>
        </p:nvSpPr>
        <p:spPr>
          <a:xfrm>
            <a:off x="768096" y="969264"/>
            <a:ext cx="2377440" cy="146304"/>
          </a:xfrm>
          <a:prstGeom prst="rect">
            <a:avLst/>
          </a:prstGeom>
          <a:noFill/>
          <a:ln/>
        </p:spPr>
        <p:txBody>
          <a:bodyPr wrap="square" lIns="0" tIns="0" rIns="0" bIns="0" rtlCol="0" anchor="ctr"/>
          <a:lstStyle/>
          <a:p>
            <a:pPr marL="0" indent="0">
              <a:buNone/>
            </a:pPr>
            <a:r>
              <a:rPr lang="en-US" sz="640" b="1" kern="0" spc="80" dirty="0">
                <a:solidFill>
                  <a:srgbClr val="8FA1B2"/>
                </a:solidFill>
                <a:latin typeface="Consolas" pitchFamily="34" charset="0"/>
                <a:ea typeface="Consolas" pitchFamily="34" charset="-122"/>
                <a:cs typeface="Consolas" pitchFamily="34" charset="-120"/>
              </a:rPr>
              <a:t>MODEL  ·  root:Simulation</a:t>
            </a:r>
            <a:endParaRPr lang="en-US" sz="640" dirty="0"/>
          </a:p>
        </p:txBody>
      </p:sp>
      <p:sp>
        <p:nvSpPr>
          <p:cNvPr id="6" name="clockbox"/>
          <p:cNvSpPr/>
          <p:nvPr/>
        </p:nvSpPr>
        <p:spPr>
          <a:xfrm>
            <a:off x="5047488" y="960120"/>
            <a:ext cx="896112" cy="182880"/>
          </a:xfrm>
          <a:prstGeom prst="roundRect">
            <a:avLst>
              <a:gd name="adj" fmla="val 20000"/>
            </a:avLst>
          </a:prstGeom>
          <a:solidFill>
            <a:srgbClr val="E0F4F2"/>
          </a:solidFill>
          <a:ln w="7620">
            <a:solidFill>
              <a:srgbClr val="A9E0DA"/>
            </a:solidFill>
            <a:prstDash val="solid"/>
          </a:ln>
        </p:spPr>
        <p:txBody>
          <a:bodyPr/>
          <a:lstStyle/>
          <a:p>
            <a:endParaRPr lang="en-US"/>
          </a:p>
        </p:txBody>
      </p:sp>
      <p:sp>
        <p:nvSpPr>
          <p:cNvPr id="7" name="clocktxt"/>
          <p:cNvSpPr/>
          <p:nvPr/>
        </p:nvSpPr>
        <p:spPr>
          <a:xfrm>
            <a:off x="5047488" y="960120"/>
            <a:ext cx="896112" cy="182880"/>
          </a:xfrm>
          <a:prstGeom prst="rect">
            <a:avLst/>
          </a:prstGeom>
          <a:noFill/>
          <a:ln/>
        </p:spPr>
        <p:txBody>
          <a:bodyPr wrap="square" lIns="0" tIns="0" rIns="0" bIns="0" rtlCol="0" anchor="ctr"/>
          <a:lstStyle/>
          <a:p>
            <a:pPr marL="0" indent="0" algn="ctr">
              <a:buNone/>
            </a:pPr>
            <a:r>
              <a:rPr lang="en-US" sz="660" b="1" dirty="0">
                <a:solidFill>
                  <a:srgbClr val="0C8C83"/>
                </a:solidFill>
                <a:latin typeface="Consolas" pitchFamily="34" charset="0"/>
                <a:ea typeface="Consolas" pitchFamily="34" charset="-122"/>
                <a:cs typeface="Consolas" pitchFamily="34" charset="-120"/>
              </a:rPr>
              <a:t>10,000 runs</a:t>
            </a:r>
            <a:endParaRPr lang="en-US" sz="660" dirty="0"/>
          </a:p>
        </p:txBody>
      </p:sp>
      <p:sp>
        <p:nvSpPr>
          <p:cNvPr id="8" name="par_0"/>
          <p:cNvSpPr/>
          <p:nvPr/>
        </p:nvSpPr>
        <p:spPr>
          <a:xfrm>
            <a:off x="768096" y="1298448"/>
            <a:ext cx="566928" cy="402336"/>
          </a:xfrm>
          <a:prstGeom prst="roundRect">
            <a:avLst>
              <a:gd name="adj" fmla="val 11364"/>
            </a:avLst>
          </a:prstGeom>
          <a:solidFill>
            <a:srgbClr val="FFFFFF"/>
          </a:solidFill>
          <a:ln w="10160">
            <a:solidFill>
              <a:srgbClr val="0C8C83"/>
            </a:solidFill>
            <a:prstDash val="dash"/>
          </a:ln>
        </p:spPr>
        <p:txBody>
          <a:bodyPr/>
          <a:lstStyle/>
          <a:p>
            <a:endParaRPr lang="en-US"/>
          </a:p>
        </p:txBody>
      </p:sp>
      <p:sp>
        <p:nvSpPr>
          <p:cNvPr id="9" name="park_0"/>
          <p:cNvSpPr/>
          <p:nvPr/>
        </p:nvSpPr>
        <p:spPr>
          <a:xfrm>
            <a:off x="768096" y="1335024"/>
            <a:ext cx="566928" cy="137160"/>
          </a:xfrm>
          <a:prstGeom prst="rect">
            <a:avLst/>
          </a:prstGeom>
          <a:noFill/>
          <a:ln/>
        </p:spPr>
        <p:txBody>
          <a:bodyPr wrap="square" lIns="0" tIns="0" rIns="0" bIns="0" rtlCol="0" anchor="ctr"/>
          <a:lstStyle/>
          <a:p>
            <a:pPr marL="0" indent="0" algn="ctr">
              <a:buNone/>
            </a:pPr>
            <a:r>
              <a:rPr lang="en-US" sz="580" dirty="0">
                <a:solidFill>
                  <a:srgbClr val="8FA1B2"/>
                </a:solidFill>
                <a:latin typeface="Calibri" pitchFamily="34" charset="0"/>
                <a:ea typeface="Calibri" pitchFamily="34" charset="-122"/>
                <a:cs typeface="Calibri" pitchFamily="34" charset="-120"/>
              </a:rPr>
              <a:t>uplift</a:t>
            </a:r>
            <a:endParaRPr lang="en-US" sz="580" dirty="0"/>
          </a:p>
        </p:txBody>
      </p:sp>
      <p:sp>
        <p:nvSpPr>
          <p:cNvPr id="10" name="parv_0"/>
          <p:cNvSpPr/>
          <p:nvPr/>
        </p:nvSpPr>
        <p:spPr>
          <a:xfrm>
            <a:off x="768096" y="1463040"/>
            <a:ext cx="566928" cy="182880"/>
          </a:xfrm>
          <a:prstGeom prst="rect">
            <a:avLst/>
          </a:prstGeom>
          <a:noFill/>
          <a:ln/>
        </p:spPr>
        <p:txBody>
          <a:bodyPr wrap="square" lIns="0" tIns="0" rIns="0" bIns="0" rtlCol="0" anchor="ctr"/>
          <a:lstStyle/>
          <a:p>
            <a:pPr marL="0" indent="0" algn="ctr">
              <a:buNone/>
            </a:pPr>
            <a:r>
              <a:rPr lang="en-US" sz="900" b="1" dirty="0">
                <a:solidFill>
                  <a:srgbClr val="0C8C83"/>
                </a:solidFill>
                <a:latin typeface="Calibri" pitchFamily="34" charset="0"/>
                <a:ea typeface="Calibri" pitchFamily="34" charset="-122"/>
                <a:cs typeface="Calibri" pitchFamily="34" charset="-120"/>
              </a:rPr>
              <a:t>2.6×</a:t>
            </a:r>
            <a:endParaRPr lang="en-US" sz="900" dirty="0"/>
          </a:p>
        </p:txBody>
      </p:sp>
      <p:sp>
        <p:nvSpPr>
          <p:cNvPr id="11" name="par_1"/>
          <p:cNvSpPr/>
          <p:nvPr/>
        </p:nvSpPr>
        <p:spPr>
          <a:xfrm>
            <a:off x="768096" y="1865376"/>
            <a:ext cx="566928" cy="402336"/>
          </a:xfrm>
          <a:prstGeom prst="roundRect">
            <a:avLst>
              <a:gd name="adj" fmla="val 11364"/>
            </a:avLst>
          </a:prstGeom>
          <a:solidFill>
            <a:srgbClr val="FFFFFF"/>
          </a:solidFill>
          <a:ln w="10160">
            <a:solidFill>
              <a:srgbClr val="0B63CE"/>
            </a:solidFill>
            <a:prstDash val="dash"/>
          </a:ln>
        </p:spPr>
        <p:txBody>
          <a:bodyPr/>
          <a:lstStyle/>
          <a:p>
            <a:endParaRPr lang="en-US"/>
          </a:p>
        </p:txBody>
      </p:sp>
      <p:sp>
        <p:nvSpPr>
          <p:cNvPr id="12" name="park_1"/>
          <p:cNvSpPr/>
          <p:nvPr/>
        </p:nvSpPr>
        <p:spPr>
          <a:xfrm>
            <a:off x="768096" y="1901952"/>
            <a:ext cx="566928" cy="137160"/>
          </a:xfrm>
          <a:prstGeom prst="rect">
            <a:avLst/>
          </a:prstGeom>
          <a:noFill/>
          <a:ln/>
        </p:spPr>
        <p:txBody>
          <a:bodyPr wrap="square" lIns="0" tIns="0" rIns="0" bIns="0" rtlCol="0" anchor="ctr"/>
          <a:lstStyle/>
          <a:p>
            <a:pPr marL="0" indent="0" algn="ctr">
              <a:buNone/>
            </a:pPr>
            <a:r>
              <a:rPr lang="en-US" sz="580" dirty="0">
                <a:solidFill>
                  <a:srgbClr val="8FA1B2"/>
                </a:solidFill>
                <a:latin typeface="Calibri" pitchFamily="34" charset="0"/>
                <a:ea typeface="Calibri" pitchFamily="34" charset="-122"/>
                <a:cs typeface="Calibri" pitchFamily="34" charset="-120"/>
              </a:rPr>
              <a:t>success</a:t>
            </a:r>
            <a:endParaRPr lang="en-US" sz="580" dirty="0"/>
          </a:p>
        </p:txBody>
      </p:sp>
      <p:sp>
        <p:nvSpPr>
          <p:cNvPr id="13" name="parv_1"/>
          <p:cNvSpPr/>
          <p:nvPr/>
        </p:nvSpPr>
        <p:spPr>
          <a:xfrm>
            <a:off x="768096" y="2029968"/>
            <a:ext cx="566928" cy="182880"/>
          </a:xfrm>
          <a:prstGeom prst="rect">
            <a:avLst/>
          </a:prstGeom>
          <a:noFill/>
          <a:ln/>
        </p:spPr>
        <p:txBody>
          <a:bodyPr wrap="square" lIns="0" tIns="0" rIns="0" bIns="0" rtlCol="0" anchor="ctr"/>
          <a:lstStyle/>
          <a:p>
            <a:pPr marL="0" indent="0" algn="ctr">
              <a:buNone/>
            </a:pPr>
            <a:r>
              <a:rPr lang="en-US" sz="900" b="1" dirty="0">
                <a:solidFill>
                  <a:srgbClr val="0B63CE"/>
                </a:solidFill>
                <a:latin typeface="Calibri" pitchFamily="34" charset="0"/>
                <a:ea typeface="Calibri" pitchFamily="34" charset="-122"/>
                <a:cs typeface="Calibri" pitchFamily="34" charset="-120"/>
              </a:rPr>
              <a:t>6%</a:t>
            </a:r>
            <a:endParaRPr lang="en-US" sz="900" dirty="0"/>
          </a:p>
        </p:txBody>
      </p:sp>
      <p:sp>
        <p:nvSpPr>
          <p:cNvPr id="14" name="par_2"/>
          <p:cNvSpPr/>
          <p:nvPr/>
        </p:nvSpPr>
        <p:spPr>
          <a:xfrm>
            <a:off x="768096" y="2432304"/>
            <a:ext cx="566928" cy="402336"/>
          </a:xfrm>
          <a:prstGeom prst="roundRect">
            <a:avLst>
              <a:gd name="adj" fmla="val 11364"/>
            </a:avLst>
          </a:prstGeom>
          <a:solidFill>
            <a:srgbClr val="FFFFFF"/>
          </a:solidFill>
          <a:ln w="10160">
            <a:solidFill>
              <a:srgbClr val="0B63CE"/>
            </a:solidFill>
            <a:prstDash val="dash"/>
          </a:ln>
        </p:spPr>
        <p:txBody>
          <a:bodyPr/>
          <a:lstStyle/>
          <a:p>
            <a:endParaRPr lang="en-US"/>
          </a:p>
        </p:txBody>
      </p:sp>
      <p:sp>
        <p:nvSpPr>
          <p:cNvPr id="15" name="park_2"/>
          <p:cNvSpPr/>
          <p:nvPr/>
        </p:nvSpPr>
        <p:spPr>
          <a:xfrm>
            <a:off x="768096" y="2468880"/>
            <a:ext cx="566928" cy="137160"/>
          </a:xfrm>
          <a:prstGeom prst="rect">
            <a:avLst/>
          </a:prstGeom>
          <a:noFill/>
          <a:ln/>
        </p:spPr>
        <p:txBody>
          <a:bodyPr wrap="square" lIns="0" tIns="0" rIns="0" bIns="0" rtlCol="0" anchor="ctr"/>
          <a:lstStyle/>
          <a:p>
            <a:pPr marL="0" indent="0" algn="ctr">
              <a:buNone/>
            </a:pPr>
            <a:r>
              <a:rPr lang="en-US" sz="580" dirty="0">
                <a:solidFill>
                  <a:srgbClr val="8FA1B2"/>
                </a:solidFill>
                <a:latin typeface="Calibri" pitchFamily="34" charset="0"/>
                <a:ea typeface="Calibri" pitchFamily="34" charset="-122"/>
                <a:cs typeface="Calibri" pitchFamily="34" charset="-120"/>
              </a:rPr>
              <a:t>budget</a:t>
            </a:r>
            <a:endParaRPr lang="en-US" sz="580" dirty="0"/>
          </a:p>
        </p:txBody>
      </p:sp>
      <p:sp>
        <p:nvSpPr>
          <p:cNvPr id="16" name="parv_2"/>
          <p:cNvSpPr/>
          <p:nvPr/>
        </p:nvSpPr>
        <p:spPr>
          <a:xfrm>
            <a:off x="768096" y="2596896"/>
            <a:ext cx="566928" cy="182880"/>
          </a:xfrm>
          <a:prstGeom prst="rect">
            <a:avLst/>
          </a:prstGeom>
          <a:noFill/>
          <a:ln/>
        </p:spPr>
        <p:txBody>
          <a:bodyPr wrap="square" lIns="0" tIns="0" rIns="0" bIns="0" rtlCol="0" anchor="ctr"/>
          <a:lstStyle/>
          <a:p>
            <a:pPr marL="0" indent="0" algn="ctr">
              <a:buNone/>
            </a:pPr>
            <a:r>
              <a:rPr lang="en-US" sz="900" b="1" dirty="0">
                <a:solidFill>
                  <a:srgbClr val="0B63CE"/>
                </a:solidFill>
                <a:latin typeface="Calibri" pitchFamily="34" charset="0"/>
                <a:ea typeface="Calibri" pitchFamily="34" charset="-122"/>
                <a:cs typeface="Calibri" pitchFamily="34" charset="-120"/>
              </a:rPr>
              <a:t>$1bn</a:t>
            </a:r>
            <a:endParaRPr lang="en-US" sz="900" dirty="0"/>
          </a:p>
        </p:txBody>
      </p:sp>
      <p:sp>
        <p:nvSpPr>
          <p:cNvPr id="17" name="par_3"/>
          <p:cNvSpPr/>
          <p:nvPr/>
        </p:nvSpPr>
        <p:spPr>
          <a:xfrm>
            <a:off x="768096" y="2999232"/>
            <a:ext cx="566928" cy="402336"/>
          </a:xfrm>
          <a:prstGeom prst="roundRect">
            <a:avLst>
              <a:gd name="adj" fmla="val 11364"/>
            </a:avLst>
          </a:prstGeom>
          <a:solidFill>
            <a:srgbClr val="FFFFFF"/>
          </a:solidFill>
          <a:ln w="10160">
            <a:solidFill>
              <a:srgbClr val="0B63CE"/>
            </a:solidFill>
            <a:prstDash val="dash"/>
          </a:ln>
        </p:spPr>
        <p:txBody>
          <a:bodyPr/>
          <a:lstStyle/>
          <a:p>
            <a:endParaRPr lang="en-US"/>
          </a:p>
        </p:txBody>
      </p:sp>
      <p:sp>
        <p:nvSpPr>
          <p:cNvPr id="18" name="park_3"/>
          <p:cNvSpPr/>
          <p:nvPr/>
        </p:nvSpPr>
        <p:spPr>
          <a:xfrm>
            <a:off x="768096" y="3035808"/>
            <a:ext cx="566928" cy="137160"/>
          </a:xfrm>
          <a:prstGeom prst="rect">
            <a:avLst/>
          </a:prstGeom>
          <a:noFill/>
          <a:ln/>
        </p:spPr>
        <p:txBody>
          <a:bodyPr wrap="square" lIns="0" tIns="0" rIns="0" bIns="0" rtlCol="0" anchor="ctr"/>
          <a:lstStyle/>
          <a:p>
            <a:pPr marL="0" indent="0" algn="ctr">
              <a:buNone/>
            </a:pPr>
            <a:r>
              <a:rPr lang="en-US" sz="580" dirty="0">
                <a:solidFill>
                  <a:srgbClr val="8FA1B2"/>
                </a:solidFill>
                <a:latin typeface="Calibri" pitchFamily="34" charset="0"/>
                <a:ea typeface="Calibri" pitchFamily="34" charset="-122"/>
                <a:cs typeface="Calibri" pitchFamily="34" charset="-120"/>
              </a:rPr>
              <a:t>cost/prog</a:t>
            </a:r>
            <a:endParaRPr lang="en-US" sz="580" dirty="0"/>
          </a:p>
        </p:txBody>
      </p:sp>
      <p:sp>
        <p:nvSpPr>
          <p:cNvPr id="19" name="parv_3"/>
          <p:cNvSpPr/>
          <p:nvPr/>
        </p:nvSpPr>
        <p:spPr>
          <a:xfrm>
            <a:off x="768096" y="3163824"/>
            <a:ext cx="566928" cy="182880"/>
          </a:xfrm>
          <a:prstGeom prst="rect">
            <a:avLst/>
          </a:prstGeom>
          <a:noFill/>
          <a:ln/>
        </p:spPr>
        <p:txBody>
          <a:bodyPr wrap="square" lIns="0" tIns="0" rIns="0" bIns="0" rtlCol="0" anchor="ctr"/>
          <a:lstStyle/>
          <a:p>
            <a:pPr marL="0" indent="0" algn="ctr">
              <a:buNone/>
            </a:pPr>
            <a:r>
              <a:rPr lang="en-US" sz="900" b="1" dirty="0">
                <a:solidFill>
                  <a:srgbClr val="0B63CE"/>
                </a:solidFill>
                <a:latin typeface="Calibri" pitchFamily="34" charset="0"/>
                <a:ea typeface="Calibri" pitchFamily="34" charset="-122"/>
                <a:cs typeface="Calibri" pitchFamily="34" charset="-120"/>
              </a:rPr>
              <a:t>$205m</a:t>
            </a:r>
            <a:endParaRPr lang="en-US" sz="900" dirty="0"/>
          </a:p>
        </p:txBody>
      </p:sp>
      <p:sp>
        <p:nvSpPr>
          <p:cNvPr id="20" name="src_0"/>
          <p:cNvSpPr/>
          <p:nvPr/>
        </p:nvSpPr>
        <p:spPr>
          <a:xfrm>
            <a:off x="1481328" y="1298448"/>
            <a:ext cx="969264" cy="402336"/>
          </a:xfrm>
          <a:prstGeom prst="roundRect">
            <a:avLst>
              <a:gd name="adj" fmla="val 11364"/>
            </a:avLst>
          </a:prstGeom>
          <a:solidFill>
            <a:srgbClr val="E8F1FC"/>
          </a:solidFill>
          <a:ln w="10160">
            <a:solidFill>
              <a:srgbClr val="C9DFF6"/>
            </a:solidFill>
            <a:prstDash val="solid"/>
          </a:ln>
        </p:spPr>
        <p:txBody>
          <a:bodyPr/>
          <a:lstStyle/>
          <a:p>
            <a:endParaRPr lang="en-US"/>
          </a:p>
        </p:txBody>
      </p:sp>
      <p:pic>
        <p:nvPicPr>
          <p:cNvPr id="21" name="Image 0" descr="preencoded.png"/>
          <p:cNvPicPr>
            <a:picLocks noChangeAspect="1"/>
          </p:cNvPicPr>
          <p:nvPr/>
        </p:nvPicPr>
        <p:blipFill>
          <a:blip r:embed="rId3"/>
          <a:stretch>
            <a:fillRect/>
          </a:stretch>
        </p:blipFill>
        <p:spPr>
          <a:xfrm>
            <a:off x="1554480" y="1417320"/>
            <a:ext cx="164592" cy="164592"/>
          </a:xfrm>
          <a:prstGeom prst="rect">
            <a:avLst/>
          </a:prstGeom>
        </p:spPr>
      </p:pic>
      <p:sp>
        <p:nvSpPr>
          <p:cNvPr id="22" name="srct_0"/>
          <p:cNvSpPr/>
          <p:nvPr/>
        </p:nvSpPr>
        <p:spPr>
          <a:xfrm>
            <a:off x="1755648" y="1344168"/>
            <a:ext cx="658368" cy="155448"/>
          </a:xfrm>
          <a:prstGeom prst="rect">
            <a:avLst/>
          </a:prstGeom>
          <a:noFill/>
          <a:ln/>
        </p:spPr>
        <p:txBody>
          <a:bodyPr wrap="square" lIns="0" tIns="0" rIns="0" bIns="0" rtlCol="0" anchor="ctr"/>
          <a:lstStyle/>
          <a:p>
            <a:pPr marL="0" indent="0">
              <a:buNone/>
            </a:pPr>
            <a:r>
              <a:rPr lang="en-US" sz="800" b="1" dirty="0">
                <a:solidFill>
                  <a:srgbClr val="0A3E7A"/>
                </a:solidFill>
                <a:latin typeface="Calibri" pitchFamily="34" charset="0"/>
                <a:ea typeface="Calibri" pitchFamily="34" charset="-122"/>
                <a:cs typeface="Calibri" pitchFamily="34" charset="-120"/>
              </a:rPr>
              <a:t>Genomic</a:t>
            </a:r>
            <a:endParaRPr lang="en-US" sz="800" dirty="0"/>
          </a:p>
        </p:txBody>
      </p:sp>
      <p:sp>
        <p:nvSpPr>
          <p:cNvPr id="23" name="srcs_0"/>
          <p:cNvSpPr/>
          <p:nvPr/>
        </p:nvSpPr>
        <p:spPr>
          <a:xfrm>
            <a:off x="1755648" y="1490472"/>
            <a:ext cx="658368" cy="146304"/>
          </a:xfrm>
          <a:prstGeom prst="rect">
            <a:avLst/>
          </a:prstGeom>
          <a:noFill/>
          <a:ln/>
        </p:spPr>
        <p:txBody>
          <a:bodyPr wrap="square" lIns="0" tIns="0" rIns="0" bIns="0" rtlCol="0" anchor="ctr"/>
          <a:lstStyle/>
          <a:p>
            <a:pPr marL="0" indent="0">
              <a:buNone/>
            </a:pPr>
            <a:r>
              <a:rPr lang="en-US" sz="580" dirty="0">
                <a:solidFill>
                  <a:srgbClr val="55697C"/>
                </a:solidFill>
                <a:latin typeface="Calibri" pitchFamily="34" charset="0"/>
                <a:ea typeface="Calibri" pitchFamily="34" charset="-122"/>
                <a:cs typeface="Calibri" pitchFamily="34" charset="-120"/>
              </a:rPr>
              <a:t>3M+ exomes</a:t>
            </a:r>
            <a:endParaRPr lang="en-US" sz="580" dirty="0"/>
          </a:p>
        </p:txBody>
      </p:sp>
      <p:sp>
        <p:nvSpPr>
          <p:cNvPr id="24" name="w1_0"/>
          <p:cNvSpPr/>
          <p:nvPr/>
        </p:nvSpPr>
        <p:spPr>
          <a:xfrm>
            <a:off x="2441448" y="1524196"/>
            <a:ext cx="448056" cy="0"/>
          </a:xfrm>
          <a:prstGeom prst="line">
            <a:avLst/>
          </a:prstGeom>
          <a:noFill/>
          <a:ln w="14605">
            <a:solidFill>
              <a:srgbClr val="0B63CE"/>
            </a:solidFill>
            <a:prstDash val="solid"/>
            <a:tailEnd type="triangle"/>
          </a:ln>
        </p:spPr>
        <p:txBody>
          <a:bodyPr/>
          <a:lstStyle/>
          <a:p>
            <a:endParaRPr lang="en-US"/>
          </a:p>
        </p:txBody>
      </p:sp>
      <p:sp>
        <p:nvSpPr>
          <p:cNvPr id="25" name="src_1"/>
          <p:cNvSpPr/>
          <p:nvPr/>
        </p:nvSpPr>
        <p:spPr>
          <a:xfrm>
            <a:off x="1481328" y="1865376"/>
            <a:ext cx="969264" cy="402336"/>
          </a:xfrm>
          <a:prstGeom prst="roundRect">
            <a:avLst>
              <a:gd name="adj" fmla="val 11364"/>
            </a:avLst>
          </a:prstGeom>
          <a:solidFill>
            <a:srgbClr val="E8F1FC"/>
          </a:solidFill>
          <a:ln w="10160">
            <a:solidFill>
              <a:srgbClr val="C9DFF6"/>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1554480" y="1984248"/>
            <a:ext cx="164592" cy="164592"/>
          </a:xfrm>
          <a:prstGeom prst="rect">
            <a:avLst/>
          </a:prstGeom>
        </p:spPr>
      </p:pic>
      <p:sp>
        <p:nvSpPr>
          <p:cNvPr id="27" name="srct_1"/>
          <p:cNvSpPr/>
          <p:nvPr/>
        </p:nvSpPr>
        <p:spPr>
          <a:xfrm>
            <a:off x="1755648" y="1911096"/>
            <a:ext cx="658368" cy="155448"/>
          </a:xfrm>
          <a:prstGeom prst="rect">
            <a:avLst/>
          </a:prstGeom>
          <a:noFill/>
          <a:ln/>
        </p:spPr>
        <p:txBody>
          <a:bodyPr wrap="square" lIns="0" tIns="0" rIns="0" bIns="0" rtlCol="0" anchor="ctr"/>
          <a:lstStyle/>
          <a:p>
            <a:pPr marL="0" indent="0">
              <a:buNone/>
            </a:pPr>
            <a:r>
              <a:rPr lang="en-US" sz="800" b="1" dirty="0">
                <a:solidFill>
                  <a:srgbClr val="0A3E7A"/>
                </a:solidFill>
                <a:latin typeface="Calibri" pitchFamily="34" charset="0"/>
                <a:ea typeface="Calibri" pitchFamily="34" charset="-122"/>
                <a:cs typeface="Calibri" pitchFamily="34" charset="-120"/>
              </a:rPr>
              <a:t>Clinical</a:t>
            </a:r>
            <a:endParaRPr lang="en-US" sz="800" dirty="0"/>
          </a:p>
        </p:txBody>
      </p:sp>
      <p:sp>
        <p:nvSpPr>
          <p:cNvPr id="28" name="srcs_1"/>
          <p:cNvSpPr/>
          <p:nvPr/>
        </p:nvSpPr>
        <p:spPr>
          <a:xfrm>
            <a:off x="1755648" y="2057400"/>
            <a:ext cx="658368" cy="146304"/>
          </a:xfrm>
          <a:prstGeom prst="rect">
            <a:avLst/>
          </a:prstGeom>
          <a:noFill/>
          <a:ln/>
        </p:spPr>
        <p:txBody>
          <a:bodyPr wrap="square" lIns="0" tIns="0" rIns="0" bIns="0" rtlCol="0" anchor="ctr"/>
          <a:lstStyle/>
          <a:p>
            <a:pPr marL="0" indent="0">
              <a:buNone/>
            </a:pPr>
            <a:r>
              <a:rPr lang="en-US" sz="580" dirty="0">
                <a:solidFill>
                  <a:srgbClr val="55697C"/>
                </a:solidFill>
                <a:latin typeface="Calibri" pitchFamily="34" charset="0"/>
                <a:ea typeface="Calibri" pitchFamily="34" charset="-122"/>
                <a:cs typeface="Calibri" pitchFamily="34" charset="-120"/>
              </a:rPr>
              <a:t>150+ partners</a:t>
            </a:r>
            <a:endParaRPr lang="en-US" sz="580" dirty="0"/>
          </a:p>
        </p:txBody>
      </p:sp>
      <p:sp>
        <p:nvSpPr>
          <p:cNvPr id="29" name="w1_1"/>
          <p:cNvSpPr/>
          <p:nvPr/>
        </p:nvSpPr>
        <p:spPr>
          <a:xfrm>
            <a:off x="2450592" y="2066544"/>
            <a:ext cx="448056" cy="0"/>
          </a:xfrm>
          <a:prstGeom prst="line">
            <a:avLst/>
          </a:prstGeom>
          <a:noFill/>
          <a:ln w="14605">
            <a:solidFill>
              <a:srgbClr val="0B63CE"/>
            </a:solidFill>
            <a:prstDash val="solid"/>
            <a:tailEnd type="triangle"/>
          </a:ln>
        </p:spPr>
        <p:txBody>
          <a:bodyPr/>
          <a:lstStyle/>
          <a:p>
            <a:endParaRPr lang="en-US"/>
          </a:p>
        </p:txBody>
      </p:sp>
      <p:sp>
        <p:nvSpPr>
          <p:cNvPr id="30" name="src_2"/>
          <p:cNvSpPr/>
          <p:nvPr/>
        </p:nvSpPr>
        <p:spPr>
          <a:xfrm>
            <a:off x="1481328" y="2432304"/>
            <a:ext cx="969264" cy="402336"/>
          </a:xfrm>
          <a:prstGeom prst="roundRect">
            <a:avLst>
              <a:gd name="adj" fmla="val 11364"/>
            </a:avLst>
          </a:prstGeom>
          <a:solidFill>
            <a:srgbClr val="E8F1FC"/>
          </a:solidFill>
          <a:ln w="10160">
            <a:solidFill>
              <a:srgbClr val="C9DFF6"/>
            </a:solidFill>
            <a:prstDash val="solid"/>
          </a:ln>
        </p:spPr>
        <p:txBody>
          <a:bodyPr/>
          <a:lstStyle/>
          <a:p>
            <a:endParaRPr lang="en-US"/>
          </a:p>
        </p:txBody>
      </p:sp>
      <p:pic>
        <p:nvPicPr>
          <p:cNvPr id="31" name="Image 2" descr="preencoded.png"/>
          <p:cNvPicPr>
            <a:picLocks noChangeAspect="1"/>
          </p:cNvPicPr>
          <p:nvPr/>
        </p:nvPicPr>
        <p:blipFill>
          <a:blip r:embed="rId5"/>
          <a:stretch>
            <a:fillRect/>
          </a:stretch>
        </p:blipFill>
        <p:spPr>
          <a:xfrm>
            <a:off x="1554480" y="2551176"/>
            <a:ext cx="164592" cy="164592"/>
          </a:xfrm>
          <a:prstGeom prst="rect">
            <a:avLst/>
          </a:prstGeom>
        </p:spPr>
      </p:pic>
      <p:sp>
        <p:nvSpPr>
          <p:cNvPr id="32" name="srct_2"/>
          <p:cNvSpPr/>
          <p:nvPr/>
        </p:nvSpPr>
        <p:spPr>
          <a:xfrm>
            <a:off x="1755648" y="2478024"/>
            <a:ext cx="658368" cy="155448"/>
          </a:xfrm>
          <a:prstGeom prst="rect">
            <a:avLst/>
          </a:prstGeom>
          <a:noFill/>
          <a:ln/>
        </p:spPr>
        <p:txBody>
          <a:bodyPr wrap="square" lIns="0" tIns="0" rIns="0" bIns="0" rtlCol="0" anchor="ctr"/>
          <a:lstStyle/>
          <a:p>
            <a:pPr marL="0" indent="0">
              <a:buNone/>
            </a:pPr>
            <a:r>
              <a:rPr lang="en-US" sz="800" b="1" dirty="0">
                <a:solidFill>
                  <a:srgbClr val="0A3E7A"/>
                </a:solidFill>
                <a:latin typeface="Calibri" pitchFamily="34" charset="0"/>
                <a:ea typeface="Calibri" pitchFamily="34" charset="-122"/>
                <a:cs typeface="Calibri" pitchFamily="34" charset="-120"/>
              </a:rPr>
              <a:t>Lab</a:t>
            </a:r>
            <a:endParaRPr lang="en-US" sz="800" dirty="0"/>
          </a:p>
        </p:txBody>
      </p:sp>
      <p:sp>
        <p:nvSpPr>
          <p:cNvPr id="33" name="srcs_2"/>
          <p:cNvSpPr/>
          <p:nvPr/>
        </p:nvSpPr>
        <p:spPr>
          <a:xfrm>
            <a:off x="1755648" y="2624328"/>
            <a:ext cx="658368" cy="146304"/>
          </a:xfrm>
          <a:prstGeom prst="rect">
            <a:avLst/>
          </a:prstGeom>
          <a:noFill/>
          <a:ln/>
        </p:spPr>
        <p:txBody>
          <a:bodyPr wrap="square" lIns="0" tIns="0" rIns="0" bIns="0" rtlCol="0" anchor="ctr"/>
          <a:lstStyle/>
          <a:p>
            <a:pPr marL="0" indent="0">
              <a:buNone/>
            </a:pPr>
            <a:r>
              <a:rPr lang="en-US" sz="580" dirty="0">
                <a:solidFill>
                  <a:srgbClr val="55697C"/>
                </a:solidFill>
                <a:latin typeface="Calibri" pitchFamily="34" charset="0"/>
                <a:ea typeface="Calibri" pitchFamily="34" charset="-122"/>
                <a:cs typeface="Calibri" pitchFamily="34" charset="-120"/>
              </a:rPr>
              <a:t>assay + trial</a:t>
            </a:r>
            <a:endParaRPr lang="en-US" sz="580" dirty="0"/>
          </a:p>
        </p:txBody>
      </p:sp>
      <p:sp>
        <p:nvSpPr>
          <p:cNvPr id="34" name="w1_2"/>
          <p:cNvSpPr/>
          <p:nvPr/>
        </p:nvSpPr>
        <p:spPr>
          <a:xfrm>
            <a:off x="2450592" y="2633472"/>
            <a:ext cx="438912" cy="0"/>
          </a:xfrm>
          <a:prstGeom prst="line">
            <a:avLst/>
          </a:prstGeom>
          <a:noFill/>
          <a:ln w="14605">
            <a:solidFill>
              <a:srgbClr val="0B63CE"/>
            </a:solidFill>
            <a:prstDash val="solid"/>
            <a:tailEnd type="triangle"/>
          </a:ln>
        </p:spPr>
        <p:txBody>
          <a:bodyPr/>
          <a:lstStyle/>
          <a:p>
            <a:endParaRPr lang="en-US"/>
          </a:p>
        </p:txBody>
      </p:sp>
      <p:sp>
        <p:nvSpPr>
          <p:cNvPr id="35" name="src_3"/>
          <p:cNvSpPr/>
          <p:nvPr/>
        </p:nvSpPr>
        <p:spPr>
          <a:xfrm>
            <a:off x="1481328" y="2999232"/>
            <a:ext cx="969264" cy="402336"/>
          </a:xfrm>
          <a:prstGeom prst="roundRect">
            <a:avLst>
              <a:gd name="adj" fmla="val 11364"/>
            </a:avLst>
          </a:prstGeom>
          <a:solidFill>
            <a:srgbClr val="E8F1FC"/>
          </a:solidFill>
          <a:ln w="10160">
            <a:solidFill>
              <a:srgbClr val="C9DFF6"/>
            </a:solidFill>
            <a:prstDash val="solid"/>
          </a:ln>
        </p:spPr>
        <p:txBody>
          <a:bodyPr/>
          <a:lstStyle/>
          <a:p>
            <a:endParaRPr lang="en-US"/>
          </a:p>
        </p:txBody>
      </p:sp>
      <p:pic>
        <p:nvPicPr>
          <p:cNvPr id="36" name="Image 3" descr="preencoded.png"/>
          <p:cNvPicPr>
            <a:picLocks noChangeAspect="1"/>
          </p:cNvPicPr>
          <p:nvPr/>
        </p:nvPicPr>
        <p:blipFill>
          <a:blip r:embed="rId6"/>
          <a:stretch>
            <a:fillRect/>
          </a:stretch>
        </p:blipFill>
        <p:spPr>
          <a:xfrm>
            <a:off x="1554480" y="3118104"/>
            <a:ext cx="164592" cy="164592"/>
          </a:xfrm>
          <a:prstGeom prst="rect">
            <a:avLst/>
          </a:prstGeom>
        </p:spPr>
      </p:pic>
      <p:sp>
        <p:nvSpPr>
          <p:cNvPr id="37" name="srct_3"/>
          <p:cNvSpPr/>
          <p:nvPr/>
        </p:nvSpPr>
        <p:spPr>
          <a:xfrm>
            <a:off x="1755648" y="3044952"/>
            <a:ext cx="658368" cy="155448"/>
          </a:xfrm>
          <a:prstGeom prst="rect">
            <a:avLst/>
          </a:prstGeom>
          <a:noFill/>
          <a:ln/>
        </p:spPr>
        <p:txBody>
          <a:bodyPr wrap="square" lIns="0" tIns="0" rIns="0" bIns="0" rtlCol="0" anchor="ctr"/>
          <a:lstStyle/>
          <a:p>
            <a:pPr marL="0" indent="0">
              <a:buNone/>
            </a:pPr>
            <a:r>
              <a:rPr lang="en-US" sz="800" b="1" dirty="0">
                <a:solidFill>
                  <a:srgbClr val="0A3E7A"/>
                </a:solidFill>
                <a:latin typeface="Calibri" pitchFamily="34" charset="0"/>
                <a:ea typeface="Calibri" pitchFamily="34" charset="-122"/>
                <a:cs typeface="Calibri" pitchFamily="34" charset="-120"/>
              </a:rPr>
              <a:t>External</a:t>
            </a:r>
            <a:endParaRPr lang="en-US" sz="800" dirty="0"/>
          </a:p>
        </p:txBody>
      </p:sp>
      <p:sp>
        <p:nvSpPr>
          <p:cNvPr id="38" name="srcs_3"/>
          <p:cNvSpPr/>
          <p:nvPr/>
        </p:nvSpPr>
        <p:spPr>
          <a:xfrm>
            <a:off x="1755648" y="3191256"/>
            <a:ext cx="658368" cy="146304"/>
          </a:xfrm>
          <a:prstGeom prst="rect">
            <a:avLst/>
          </a:prstGeom>
          <a:noFill/>
          <a:ln/>
        </p:spPr>
        <p:txBody>
          <a:bodyPr wrap="square" lIns="0" tIns="0" rIns="0" bIns="0" rtlCol="0" anchor="ctr"/>
          <a:lstStyle/>
          <a:p>
            <a:pPr marL="0" indent="0">
              <a:buNone/>
            </a:pPr>
            <a:r>
              <a:rPr lang="en-US" sz="580" dirty="0">
                <a:solidFill>
                  <a:srgbClr val="55697C"/>
                </a:solidFill>
                <a:latin typeface="Calibri" pitchFamily="34" charset="0"/>
                <a:ea typeface="Calibri" pitchFamily="34" charset="-122"/>
                <a:cs typeface="Calibri" pitchFamily="34" charset="-120"/>
              </a:rPr>
              <a:t>UK Biobank</a:t>
            </a:r>
            <a:endParaRPr lang="en-US" sz="580" dirty="0"/>
          </a:p>
        </p:txBody>
      </p:sp>
      <p:sp>
        <p:nvSpPr>
          <p:cNvPr id="39" name="w1_3"/>
          <p:cNvSpPr/>
          <p:nvPr/>
        </p:nvSpPr>
        <p:spPr>
          <a:xfrm>
            <a:off x="2450592" y="3200400"/>
            <a:ext cx="438912" cy="0"/>
          </a:xfrm>
          <a:prstGeom prst="line">
            <a:avLst/>
          </a:prstGeom>
          <a:noFill/>
          <a:ln w="14605">
            <a:solidFill>
              <a:srgbClr val="0B63CE"/>
            </a:solidFill>
            <a:prstDash val="solid"/>
            <a:tailEnd type="triangle"/>
          </a:ln>
        </p:spPr>
        <p:txBody>
          <a:bodyPr/>
          <a:lstStyle/>
          <a:p>
            <a:endParaRPr lang="en-US"/>
          </a:p>
        </p:txBody>
      </p:sp>
      <p:sp>
        <p:nvSpPr>
          <p:cNvPr id="40" name="rowcount"/>
          <p:cNvSpPr/>
          <p:nvPr/>
        </p:nvSpPr>
        <p:spPr>
          <a:xfrm>
            <a:off x="1417320" y="3639312"/>
            <a:ext cx="1600200" cy="237744"/>
          </a:xfrm>
          <a:prstGeom prst="rect">
            <a:avLst/>
          </a:prstGeom>
          <a:noFill/>
          <a:ln/>
        </p:spPr>
        <p:txBody>
          <a:bodyPr wrap="square" lIns="0" tIns="0" rIns="0" bIns="0" rtlCol="0" anchor="ctr"/>
          <a:lstStyle/>
          <a:p>
            <a:pPr marL="0" indent="0" algn="ctr">
              <a:lnSpc>
                <a:spcPts val="800"/>
              </a:lnSpc>
              <a:buNone/>
            </a:pPr>
            <a:r>
              <a:rPr lang="en-US" sz="620" b="1" dirty="0">
                <a:solidFill>
                  <a:srgbClr val="0B63CE"/>
                </a:solidFill>
                <a:latin typeface="Consolas" pitchFamily="34" charset="0"/>
                <a:ea typeface="Consolas" pitchFamily="34" charset="-122"/>
                <a:cs typeface="Consolas" pitchFamily="34" charset="-120"/>
              </a:rPr>
              <a:t>42,000 people  ×  5 genes  =  210,000 rows</a:t>
            </a:r>
            <a:endParaRPr lang="en-US" sz="620" dirty="0"/>
          </a:p>
        </p:txBody>
      </p:sp>
      <p:sp>
        <p:nvSpPr>
          <p:cNvPr id="41" name="bus"/>
          <p:cNvSpPr/>
          <p:nvPr/>
        </p:nvSpPr>
        <p:spPr>
          <a:xfrm>
            <a:off x="2889504" y="1298448"/>
            <a:ext cx="457200" cy="2103120"/>
          </a:xfrm>
          <a:prstGeom prst="roundRect">
            <a:avLst>
              <a:gd name="adj" fmla="val 14000"/>
            </a:avLst>
          </a:prstGeom>
          <a:solidFill>
            <a:srgbClr val="0C8C83"/>
          </a:solidFill>
          <a:ln w="12700">
            <a:solidFill>
              <a:srgbClr val="0C8C83"/>
            </a:solidFill>
            <a:prstDash val="solid"/>
          </a:ln>
        </p:spPr>
        <p:txBody>
          <a:bodyPr/>
          <a:lstStyle/>
          <a:p>
            <a:endParaRPr lang="en-US"/>
          </a:p>
        </p:txBody>
      </p:sp>
      <p:sp>
        <p:nvSpPr>
          <p:cNvPr id="42" name="bustxt"/>
          <p:cNvSpPr/>
          <p:nvPr/>
        </p:nvSpPr>
        <p:spPr>
          <a:xfrm rot="16200000">
            <a:off x="2478024" y="2148840"/>
            <a:ext cx="1280160" cy="402336"/>
          </a:xfrm>
          <a:prstGeom prst="rect">
            <a:avLst/>
          </a:prstGeom>
          <a:noFill/>
          <a:ln/>
        </p:spPr>
        <p:txBody>
          <a:bodyPr wrap="square" lIns="0" tIns="0" rIns="0" bIns="0" rtlCol="0" anchor="ctr"/>
          <a:lstStyle/>
          <a:p>
            <a:pPr marL="0" indent="0" algn="ctr">
              <a:buNone/>
            </a:pPr>
            <a:r>
              <a:rPr lang="en-US" sz="800" b="1" kern="0" spc="60" dirty="0">
                <a:solidFill>
                  <a:srgbClr val="FFFFFF"/>
                </a:solidFill>
                <a:latin typeface="Calibri" pitchFamily="34" charset="0"/>
                <a:ea typeface="Calibri" pitchFamily="34" charset="-122"/>
                <a:cs typeface="Calibri" pitchFamily="34" charset="-120"/>
              </a:rPr>
              <a:t>EVIDENCE  ENGINE</a:t>
            </a:r>
            <a:endParaRPr lang="en-US" sz="800" dirty="0"/>
          </a:p>
        </p:txBody>
      </p:sp>
      <p:sp>
        <p:nvSpPr>
          <p:cNvPr id="43" name="busl_0"/>
          <p:cNvSpPr/>
          <p:nvPr/>
        </p:nvSpPr>
        <p:spPr>
          <a:xfrm>
            <a:off x="3383280" y="1371600"/>
            <a:ext cx="658368" cy="182880"/>
          </a:xfrm>
          <a:prstGeom prst="rect">
            <a:avLst/>
          </a:prstGeom>
          <a:noFill/>
          <a:ln/>
        </p:spPr>
        <p:txBody>
          <a:bodyPr wrap="square" lIns="0" tIns="0" rIns="0" bIns="0" rtlCol="0" anchor="ctr"/>
          <a:lstStyle/>
          <a:p>
            <a:pPr marL="0" indent="0">
              <a:buNone/>
            </a:pPr>
            <a:r>
              <a:rPr lang="en-US" sz="590" dirty="0">
                <a:solidFill>
                  <a:srgbClr val="0C8C83"/>
                </a:solidFill>
                <a:latin typeface="Consolas" pitchFamily="34" charset="0"/>
                <a:ea typeface="Consolas" pitchFamily="34" charset="-122"/>
                <a:cs typeface="Consolas" pitchFamily="34" charset="-120"/>
              </a:rPr>
              <a:t>regression</a:t>
            </a:r>
            <a:endParaRPr lang="en-US" sz="590" dirty="0"/>
          </a:p>
        </p:txBody>
      </p:sp>
      <p:sp>
        <p:nvSpPr>
          <p:cNvPr id="44" name="busl_1"/>
          <p:cNvSpPr/>
          <p:nvPr/>
        </p:nvSpPr>
        <p:spPr>
          <a:xfrm>
            <a:off x="3383280" y="1591056"/>
            <a:ext cx="658368" cy="182880"/>
          </a:xfrm>
          <a:prstGeom prst="rect">
            <a:avLst/>
          </a:prstGeom>
          <a:noFill/>
          <a:ln/>
        </p:spPr>
        <p:txBody>
          <a:bodyPr wrap="square" lIns="0" tIns="0" rIns="0" bIns="0" rtlCol="0" anchor="ctr"/>
          <a:lstStyle/>
          <a:p>
            <a:pPr marL="0" indent="0">
              <a:buNone/>
            </a:pPr>
            <a:r>
              <a:rPr lang="en-US" sz="590" dirty="0">
                <a:solidFill>
                  <a:srgbClr val="0C8C83"/>
                </a:solidFill>
                <a:latin typeface="Consolas" pitchFamily="34" charset="0"/>
                <a:ea typeface="Consolas" pitchFamily="34" charset="-122"/>
                <a:cs typeface="Consolas" pitchFamily="34" charset="-120"/>
              </a:rPr>
              <a:t>7 markers</a:t>
            </a:r>
            <a:endParaRPr lang="en-US" sz="590" dirty="0"/>
          </a:p>
        </p:txBody>
      </p:sp>
      <p:sp>
        <p:nvSpPr>
          <p:cNvPr id="45" name="busl_2"/>
          <p:cNvSpPr/>
          <p:nvPr/>
        </p:nvSpPr>
        <p:spPr>
          <a:xfrm>
            <a:off x="3383280" y="1810512"/>
            <a:ext cx="658368" cy="182880"/>
          </a:xfrm>
          <a:prstGeom prst="rect">
            <a:avLst/>
          </a:prstGeom>
          <a:noFill/>
          <a:ln/>
        </p:spPr>
        <p:txBody>
          <a:bodyPr wrap="square" lIns="0" tIns="0" rIns="0" bIns="0" rtlCol="0" anchor="ctr"/>
          <a:lstStyle/>
          <a:p>
            <a:pPr marL="0" indent="0">
              <a:buNone/>
            </a:pPr>
            <a:r>
              <a:rPr lang="en-US" sz="590" dirty="0">
                <a:solidFill>
                  <a:srgbClr val="0C8C83"/>
                </a:solidFill>
                <a:latin typeface="Consolas" pitchFamily="34" charset="0"/>
                <a:ea typeface="Consolas" pitchFamily="34" charset="-122"/>
                <a:cs typeface="Consolas" pitchFamily="34" charset="-120"/>
              </a:rPr>
              <a:t>score /10</a:t>
            </a:r>
            <a:endParaRPr lang="en-US" sz="590" dirty="0"/>
          </a:p>
        </p:txBody>
      </p:sp>
      <p:sp>
        <p:nvSpPr>
          <p:cNvPr id="46" name="busn"/>
          <p:cNvSpPr/>
          <p:nvPr/>
        </p:nvSpPr>
        <p:spPr>
          <a:xfrm>
            <a:off x="3419856" y="3163824"/>
            <a:ext cx="731520" cy="164592"/>
          </a:xfrm>
          <a:prstGeom prst="rect">
            <a:avLst/>
          </a:prstGeom>
          <a:noFill/>
          <a:ln/>
        </p:spPr>
        <p:txBody>
          <a:bodyPr wrap="square" lIns="0" tIns="0" rIns="0" bIns="0" rtlCol="0" anchor="ctr"/>
          <a:lstStyle/>
          <a:p>
            <a:pPr marL="0" indent="0">
              <a:buNone/>
            </a:pPr>
            <a:r>
              <a:rPr lang="en-US" sz="620" b="1" dirty="0">
                <a:solidFill>
                  <a:srgbClr val="0C8C83"/>
                </a:solidFill>
                <a:latin typeface="Consolas" pitchFamily="34" charset="0"/>
                <a:ea typeface="Consolas" pitchFamily="34" charset="-122"/>
                <a:cs typeface="Consolas" pitchFamily="34" charset="-120"/>
              </a:rPr>
              <a:t>20 variants</a:t>
            </a:r>
            <a:endParaRPr lang="en-US" sz="620" dirty="0"/>
          </a:p>
        </p:txBody>
      </p:sp>
      <p:sp>
        <p:nvSpPr>
          <p:cNvPr id="47" name="w2"/>
          <p:cNvSpPr/>
          <p:nvPr/>
        </p:nvSpPr>
        <p:spPr>
          <a:xfrm>
            <a:off x="3346704" y="2304288"/>
            <a:ext cx="713232" cy="0"/>
          </a:xfrm>
          <a:prstGeom prst="line">
            <a:avLst/>
          </a:prstGeom>
          <a:noFill/>
          <a:ln w="14605">
            <a:solidFill>
              <a:srgbClr val="0C8C83"/>
            </a:solidFill>
            <a:prstDash val="solid"/>
            <a:tailEnd type="triangle"/>
          </a:ln>
        </p:spPr>
        <p:txBody>
          <a:bodyPr/>
          <a:lstStyle/>
          <a:p>
            <a:endParaRPr lang="en-US"/>
          </a:p>
        </p:txBody>
      </p:sp>
      <p:sp>
        <p:nvSpPr>
          <p:cNvPr id="48" name="sel"/>
          <p:cNvSpPr/>
          <p:nvPr/>
        </p:nvSpPr>
        <p:spPr>
          <a:xfrm>
            <a:off x="4059936" y="1883664"/>
            <a:ext cx="512064" cy="841248"/>
          </a:xfrm>
          <a:prstGeom prst="roundRect">
            <a:avLst>
              <a:gd name="adj" fmla="val 10714"/>
            </a:avLst>
          </a:prstGeom>
          <a:solidFill>
            <a:srgbClr val="FDF2E0"/>
          </a:solidFill>
          <a:ln w="11430">
            <a:solidFill>
              <a:srgbClr val="F2D9A8"/>
            </a:solidFill>
            <a:prstDash val="solid"/>
          </a:ln>
        </p:spPr>
        <p:txBody>
          <a:bodyPr/>
          <a:lstStyle/>
          <a:p>
            <a:endParaRPr lang="en-US"/>
          </a:p>
        </p:txBody>
      </p:sp>
      <p:sp>
        <p:nvSpPr>
          <p:cNvPr id="49" name="selt"/>
          <p:cNvSpPr/>
          <p:nvPr/>
        </p:nvSpPr>
        <p:spPr>
          <a:xfrm>
            <a:off x="4059936" y="1956816"/>
            <a:ext cx="512064" cy="146304"/>
          </a:xfrm>
          <a:prstGeom prst="rect">
            <a:avLst/>
          </a:prstGeom>
          <a:noFill/>
          <a:ln/>
        </p:spPr>
        <p:txBody>
          <a:bodyPr wrap="square" lIns="0" tIns="0" rIns="0" bIns="0" rtlCol="0" anchor="ctr"/>
          <a:lstStyle/>
          <a:p>
            <a:pPr marL="0" indent="0" algn="ctr">
              <a:buNone/>
            </a:pPr>
            <a:r>
              <a:rPr lang="en-US" sz="620" b="1" dirty="0">
                <a:solidFill>
                  <a:srgbClr val="C77A0A"/>
                </a:solidFill>
                <a:latin typeface="Calibri" pitchFamily="34" charset="0"/>
                <a:ea typeface="Calibri" pitchFamily="34" charset="-122"/>
                <a:cs typeface="Calibri" pitchFamily="34" charset="-120"/>
              </a:rPr>
              <a:t>SELECT</a:t>
            </a:r>
            <a:endParaRPr lang="en-US" sz="620" dirty="0"/>
          </a:p>
        </p:txBody>
      </p:sp>
      <p:sp>
        <p:nvSpPr>
          <p:cNvPr id="50" name="selv"/>
          <p:cNvSpPr/>
          <p:nvPr/>
        </p:nvSpPr>
        <p:spPr>
          <a:xfrm>
            <a:off x="4059936" y="2103120"/>
            <a:ext cx="512064" cy="274320"/>
          </a:xfrm>
          <a:prstGeom prst="rect">
            <a:avLst/>
          </a:prstGeom>
          <a:noFill/>
          <a:ln/>
        </p:spPr>
        <p:txBody>
          <a:bodyPr wrap="square" lIns="0" tIns="0" rIns="0" bIns="0" rtlCol="0" anchor="ctr"/>
          <a:lstStyle/>
          <a:p>
            <a:pPr marL="0" indent="0" algn="ctr">
              <a:buNone/>
            </a:pPr>
            <a:r>
              <a:rPr lang="en-US" sz="1600" b="1" dirty="0">
                <a:solidFill>
                  <a:srgbClr val="C77A0A"/>
                </a:solidFill>
                <a:latin typeface="Calibri" pitchFamily="34" charset="0"/>
                <a:ea typeface="Calibri" pitchFamily="34" charset="-122"/>
                <a:cs typeface="Calibri" pitchFamily="34" charset="-120"/>
              </a:rPr>
              <a:t>6</a:t>
            </a:r>
            <a:endParaRPr lang="en-US" sz="1600" dirty="0"/>
          </a:p>
        </p:txBody>
      </p:sp>
      <p:sp>
        <p:nvSpPr>
          <p:cNvPr id="51" name="selc"/>
          <p:cNvSpPr/>
          <p:nvPr/>
        </p:nvSpPr>
        <p:spPr>
          <a:xfrm>
            <a:off x="4059936" y="2395728"/>
            <a:ext cx="512064" cy="146304"/>
          </a:xfrm>
          <a:prstGeom prst="rect">
            <a:avLst/>
          </a:prstGeom>
          <a:noFill/>
          <a:ln/>
        </p:spPr>
        <p:txBody>
          <a:bodyPr wrap="square" lIns="0" tIns="0" rIns="0" bIns="0" rtlCol="0" anchor="ctr"/>
          <a:lstStyle/>
          <a:p>
            <a:pPr marL="0" indent="0" algn="ctr">
              <a:buNone/>
            </a:pPr>
            <a:r>
              <a:rPr lang="en-US" sz="580" dirty="0">
                <a:solidFill>
                  <a:srgbClr val="55697C"/>
                </a:solidFill>
                <a:latin typeface="Calibri" pitchFamily="34" charset="0"/>
                <a:ea typeface="Calibri" pitchFamily="34" charset="-122"/>
                <a:cs typeface="Calibri" pitchFamily="34" charset="-120"/>
              </a:rPr>
              <a:t>funded</a:t>
            </a:r>
            <a:endParaRPr lang="en-US" sz="580" dirty="0"/>
          </a:p>
        </p:txBody>
      </p:sp>
      <p:sp>
        <p:nvSpPr>
          <p:cNvPr id="52" name="out_0"/>
          <p:cNvSpPr/>
          <p:nvPr/>
        </p:nvSpPr>
        <p:spPr>
          <a:xfrm>
            <a:off x="5047488" y="1444752"/>
            <a:ext cx="877824" cy="566928"/>
          </a:xfrm>
          <a:prstGeom prst="roundRect">
            <a:avLst>
              <a:gd name="adj" fmla="val 8065"/>
            </a:avLst>
          </a:prstGeom>
          <a:solidFill>
            <a:srgbClr val="F5F7F9"/>
          </a:solidFill>
          <a:ln w="11430">
            <a:solidFill>
              <a:srgbClr val="E3E9EF"/>
            </a:solidFill>
            <a:prstDash val="solid"/>
          </a:ln>
        </p:spPr>
        <p:txBody>
          <a:bodyPr/>
          <a:lstStyle/>
          <a:p>
            <a:endParaRPr lang="en-US"/>
          </a:p>
        </p:txBody>
      </p:sp>
      <p:sp>
        <p:nvSpPr>
          <p:cNvPr id="53" name="outt_0"/>
          <p:cNvSpPr/>
          <p:nvPr/>
        </p:nvSpPr>
        <p:spPr>
          <a:xfrm>
            <a:off x="5102352" y="1481328"/>
            <a:ext cx="786384" cy="146304"/>
          </a:xfrm>
          <a:prstGeom prst="rect">
            <a:avLst/>
          </a:prstGeom>
          <a:noFill/>
          <a:ln/>
        </p:spPr>
        <p:txBody>
          <a:bodyPr wrap="square" lIns="0" tIns="0" rIns="0" bIns="0" rtlCol="0" anchor="ctr"/>
          <a:lstStyle/>
          <a:p>
            <a:pPr marL="0" indent="0">
              <a:buNone/>
            </a:pPr>
            <a:r>
              <a:rPr lang="en-US" sz="660" b="1" dirty="0">
                <a:solidFill>
                  <a:srgbClr val="8FA1B2"/>
                </a:solidFill>
                <a:latin typeface="Calibri" pitchFamily="34" charset="0"/>
                <a:ea typeface="Calibri" pitchFamily="34" charset="-122"/>
                <a:cs typeface="Calibri" pitchFamily="34" charset="-120"/>
              </a:rPr>
              <a:t>A  Committee</a:t>
            </a:r>
            <a:endParaRPr lang="en-US" sz="660" dirty="0"/>
          </a:p>
        </p:txBody>
      </p:sp>
      <p:sp>
        <p:nvSpPr>
          <p:cNvPr id="54" name="outv_0"/>
          <p:cNvSpPr/>
          <p:nvPr/>
        </p:nvSpPr>
        <p:spPr>
          <a:xfrm>
            <a:off x="5102352" y="1618488"/>
            <a:ext cx="786384" cy="237744"/>
          </a:xfrm>
          <a:prstGeom prst="rect">
            <a:avLst/>
          </a:prstGeom>
          <a:noFill/>
          <a:ln/>
        </p:spPr>
        <p:txBody>
          <a:bodyPr wrap="square" lIns="0" tIns="0" rIns="0" bIns="0" rtlCol="0" anchor="ctr"/>
          <a:lstStyle/>
          <a:p>
            <a:pPr marL="0" indent="0">
              <a:buNone/>
            </a:pPr>
            <a:r>
              <a:rPr lang="en-US" sz="1400" b="1" dirty="0">
                <a:solidFill>
                  <a:srgbClr val="8FA1B2"/>
                </a:solidFill>
                <a:latin typeface="Calibri" pitchFamily="34" charset="0"/>
                <a:ea typeface="Calibri" pitchFamily="34" charset="-122"/>
                <a:cs typeface="Calibri" pitchFamily="34" charset="-120"/>
              </a:rPr>
              <a:t>0.38</a:t>
            </a:r>
            <a:endParaRPr lang="en-US" sz="1400" dirty="0"/>
          </a:p>
        </p:txBody>
      </p:sp>
      <p:sp>
        <p:nvSpPr>
          <p:cNvPr id="55" name="outc_0"/>
          <p:cNvSpPr/>
          <p:nvPr/>
        </p:nvSpPr>
        <p:spPr>
          <a:xfrm>
            <a:off x="5102352" y="1847088"/>
            <a:ext cx="786384" cy="128016"/>
          </a:xfrm>
          <a:prstGeom prst="rect">
            <a:avLst/>
          </a:prstGeom>
          <a:noFill/>
          <a:ln/>
        </p:spPr>
        <p:txBody>
          <a:bodyPr wrap="square" lIns="0" tIns="0" rIns="0" bIns="0" rtlCol="0" anchor="ctr"/>
          <a:lstStyle/>
          <a:p>
            <a:pPr marL="0" indent="0">
              <a:buNone/>
            </a:pPr>
            <a:r>
              <a:rPr lang="en-US" sz="560" dirty="0">
                <a:solidFill>
                  <a:srgbClr val="55697C"/>
                </a:solidFill>
                <a:latin typeface="Calibri" pitchFamily="34" charset="0"/>
                <a:ea typeface="Calibri" pitchFamily="34" charset="-122"/>
                <a:cs typeface="Calibri" pitchFamily="34" charset="-120"/>
              </a:rPr>
              <a:t>per $1bn</a:t>
            </a:r>
            <a:endParaRPr lang="en-US" sz="560" dirty="0"/>
          </a:p>
        </p:txBody>
      </p:sp>
      <p:sp>
        <p:nvSpPr>
          <p:cNvPr id="56" name="w3_0"/>
          <p:cNvSpPr/>
          <p:nvPr/>
        </p:nvSpPr>
        <p:spPr>
          <a:xfrm flipV="1">
            <a:off x="4572000" y="1810512"/>
            <a:ext cx="512064" cy="493776"/>
          </a:xfrm>
          <a:prstGeom prst="line">
            <a:avLst/>
          </a:prstGeom>
          <a:noFill/>
          <a:ln w="14605">
            <a:solidFill>
              <a:srgbClr val="8FA1B2"/>
            </a:solidFill>
            <a:prstDash val="solid"/>
            <a:tailEnd type="triangle"/>
          </a:ln>
        </p:spPr>
        <p:txBody>
          <a:bodyPr/>
          <a:lstStyle/>
          <a:p>
            <a:endParaRPr lang="en-US"/>
          </a:p>
        </p:txBody>
      </p:sp>
      <p:sp>
        <p:nvSpPr>
          <p:cNvPr id="57" name="out_1"/>
          <p:cNvSpPr/>
          <p:nvPr/>
        </p:nvSpPr>
        <p:spPr>
          <a:xfrm>
            <a:off x="5047488" y="2139696"/>
            <a:ext cx="877824" cy="566928"/>
          </a:xfrm>
          <a:prstGeom prst="roundRect">
            <a:avLst>
              <a:gd name="adj" fmla="val 8065"/>
            </a:avLst>
          </a:prstGeom>
          <a:solidFill>
            <a:srgbClr val="E0F4F2"/>
          </a:solidFill>
          <a:ln w="11430">
            <a:solidFill>
              <a:srgbClr val="A9E0DA"/>
            </a:solidFill>
            <a:prstDash val="solid"/>
          </a:ln>
        </p:spPr>
        <p:txBody>
          <a:bodyPr/>
          <a:lstStyle/>
          <a:p>
            <a:endParaRPr lang="en-US"/>
          </a:p>
        </p:txBody>
      </p:sp>
      <p:sp>
        <p:nvSpPr>
          <p:cNvPr id="58" name="outt_1"/>
          <p:cNvSpPr/>
          <p:nvPr/>
        </p:nvSpPr>
        <p:spPr>
          <a:xfrm>
            <a:off x="5102352" y="2176272"/>
            <a:ext cx="786384" cy="146304"/>
          </a:xfrm>
          <a:prstGeom prst="rect">
            <a:avLst/>
          </a:prstGeom>
          <a:noFill/>
          <a:ln/>
        </p:spPr>
        <p:txBody>
          <a:bodyPr wrap="square" lIns="0" tIns="0" rIns="0" bIns="0" rtlCol="0" anchor="ctr"/>
          <a:lstStyle/>
          <a:p>
            <a:pPr marL="0" indent="0">
              <a:buNone/>
            </a:pPr>
            <a:r>
              <a:rPr lang="en-US" sz="660" b="1" dirty="0">
                <a:solidFill>
                  <a:srgbClr val="0C8C83"/>
                </a:solidFill>
                <a:latin typeface="Calibri" pitchFamily="34" charset="0"/>
                <a:ea typeface="Calibri" pitchFamily="34" charset="-122"/>
                <a:cs typeface="Calibri" pitchFamily="34" charset="-120"/>
              </a:rPr>
              <a:t>B  AI-led</a:t>
            </a:r>
            <a:endParaRPr lang="en-US" sz="660" dirty="0"/>
          </a:p>
        </p:txBody>
      </p:sp>
      <p:sp>
        <p:nvSpPr>
          <p:cNvPr id="59" name="outv_1"/>
          <p:cNvSpPr/>
          <p:nvPr/>
        </p:nvSpPr>
        <p:spPr>
          <a:xfrm>
            <a:off x="5102352" y="2313432"/>
            <a:ext cx="786384" cy="237744"/>
          </a:xfrm>
          <a:prstGeom prst="rect">
            <a:avLst/>
          </a:prstGeom>
          <a:noFill/>
          <a:ln/>
        </p:spPr>
        <p:txBody>
          <a:bodyPr wrap="square" lIns="0" tIns="0" rIns="0" bIns="0" rtlCol="0" anchor="ctr"/>
          <a:lstStyle/>
          <a:p>
            <a:pPr marL="0" indent="0">
              <a:buNone/>
            </a:pPr>
            <a:r>
              <a:rPr lang="en-US" sz="1400" b="1" dirty="0">
                <a:solidFill>
                  <a:srgbClr val="0C8C83"/>
                </a:solidFill>
                <a:latin typeface="Calibri" pitchFamily="34" charset="0"/>
                <a:ea typeface="Calibri" pitchFamily="34" charset="-122"/>
                <a:cs typeface="Calibri" pitchFamily="34" charset="-120"/>
              </a:rPr>
              <a:t>0.66</a:t>
            </a:r>
            <a:endParaRPr lang="en-US" sz="1400" dirty="0"/>
          </a:p>
        </p:txBody>
      </p:sp>
      <p:sp>
        <p:nvSpPr>
          <p:cNvPr id="60" name="outc_1"/>
          <p:cNvSpPr/>
          <p:nvPr/>
        </p:nvSpPr>
        <p:spPr>
          <a:xfrm>
            <a:off x="5102352" y="2542032"/>
            <a:ext cx="786384" cy="128016"/>
          </a:xfrm>
          <a:prstGeom prst="rect">
            <a:avLst/>
          </a:prstGeom>
          <a:noFill/>
          <a:ln/>
        </p:spPr>
        <p:txBody>
          <a:bodyPr wrap="square" lIns="0" tIns="0" rIns="0" bIns="0" rtlCol="0" anchor="ctr"/>
          <a:lstStyle/>
          <a:p>
            <a:pPr marL="0" indent="0">
              <a:buNone/>
            </a:pPr>
            <a:r>
              <a:rPr lang="en-US" sz="560" dirty="0">
                <a:solidFill>
                  <a:srgbClr val="55697C"/>
                </a:solidFill>
                <a:latin typeface="Calibri" pitchFamily="34" charset="0"/>
                <a:ea typeface="Calibri" pitchFamily="34" charset="-122"/>
                <a:cs typeface="Calibri" pitchFamily="34" charset="-120"/>
              </a:rPr>
              <a:t>per $1bn</a:t>
            </a:r>
            <a:endParaRPr lang="en-US" sz="560" dirty="0"/>
          </a:p>
        </p:txBody>
      </p:sp>
      <p:sp>
        <p:nvSpPr>
          <p:cNvPr id="61" name="w3_1"/>
          <p:cNvSpPr/>
          <p:nvPr/>
        </p:nvSpPr>
        <p:spPr>
          <a:xfrm>
            <a:off x="4572000" y="2304288"/>
            <a:ext cx="475488" cy="118872"/>
          </a:xfrm>
          <a:prstGeom prst="line">
            <a:avLst/>
          </a:prstGeom>
          <a:noFill/>
          <a:ln w="14605">
            <a:solidFill>
              <a:srgbClr val="0C8C83"/>
            </a:solidFill>
            <a:prstDash val="solid"/>
            <a:tailEnd type="triangle"/>
          </a:ln>
        </p:spPr>
        <p:txBody>
          <a:bodyPr/>
          <a:lstStyle/>
          <a:p>
            <a:endParaRPr lang="en-US"/>
          </a:p>
        </p:txBody>
      </p:sp>
      <p:sp>
        <p:nvSpPr>
          <p:cNvPr id="62" name="out_2"/>
          <p:cNvSpPr/>
          <p:nvPr/>
        </p:nvSpPr>
        <p:spPr>
          <a:xfrm>
            <a:off x="5047488" y="2834640"/>
            <a:ext cx="877824" cy="566928"/>
          </a:xfrm>
          <a:prstGeom prst="roundRect">
            <a:avLst>
              <a:gd name="adj" fmla="val 8065"/>
            </a:avLst>
          </a:prstGeom>
          <a:solidFill>
            <a:srgbClr val="FDF2E0"/>
          </a:solidFill>
          <a:ln w="11430">
            <a:solidFill>
              <a:srgbClr val="F2D9A8"/>
            </a:solidFill>
            <a:prstDash val="solid"/>
          </a:ln>
        </p:spPr>
        <p:txBody>
          <a:bodyPr/>
          <a:lstStyle/>
          <a:p>
            <a:endParaRPr lang="en-US"/>
          </a:p>
        </p:txBody>
      </p:sp>
      <p:sp>
        <p:nvSpPr>
          <p:cNvPr id="63" name="outt_2"/>
          <p:cNvSpPr/>
          <p:nvPr/>
        </p:nvSpPr>
        <p:spPr>
          <a:xfrm>
            <a:off x="5102352" y="2871216"/>
            <a:ext cx="786384" cy="146304"/>
          </a:xfrm>
          <a:prstGeom prst="rect">
            <a:avLst/>
          </a:prstGeom>
          <a:noFill/>
          <a:ln/>
        </p:spPr>
        <p:txBody>
          <a:bodyPr wrap="square" lIns="0" tIns="0" rIns="0" bIns="0" rtlCol="0" anchor="ctr"/>
          <a:lstStyle/>
          <a:p>
            <a:pPr marL="0" indent="0">
              <a:buNone/>
            </a:pPr>
            <a:r>
              <a:rPr lang="en-US" sz="660" b="1" dirty="0">
                <a:solidFill>
                  <a:srgbClr val="C77A0A"/>
                </a:solidFill>
                <a:latin typeface="Calibri" pitchFamily="34" charset="0"/>
                <a:ea typeface="Calibri" pitchFamily="34" charset="-122"/>
                <a:cs typeface="Calibri" pitchFamily="34" charset="-120"/>
              </a:rPr>
              <a:t>C  Stress</a:t>
            </a:r>
            <a:endParaRPr lang="en-US" sz="660" dirty="0"/>
          </a:p>
        </p:txBody>
      </p:sp>
      <p:sp>
        <p:nvSpPr>
          <p:cNvPr id="64" name="outv_2"/>
          <p:cNvSpPr/>
          <p:nvPr/>
        </p:nvSpPr>
        <p:spPr>
          <a:xfrm>
            <a:off x="5102352" y="3008376"/>
            <a:ext cx="786384" cy="237744"/>
          </a:xfrm>
          <a:prstGeom prst="rect">
            <a:avLst/>
          </a:prstGeom>
          <a:noFill/>
          <a:ln/>
        </p:spPr>
        <p:txBody>
          <a:bodyPr wrap="square" lIns="0" tIns="0" rIns="0" bIns="0" rtlCol="0" anchor="ctr"/>
          <a:lstStyle/>
          <a:p>
            <a:pPr marL="0" indent="0">
              <a:buNone/>
            </a:pPr>
            <a:r>
              <a:rPr lang="en-US" sz="1400" b="1" dirty="0">
                <a:solidFill>
                  <a:srgbClr val="C77A0A"/>
                </a:solidFill>
                <a:latin typeface="Calibri" pitchFamily="34" charset="0"/>
                <a:ea typeface="Calibri" pitchFamily="34" charset="-122"/>
                <a:cs typeface="Calibri" pitchFamily="34" charset="-120"/>
              </a:rPr>
              <a:t>0.35</a:t>
            </a:r>
            <a:endParaRPr lang="en-US" sz="1400" dirty="0"/>
          </a:p>
        </p:txBody>
      </p:sp>
      <p:sp>
        <p:nvSpPr>
          <p:cNvPr id="65" name="outc_2"/>
          <p:cNvSpPr/>
          <p:nvPr/>
        </p:nvSpPr>
        <p:spPr>
          <a:xfrm>
            <a:off x="5102352" y="3236976"/>
            <a:ext cx="786384" cy="128016"/>
          </a:xfrm>
          <a:prstGeom prst="rect">
            <a:avLst/>
          </a:prstGeom>
          <a:noFill/>
          <a:ln/>
        </p:spPr>
        <p:txBody>
          <a:bodyPr wrap="square" lIns="0" tIns="0" rIns="0" bIns="0" rtlCol="0" anchor="ctr"/>
          <a:lstStyle/>
          <a:p>
            <a:pPr marL="0" indent="0">
              <a:buNone/>
            </a:pPr>
            <a:r>
              <a:rPr lang="en-US" sz="560" dirty="0">
                <a:solidFill>
                  <a:srgbClr val="55697C"/>
                </a:solidFill>
                <a:latin typeface="Calibri" pitchFamily="34" charset="0"/>
                <a:ea typeface="Calibri" pitchFamily="34" charset="-122"/>
                <a:cs typeface="Calibri" pitchFamily="34" charset="-120"/>
              </a:rPr>
              <a:t>per $1bn</a:t>
            </a:r>
            <a:endParaRPr lang="en-US" sz="560" dirty="0"/>
          </a:p>
        </p:txBody>
      </p:sp>
      <p:sp>
        <p:nvSpPr>
          <p:cNvPr id="66" name="w3_2"/>
          <p:cNvSpPr/>
          <p:nvPr/>
        </p:nvSpPr>
        <p:spPr>
          <a:xfrm>
            <a:off x="4572000" y="2304288"/>
            <a:ext cx="475488" cy="813816"/>
          </a:xfrm>
          <a:prstGeom prst="line">
            <a:avLst/>
          </a:prstGeom>
          <a:noFill/>
          <a:ln w="14605">
            <a:solidFill>
              <a:srgbClr val="C77A0A"/>
            </a:solidFill>
            <a:prstDash val="solid"/>
            <a:tailEnd type="triangle"/>
          </a:ln>
        </p:spPr>
        <p:txBody>
          <a:bodyPr/>
          <a:lstStyle/>
          <a:p>
            <a:endParaRPr lang="en-US"/>
          </a:p>
        </p:txBody>
      </p:sp>
      <p:sp>
        <p:nvSpPr>
          <p:cNvPr id="67" name="outh"/>
          <p:cNvSpPr/>
          <p:nvPr/>
        </p:nvSpPr>
        <p:spPr>
          <a:xfrm>
            <a:off x="6199632" y="932688"/>
            <a:ext cx="2286000" cy="146304"/>
          </a:xfrm>
          <a:prstGeom prst="rect">
            <a:avLst/>
          </a:prstGeom>
          <a:noFill/>
          <a:ln/>
        </p:spPr>
        <p:txBody>
          <a:bodyPr wrap="square" lIns="0" tIns="0" rIns="0" bIns="0" rtlCol="0" anchor="ctr"/>
          <a:lstStyle/>
          <a:p>
            <a:pPr marL="0" indent="0">
              <a:buNone/>
            </a:pPr>
            <a:r>
              <a:rPr lang="en-US" sz="700" b="1" kern="0" spc="140" dirty="0">
                <a:solidFill>
                  <a:srgbClr val="0B63CE"/>
                </a:solidFill>
                <a:latin typeface="Calibri" pitchFamily="34" charset="0"/>
                <a:ea typeface="Calibri" pitchFamily="34" charset="-122"/>
                <a:cs typeface="Calibri" pitchFamily="34" charset="-120"/>
              </a:rPr>
              <a:t>OUTPUT</a:t>
            </a:r>
            <a:endParaRPr lang="en-US" sz="700" dirty="0"/>
          </a:p>
        </p:txBody>
      </p:sp>
      <p:sp>
        <p:nvSpPr>
          <p:cNvPr id="68" name="ch1"/>
          <p:cNvSpPr/>
          <p:nvPr/>
        </p:nvSpPr>
        <p:spPr>
          <a:xfrm>
            <a:off x="6144768" y="1115568"/>
            <a:ext cx="2359152" cy="1207008"/>
          </a:xfrm>
          <a:prstGeom prst="roundRect">
            <a:avLst>
              <a:gd name="adj" fmla="val 3788"/>
            </a:avLst>
          </a:prstGeom>
          <a:solidFill>
            <a:srgbClr val="FFFFFF"/>
          </a:solidFill>
          <a:ln w="10160">
            <a:solidFill>
              <a:srgbClr val="E3E9EF"/>
            </a:solidFill>
            <a:prstDash val="solid"/>
          </a:ln>
        </p:spPr>
        <p:txBody>
          <a:bodyPr/>
          <a:lstStyle/>
          <a:p>
            <a:endParaRPr lang="en-US"/>
          </a:p>
        </p:txBody>
      </p:sp>
      <p:pic>
        <p:nvPicPr>
          <p:cNvPr id="69" name="Image 4" descr="preencoded.png"/>
          <p:cNvPicPr>
            <a:picLocks noChangeAspect="1"/>
          </p:cNvPicPr>
          <p:nvPr/>
        </p:nvPicPr>
        <p:blipFill>
          <a:blip r:embed="rId7"/>
          <a:stretch>
            <a:fillRect/>
          </a:stretch>
        </p:blipFill>
        <p:spPr>
          <a:xfrm>
            <a:off x="6199632" y="1161288"/>
            <a:ext cx="2249424" cy="1033272"/>
          </a:xfrm>
          <a:prstGeom prst="rect">
            <a:avLst/>
          </a:prstGeom>
        </p:spPr>
      </p:pic>
      <p:sp>
        <p:nvSpPr>
          <p:cNvPr id="70" name="ch2"/>
          <p:cNvSpPr/>
          <p:nvPr/>
        </p:nvSpPr>
        <p:spPr>
          <a:xfrm>
            <a:off x="6144768" y="2395728"/>
            <a:ext cx="2359152" cy="1207008"/>
          </a:xfrm>
          <a:prstGeom prst="roundRect">
            <a:avLst>
              <a:gd name="adj" fmla="val 3788"/>
            </a:avLst>
          </a:prstGeom>
          <a:solidFill>
            <a:srgbClr val="FFFFFF"/>
          </a:solidFill>
          <a:ln w="10160">
            <a:solidFill>
              <a:srgbClr val="E3E9EF"/>
            </a:solidFill>
            <a:prstDash val="solid"/>
          </a:ln>
        </p:spPr>
        <p:txBody>
          <a:bodyPr/>
          <a:lstStyle/>
          <a:p>
            <a:endParaRPr lang="en-US"/>
          </a:p>
        </p:txBody>
      </p:sp>
      <p:pic>
        <p:nvPicPr>
          <p:cNvPr id="71" name="Image 5" descr="preencoded.png"/>
          <p:cNvPicPr>
            <a:picLocks noChangeAspect="1"/>
          </p:cNvPicPr>
          <p:nvPr/>
        </p:nvPicPr>
        <p:blipFill>
          <a:blip r:embed="rId8"/>
          <a:stretch>
            <a:fillRect/>
          </a:stretch>
        </p:blipFill>
        <p:spPr>
          <a:xfrm>
            <a:off x="6272784" y="2450592"/>
            <a:ext cx="2103120" cy="1097280"/>
          </a:xfrm>
          <a:prstGeom prst="rect">
            <a:avLst/>
          </a:prstGeom>
        </p:spPr>
      </p:pic>
      <p:sp>
        <p:nvSpPr>
          <p:cNvPr id="72" name="hero"/>
          <p:cNvSpPr/>
          <p:nvPr/>
        </p:nvSpPr>
        <p:spPr>
          <a:xfrm>
            <a:off x="6144768" y="3675888"/>
            <a:ext cx="2359152" cy="548640"/>
          </a:xfrm>
          <a:prstGeom prst="roundRect">
            <a:avLst>
              <a:gd name="adj" fmla="val 8333"/>
            </a:avLst>
          </a:prstGeom>
          <a:solidFill>
            <a:srgbClr val="0C8C83"/>
          </a:solidFill>
          <a:ln w="12700">
            <a:solidFill>
              <a:srgbClr val="0C8C83"/>
            </a:solidFill>
            <a:prstDash val="solid"/>
          </a:ln>
        </p:spPr>
        <p:txBody>
          <a:bodyPr/>
          <a:lstStyle/>
          <a:p>
            <a:endParaRPr lang="en-US"/>
          </a:p>
        </p:txBody>
      </p:sp>
      <p:sp>
        <p:nvSpPr>
          <p:cNvPr id="73" name="herov"/>
          <p:cNvSpPr/>
          <p:nvPr/>
        </p:nvSpPr>
        <p:spPr>
          <a:xfrm>
            <a:off x="6254496" y="3730752"/>
            <a:ext cx="877824" cy="32918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+72%</a:t>
            </a:r>
            <a:endParaRPr lang="en-US" sz="2000" dirty="0"/>
          </a:p>
        </p:txBody>
      </p:sp>
      <p:sp>
        <p:nvSpPr>
          <p:cNvPr id="74" name="herot"/>
          <p:cNvSpPr/>
          <p:nvPr/>
        </p:nvSpPr>
        <p:spPr>
          <a:xfrm>
            <a:off x="7095744" y="3730752"/>
            <a:ext cx="1335024" cy="438912"/>
          </a:xfrm>
          <a:prstGeom prst="rect">
            <a:avLst/>
          </a:prstGeom>
          <a:noFill/>
          <a:ln/>
        </p:spPr>
        <p:txBody>
          <a:bodyPr wrap="square" lIns="0" tIns="0" rIns="0" bIns="0" rtlCol="0" anchor="ctr"/>
          <a:lstStyle/>
          <a:p>
            <a:pPr marL="0" indent="0">
              <a:lnSpc>
                <a:spcPts val="850"/>
              </a:lnSpc>
              <a:buNone/>
            </a:pPr>
            <a:r>
              <a:rPr lang="en-US" sz="700" dirty="0">
                <a:solidFill>
                  <a:srgbClr val="DFF5F2"/>
                </a:solidFill>
                <a:latin typeface="Calibri" pitchFamily="34" charset="0"/>
                <a:ea typeface="Calibri" pitchFamily="34" charset="-122"/>
                <a:cs typeface="Calibri" pitchFamily="34" charset="-120"/>
              </a:rPr>
              <a:t>more medicines</a:t>
            </a:r>
            <a:endParaRPr lang="en-US" sz="700" dirty="0"/>
          </a:p>
          <a:p>
            <a:pPr marL="0" indent="0">
              <a:lnSpc>
                <a:spcPts val="850"/>
              </a:lnSpc>
              <a:buNone/>
            </a:pPr>
            <a:r>
              <a:rPr lang="en-US" sz="700" dirty="0">
                <a:solidFill>
                  <a:srgbClr val="DFF5F2"/>
                </a:solidFill>
                <a:latin typeface="Calibri" pitchFamily="34" charset="0"/>
                <a:ea typeface="Calibri" pitchFamily="34" charset="-122"/>
                <a:cs typeface="Calibri" pitchFamily="34" charset="-120"/>
              </a:rPr>
              <a:t>for the same $1bn</a:t>
            </a:r>
            <a:endParaRPr lang="en-US" sz="700" dirty="0"/>
          </a:p>
        </p:txBody>
      </p:sp>
      <p:sp>
        <p:nvSpPr>
          <p:cNvPr id="75" name="status"/>
          <p:cNvSpPr/>
          <p:nvPr/>
        </p:nvSpPr>
        <p:spPr>
          <a:xfrm>
            <a:off x="640080" y="4334256"/>
            <a:ext cx="7863840" cy="274320"/>
          </a:xfrm>
          <a:prstGeom prst="roundRect">
            <a:avLst>
              <a:gd name="adj" fmla="val 13333"/>
            </a:avLst>
          </a:prstGeom>
          <a:solidFill>
            <a:srgbClr val="F3F7FB"/>
          </a:solidFill>
          <a:ln w="8890">
            <a:solidFill>
              <a:srgbClr val="E3E9EF"/>
            </a:solidFill>
            <a:prstDash val="solid"/>
          </a:ln>
        </p:spPr>
        <p:txBody>
          <a:bodyPr/>
          <a:lstStyle/>
          <a:p>
            <a:endParaRPr lang="en-US"/>
          </a:p>
        </p:txBody>
      </p:sp>
      <p:sp>
        <p:nvSpPr>
          <p:cNvPr id="76" name="statusdot"/>
          <p:cNvSpPr/>
          <p:nvPr/>
        </p:nvSpPr>
        <p:spPr>
          <a:xfrm>
            <a:off x="768096" y="4425696"/>
            <a:ext cx="100584" cy="100584"/>
          </a:xfrm>
          <a:prstGeom prst="ellipse">
            <a:avLst/>
          </a:prstGeom>
          <a:solidFill>
            <a:srgbClr val="0C8C83"/>
          </a:solidFill>
          <a:ln w="12700">
            <a:solidFill>
              <a:srgbClr val="0C8C83"/>
            </a:solidFill>
            <a:prstDash val="solid"/>
          </a:ln>
        </p:spPr>
        <p:txBody>
          <a:bodyPr/>
          <a:lstStyle/>
          <a:p>
            <a:endParaRPr lang="en-US"/>
          </a:p>
        </p:txBody>
      </p:sp>
      <p:sp>
        <p:nvSpPr>
          <p:cNvPr id="77" name="statust"/>
          <p:cNvSpPr/>
          <p:nvPr/>
        </p:nvSpPr>
        <p:spPr>
          <a:xfrm>
            <a:off x="932688" y="4334256"/>
            <a:ext cx="7498080" cy="274320"/>
          </a:xfrm>
          <a:prstGeom prst="rect">
            <a:avLst/>
          </a:prstGeom>
          <a:noFill/>
          <a:ln/>
        </p:spPr>
        <p:txBody>
          <a:bodyPr wrap="square" lIns="0" tIns="0" rIns="0" bIns="0" rtlCol="0" anchor="ctr"/>
          <a:lstStyle/>
          <a:p>
            <a:pPr marL="0" indent="0">
              <a:buNone/>
            </a:pPr>
            <a:r>
              <a:rPr lang="en-US" sz="660" b="1" dirty="0">
                <a:solidFill>
                  <a:srgbClr val="0C8C83"/>
                </a:solidFill>
                <a:latin typeface="Consolas" pitchFamily="34" charset="0"/>
                <a:ea typeface="Consolas" pitchFamily="34" charset="-122"/>
                <a:cs typeface="Consolas" pitchFamily="34" charset="-120"/>
              </a:rPr>
              <a:t>Run: complete</a:t>
            </a:r>
            <a:r>
              <a:rPr lang="en-US" sz="660" dirty="0">
                <a:solidFill>
                  <a:srgbClr val="55697C"/>
                </a:solidFill>
                <a:latin typeface="Consolas" pitchFamily="34" charset="0"/>
                <a:ea typeface="Consolas" pitchFamily="34" charset="-122"/>
                <a:cs typeface="Consolas" pitchFamily="34" charset="-120"/>
              </a:rPr>
              <a:t>   ·   simulation.py   ·   Python / NumPy   ·   210,000 rows   ·   10,000 iterations per scenario   ·   seed 2026   ·   81s</a:t>
            </a:r>
            <a:endParaRPr lang="en-US" sz="660" dirty="0"/>
          </a:p>
        </p:txBody>
      </p:sp>
      <p:sp>
        <p:nvSpPr>
          <p:cNvPr id="78" name="canvasfoot"/>
          <p:cNvSpPr/>
          <p:nvPr/>
        </p:nvSpPr>
        <p:spPr>
          <a:xfrm>
            <a:off x="640080" y="4645152"/>
            <a:ext cx="7863840" cy="164592"/>
          </a:xfrm>
          <a:prstGeom prst="rect">
            <a:avLst/>
          </a:prstGeom>
          <a:noFill/>
          <a:ln/>
        </p:spPr>
        <p:txBody>
          <a:bodyPr wrap="square" lIns="0" tIns="0" rIns="0" bIns="0" rtlCol="0" anchor="ctr"/>
          <a:lstStyle/>
          <a:p>
            <a:pPr marL="0" indent="0">
              <a:buNone/>
            </a:pPr>
            <a:r>
              <a:rPr lang="en-US" sz="700" dirty="0">
                <a:solidFill>
                  <a:srgbClr val="8FA1B2"/>
                </a:solidFill>
                <a:latin typeface="Calibri" pitchFamily="34" charset="0"/>
                <a:ea typeface="Calibri" pitchFamily="34" charset="-122"/>
                <a:cs typeface="Calibri" pitchFamily="34" charset="-120"/>
              </a:rPr>
              <a:t>Every block on this canvas is a real step in simulation.py, and every number on it came out of the run.</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ppt_y</p:attrName>
                                        </p:attrNameLst>
                                      </p:cBhvr>
                                      <p:tavLst>
                                        <p:tav tm="0">
                                          <p:val>
                                            <p:strVal val="1+#ppt_h/2"/>
                                          </p:val>
                                        </p:tav>
                                        <p:tav tm="100000">
                                          <p:val>
                                            <p:strVal val="#ppt_y"/>
                                          </p:val>
                                        </p:tav>
                                      </p:tavLst>
                                    </p:anim>
                                    <p:animEffect transition="in" filter="fade">
                                      <p:cBhvr>
                                        <p:cTn id="8" dur="500"/>
                                        <p:tgtEl>
                                          <p:spTgt spid="4"/>
                                        </p:tgtEl>
                                      </p:cBhvr>
                                    </p:animEffect>
                                  </p:childTnLst>
                                </p:cTn>
                              </p:par>
                            </p:childTnLst>
                          </p:cTn>
                        </p:par>
                        <p:par>
                          <p:cTn id="9" fill="hold">
                            <p:stCondLst>
                              <p:cond delay="120"/>
                            </p:stCondLst>
                            <p:childTnLst>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Effect transition="in" filter="fade">
                                      <p:cBhvr>
                                        <p:cTn id="13" dur="500"/>
                                        <p:tgtEl>
                                          <p:spTgt spid="5"/>
                                        </p:tgtEl>
                                      </p:cBhvr>
                                    </p:animEffect>
                                  </p:childTnLst>
                                </p:cTn>
                              </p:par>
                            </p:childTnLst>
                          </p:cTn>
                        </p:par>
                        <p:par>
                          <p:cTn id="14" fill="hold">
                            <p:stCondLst>
                              <p:cond delay="400"/>
                            </p:stCondLst>
                            <p:childTnLst>
                              <p:par>
                                <p:cTn id="15" presetID="2" presetClass="entr" presetSubtype="8"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Effect transition="in" filter="fade">
                                      <p:cBhvr>
                                        <p:cTn id="18" dur="500"/>
                                        <p:tgtEl>
                                          <p:spTgt spid="8"/>
                                        </p:tgtEl>
                                      </p:cBhvr>
                                    </p:animEffect>
                                  </p:childTnLst>
                                </p:cTn>
                              </p:par>
                            </p:childTnLst>
                          </p:cTn>
                        </p:par>
                        <p:par>
                          <p:cTn id="19" fill="hold">
                            <p:stCondLst>
                              <p:cond delay="480"/>
                            </p:stCondLst>
                            <p:childTnLst>
                              <p:par>
                                <p:cTn id="20" presetID="2" presetClass="entr" presetSubtype="8"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Effect transition="in" filter="fade">
                                      <p:cBhvr>
                                        <p:cTn id="23" dur="500"/>
                                        <p:tgtEl>
                                          <p:spTgt spid="9"/>
                                        </p:tgtEl>
                                      </p:cBhvr>
                                    </p:animEffect>
                                  </p:childTnLst>
                                </p:cTn>
                              </p:par>
                            </p:childTnLst>
                          </p:cTn>
                        </p:par>
                        <p:par>
                          <p:cTn id="24" fill="hold">
                            <p:stCondLst>
                              <p:cond delay="480"/>
                            </p:stCondLst>
                            <p:childTnLst>
                              <p:par>
                                <p:cTn id="25" presetID="2" presetClass="entr" presetSubtype="8"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Effect transition="in" filter="fade">
                                      <p:cBhvr>
                                        <p:cTn id="28" dur="500"/>
                                        <p:tgtEl>
                                          <p:spTgt spid="10"/>
                                        </p:tgtEl>
                                      </p:cBhvr>
                                    </p:animEffect>
                                  </p:childTnLst>
                                </p:cTn>
                              </p:par>
                            </p:childTnLst>
                          </p:cTn>
                        </p:par>
                        <p:par>
                          <p:cTn id="29" fill="hold">
                            <p:stCondLst>
                              <p:cond delay="640"/>
                            </p:stCondLst>
                            <p:childTnLst>
                              <p:par>
                                <p:cTn id="30" presetID="2" presetClass="entr" presetSubtype="8"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Effect transition="in" filter="fade">
                                      <p:cBhvr>
                                        <p:cTn id="33" dur="500"/>
                                        <p:tgtEl>
                                          <p:spTgt spid="11"/>
                                        </p:tgtEl>
                                      </p:cBhvr>
                                    </p:animEffect>
                                  </p:childTnLst>
                                </p:cTn>
                              </p:par>
                            </p:childTnLst>
                          </p:cTn>
                        </p:par>
                        <p:par>
                          <p:cTn id="34" fill="hold">
                            <p:stCondLst>
                              <p:cond delay="720"/>
                            </p:stCondLst>
                            <p:childTnLst>
                              <p:par>
                                <p:cTn id="35" presetID="2" presetClass="entr" presetSubtype="8"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Effect transition="in" filter="fade">
                                      <p:cBhvr>
                                        <p:cTn id="38" dur="500"/>
                                        <p:tgtEl>
                                          <p:spTgt spid="12"/>
                                        </p:tgtEl>
                                      </p:cBhvr>
                                    </p:animEffect>
                                  </p:childTnLst>
                                </p:cTn>
                              </p:par>
                            </p:childTnLst>
                          </p:cTn>
                        </p:par>
                        <p:par>
                          <p:cTn id="39" fill="hold">
                            <p:stCondLst>
                              <p:cond delay="720"/>
                            </p:stCondLst>
                            <p:childTnLst>
                              <p:par>
                                <p:cTn id="40" presetID="2" presetClass="entr" presetSubtype="8"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0-#ppt_w/2"/>
                                          </p:val>
                                        </p:tav>
                                        <p:tav tm="100000">
                                          <p:val>
                                            <p:strVal val="#ppt_x"/>
                                          </p:val>
                                        </p:tav>
                                      </p:tavLst>
                                    </p:anim>
                                    <p:animEffect transition="in" filter="fade">
                                      <p:cBhvr>
                                        <p:cTn id="43" dur="500"/>
                                        <p:tgtEl>
                                          <p:spTgt spid="13"/>
                                        </p:tgtEl>
                                      </p:cBhvr>
                                    </p:animEffect>
                                  </p:childTnLst>
                                </p:cTn>
                              </p:par>
                            </p:childTnLst>
                          </p:cTn>
                        </p:par>
                        <p:par>
                          <p:cTn id="44" fill="hold">
                            <p:stCondLst>
                              <p:cond delay="880"/>
                            </p:stCondLst>
                            <p:childTnLst>
                              <p:par>
                                <p:cTn id="45" presetID="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Effect transition="in" filter="fade">
                                      <p:cBhvr>
                                        <p:cTn id="48" dur="500"/>
                                        <p:tgtEl>
                                          <p:spTgt spid="14"/>
                                        </p:tgtEl>
                                      </p:cBhvr>
                                    </p:animEffect>
                                  </p:childTnLst>
                                </p:cTn>
                              </p:par>
                            </p:childTnLst>
                          </p:cTn>
                        </p:par>
                        <p:par>
                          <p:cTn id="49" fill="hold">
                            <p:stCondLst>
                              <p:cond delay="960"/>
                            </p:stCondLst>
                            <p:childTnLst>
                              <p:par>
                                <p:cTn id="50" presetID="2" presetClass="entr" presetSubtype="8"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0-#ppt_w/2"/>
                                          </p:val>
                                        </p:tav>
                                        <p:tav tm="100000">
                                          <p:val>
                                            <p:strVal val="#ppt_x"/>
                                          </p:val>
                                        </p:tav>
                                      </p:tavLst>
                                    </p:anim>
                                    <p:animEffect transition="in" filter="fade">
                                      <p:cBhvr>
                                        <p:cTn id="53" dur="500"/>
                                        <p:tgtEl>
                                          <p:spTgt spid="15"/>
                                        </p:tgtEl>
                                      </p:cBhvr>
                                    </p:animEffect>
                                  </p:childTnLst>
                                </p:cTn>
                              </p:par>
                            </p:childTnLst>
                          </p:cTn>
                        </p:par>
                        <p:par>
                          <p:cTn id="54" fill="hold">
                            <p:stCondLst>
                              <p:cond delay="960"/>
                            </p:stCondLst>
                            <p:childTnLst>
                              <p:par>
                                <p:cTn id="55" presetID="2" presetClass="entr" presetSubtype="8"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0-#ppt_w/2"/>
                                          </p:val>
                                        </p:tav>
                                        <p:tav tm="100000">
                                          <p:val>
                                            <p:strVal val="#ppt_x"/>
                                          </p:val>
                                        </p:tav>
                                      </p:tavLst>
                                    </p:anim>
                                    <p:animEffect transition="in" filter="fade">
                                      <p:cBhvr>
                                        <p:cTn id="58" dur="500"/>
                                        <p:tgtEl>
                                          <p:spTgt spid="16"/>
                                        </p:tgtEl>
                                      </p:cBhvr>
                                    </p:animEffect>
                                  </p:childTnLst>
                                </p:cTn>
                              </p:par>
                            </p:childTnLst>
                          </p:cTn>
                        </p:par>
                        <p:par>
                          <p:cTn id="59" fill="hold">
                            <p:stCondLst>
                              <p:cond delay="1120"/>
                            </p:stCondLst>
                            <p:childTnLst>
                              <p:par>
                                <p:cTn id="60" presetID="2" presetClass="entr" presetSubtype="8"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0-#ppt_w/2"/>
                                          </p:val>
                                        </p:tav>
                                        <p:tav tm="100000">
                                          <p:val>
                                            <p:strVal val="#ppt_x"/>
                                          </p:val>
                                        </p:tav>
                                      </p:tavLst>
                                    </p:anim>
                                    <p:animEffect transition="in" filter="fade">
                                      <p:cBhvr>
                                        <p:cTn id="63" dur="500"/>
                                        <p:tgtEl>
                                          <p:spTgt spid="17"/>
                                        </p:tgtEl>
                                      </p:cBhvr>
                                    </p:animEffect>
                                  </p:childTnLst>
                                </p:cTn>
                              </p:par>
                            </p:childTnLst>
                          </p:cTn>
                        </p:par>
                        <p:par>
                          <p:cTn id="64" fill="hold">
                            <p:stCondLst>
                              <p:cond delay="1200"/>
                            </p:stCondLst>
                            <p:childTnLst>
                              <p:par>
                                <p:cTn id="65" presetID="2" presetClass="entr" presetSubtype="8"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0-#ppt_w/2"/>
                                          </p:val>
                                        </p:tav>
                                        <p:tav tm="100000">
                                          <p:val>
                                            <p:strVal val="#ppt_x"/>
                                          </p:val>
                                        </p:tav>
                                      </p:tavLst>
                                    </p:anim>
                                    <p:animEffect transition="in" filter="fade">
                                      <p:cBhvr>
                                        <p:cTn id="68" dur="500"/>
                                        <p:tgtEl>
                                          <p:spTgt spid="18"/>
                                        </p:tgtEl>
                                      </p:cBhvr>
                                    </p:animEffect>
                                  </p:childTnLst>
                                </p:cTn>
                              </p:par>
                            </p:childTnLst>
                          </p:cTn>
                        </p:par>
                        <p:par>
                          <p:cTn id="69" fill="hold">
                            <p:stCondLst>
                              <p:cond delay="1200"/>
                            </p:stCondLst>
                            <p:childTnLst>
                              <p:par>
                                <p:cTn id="70" presetID="2" presetClass="entr" presetSubtype="8" fill="hold"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00" fill="hold"/>
                                        <p:tgtEl>
                                          <p:spTgt spid="19"/>
                                        </p:tgtEl>
                                        <p:attrNameLst>
                                          <p:attrName>ppt_x</p:attrName>
                                        </p:attrNameLst>
                                      </p:cBhvr>
                                      <p:tavLst>
                                        <p:tav tm="0">
                                          <p:val>
                                            <p:strVal val="0-#ppt_w/2"/>
                                          </p:val>
                                        </p:tav>
                                        <p:tav tm="100000">
                                          <p:val>
                                            <p:strVal val="#ppt_x"/>
                                          </p:val>
                                        </p:tav>
                                      </p:tavLst>
                                    </p:anim>
                                    <p:animEffect transition="in" filter="fade">
                                      <p:cBhvr>
                                        <p:cTn id="73" dur="500"/>
                                        <p:tgtEl>
                                          <p:spTgt spid="19"/>
                                        </p:tgtEl>
                                      </p:cBhvr>
                                    </p:animEffect>
                                  </p:childTnLst>
                                </p:cTn>
                              </p:par>
                            </p:childTnLst>
                          </p:cTn>
                        </p:par>
                        <p:par>
                          <p:cTn id="74" fill="hold">
                            <p:stCondLst>
                              <p:cond delay="1510"/>
                            </p:stCondLst>
                            <p:childTnLst>
                              <p:par>
                                <p:cTn id="75" presetID="2" presetClass="entr" presetSubtype="8"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0-#ppt_w/2"/>
                                          </p:val>
                                        </p:tav>
                                        <p:tav tm="100000">
                                          <p:val>
                                            <p:strVal val="#ppt_x"/>
                                          </p:val>
                                        </p:tav>
                                      </p:tavLst>
                                    </p:anim>
                                    <p:animEffect transition="in" filter="fade">
                                      <p:cBhvr>
                                        <p:cTn id="78" dur="500"/>
                                        <p:tgtEl>
                                          <p:spTgt spid="20"/>
                                        </p:tgtEl>
                                      </p:cBhvr>
                                    </p:animEffect>
                                  </p:childTnLst>
                                </p:cTn>
                              </p:par>
                            </p:childTnLst>
                          </p:cTn>
                        </p:par>
                        <p:par>
                          <p:cTn id="79" fill="hold">
                            <p:stCondLst>
                              <p:cond delay="1600"/>
                            </p:stCondLst>
                            <p:childTnLst>
                              <p:par>
                                <p:cTn id="80" presetID="2" presetClass="entr" presetSubtype="8" fill="hold"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00" fill="hold"/>
                                        <p:tgtEl>
                                          <p:spTgt spid="22"/>
                                        </p:tgtEl>
                                        <p:attrNameLst>
                                          <p:attrName>ppt_x</p:attrName>
                                        </p:attrNameLst>
                                      </p:cBhvr>
                                      <p:tavLst>
                                        <p:tav tm="0">
                                          <p:val>
                                            <p:strVal val="0-#ppt_w/2"/>
                                          </p:val>
                                        </p:tav>
                                        <p:tav tm="100000">
                                          <p:val>
                                            <p:strVal val="#ppt_x"/>
                                          </p:val>
                                        </p:tav>
                                      </p:tavLst>
                                    </p:anim>
                                    <p:animEffect transition="in" filter="fade">
                                      <p:cBhvr>
                                        <p:cTn id="83" dur="500"/>
                                        <p:tgtEl>
                                          <p:spTgt spid="22"/>
                                        </p:tgtEl>
                                      </p:cBhvr>
                                    </p:animEffect>
                                  </p:childTnLst>
                                </p:cTn>
                              </p:par>
                            </p:childTnLst>
                          </p:cTn>
                        </p:par>
                        <p:par>
                          <p:cTn id="84" fill="hold">
                            <p:stCondLst>
                              <p:cond delay="1600"/>
                            </p:stCondLst>
                            <p:childTnLst>
                              <p:par>
                                <p:cTn id="85" presetID="2" presetClass="entr" presetSubtype="8" fill="hold"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0-#ppt_w/2"/>
                                          </p:val>
                                        </p:tav>
                                        <p:tav tm="100000">
                                          <p:val>
                                            <p:strVal val="#ppt_x"/>
                                          </p:val>
                                        </p:tav>
                                      </p:tavLst>
                                    </p:anim>
                                    <p:animEffect transition="in" filter="fade">
                                      <p:cBhvr>
                                        <p:cTn id="88" dur="500"/>
                                        <p:tgtEl>
                                          <p:spTgt spid="23"/>
                                        </p:tgtEl>
                                      </p:cBhvr>
                                    </p:animEffect>
                                  </p:childTnLst>
                                </p:cTn>
                              </p:par>
                            </p:childTnLst>
                          </p:cTn>
                        </p:par>
                        <p:par>
                          <p:cTn id="89" fill="hold">
                            <p:stCondLst>
                              <p:cond delay="1770"/>
                            </p:stCondLst>
                            <p:childTnLst>
                              <p:par>
                                <p:cTn id="90" presetID="2" presetClass="entr" presetSubtype="8" fill="hold" nodeType="withEffect">
                                  <p:stCondLst>
                                    <p:cond delay="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500" fill="hold"/>
                                        <p:tgtEl>
                                          <p:spTgt spid="24"/>
                                        </p:tgtEl>
                                        <p:attrNameLst>
                                          <p:attrName>ppt_x</p:attrName>
                                        </p:attrNameLst>
                                      </p:cBhvr>
                                      <p:tavLst>
                                        <p:tav tm="0">
                                          <p:val>
                                            <p:strVal val="0-#ppt_w/2"/>
                                          </p:val>
                                        </p:tav>
                                        <p:tav tm="100000">
                                          <p:val>
                                            <p:strVal val="#ppt_x"/>
                                          </p:val>
                                        </p:tav>
                                      </p:tavLst>
                                    </p:anim>
                                    <p:animEffect transition="in" filter="fade">
                                      <p:cBhvr>
                                        <p:cTn id="93" dur="500"/>
                                        <p:tgtEl>
                                          <p:spTgt spid="24"/>
                                        </p:tgtEl>
                                      </p:cBhvr>
                                    </p:animEffect>
                                  </p:childTnLst>
                                </p:cTn>
                              </p:par>
                            </p:childTnLst>
                          </p:cTn>
                        </p:par>
                        <p:par>
                          <p:cTn id="94" fill="hold">
                            <p:stCondLst>
                              <p:cond delay="1810"/>
                            </p:stCondLst>
                            <p:childTnLst>
                              <p:par>
                                <p:cTn id="95" presetID="2" presetClass="entr" presetSubtype="8"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00" fill="hold"/>
                                        <p:tgtEl>
                                          <p:spTgt spid="25"/>
                                        </p:tgtEl>
                                        <p:attrNameLst>
                                          <p:attrName>ppt_x</p:attrName>
                                        </p:attrNameLst>
                                      </p:cBhvr>
                                      <p:tavLst>
                                        <p:tav tm="0">
                                          <p:val>
                                            <p:strVal val="0-#ppt_w/2"/>
                                          </p:val>
                                        </p:tav>
                                        <p:tav tm="100000">
                                          <p:val>
                                            <p:strVal val="#ppt_x"/>
                                          </p:val>
                                        </p:tav>
                                      </p:tavLst>
                                    </p:anim>
                                    <p:animEffect transition="in" filter="fade">
                                      <p:cBhvr>
                                        <p:cTn id="98" dur="500"/>
                                        <p:tgtEl>
                                          <p:spTgt spid="25"/>
                                        </p:tgtEl>
                                      </p:cBhvr>
                                    </p:animEffect>
                                  </p:childTnLst>
                                </p:cTn>
                              </p:par>
                            </p:childTnLst>
                          </p:cTn>
                        </p:par>
                        <p:par>
                          <p:cTn id="99" fill="hold">
                            <p:stCondLst>
                              <p:cond delay="1900"/>
                            </p:stCondLst>
                            <p:childTnLst>
                              <p:par>
                                <p:cTn id="100" presetID="2" presetClass="entr" presetSubtype="8" fill="hold" nodeType="withEffect">
                                  <p:stCondLst>
                                    <p:cond delay="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0-#ppt_w/2"/>
                                          </p:val>
                                        </p:tav>
                                        <p:tav tm="100000">
                                          <p:val>
                                            <p:strVal val="#ppt_x"/>
                                          </p:val>
                                        </p:tav>
                                      </p:tavLst>
                                    </p:anim>
                                    <p:animEffect transition="in" filter="fade">
                                      <p:cBhvr>
                                        <p:cTn id="103" dur="500"/>
                                        <p:tgtEl>
                                          <p:spTgt spid="27"/>
                                        </p:tgtEl>
                                      </p:cBhvr>
                                    </p:animEffect>
                                  </p:childTnLst>
                                </p:cTn>
                              </p:par>
                            </p:childTnLst>
                          </p:cTn>
                        </p:par>
                        <p:par>
                          <p:cTn id="104" fill="hold">
                            <p:stCondLst>
                              <p:cond delay="1900"/>
                            </p:stCondLst>
                            <p:childTnLst>
                              <p:par>
                                <p:cTn id="105" presetID="2" presetClass="entr" presetSubtype="8" fill="hold" nodeType="with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0-#ppt_w/2"/>
                                          </p:val>
                                        </p:tav>
                                        <p:tav tm="100000">
                                          <p:val>
                                            <p:strVal val="#ppt_x"/>
                                          </p:val>
                                        </p:tav>
                                      </p:tavLst>
                                    </p:anim>
                                    <p:animEffect transition="in" filter="fade">
                                      <p:cBhvr>
                                        <p:cTn id="108" dur="500"/>
                                        <p:tgtEl>
                                          <p:spTgt spid="28"/>
                                        </p:tgtEl>
                                      </p:cBhvr>
                                    </p:animEffect>
                                  </p:childTnLst>
                                </p:cTn>
                              </p:par>
                            </p:childTnLst>
                          </p:cTn>
                        </p:par>
                        <p:par>
                          <p:cTn id="109" fill="hold">
                            <p:stCondLst>
                              <p:cond delay="2070"/>
                            </p:stCondLst>
                            <p:childTnLst>
                              <p:par>
                                <p:cTn id="110" presetID="2" presetClass="entr" presetSubtype="8" fill="hold" nodeType="withEffect">
                                  <p:stCondLst>
                                    <p:cond delay="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0-#ppt_w/2"/>
                                          </p:val>
                                        </p:tav>
                                        <p:tav tm="100000">
                                          <p:val>
                                            <p:strVal val="#ppt_x"/>
                                          </p:val>
                                        </p:tav>
                                      </p:tavLst>
                                    </p:anim>
                                    <p:animEffect transition="in" filter="fade">
                                      <p:cBhvr>
                                        <p:cTn id="113" dur="500"/>
                                        <p:tgtEl>
                                          <p:spTgt spid="29"/>
                                        </p:tgtEl>
                                      </p:cBhvr>
                                    </p:animEffect>
                                  </p:childTnLst>
                                </p:cTn>
                              </p:par>
                            </p:childTnLst>
                          </p:cTn>
                        </p:par>
                        <p:par>
                          <p:cTn id="114" fill="hold">
                            <p:stCondLst>
                              <p:cond delay="2110"/>
                            </p:stCondLst>
                            <p:childTnLst>
                              <p:par>
                                <p:cTn id="115" presetID="2" presetClass="entr" presetSubtype="8" fill="hold" nodeType="with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0-#ppt_w/2"/>
                                          </p:val>
                                        </p:tav>
                                        <p:tav tm="100000">
                                          <p:val>
                                            <p:strVal val="#ppt_x"/>
                                          </p:val>
                                        </p:tav>
                                      </p:tavLst>
                                    </p:anim>
                                    <p:animEffect transition="in" filter="fade">
                                      <p:cBhvr>
                                        <p:cTn id="118" dur="500"/>
                                        <p:tgtEl>
                                          <p:spTgt spid="30"/>
                                        </p:tgtEl>
                                      </p:cBhvr>
                                    </p:animEffect>
                                  </p:childTnLst>
                                </p:cTn>
                              </p:par>
                            </p:childTnLst>
                          </p:cTn>
                        </p:par>
                        <p:par>
                          <p:cTn id="119" fill="hold">
                            <p:stCondLst>
                              <p:cond delay="2200"/>
                            </p:stCondLst>
                            <p:childTnLst>
                              <p:par>
                                <p:cTn id="120" presetID="2" presetClass="entr" presetSubtype="8" fill="hold" nodeType="withEffect">
                                  <p:stCondLst>
                                    <p:cond delay="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0-#ppt_w/2"/>
                                          </p:val>
                                        </p:tav>
                                        <p:tav tm="100000">
                                          <p:val>
                                            <p:strVal val="#ppt_x"/>
                                          </p:val>
                                        </p:tav>
                                      </p:tavLst>
                                    </p:anim>
                                    <p:animEffect transition="in" filter="fade">
                                      <p:cBhvr>
                                        <p:cTn id="123" dur="500"/>
                                        <p:tgtEl>
                                          <p:spTgt spid="32"/>
                                        </p:tgtEl>
                                      </p:cBhvr>
                                    </p:animEffect>
                                  </p:childTnLst>
                                </p:cTn>
                              </p:par>
                            </p:childTnLst>
                          </p:cTn>
                        </p:par>
                        <p:par>
                          <p:cTn id="124" fill="hold">
                            <p:stCondLst>
                              <p:cond delay="2200"/>
                            </p:stCondLst>
                            <p:childTnLst>
                              <p:par>
                                <p:cTn id="125" presetID="2" presetClass="entr" presetSubtype="8" fill="hold" nodeType="with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0-#ppt_w/2"/>
                                          </p:val>
                                        </p:tav>
                                        <p:tav tm="100000">
                                          <p:val>
                                            <p:strVal val="#ppt_x"/>
                                          </p:val>
                                        </p:tav>
                                      </p:tavLst>
                                    </p:anim>
                                    <p:animEffect transition="in" filter="fade">
                                      <p:cBhvr>
                                        <p:cTn id="128" dur="500"/>
                                        <p:tgtEl>
                                          <p:spTgt spid="33"/>
                                        </p:tgtEl>
                                      </p:cBhvr>
                                    </p:animEffect>
                                  </p:childTnLst>
                                </p:cTn>
                              </p:par>
                            </p:childTnLst>
                          </p:cTn>
                        </p:par>
                        <p:par>
                          <p:cTn id="129" fill="hold">
                            <p:stCondLst>
                              <p:cond delay="2370"/>
                            </p:stCondLst>
                            <p:childTnLst>
                              <p:par>
                                <p:cTn id="130" presetID="2" presetClass="entr" presetSubtype="8" fill="hold" nodeType="withEffect">
                                  <p:stCondLst>
                                    <p:cond delay="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0-#ppt_w/2"/>
                                          </p:val>
                                        </p:tav>
                                        <p:tav tm="100000">
                                          <p:val>
                                            <p:strVal val="#ppt_x"/>
                                          </p:val>
                                        </p:tav>
                                      </p:tavLst>
                                    </p:anim>
                                    <p:animEffect transition="in" filter="fade">
                                      <p:cBhvr>
                                        <p:cTn id="133" dur="500"/>
                                        <p:tgtEl>
                                          <p:spTgt spid="34"/>
                                        </p:tgtEl>
                                      </p:cBhvr>
                                    </p:animEffect>
                                  </p:childTnLst>
                                </p:cTn>
                              </p:par>
                            </p:childTnLst>
                          </p:cTn>
                        </p:par>
                        <p:par>
                          <p:cTn id="134" fill="hold">
                            <p:stCondLst>
                              <p:cond delay="2410"/>
                            </p:stCondLst>
                            <p:childTnLst>
                              <p:par>
                                <p:cTn id="135" presetID="2" presetClass="entr" presetSubtype="8" fill="hold" nodeType="with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0-#ppt_w/2"/>
                                          </p:val>
                                        </p:tav>
                                        <p:tav tm="100000">
                                          <p:val>
                                            <p:strVal val="#ppt_x"/>
                                          </p:val>
                                        </p:tav>
                                      </p:tavLst>
                                    </p:anim>
                                    <p:animEffect transition="in" filter="fade">
                                      <p:cBhvr>
                                        <p:cTn id="138" dur="500"/>
                                        <p:tgtEl>
                                          <p:spTgt spid="35"/>
                                        </p:tgtEl>
                                      </p:cBhvr>
                                    </p:animEffect>
                                  </p:childTnLst>
                                </p:cTn>
                              </p:par>
                            </p:childTnLst>
                          </p:cTn>
                        </p:par>
                        <p:par>
                          <p:cTn id="139" fill="hold">
                            <p:stCondLst>
                              <p:cond delay="2500"/>
                            </p:stCondLst>
                            <p:childTnLst>
                              <p:par>
                                <p:cTn id="140" presetID="2" presetClass="entr" presetSubtype="8" fill="hold" nodeType="withEffect">
                                  <p:stCondLst>
                                    <p:cond delay="0"/>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00" fill="hold"/>
                                        <p:tgtEl>
                                          <p:spTgt spid="37"/>
                                        </p:tgtEl>
                                        <p:attrNameLst>
                                          <p:attrName>ppt_x</p:attrName>
                                        </p:attrNameLst>
                                      </p:cBhvr>
                                      <p:tavLst>
                                        <p:tav tm="0">
                                          <p:val>
                                            <p:strVal val="0-#ppt_w/2"/>
                                          </p:val>
                                        </p:tav>
                                        <p:tav tm="100000">
                                          <p:val>
                                            <p:strVal val="#ppt_x"/>
                                          </p:val>
                                        </p:tav>
                                      </p:tavLst>
                                    </p:anim>
                                    <p:animEffect transition="in" filter="fade">
                                      <p:cBhvr>
                                        <p:cTn id="143" dur="500"/>
                                        <p:tgtEl>
                                          <p:spTgt spid="37"/>
                                        </p:tgtEl>
                                      </p:cBhvr>
                                    </p:animEffect>
                                  </p:childTnLst>
                                </p:cTn>
                              </p:par>
                            </p:childTnLst>
                          </p:cTn>
                        </p:par>
                        <p:par>
                          <p:cTn id="144" fill="hold">
                            <p:stCondLst>
                              <p:cond delay="2500"/>
                            </p:stCondLst>
                            <p:childTnLst>
                              <p:par>
                                <p:cTn id="145" presetID="2" presetClass="entr" presetSubtype="8" fill="hold" nodeType="with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0-#ppt_w/2"/>
                                          </p:val>
                                        </p:tav>
                                        <p:tav tm="100000">
                                          <p:val>
                                            <p:strVal val="#ppt_x"/>
                                          </p:val>
                                        </p:tav>
                                      </p:tavLst>
                                    </p:anim>
                                    <p:animEffect transition="in" filter="fade">
                                      <p:cBhvr>
                                        <p:cTn id="148" dur="500"/>
                                        <p:tgtEl>
                                          <p:spTgt spid="38"/>
                                        </p:tgtEl>
                                      </p:cBhvr>
                                    </p:animEffect>
                                  </p:childTnLst>
                                </p:cTn>
                              </p:par>
                            </p:childTnLst>
                          </p:cTn>
                        </p:par>
                        <p:par>
                          <p:cTn id="149" fill="hold">
                            <p:stCondLst>
                              <p:cond delay="2670"/>
                            </p:stCondLst>
                            <p:childTnLst>
                              <p:par>
                                <p:cTn id="150" presetID="2" presetClass="entr" presetSubtype="8" fill="hold" nodeType="withEffect">
                                  <p:stCondLst>
                                    <p:cond delay="0"/>
                                  </p:stCondLst>
                                  <p:childTnLst>
                                    <p:set>
                                      <p:cBhvr>
                                        <p:cTn id="151" dur="1" fill="hold">
                                          <p:stCondLst>
                                            <p:cond delay="0"/>
                                          </p:stCondLst>
                                        </p:cTn>
                                        <p:tgtEl>
                                          <p:spTgt spid="39"/>
                                        </p:tgtEl>
                                        <p:attrNameLst>
                                          <p:attrName>style.visibility</p:attrName>
                                        </p:attrNameLst>
                                      </p:cBhvr>
                                      <p:to>
                                        <p:strVal val="visible"/>
                                      </p:to>
                                    </p:set>
                                    <p:anim calcmode="lin" valueType="num">
                                      <p:cBhvr additive="base">
                                        <p:cTn id="152" dur="500" fill="hold"/>
                                        <p:tgtEl>
                                          <p:spTgt spid="39"/>
                                        </p:tgtEl>
                                        <p:attrNameLst>
                                          <p:attrName>ppt_x</p:attrName>
                                        </p:attrNameLst>
                                      </p:cBhvr>
                                      <p:tavLst>
                                        <p:tav tm="0">
                                          <p:val>
                                            <p:strVal val="0-#ppt_w/2"/>
                                          </p:val>
                                        </p:tav>
                                        <p:tav tm="100000">
                                          <p:val>
                                            <p:strVal val="#ppt_x"/>
                                          </p:val>
                                        </p:tav>
                                      </p:tavLst>
                                    </p:anim>
                                    <p:animEffect transition="in" filter="fade">
                                      <p:cBhvr>
                                        <p:cTn id="153" dur="500"/>
                                        <p:tgtEl>
                                          <p:spTgt spid="39"/>
                                        </p:tgtEl>
                                      </p:cBhvr>
                                    </p:animEffect>
                                  </p:childTnLst>
                                </p:cTn>
                              </p:par>
                            </p:childTnLst>
                          </p:cTn>
                        </p:par>
                        <p:par>
                          <p:cTn id="154" fill="hold">
                            <p:stCondLst>
                              <p:cond delay="2710"/>
                            </p:stCondLst>
                            <p:childTnLst>
                              <p:par>
                                <p:cTn id="155" presetID="2" presetClass="entr" presetSubtype="4" fill="hold"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ppt_y</p:attrName>
                                        </p:attrNameLst>
                                      </p:cBhvr>
                                      <p:tavLst>
                                        <p:tav tm="0">
                                          <p:val>
                                            <p:strVal val="1+#ppt_h/2"/>
                                          </p:val>
                                        </p:tav>
                                        <p:tav tm="100000">
                                          <p:val>
                                            <p:strVal val="#ppt_y"/>
                                          </p:val>
                                        </p:tav>
                                      </p:tavLst>
                                    </p:anim>
                                    <p:animEffect transition="in" filter="fade">
                                      <p:cBhvr>
                                        <p:cTn id="158" dur="500"/>
                                        <p:tgtEl>
                                          <p:spTgt spid="40"/>
                                        </p:tgtEl>
                                      </p:cBhvr>
                                    </p:animEffect>
                                  </p:childTnLst>
                                </p:cTn>
                              </p:par>
                            </p:childTnLst>
                          </p:cTn>
                        </p:par>
                        <p:par>
                          <p:cTn id="159" fill="hold">
                            <p:stCondLst>
                              <p:cond delay="3160"/>
                            </p:stCondLst>
                            <p:childTnLst>
                              <p:par>
                                <p:cTn id="160" presetID="2" presetClass="entr" presetSubtype="4" fill="hold" nodeType="withEffect">
                                  <p:stCondLst>
                                    <p:cond delay="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500" fill="hold"/>
                                        <p:tgtEl>
                                          <p:spTgt spid="41"/>
                                        </p:tgtEl>
                                        <p:attrNameLst>
                                          <p:attrName>ppt_y</p:attrName>
                                        </p:attrNameLst>
                                      </p:cBhvr>
                                      <p:tavLst>
                                        <p:tav tm="0">
                                          <p:val>
                                            <p:strVal val="1+#ppt_h/2"/>
                                          </p:val>
                                        </p:tav>
                                        <p:tav tm="100000">
                                          <p:val>
                                            <p:strVal val="#ppt_y"/>
                                          </p:val>
                                        </p:tav>
                                      </p:tavLst>
                                    </p:anim>
                                    <p:animEffect transition="in" filter="fade">
                                      <p:cBhvr>
                                        <p:cTn id="163" dur="500"/>
                                        <p:tgtEl>
                                          <p:spTgt spid="41"/>
                                        </p:tgtEl>
                                      </p:cBhvr>
                                    </p:animEffect>
                                  </p:childTnLst>
                                </p:cTn>
                              </p:par>
                            </p:childTnLst>
                          </p:cTn>
                        </p:par>
                        <p:par>
                          <p:cTn id="164" fill="hold">
                            <p:stCondLst>
                              <p:cond delay="3410"/>
                            </p:stCondLst>
                            <p:childTnLst>
                              <p:par>
                                <p:cTn id="165" presetID="2" presetClass="entr" presetSubtype="4" fill="hold" nodeType="with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00" fill="hold"/>
                                        <p:tgtEl>
                                          <p:spTgt spid="42"/>
                                        </p:tgtEl>
                                        <p:attrNameLst>
                                          <p:attrName>ppt_y</p:attrName>
                                        </p:attrNameLst>
                                      </p:cBhvr>
                                      <p:tavLst>
                                        <p:tav tm="0">
                                          <p:val>
                                            <p:strVal val="1+#ppt_h/2"/>
                                          </p:val>
                                        </p:tav>
                                        <p:tav tm="100000">
                                          <p:val>
                                            <p:strVal val="#ppt_y"/>
                                          </p:val>
                                        </p:tav>
                                      </p:tavLst>
                                    </p:anim>
                                    <p:animEffect transition="in" filter="fade">
                                      <p:cBhvr>
                                        <p:cTn id="168" dur="500"/>
                                        <p:tgtEl>
                                          <p:spTgt spid="42"/>
                                        </p:tgtEl>
                                      </p:cBhvr>
                                    </p:animEffect>
                                  </p:childTnLst>
                                </p:cTn>
                              </p:par>
                            </p:childTnLst>
                          </p:cTn>
                        </p:par>
                        <p:par>
                          <p:cTn id="169" fill="hold">
                            <p:stCondLst>
                              <p:cond delay="3580"/>
                            </p:stCondLst>
                            <p:childTnLst>
                              <p:par>
                                <p:cTn id="170" presetID="2" presetClass="entr" presetSubtype="8" fill="hold" nodeType="with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2" dur="500" fill="hold"/>
                                        <p:tgtEl>
                                          <p:spTgt spid="43"/>
                                        </p:tgtEl>
                                        <p:attrNameLst>
                                          <p:attrName>ppt_x</p:attrName>
                                        </p:attrNameLst>
                                      </p:cBhvr>
                                      <p:tavLst>
                                        <p:tav tm="0">
                                          <p:val>
                                            <p:strVal val="0-#ppt_w/2"/>
                                          </p:val>
                                        </p:tav>
                                        <p:tav tm="100000">
                                          <p:val>
                                            <p:strVal val="#ppt_x"/>
                                          </p:val>
                                        </p:tav>
                                      </p:tavLst>
                                    </p:anim>
                                    <p:animEffect transition="in" filter="fade">
                                      <p:cBhvr>
                                        <p:cTn id="173" dur="500"/>
                                        <p:tgtEl>
                                          <p:spTgt spid="43"/>
                                        </p:tgtEl>
                                      </p:cBhvr>
                                    </p:animEffect>
                                  </p:childTnLst>
                                </p:cTn>
                              </p:par>
                            </p:childTnLst>
                          </p:cTn>
                        </p:par>
                        <p:par>
                          <p:cTn id="174" fill="hold">
                            <p:stCondLst>
                              <p:cond delay="3760"/>
                            </p:stCondLst>
                            <p:childTnLst>
                              <p:par>
                                <p:cTn id="175" presetID="2" presetClass="entr" presetSubtype="8" fill="hold" nodeType="withEffect">
                                  <p:stCondLst>
                                    <p:cond delay="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0-#ppt_w/2"/>
                                          </p:val>
                                        </p:tav>
                                        <p:tav tm="100000">
                                          <p:val>
                                            <p:strVal val="#ppt_x"/>
                                          </p:val>
                                        </p:tav>
                                      </p:tavLst>
                                    </p:anim>
                                    <p:animEffect transition="in" filter="fade">
                                      <p:cBhvr>
                                        <p:cTn id="178" dur="500"/>
                                        <p:tgtEl>
                                          <p:spTgt spid="44"/>
                                        </p:tgtEl>
                                      </p:cBhvr>
                                    </p:animEffect>
                                  </p:childTnLst>
                                </p:cTn>
                              </p:par>
                            </p:childTnLst>
                          </p:cTn>
                        </p:par>
                        <p:par>
                          <p:cTn id="179" fill="hold">
                            <p:stCondLst>
                              <p:cond delay="3940"/>
                            </p:stCondLst>
                            <p:childTnLst>
                              <p:par>
                                <p:cTn id="180" presetID="2" presetClass="entr" presetSubtype="8" fill="hold" nodeType="withEffect">
                                  <p:stCondLst>
                                    <p:cond delay="0"/>
                                  </p:stCondLst>
                                  <p:childTnLst>
                                    <p:set>
                                      <p:cBhvr>
                                        <p:cTn id="181" dur="1" fill="hold">
                                          <p:stCondLst>
                                            <p:cond delay="0"/>
                                          </p:stCondLst>
                                        </p:cTn>
                                        <p:tgtEl>
                                          <p:spTgt spid="45"/>
                                        </p:tgtEl>
                                        <p:attrNameLst>
                                          <p:attrName>style.visibility</p:attrName>
                                        </p:attrNameLst>
                                      </p:cBhvr>
                                      <p:to>
                                        <p:strVal val="visible"/>
                                      </p:to>
                                    </p:set>
                                    <p:anim calcmode="lin" valueType="num">
                                      <p:cBhvr additive="base">
                                        <p:cTn id="182" dur="500" fill="hold"/>
                                        <p:tgtEl>
                                          <p:spTgt spid="45"/>
                                        </p:tgtEl>
                                        <p:attrNameLst>
                                          <p:attrName>ppt_x</p:attrName>
                                        </p:attrNameLst>
                                      </p:cBhvr>
                                      <p:tavLst>
                                        <p:tav tm="0">
                                          <p:val>
                                            <p:strVal val="0-#ppt_w/2"/>
                                          </p:val>
                                        </p:tav>
                                        <p:tav tm="100000">
                                          <p:val>
                                            <p:strVal val="#ppt_x"/>
                                          </p:val>
                                        </p:tav>
                                      </p:tavLst>
                                    </p:anim>
                                    <p:animEffect transition="in" filter="fade">
                                      <p:cBhvr>
                                        <p:cTn id="183" dur="500"/>
                                        <p:tgtEl>
                                          <p:spTgt spid="45"/>
                                        </p:tgtEl>
                                      </p:cBhvr>
                                    </p:animEffect>
                                  </p:childTnLst>
                                </p:cTn>
                              </p:par>
                            </p:childTnLst>
                          </p:cTn>
                        </p:par>
                        <p:par>
                          <p:cTn id="184" fill="hold">
                            <p:stCondLst>
                              <p:cond delay="4140"/>
                            </p:stCondLst>
                            <p:childTnLst>
                              <p:par>
                                <p:cTn id="185" presetID="2" presetClass="entr" presetSubtype="8" fill="hold" nodeType="withEffect">
                                  <p:stCondLst>
                                    <p:cond delay="0"/>
                                  </p:stCondLst>
                                  <p:childTnLst>
                                    <p:set>
                                      <p:cBhvr>
                                        <p:cTn id="186" dur="1" fill="hold">
                                          <p:stCondLst>
                                            <p:cond delay="0"/>
                                          </p:stCondLst>
                                        </p:cTn>
                                        <p:tgtEl>
                                          <p:spTgt spid="46"/>
                                        </p:tgtEl>
                                        <p:attrNameLst>
                                          <p:attrName>style.visibility</p:attrName>
                                        </p:attrNameLst>
                                      </p:cBhvr>
                                      <p:to>
                                        <p:strVal val="visible"/>
                                      </p:to>
                                    </p:set>
                                    <p:anim calcmode="lin" valueType="num">
                                      <p:cBhvr additive="base">
                                        <p:cTn id="187" dur="500" fill="hold"/>
                                        <p:tgtEl>
                                          <p:spTgt spid="46"/>
                                        </p:tgtEl>
                                        <p:attrNameLst>
                                          <p:attrName>ppt_x</p:attrName>
                                        </p:attrNameLst>
                                      </p:cBhvr>
                                      <p:tavLst>
                                        <p:tav tm="0">
                                          <p:val>
                                            <p:strVal val="0-#ppt_w/2"/>
                                          </p:val>
                                        </p:tav>
                                        <p:tav tm="100000">
                                          <p:val>
                                            <p:strVal val="#ppt_x"/>
                                          </p:val>
                                        </p:tav>
                                      </p:tavLst>
                                    </p:anim>
                                    <p:animEffect transition="in" filter="fade">
                                      <p:cBhvr>
                                        <p:cTn id="188" dur="500"/>
                                        <p:tgtEl>
                                          <p:spTgt spid="46"/>
                                        </p:tgtEl>
                                      </p:cBhvr>
                                    </p:animEffect>
                                  </p:childTnLst>
                                </p:cTn>
                              </p:par>
                            </p:childTnLst>
                          </p:cTn>
                        </p:par>
                        <p:par>
                          <p:cTn id="189" fill="hold">
                            <p:stCondLst>
                              <p:cond delay="4460"/>
                            </p:stCondLst>
                            <p:childTnLst>
                              <p:par>
                                <p:cTn id="190" presetID="2" presetClass="entr" presetSubtype="8" fill="hold" nodeType="withEffect">
                                  <p:stCondLst>
                                    <p:cond delay="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0-#ppt_w/2"/>
                                          </p:val>
                                        </p:tav>
                                        <p:tav tm="100000">
                                          <p:val>
                                            <p:strVal val="#ppt_x"/>
                                          </p:val>
                                        </p:tav>
                                      </p:tavLst>
                                    </p:anim>
                                    <p:animEffect transition="in" filter="fade">
                                      <p:cBhvr>
                                        <p:cTn id="193" dur="500"/>
                                        <p:tgtEl>
                                          <p:spTgt spid="47"/>
                                        </p:tgtEl>
                                      </p:cBhvr>
                                    </p:animEffect>
                                  </p:childTnLst>
                                </p:cTn>
                              </p:par>
                            </p:childTnLst>
                          </p:cTn>
                        </p:par>
                        <p:par>
                          <p:cTn id="194" fill="hold">
                            <p:stCondLst>
                              <p:cond delay="4610"/>
                            </p:stCondLst>
                            <p:childTnLst>
                              <p:par>
                                <p:cTn id="195" presetID="2" presetClass="entr" presetSubtype="8" fill="hold" nodeType="withEffect">
                                  <p:stCondLst>
                                    <p:cond delay="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0-#ppt_w/2"/>
                                          </p:val>
                                        </p:tav>
                                        <p:tav tm="100000">
                                          <p:val>
                                            <p:strVal val="#ppt_x"/>
                                          </p:val>
                                        </p:tav>
                                      </p:tavLst>
                                    </p:anim>
                                    <p:animEffect transition="in" filter="fade">
                                      <p:cBhvr>
                                        <p:cTn id="198" dur="500"/>
                                        <p:tgtEl>
                                          <p:spTgt spid="48"/>
                                        </p:tgtEl>
                                      </p:cBhvr>
                                    </p:animEffect>
                                  </p:childTnLst>
                                </p:cTn>
                              </p:par>
                            </p:childTnLst>
                          </p:cTn>
                        </p:par>
                        <p:par>
                          <p:cTn id="199" fill="hold">
                            <p:stCondLst>
                              <p:cond delay="4720"/>
                            </p:stCondLst>
                            <p:childTnLst>
                              <p:par>
                                <p:cTn id="200" presetID="2" presetClass="entr" presetSubtype="4" fill="hold" nodeType="withEffect">
                                  <p:stCondLst>
                                    <p:cond delay="0"/>
                                  </p:stCondLst>
                                  <p:childTnLst>
                                    <p:set>
                                      <p:cBhvr>
                                        <p:cTn id="201" dur="1" fill="hold">
                                          <p:stCondLst>
                                            <p:cond delay="0"/>
                                          </p:stCondLst>
                                        </p:cTn>
                                        <p:tgtEl>
                                          <p:spTgt spid="49"/>
                                        </p:tgtEl>
                                        <p:attrNameLst>
                                          <p:attrName>style.visibility</p:attrName>
                                        </p:attrNameLst>
                                      </p:cBhvr>
                                      <p:to>
                                        <p:strVal val="visible"/>
                                      </p:to>
                                    </p:set>
                                    <p:anim calcmode="lin" valueType="num">
                                      <p:cBhvr additive="base">
                                        <p:cTn id="202" dur="500" fill="hold"/>
                                        <p:tgtEl>
                                          <p:spTgt spid="49"/>
                                        </p:tgtEl>
                                        <p:attrNameLst>
                                          <p:attrName>ppt_y</p:attrName>
                                        </p:attrNameLst>
                                      </p:cBhvr>
                                      <p:tavLst>
                                        <p:tav tm="0">
                                          <p:val>
                                            <p:strVal val="1+#ppt_h/2"/>
                                          </p:val>
                                        </p:tav>
                                        <p:tav tm="100000">
                                          <p:val>
                                            <p:strVal val="#ppt_y"/>
                                          </p:val>
                                        </p:tav>
                                      </p:tavLst>
                                    </p:anim>
                                    <p:animEffect transition="in" filter="fade">
                                      <p:cBhvr>
                                        <p:cTn id="203" dur="500"/>
                                        <p:tgtEl>
                                          <p:spTgt spid="49"/>
                                        </p:tgtEl>
                                      </p:cBhvr>
                                    </p:animEffect>
                                  </p:childTnLst>
                                </p:cTn>
                              </p:par>
                            </p:childTnLst>
                          </p:cTn>
                        </p:par>
                        <p:par>
                          <p:cTn id="204" fill="hold">
                            <p:stCondLst>
                              <p:cond delay="4800"/>
                            </p:stCondLst>
                            <p:childTnLst>
                              <p:par>
                                <p:cTn id="205" presetID="2" presetClass="entr" presetSubtype="4" fill="hold" nodeType="withEffect">
                                  <p:stCondLst>
                                    <p:cond delay="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ppt_y</p:attrName>
                                        </p:attrNameLst>
                                      </p:cBhvr>
                                      <p:tavLst>
                                        <p:tav tm="0">
                                          <p:val>
                                            <p:strVal val="1+#ppt_h/2"/>
                                          </p:val>
                                        </p:tav>
                                        <p:tav tm="100000">
                                          <p:val>
                                            <p:strVal val="#ppt_y"/>
                                          </p:val>
                                        </p:tav>
                                      </p:tavLst>
                                    </p:anim>
                                    <p:animEffect transition="in" filter="fade">
                                      <p:cBhvr>
                                        <p:cTn id="208" dur="500"/>
                                        <p:tgtEl>
                                          <p:spTgt spid="50"/>
                                        </p:tgtEl>
                                      </p:cBhvr>
                                    </p:animEffect>
                                  </p:childTnLst>
                                </p:cTn>
                              </p:par>
                            </p:childTnLst>
                          </p:cTn>
                        </p:par>
                        <p:par>
                          <p:cTn id="209" fill="hold">
                            <p:stCondLst>
                              <p:cond delay="4880"/>
                            </p:stCondLst>
                            <p:childTnLst>
                              <p:par>
                                <p:cTn id="210" presetID="2" presetClass="entr" presetSubtype="4" fill="hold" nodeType="withEffect">
                                  <p:stCondLst>
                                    <p:cond delay="0"/>
                                  </p:stCondLst>
                                  <p:childTnLst>
                                    <p:set>
                                      <p:cBhvr>
                                        <p:cTn id="211" dur="1" fill="hold">
                                          <p:stCondLst>
                                            <p:cond delay="0"/>
                                          </p:stCondLst>
                                        </p:cTn>
                                        <p:tgtEl>
                                          <p:spTgt spid="51"/>
                                        </p:tgtEl>
                                        <p:attrNameLst>
                                          <p:attrName>style.visibility</p:attrName>
                                        </p:attrNameLst>
                                      </p:cBhvr>
                                      <p:to>
                                        <p:strVal val="visible"/>
                                      </p:to>
                                    </p:set>
                                    <p:anim calcmode="lin" valueType="num">
                                      <p:cBhvr additive="base">
                                        <p:cTn id="212" dur="500" fill="hold"/>
                                        <p:tgtEl>
                                          <p:spTgt spid="51"/>
                                        </p:tgtEl>
                                        <p:attrNameLst>
                                          <p:attrName>ppt_y</p:attrName>
                                        </p:attrNameLst>
                                      </p:cBhvr>
                                      <p:tavLst>
                                        <p:tav tm="0">
                                          <p:val>
                                            <p:strVal val="1+#ppt_h/2"/>
                                          </p:val>
                                        </p:tav>
                                        <p:tav tm="100000">
                                          <p:val>
                                            <p:strVal val="#ppt_y"/>
                                          </p:val>
                                        </p:tav>
                                      </p:tavLst>
                                    </p:anim>
                                    <p:animEffect transition="in" filter="fade">
                                      <p:cBhvr>
                                        <p:cTn id="213" dur="500"/>
                                        <p:tgtEl>
                                          <p:spTgt spid="51"/>
                                        </p:tgtEl>
                                      </p:cBhvr>
                                    </p:animEffect>
                                  </p:childTnLst>
                                </p:cTn>
                              </p:par>
                            </p:childTnLst>
                          </p:cTn>
                        </p:par>
                        <p:par>
                          <p:cTn id="214" fill="hold">
                            <p:stCondLst>
                              <p:cond delay="5210"/>
                            </p:stCondLst>
                            <p:childTnLst>
                              <p:par>
                                <p:cTn id="215" presetID="2" presetClass="entr" presetSubtype="8" fill="hold" nodeType="withEffect">
                                  <p:stCondLst>
                                    <p:cond delay="0"/>
                                  </p:stCondLst>
                                  <p:childTnLst>
                                    <p:set>
                                      <p:cBhvr>
                                        <p:cTn id="216" dur="1" fill="hold">
                                          <p:stCondLst>
                                            <p:cond delay="0"/>
                                          </p:stCondLst>
                                        </p:cTn>
                                        <p:tgtEl>
                                          <p:spTgt spid="56"/>
                                        </p:tgtEl>
                                        <p:attrNameLst>
                                          <p:attrName>style.visibility</p:attrName>
                                        </p:attrNameLst>
                                      </p:cBhvr>
                                      <p:to>
                                        <p:strVal val="visible"/>
                                      </p:to>
                                    </p:set>
                                    <p:anim calcmode="lin" valueType="num">
                                      <p:cBhvr additive="base">
                                        <p:cTn id="217" dur="500" fill="hold"/>
                                        <p:tgtEl>
                                          <p:spTgt spid="56"/>
                                        </p:tgtEl>
                                        <p:attrNameLst>
                                          <p:attrName>ppt_x</p:attrName>
                                        </p:attrNameLst>
                                      </p:cBhvr>
                                      <p:tavLst>
                                        <p:tav tm="0">
                                          <p:val>
                                            <p:strVal val="0-#ppt_w/2"/>
                                          </p:val>
                                        </p:tav>
                                        <p:tav tm="100000">
                                          <p:val>
                                            <p:strVal val="#ppt_x"/>
                                          </p:val>
                                        </p:tav>
                                      </p:tavLst>
                                    </p:anim>
                                    <p:animEffect transition="in" filter="fade">
                                      <p:cBhvr>
                                        <p:cTn id="218" dur="500"/>
                                        <p:tgtEl>
                                          <p:spTgt spid="56"/>
                                        </p:tgtEl>
                                      </p:cBhvr>
                                    </p:animEffect>
                                  </p:childTnLst>
                                </p:cTn>
                              </p:par>
                            </p:childTnLst>
                          </p:cTn>
                        </p:par>
                        <p:par>
                          <p:cTn id="219" fill="hold">
                            <p:stCondLst>
                              <p:cond delay="5350"/>
                            </p:stCondLst>
                            <p:childTnLst>
                              <p:par>
                                <p:cTn id="220" presetID="2" presetClass="entr" presetSubtype="8" fill="hold" nodeType="withEffect">
                                  <p:stCondLst>
                                    <p:cond delay="0"/>
                                  </p:stCondLst>
                                  <p:childTnLst>
                                    <p:set>
                                      <p:cBhvr>
                                        <p:cTn id="221" dur="1" fill="hold">
                                          <p:stCondLst>
                                            <p:cond delay="0"/>
                                          </p:stCondLst>
                                        </p:cTn>
                                        <p:tgtEl>
                                          <p:spTgt spid="52"/>
                                        </p:tgtEl>
                                        <p:attrNameLst>
                                          <p:attrName>style.visibility</p:attrName>
                                        </p:attrNameLst>
                                      </p:cBhvr>
                                      <p:to>
                                        <p:strVal val="visible"/>
                                      </p:to>
                                    </p:set>
                                    <p:anim calcmode="lin" valueType="num">
                                      <p:cBhvr additive="base">
                                        <p:cTn id="222" dur="500" fill="hold"/>
                                        <p:tgtEl>
                                          <p:spTgt spid="52"/>
                                        </p:tgtEl>
                                        <p:attrNameLst>
                                          <p:attrName>ppt_x</p:attrName>
                                        </p:attrNameLst>
                                      </p:cBhvr>
                                      <p:tavLst>
                                        <p:tav tm="0">
                                          <p:val>
                                            <p:strVal val="0-#ppt_w/2"/>
                                          </p:val>
                                        </p:tav>
                                        <p:tav tm="100000">
                                          <p:val>
                                            <p:strVal val="#ppt_x"/>
                                          </p:val>
                                        </p:tav>
                                      </p:tavLst>
                                    </p:anim>
                                    <p:animEffect transition="in" filter="fade">
                                      <p:cBhvr>
                                        <p:cTn id="223" dur="500"/>
                                        <p:tgtEl>
                                          <p:spTgt spid="52"/>
                                        </p:tgtEl>
                                      </p:cBhvr>
                                    </p:animEffect>
                                  </p:childTnLst>
                                </p:cTn>
                              </p:par>
                            </p:childTnLst>
                          </p:cTn>
                        </p:par>
                        <p:par>
                          <p:cTn id="224" fill="hold">
                            <p:stCondLst>
                              <p:cond delay="5450"/>
                            </p:stCondLst>
                            <p:childTnLst>
                              <p:par>
                                <p:cTn id="225" presetID="2" presetClass="entr" presetSubtype="8" fill="hold" nodeType="withEffect">
                                  <p:stCondLst>
                                    <p:cond delay="0"/>
                                  </p:stCondLst>
                                  <p:childTnLst>
                                    <p:set>
                                      <p:cBhvr>
                                        <p:cTn id="226" dur="1" fill="hold">
                                          <p:stCondLst>
                                            <p:cond delay="0"/>
                                          </p:stCondLst>
                                        </p:cTn>
                                        <p:tgtEl>
                                          <p:spTgt spid="53"/>
                                        </p:tgtEl>
                                        <p:attrNameLst>
                                          <p:attrName>style.visibility</p:attrName>
                                        </p:attrNameLst>
                                      </p:cBhvr>
                                      <p:to>
                                        <p:strVal val="visible"/>
                                      </p:to>
                                    </p:set>
                                    <p:anim calcmode="lin" valueType="num">
                                      <p:cBhvr additive="base">
                                        <p:cTn id="227" dur="500" fill="hold"/>
                                        <p:tgtEl>
                                          <p:spTgt spid="53"/>
                                        </p:tgtEl>
                                        <p:attrNameLst>
                                          <p:attrName>ppt_x</p:attrName>
                                        </p:attrNameLst>
                                      </p:cBhvr>
                                      <p:tavLst>
                                        <p:tav tm="0">
                                          <p:val>
                                            <p:strVal val="0-#ppt_w/2"/>
                                          </p:val>
                                        </p:tav>
                                        <p:tav tm="100000">
                                          <p:val>
                                            <p:strVal val="#ppt_x"/>
                                          </p:val>
                                        </p:tav>
                                      </p:tavLst>
                                    </p:anim>
                                    <p:animEffect transition="in" filter="fade">
                                      <p:cBhvr>
                                        <p:cTn id="228" dur="500"/>
                                        <p:tgtEl>
                                          <p:spTgt spid="53"/>
                                        </p:tgtEl>
                                      </p:cBhvr>
                                    </p:animEffect>
                                  </p:childTnLst>
                                </p:cTn>
                              </p:par>
                            </p:childTnLst>
                          </p:cTn>
                        </p:par>
                        <p:par>
                          <p:cTn id="229" fill="hold">
                            <p:stCondLst>
                              <p:cond delay="5550"/>
                            </p:stCondLst>
                            <p:childTnLst>
                              <p:par>
                                <p:cTn id="230" presetID="2" presetClass="entr" presetSubtype="4" fill="hold" nodeType="withEffect">
                                  <p:stCondLst>
                                    <p:cond delay="0"/>
                                  </p:stCondLst>
                                  <p:childTnLst>
                                    <p:set>
                                      <p:cBhvr>
                                        <p:cTn id="231" dur="1" fill="hold">
                                          <p:stCondLst>
                                            <p:cond delay="0"/>
                                          </p:stCondLst>
                                        </p:cTn>
                                        <p:tgtEl>
                                          <p:spTgt spid="54"/>
                                        </p:tgtEl>
                                        <p:attrNameLst>
                                          <p:attrName>style.visibility</p:attrName>
                                        </p:attrNameLst>
                                      </p:cBhvr>
                                      <p:to>
                                        <p:strVal val="visible"/>
                                      </p:to>
                                    </p:set>
                                    <p:anim calcmode="lin" valueType="num">
                                      <p:cBhvr additive="base">
                                        <p:cTn id="232" dur="500" fill="hold"/>
                                        <p:tgtEl>
                                          <p:spTgt spid="54"/>
                                        </p:tgtEl>
                                        <p:attrNameLst>
                                          <p:attrName>ppt_y</p:attrName>
                                        </p:attrNameLst>
                                      </p:cBhvr>
                                      <p:tavLst>
                                        <p:tav tm="0">
                                          <p:val>
                                            <p:strVal val="1+#ppt_h/2"/>
                                          </p:val>
                                        </p:tav>
                                        <p:tav tm="100000">
                                          <p:val>
                                            <p:strVal val="#ppt_y"/>
                                          </p:val>
                                        </p:tav>
                                      </p:tavLst>
                                    </p:anim>
                                    <p:animEffect transition="in" filter="fade">
                                      <p:cBhvr>
                                        <p:cTn id="233" dur="500"/>
                                        <p:tgtEl>
                                          <p:spTgt spid="54"/>
                                        </p:tgtEl>
                                      </p:cBhvr>
                                    </p:animEffect>
                                  </p:childTnLst>
                                </p:cTn>
                              </p:par>
                            </p:childTnLst>
                          </p:cTn>
                        </p:par>
                        <p:par>
                          <p:cTn id="234" fill="hold">
                            <p:stCondLst>
                              <p:cond delay="5630"/>
                            </p:stCondLst>
                            <p:childTnLst>
                              <p:par>
                                <p:cTn id="235" presetID="2" presetClass="entr" presetSubtype="4" fill="hold" nodeType="withEffect">
                                  <p:stCondLst>
                                    <p:cond delay="0"/>
                                  </p:stCondLst>
                                  <p:childTnLst>
                                    <p:set>
                                      <p:cBhvr>
                                        <p:cTn id="236" dur="1" fill="hold">
                                          <p:stCondLst>
                                            <p:cond delay="0"/>
                                          </p:stCondLst>
                                        </p:cTn>
                                        <p:tgtEl>
                                          <p:spTgt spid="55"/>
                                        </p:tgtEl>
                                        <p:attrNameLst>
                                          <p:attrName>style.visibility</p:attrName>
                                        </p:attrNameLst>
                                      </p:cBhvr>
                                      <p:to>
                                        <p:strVal val="visible"/>
                                      </p:to>
                                    </p:set>
                                    <p:anim calcmode="lin" valueType="num">
                                      <p:cBhvr additive="base">
                                        <p:cTn id="237" dur="500" fill="hold"/>
                                        <p:tgtEl>
                                          <p:spTgt spid="55"/>
                                        </p:tgtEl>
                                        <p:attrNameLst>
                                          <p:attrName>ppt_y</p:attrName>
                                        </p:attrNameLst>
                                      </p:cBhvr>
                                      <p:tavLst>
                                        <p:tav tm="0">
                                          <p:val>
                                            <p:strVal val="1+#ppt_h/2"/>
                                          </p:val>
                                        </p:tav>
                                        <p:tav tm="100000">
                                          <p:val>
                                            <p:strVal val="#ppt_y"/>
                                          </p:val>
                                        </p:tav>
                                      </p:tavLst>
                                    </p:anim>
                                    <p:animEffect transition="in" filter="fade">
                                      <p:cBhvr>
                                        <p:cTn id="238" dur="500"/>
                                        <p:tgtEl>
                                          <p:spTgt spid="55"/>
                                        </p:tgtEl>
                                      </p:cBhvr>
                                    </p:animEffect>
                                  </p:childTnLst>
                                </p:cTn>
                              </p:par>
                            </p:childTnLst>
                          </p:cTn>
                        </p:par>
                        <p:par>
                          <p:cTn id="239" fill="hold">
                            <p:stCondLst>
                              <p:cond delay="5810"/>
                            </p:stCondLst>
                            <p:childTnLst>
                              <p:par>
                                <p:cTn id="240" presetID="2" presetClass="entr" presetSubtype="8" fill="hold" nodeType="withEffect">
                                  <p:stCondLst>
                                    <p:cond delay="0"/>
                                  </p:stCondLst>
                                  <p:childTnLst>
                                    <p:set>
                                      <p:cBhvr>
                                        <p:cTn id="241" dur="1" fill="hold">
                                          <p:stCondLst>
                                            <p:cond delay="0"/>
                                          </p:stCondLst>
                                        </p:cTn>
                                        <p:tgtEl>
                                          <p:spTgt spid="61"/>
                                        </p:tgtEl>
                                        <p:attrNameLst>
                                          <p:attrName>style.visibility</p:attrName>
                                        </p:attrNameLst>
                                      </p:cBhvr>
                                      <p:to>
                                        <p:strVal val="visible"/>
                                      </p:to>
                                    </p:set>
                                    <p:anim calcmode="lin" valueType="num">
                                      <p:cBhvr additive="base">
                                        <p:cTn id="242" dur="500" fill="hold"/>
                                        <p:tgtEl>
                                          <p:spTgt spid="61"/>
                                        </p:tgtEl>
                                        <p:attrNameLst>
                                          <p:attrName>ppt_x</p:attrName>
                                        </p:attrNameLst>
                                      </p:cBhvr>
                                      <p:tavLst>
                                        <p:tav tm="0">
                                          <p:val>
                                            <p:strVal val="0-#ppt_w/2"/>
                                          </p:val>
                                        </p:tav>
                                        <p:tav tm="100000">
                                          <p:val>
                                            <p:strVal val="#ppt_x"/>
                                          </p:val>
                                        </p:tav>
                                      </p:tavLst>
                                    </p:anim>
                                    <p:animEffect transition="in" filter="fade">
                                      <p:cBhvr>
                                        <p:cTn id="243" dur="500"/>
                                        <p:tgtEl>
                                          <p:spTgt spid="61"/>
                                        </p:tgtEl>
                                      </p:cBhvr>
                                    </p:animEffect>
                                  </p:childTnLst>
                                </p:cTn>
                              </p:par>
                            </p:childTnLst>
                          </p:cTn>
                        </p:par>
                        <p:par>
                          <p:cTn id="244" fill="hold">
                            <p:stCondLst>
                              <p:cond delay="5950"/>
                            </p:stCondLst>
                            <p:childTnLst>
                              <p:par>
                                <p:cTn id="245" presetID="2" presetClass="entr" presetSubtype="8" fill="hold" nodeType="withEffect">
                                  <p:stCondLst>
                                    <p:cond delay="0"/>
                                  </p:stCondLst>
                                  <p:childTnLst>
                                    <p:set>
                                      <p:cBhvr>
                                        <p:cTn id="246" dur="1" fill="hold">
                                          <p:stCondLst>
                                            <p:cond delay="0"/>
                                          </p:stCondLst>
                                        </p:cTn>
                                        <p:tgtEl>
                                          <p:spTgt spid="57"/>
                                        </p:tgtEl>
                                        <p:attrNameLst>
                                          <p:attrName>style.visibility</p:attrName>
                                        </p:attrNameLst>
                                      </p:cBhvr>
                                      <p:to>
                                        <p:strVal val="visible"/>
                                      </p:to>
                                    </p:set>
                                    <p:anim calcmode="lin" valueType="num">
                                      <p:cBhvr additive="base">
                                        <p:cTn id="247" dur="500" fill="hold"/>
                                        <p:tgtEl>
                                          <p:spTgt spid="57"/>
                                        </p:tgtEl>
                                        <p:attrNameLst>
                                          <p:attrName>ppt_x</p:attrName>
                                        </p:attrNameLst>
                                      </p:cBhvr>
                                      <p:tavLst>
                                        <p:tav tm="0">
                                          <p:val>
                                            <p:strVal val="0-#ppt_w/2"/>
                                          </p:val>
                                        </p:tav>
                                        <p:tav tm="100000">
                                          <p:val>
                                            <p:strVal val="#ppt_x"/>
                                          </p:val>
                                        </p:tav>
                                      </p:tavLst>
                                    </p:anim>
                                    <p:animEffect transition="in" filter="fade">
                                      <p:cBhvr>
                                        <p:cTn id="248" dur="500"/>
                                        <p:tgtEl>
                                          <p:spTgt spid="57"/>
                                        </p:tgtEl>
                                      </p:cBhvr>
                                    </p:animEffect>
                                  </p:childTnLst>
                                </p:cTn>
                              </p:par>
                            </p:childTnLst>
                          </p:cTn>
                        </p:par>
                        <p:par>
                          <p:cTn id="249" fill="hold">
                            <p:stCondLst>
                              <p:cond delay="6050"/>
                            </p:stCondLst>
                            <p:childTnLst>
                              <p:par>
                                <p:cTn id="250" presetID="2" presetClass="entr" presetSubtype="8" fill="hold" nodeType="withEffect">
                                  <p:stCondLst>
                                    <p:cond delay="0"/>
                                  </p:stCondLst>
                                  <p:childTnLst>
                                    <p:set>
                                      <p:cBhvr>
                                        <p:cTn id="251" dur="1" fill="hold">
                                          <p:stCondLst>
                                            <p:cond delay="0"/>
                                          </p:stCondLst>
                                        </p:cTn>
                                        <p:tgtEl>
                                          <p:spTgt spid="58"/>
                                        </p:tgtEl>
                                        <p:attrNameLst>
                                          <p:attrName>style.visibility</p:attrName>
                                        </p:attrNameLst>
                                      </p:cBhvr>
                                      <p:to>
                                        <p:strVal val="visible"/>
                                      </p:to>
                                    </p:set>
                                    <p:anim calcmode="lin" valueType="num">
                                      <p:cBhvr additive="base">
                                        <p:cTn id="252" dur="500" fill="hold"/>
                                        <p:tgtEl>
                                          <p:spTgt spid="58"/>
                                        </p:tgtEl>
                                        <p:attrNameLst>
                                          <p:attrName>ppt_x</p:attrName>
                                        </p:attrNameLst>
                                      </p:cBhvr>
                                      <p:tavLst>
                                        <p:tav tm="0">
                                          <p:val>
                                            <p:strVal val="0-#ppt_w/2"/>
                                          </p:val>
                                        </p:tav>
                                        <p:tav tm="100000">
                                          <p:val>
                                            <p:strVal val="#ppt_x"/>
                                          </p:val>
                                        </p:tav>
                                      </p:tavLst>
                                    </p:anim>
                                    <p:animEffect transition="in" filter="fade">
                                      <p:cBhvr>
                                        <p:cTn id="253" dur="500"/>
                                        <p:tgtEl>
                                          <p:spTgt spid="58"/>
                                        </p:tgtEl>
                                      </p:cBhvr>
                                    </p:animEffect>
                                  </p:childTnLst>
                                </p:cTn>
                              </p:par>
                            </p:childTnLst>
                          </p:cTn>
                        </p:par>
                        <p:par>
                          <p:cTn id="254" fill="hold">
                            <p:stCondLst>
                              <p:cond delay="6150"/>
                            </p:stCondLst>
                            <p:childTnLst>
                              <p:par>
                                <p:cTn id="255" presetID="2" presetClass="entr" presetSubtype="4" fill="hold" nodeType="withEffect">
                                  <p:stCondLst>
                                    <p:cond delay="0"/>
                                  </p:stCondLst>
                                  <p:childTnLst>
                                    <p:set>
                                      <p:cBhvr>
                                        <p:cTn id="256" dur="1" fill="hold">
                                          <p:stCondLst>
                                            <p:cond delay="0"/>
                                          </p:stCondLst>
                                        </p:cTn>
                                        <p:tgtEl>
                                          <p:spTgt spid="59"/>
                                        </p:tgtEl>
                                        <p:attrNameLst>
                                          <p:attrName>style.visibility</p:attrName>
                                        </p:attrNameLst>
                                      </p:cBhvr>
                                      <p:to>
                                        <p:strVal val="visible"/>
                                      </p:to>
                                    </p:set>
                                    <p:anim calcmode="lin" valueType="num">
                                      <p:cBhvr additive="base">
                                        <p:cTn id="257" dur="500" fill="hold"/>
                                        <p:tgtEl>
                                          <p:spTgt spid="59"/>
                                        </p:tgtEl>
                                        <p:attrNameLst>
                                          <p:attrName>ppt_y</p:attrName>
                                        </p:attrNameLst>
                                      </p:cBhvr>
                                      <p:tavLst>
                                        <p:tav tm="0">
                                          <p:val>
                                            <p:strVal val="1+#ppt_h/2"/>
                                          </p:val>
                                        </p:tav>
                                        <p:tav tm="100000">
                                          <p:val>
                                            <p:strVal val="#ppt_y"/>
                                          </p:val>
                                        </p:tav>
                                      </p:tavLst>
                                    </p:anim>
                                    <p:animEffect transition="in" filter="fade">
                                      <p:cBhvr>
                                        <p:cTn id="258" dur="500"/>
                                        <p:tgtEl>
                                          <p:spTgt spid="59"/>
                                        </p:tgtEl>
                                      </p:cBhvr>
                                    </p:animEffect>
                                  </p:childTnLst>
                                </p:cTn>
                              </p:par>
                            </p:childTnLst>
                          </p:cTn>
                        </p:par>
                        <p:par>
                          <p:cTn id="259" fill="hold">
                            <p:stCondLst>
                              <p:cond delay="6230"/>
                            </p:stCondLst>
                            <p:childTnLst>
                              <p:par>
                                <p:cTn id="260" presetID="2" presetClass="entr" presetSubtype="4" fill="hold" nodeType="withEffect">
                                  <p:stCondLst>
                                    <p:cond delay="0"/>
                                  </p:stCondLst>
                                  <p:childTnLst>
                                    <p:set>
                                      <p:cBhvr>
                                        <p:cTn id="261" dur="1" fill="hold">
                                          <p:stCondLst>
                                            <p:cond delay="0"/>
                                          </p:stCondLst>
                                        </p:cTn>
                                        <p:tgtEl>
                                          <p:spTgt spid="60"/>
                                        </p:tgtEl>
                                        <p:attrNameLst>
                                          <p:attrName>style.visibility</p:attrName>
                                        </p:attrNameLst>
                                      </p:cBhvr>
                                      <p:to>
                                        <p:strVal val="visible"/>
                                      </p:to>
                                    </p:set>
                                    <p:anim calcmode="lin" valueType="num">
                                      <p:cBhvr additive="base">
                                        <p:cTn id="262" dur="500" fill="hold"/>
                                        <p:tgtEl>
                                          <p:spTgt spid="60"/>
                                        </p:tgtEl>
                                        <p:attrNameLst>
                                          <p:attrName>ppt_y</p:attrName>
                                        </p:attrNameLst>
                                      </p:cBhvr>
                                      <p:tavLst>
                                        <p:tav tm="0">
                                          <p:val>
                                            <p:strVal val="1+#ppt_h/2"/>
                                          </p:val>
                                        </p:tav>
                                        <p:tav tm="100000">
                                          <p:val>
                                            <p:strVal val="#ppt_y"/>
                                          </p:val>
                                        </p:tav>
                                      </p:tavLst>
                                    </p:anim>
                                    <p:animEffect transition="in" filter="fade">
                                      <p:cBhvr>
                                        <p:cTn id="263" dur="500"/>
                                        <p:tgtEl>
                                          <p:spTgt spid="60"/>
                                        </p:tgtEl>
                                      </p:cBhvr>
                                    </p:animEffect>
                                  </p:childTnLst>
                                </p:cTn>
                              </p:par>
                            </p:childTnLst>
                          </p:cTn>
                        </p:par>
                        <p:par>
                          <p:cTn id="264" fill="hold">
                            <p:stCondLst>
                              <p:cond delay="6410"/>
                            </p:stCondLst>
                            <p:childTnLst>
                              <p:par>
                                <p:cTn id="265" presetID="2" presetClass="entr" presetSubtype="8" fill="hold" nodeType="withEffect">
                                  <p:stCondLst>
                                    <p:cond delay="0"/>
                                  </p:stCondLst>
                                  <p:childTnLst>
                                    <p:set>
                                      <p:cBhvr>
                                        <p:cTn id="266" dur="1" fill="hold">
                                          <p:stCondLst>
                                            <p:cond delay="0"/>
                                          </p:stCondLst>
                                        </p:cTn>
                                        <p:tgtEl>
                                          <p:spTgt spid="66"/>
                                        </p:tgtEl>
                                        <p:attrNameLst>
                                          <p:attrName>style.visibility</p:attrName>
                                        </p:attrNameLst>
                                      </p:cBhvr>
                                      <p:to>
                                        <p:strVal val="visible"/>
                                      </p:to>
                                    </p:set>
                                    <p:anim calcmode="lin" valueType="num">
                                      <p:cBhvr additive="base">
                                        <p:cTn id="267" dur="500" fill="hold"/>
                                        <p:tgtEl>
                                          <p:spTgt spid="66"/>
                                        </p:tgtEl>
                                        <p:attrNameLst>
                                          <p:attrName>ppt_x</p:attrName>
                                        </p:attrNameLst>
                                      </p:cBhvr>
                                      <p:tavLst>
                                        <p:tav tm="0">
                                          <p:val>
                                            <p:strVal val="0-#ppt_w/2"/>
                                          </p:val>
                                        </p:tav>
                                        <p:tav tm="100000">
                                          <p:val>
                                            <p:strVal val="#ppt_x"/>
                                          </p:val>
                                        </p:tav>
                                      </p:tavLst>
                                    </p:anim>
                                    <p:animEffect transition="in" filter="fade">
                                      <p:cBhvr>
                                        <p:cTn id="268" dur="500"/>
                                        <p:tgtEl>
                                          <p:spTgt spid="66"/>
                                        </p:tgtEl>
                                      </p:cBhvr>
                                    </p:animEffect>
                                  </p:childTnLst>
                                </p:cTn>
                              </p:par>
                            </p:childTnLst>
                          </p:cTn>
                        </p:par>
                        <p:par>
                          <p:cTn id="269" fill="hold">
                            <p:stCondLst>
                              <p:cond delay="6550"/>
                            </p:stCondLst>
                            <p:childTnLst>
                              <p:par>
                                <p:cTn id="270" presetID="2" presetClass="entr" presetSubtype="8" fill="hold" nodeType="withEffect">
                                  <p:stCondLst>
                                    <p:cond delay="0"/>
                                  </p:stCondLst>
                                  <p:childTnLst>
                                    <p:set>
                                      <p:cBhvr>
                                        <p:cTn id="271" dur="1" fill="hold">
                                          <p:stCondLst>
                                            <p:cond delay="0"/>
                                          </p:stCondLst>
                                        </p:cTn>
                                        <p:tgtEl>
                                          <p:spTgt spid="62"/>
                                        </p:tgtEl>
                                        <p:attrNameLst>
                                          <p:attrName>style.visibility</p:attrName>
                                        </p:attrNameLst>
                                      </p:cBhvr>
                                      <p:to>
                                        <p:strVal val="visible"/>
                                      </p:to>
                                    </p:set>
                                    <p:anim calcmode="lin" valueType="num">
                                      <p:cBhvr additive="base">
                                        <p:cTn id="272" dur="500" fill="hold"/>
                                        <p:tgtEl>
                                          <p:spTgt spid="62"/>
                                        </p:tgtEl>
                                        <p:attrNameLst>
                                          <p:attrName>ppt_x</p:attrName>
                                        </p:attrNameLst>
                                      </p:cBhvr>
                                      <p:tavLst>
                                        <p:tav tm="0">
                                          <p:val>
                                            <p:strVal val="0-#ppt_w/2"/>
                                          </p:val>
                                        </p:tav>
                                        <p:tav tm="100000">
                                          <p:val>
                                            <p:strVal val="#ppt_x"/>
                                          </p:val>
                                        </p:tav>
                                      </p:tavLst>
                                    </p:anim>
                                    <p:animEffect transition="in" filter="fade">
                                      <p:cBhvr>
                                        <p:cTn id="273" dur="500"/>
                                        <p:tgtEl>
                                          <p:spTgt spid="62"/>
                                        </p:tgtEl>
                                      </p:cBhvr>
                                    </p:animEffect>
                                  </p:childTnLst>
                                </p:cTn>
                              </p:par>
                            </p:childTnLst>
                          </p:cTn>
                        </p:par>
                        <p:par>
                          <p:cTn id="274" fill="hold">
                            <p:stCondLst>
                              <p:cond delay="6650"/>
                            </p:stCondLst>
                            <p:childTnLst>
                              <p:par>
                                <p:cTn id="275" presetID="2" presetClass="entr" presetSubtype="8" fill="hold" nodeType="withEffect">
                                  <p:stCondLst>
                                    <p:cond delay="0"/>
                                  </p:stCondLst>
                                  <p:childTnLst>
                                    <p:set>
                                      <p:cBhvr>
                                        <p:cTn id="276" dur="1" fill="hold">
                                          <p:stCondLst>
                                            <p:cond delay="0"/>
                                          </p:stCondLst>
                                        </p:cTn>
                                        <p:tgtEl>
                                          <p:spTgt spid="63"/>
                                        </p:tgtEl>
                                        <p:attrNameLst>
                                          <p:attrName>style.visibility</p:attrName>
                                        </p:attrNameLst>
                                      </p:cBhvr>
                                      <p:to>
                                        <p:strVal val="visible"/>
                                      </p:to>
                                    </p:set>
                                    <p:anim calcmode="lin" valueType="num">
                                      <p:cBhvr additive="base">
                                        <p:cTn id="277" dur="500" fill="hold"/>
                                        <p:tgtEl>
                                          <p:spTgt spid="63"/>
                                        </p:tgtEl>
                                        <p:attrNameLst>
                                          <p:attrName>ppt_x</p:attrName>
                                        </p:attrNameLst>
                                      </p:cBhvr>
                                      <p:tavLst>
                                        <p:tav tm="0">
                                          <p:val>
                                            <p:strVal val="0-#ppt_w/2"/>
                                          </p:val>
                                        </p:tav>
                                        <p:tav tm="100000">
                                          <p:val>
                                            <p:strVal val="#ppt_x"/>
                                          </p:val>
                                        </p:tav>
                                      </p:tavLst>
                                    </p:anim>
                                    <p:animEffect transition="in" filter="fade">
                                      <p:cBhvr>
                                        <p:cTn id="278" dur="500"/>
                                        <p:tgtEl>
                                          <p:spTgt spid="63"/>
                                        </p:tgtEl>
                                      </p:cBhvr>
                                    </p:animEffect>
                                  </p:childTnLst>
                                </p:cTn>
                              </p:par>
                            </p:childTnLst>
                          </p:cTn>
                        </p:par>
                        <p:par>
                          <p:cTn id="279" fill="hold">
                            <p:stCondLst>
                              <p:cond delay="6750"/>
                            </p:stCondLst>
                            <p:childTnLst>
                              <p:par>
                                <p:cTn id="280" presetID="2" presetClass="entr" presetSubtype="4" fill="hold" nodeType="withEffect">
                                  <p:stCondLst>
                                    <p:cond delay="0"/>
                                  </p:stCondLst>
                                  <p:childTnLst>
                                    <p:set>
                                      <p:cBhvr>
                                        <p:cTn id="281" dur="1" fill="hold">
                                          <p:stCondLst>
                                            <p:cond delay="0"/>
                                          </p:stCondLst>
                                        </p:cTn>
                                        <p:tgtEl>
                                          <p:spTgt spid="64"/>
                                        </p:tgtEl>
                                        <p:attrNameLst>
                                          <p:attrName>style.visibility</p:attrName>
                                        </p:attrNameLst>
                                      </p:cBhvr>
                                      <p:to>
                                        <p:strVal val="visible"/>
                                      </p:to>
                                    </p:set>
                                    <p:anim calcmode="lin" valueType="num">
                                      <p:cBhvr additive="base">
                                        <p:cTn id="282" dur="500" fill="hold"/>
                                        <p:tgtEl>
                                          <p:spTgt spid="64"/>
                                        </p:tgtEl>
                                        <p:attrNameLst>
                                          <p:attrName>ppt_y</p:attrName>
                                        </p:attrNameLst>
                                      </p:cBhvr>
                                      <p:tavLst>
                                        <p:tav tm="0">
                                          <p:val>
                                            <p:strVal val="1+#ppt_h/2"/>
                                          </p:val>
                                        </p:tav>
                                        <p:tav tm="100000">
                                          <p:val>
                                            <p:strVal val="#ppt_y"/>
                                          </p:val>
                                        </p:tav>
                                      </p:tavLst>
                                    </p:anim>
                                    <p:animEffect transition="in" filter="fade">
                                      <p:cBhvr>
                                        <p:cTn id="283" dur="500"/>
                                        <p:tgtEl>
                                          <p:spTgt spid="64"/>
                                        </p:tgtEl>
                                      </p:cBhvr>
                                    </p:animEffect>
                                  </p:childTnLst>
                                </p:cTn>
                              </p:par>
                            </p:childTnLst>
                          </p:cTn>
                        </p:par>
                        <p:par>
                          <p:cTn id="284" fill="hold">
                            <p:stCondLst>
                              <p:cond delay="6830"/>
                            </p:stCondLst>
                            <p:childTnLst>
                              <p:par>
                                <p:cTn id="285" presetID="2" presetClass="entr" presetSubtype="4" fill="hold" nodeType="withEffect">
                                  <p:stCondLst>
                                    <p:cond delay="0"/>
                                  </p:stCondLst>
                                  <p:childTnLst>
                                    <p:set>
                                      <p:cBhvr>
                                        <p:cTn id="286" dur="1" fill="hold">
                                          <p:stCondLst>
                                            <p:cond delay="0"/>
                                          </p:stCondLst>
                                        </p:cTn>
                                        <p:tgtEl>
                                          <p:spTgt spid="65"/>
                                        </p:tgtEl>
                                        <p:attrNameLst>
                                          <p:attrName>style.visibility</p:attrName>
                                        </p:attrNameLst>
                                      </p:cBhvr>
                                      <p:to>
                                        <p:strVal val="visible"/>
                                      </p:to>
                                    </p:set>
                                    <p:anim calcmode="lin" valueType="num">
                                      <p:cBhvr additive="base">
                                        <p:cTn id="287" dur="500" fill="hold"/>
                                        <p:tgtEl>
                                          <p:spTgt spid="65"/>
                                        </p:tgtEl>
                                        <p:attrNameLst>
                                          <p:attrName>ppt_y</p:attrName>
                                        </p:attrNameLst>
                                      </p:cBhvr>
                                      <p:tavLst>
                                        <p:tav tm="0">
                                          <p:val>
                                            <p:strVal val="1+#ppt_h/2"/>
                                          </p:val>
                                        </p:tav>
                                        <p:tav tm="100000">
                                          <p:val>
                                            <p:strVal val="#ppt_y"/>
                                          </p:val>
                                        </p:tav>
                                      </p:tavLst>
                                    </p:anim>
                                    <p:animEffect transition="in" filter="fade">
                                      <p:cBhvr>
                                        <p:cTn id="288" dur="500"/>
                                        <p:tgtEl>
                                          <p:spTgt spid="65"/>
                                        </p:tgtEl>
                                      </p:cBhvr>
                                    </p:animEffect>
                                  </p:childTnLst>
                                </p:cTn>
                              </p:par>
                            </p:childTnLst>
                          </p:cTn>
                        </p:par>
                        <p:par>
                          <p:cTn id="289" fill="hold">
                            <p:stCondLst>
                              <p:cond delay="7210"/>
                            </p:stCondLst>
                            <p:childTnLst>
                              <p:par>
                                <p:cTn id="290" presetID="2" presetClass="entr" presetSubtype="2" fill="hold" nodeType="withEffect">
                                  <p:stCondLst>
                                    <p:cond delay="0"/>
                                  </p:stCondLst>
                                  <p:childTnLst>
                                    <p:set>
                                      <p:cBhvr>
                                        <p:cTn id="291" dur="1" fill="hold">
                                          <p:stCondLst>
                                            <p:cond delay="0"/>
                                          </p:stCondLst>
                                        </p:cTn>
                                        <p:tgtEl>
                                          <p:spTgt spid="67"/>
                                        </p:tgtEl>
                                        <p:attrNameLst>
                                          <p:attrName>style.visibility</p:attrName>
                                        </p:attrNameLst>
                                      </p:cBhvr>
                                      <p:to>
                                        <p:strVal val="visible"/>
                                      </p:to>
                                    </p:set>
                                    <p:anim calcmode="lin" valueType="num">
                                      <p:cBhvr additive="base">
                                        <p:cTn id="292" dur="500" fill="hold"/>
                                        <p:tgtEl>
                                          <p:spTgt spid="67"/>
                                        </p:tgtEl>
                                        <p:attrNameLst>
                                          <p:attrName>ppt_x</p:attrName>
                                        </p:attrNameLst>
                                      </p:cBhvr>
                                      <p:tavLst>
                                        <p:tav tm="0">
                                          <p:val>
                                            <p:strVal val="1+#ppt_w/2"/>
                                          </p:val>
                                        </p:tav>
                                        <p:tav tm="100000">
                                          <p:val>
                                            <p:strVal val="#ppt_x"/>
                                          </p:val>
                                        </p:tav>
                                      </p:tavLst>
                                    </p:anim>
                                    <p:animEffect transition="in" filter="fade">
                                      <p:cBhvr>
                                        <p:cTn id="293" dur="500"/>
                                        <p:tgtEl>
                                          <p:spTgt spid="67"/>
                                        </p:tgtEl>
                                      </p:cBhvr>
                                    </p:animEffect>
                                  </p:childTnLst>
                                </p:cTn>
                              </p:par>
                            </p:childTnLst>
                          </p:cTn>
                        </p:par>
                        <p:par>
                          <p:cTn id="294" fill="hold">
                            <p:stCondLst>
                              <p:cond delay="7360"/>
                            </p:stCondLst>
                            <p:childTnLst>
                              <p:par>
                                <p:cTn id="295" presetID="2" presetClass="entr" presetSubtype="2" fill="hold" nodeType="withEffect">
                                  <p:stCondLst>
                                    <p:cond delay="0"/>
                                  </p:stCondLst>
                                  <p:childTnLst>
                                    <p:set>
                                      <p:cBhvr>
                                        <p:cTn id="296" dur="1" fill="hold">
                                          <p:stCondLst>
                                            <p:cond delay="0"/>
                                          </p:stCondLst>
                                        </p:cTn>
                                        <p:tgtEl>
                                          <p:spTgt spid="68"/>
                                        </p:tgtEl>
                                        <p:attrNameLst>
                                          <p:attrName>style.visibility</p:attrName>
                                        </p:attrNameLst>
                                      </p:cBhvr>
                                      <p:to>
                                        <p:strVal val="visible"/>
                                      </p:to>
                                    </p:set>
                                    <p:anim calcmode="lin" valueType="num">
                                      <p:cBhvr additive="base">
                                        <p:cTn id="297" dur="500" fill="hold"/>
                                        <p:tgtEl>
                                          <p:spTgt spid="68"/>
                                        </p:tgtEl>
                                        <p:attrNameLst>
                                          <p:attrName>ppt_x</p:attrName>
                                        </p:attrNameLst>
                                      </p:cBhvr>
                                      <p:tavLst>
                                        <p:tav tm="0">
                                          <p:val>
                                            <p:strVal val="1+#ppt_w/2"/>
                                          </p:val>
                                        </p:tav>
                                        <p:tav tm="100000">
                                          <p:val>
                                            <p:strVal val="#ppt_x"/>
                                          </p:val>
                                        </p:tav>
                                      </p:tavLst>
                                    </p:anim>
                                    <p:animEffect transition="in" filter="fade">
                                      <p:cBhvr>
                                        <p:cTn id="298" dur="500"/>
                                        <p:tgtEl>
                                          <p:spTgt spid="68"/>
                                        </p:tgtEl>
                                      </p:cBhvr>
                                    </p:animEffect>
                                  </p:childTnLst>
                                </p:cTn>
                              </p:par>
                            </p:childTnLst>
                          </p:cTn>
                        </p:par>
                        <p:par>
                          <p:cTn id="299" fill="hold">
                            <p:stCondLst>
                              <p:cond delay="7610"/>
                            </p:stCondLst>
                            <p:childTnLst>
                              <p:par>
                                <p:cTn id="300" presetID="2" presetClass="entr" presetSubtype="2" fill="hold" nodeType="withEffect">
                                  <p:stCondLst>
                                    <p:cond delay="0"/>
                                  </p:stCondLst>
                                  <p:childTnLst>
                                    <p:set>
                                      <p:cBhvr>
                                        <p:cTn id="301" dur="1" fill="hold">
                                          <p:stCondLst>
                                            <p:cond delay="0"/>
                                          </p:stCondLst>
                                        </p:cTn>
                                        <p:tgtEl>
                                          <p:spTgt spid="70"/>
                                        </p:tgtEl>
                                        <p:attrNameLst>
                                          <p:attrName>style.visibility</p:attrName>
                                        </p:attrNameLst>
                                      </p:cBhvr>
                                      <p:to>
                                        <p:strVal val="visible"/>
                                      </p:to>
                                    </p:set>
                                    <p:anim calcmode="lin" valueType="num">
                                      <p:cBhvr additive="base">
                                        <p:cTn id="302" dur="500" fill="hold"/>
                                        <p:tgtEl>
                                          <p:spTgt spid="70"/>
                                        </p:tgtEl>
                                        <p:attrNameLst>
                                          <p:attrName>ppt_x</p:attrName>
                                        </p:attrNameLst>
                                      </p:cBhvr>
                                      <p:tavLst>
                                        <p:tav tm="0">
                                          <p:val>
                                            <p:strVal val="1+#ppt_w/2"/>
                                          </p:val>
                                        </p:tav>
                                        <p:tav tm="100000">
                                          <p:val>
                                            <p:strVal val="#ppt_x"/>
                                          </p:val>
                                        </p:tav>
                                      </p:tavLst>
                                    </p:anim>
                                    <p:animEffect transition="in" filter="fade">
                                      <p:cBhvr>
                                        <p:cTn id="303" dur="500"/>
                                        <p:tgtEl>
                                          <p:spTgt spid="70"/>
                                        </p:tgtEl>
                                      </p:cBhvr>
                                    </p:animEffect>
                                  </p:childTnLst>
                                </p:cTn>
                              </p:par>
                            </p:childTnLst>
                          </p:cTn>
                        </p:par>
                        <p:par>
                          <p:cTn id="304" fill="hold">
                            <p:stCondLst>
                              <p:cond delay="8110"/>
                            </p:stCondLst>
                            <p:childTnLst>
                              <p:par>
                                <p:cTn id="305" presetID="2" presetClass="entr" presetSubtype="2" fill="hold" nodeType="withEffect">
                                  <p:stCondLst>
                                    <p:cond delay="0"/>
                                  </p:stCondLst>
                                  <p:childTnLst>
                                    <p:set>
                                      <p:cBhvr>
                                        <p:cTn id="306" dur="1" fill="hold">
                                          <p:stCondLst>
                                            <p:cond delay="0"/>
                                          </p:stCondLst>
                                        </p:cTn>
                                        <p:tgtEl>
                                          <p:spTgt spid="72"/>
                                        </p:tgtEl>
                                        <p:attrNameLst>
                                          <p:attrName>style.visibility</p:attrName>
                                        </p:attrNameLst>
                                      </p:cBhvr>
                                      <p:to>
                                        <p:strVal val="visible"/>
                                      </p:to>
                                    </p:set>
                                    <p:anim calcmode="lin" valueType="num">
                                      <p:cBhvr additive="base">
                                        <p:cTn id="307" dur="500" fill="hold"/>
                                        <p:tgtEl>
                                          <p:spTgt spid="72"/>
                                        </p:tgtEl>
                                        <p:attrNameLst>
                                          <p:attrName>ppt_x</p:attrName>
                                        </p:attrNameLst>
                                      </p:cBhvr>
                                      <p:tavLst>
                                        <p:tav tm="0">
                                          <p:val>
                                            <p:strVal val="1+#ppt_w/2"/>
                                          </p:val>
                                        </p:tav>
                                        <p:tav tm="100000">
                                          <p:val>
                                            <p:strVal val="#ppt_x"/>
                                          </p:val>
                                        </p:tav>
                                      </p:tavLst>
                                    </p:anim>
                                    <p:animEffect transition="in" filter="fade">
                                      <p:cBhvr>
                                        <p:cTn id="308" dur="500"/>
                                        <p:tgtEl>
                                          <p:spTgt spid="72"/>
                                        </p:tgtEl>
                                      </p:cBhvr>
                                    </p:animEffect>
                                  </p:childTnLst>
                                </p:cTn>
                              </p:par>
                            </p:childTnLst>
                          </p:cTn>
                        </p:par>
                        <p:par>
                          <p:cTn id="309" fill="hold">
                            <p:stCondLst>
                              <p:cond delay="8310"/>
                            </p:stCondLst>
                            <p:childTnLst>
                              <p:par>
                                <p:cTn id="310" presetID="2" presetClass="entr" presetSubtype="2" fill="hold" nodeType="withEffect">
                                  <p:stCondLst>
                                    <p:cond delay="0"/>
                                  </p:stCondLst>
                                  <p:childTnLst>
                                    <p:set>
                                      <p:cBhvr>
                                        <p:cTn id="311" dur="1" fill="hold">
                                          <p:stCondLst>
                                            <p:cond delay="0"/>
                                          </p:stCondLst>
                                        </p:cTn>
                                        <p:tgtEl>
                                          <p:spTgt spid="73"/>
                                        </p:tgtEl>
                                        <p:attrNameLst>
                                          <p:attrName>style.visibility</p:attrName>
                                        </p:attrNameLst>
                                      </p:cBhvr>
                                      <p:to>
                                        <p:strVal val="visible"/>
                                      </p:to>
                                    </p:set>
                                    <p:anim calcmode="lin" valueType="num">
                                      <p:cBhvr additive="base">
                                        <p:cTn id="312" dur="500" fill="hold"/>
                                        <p:tgtEl>
                                          <p:spTgt spid="73"/>
                                        </p:tgtEl>
                                        <p:attrNameLst>
                                          <p:attrName>ppt_x</p:attrName>
                                        </p:attrNameLst>
                                      </p:cBhvr>
                                      <p:tavLst>
                                        <p:tav tm="0">
                                          <p:val>
                                            <p:strVal val="1+#ppt_w/2"/>
                                          </p:val>
                                        </p:tav>
                                        <p:tav tm="100000">
                                          <p:val>
                                            <p:strVal val="#ppt_x"/>
                                          </p:val>
                                        </p:tav>
                                      </p:tavLst>
                                    </p:anim>
                                    <p:animEffect transition="in" filter="fade">
                                      <p:cBhvr>
                                        <p:cTn id="313" dur="500"/>
                                        <p:tgtEl>
                                          <p:spTgt spid="73"/>
                                        </p:tgtEl>
                                      </p:cBhvr>
                                    </p:animEffect>
                                  </p:childTnLst>
                                </p:cTn>
                              </p:par>
                            </p:childTnLst>
                          </p:cTn>
                        </p:par>
                        <p:par>
                          <p:cTn id="314" fill="hold">
                            <p:stCondLst>
                              <p:cond delay="8430"/>
                            </p:stCondLst>
                            <p:childTnLst>
                              <p:par>
                                <p:cTn id="315" presetID="2" presetClass="entr" presetSubtype="2" fill="hold" nodeType="withEffect">
                                  <p:stCondLst>
                                    <p:cond delay="0"/>
                                  </p:stCondLst>
                                  <p:childTnLst>
                                    <p:set>
                                      <p:cBhvr>
                                        <p:cTn id="316" dur="1" fill="hold">
                                          <p:stCondLst>
                                            <p:cond delay="0"/>
                                          </p:stCondLst>
                                        </p:cTn>
                                        <p:tgtEl>
                                          <p:spTgt spid="74"/>
                                        </p:tgtEl>
                                        <p:attrNameLst>
                                          <p:attrName>style.visibility</p:attrName>
                                        </p:attrNameLst>
                                      </p:cBhvr>
                                      <p:to>
                                        <p:strVal val="visible"/>
                                      </p:to>
                                    </p:set>
                                    <p:anim calcmode="lin" valueType="num">
                                      <p:cBhvr additive="base">
                                        <p:cTn id="317" dur="500" fill="hold"/>
                                        <p:tgtEl>
                                          <p:spTgt spid="74"/>
                                        </p:tgtEl>
                                        <p:attrNameLst>
                                          <p:attrName>ppt_x</p:attrName>
                                        </p:attrNameLst>
                                      </p:cBhvr>
                                      <p:tavLst>
                                        <p:tav tm="0">
                                          <p:val>
                                            <p:strVal val="1+#ppt_w/2"/>
                                          </p:val>
                                        </p:tav>
                                        <p:tav tm="100000">
                                          <p:val>
                                            <p:strVal val="#ppt_x"/>
                                          </p:val>
                                        </p:tav>
                                      </p:tavLst>
                                    </p:anim>
                                    <p:animEffect transition="in" filter="fade">
                                      <p:cBhvr>
                                        <p:cTn id="318" dur="500"/>
                                        <p:tgtEl>
                                          <p:spTgt spid="74"/>
                                        </p:tgtEl>
                                      </p:cBhvr>
                                    </p:animEffect>
                                  </p:childTnLst>
                                </p:cTn>
                              </p:par>
                            </p:childTnLst>
                          </p:cTn>
                        </p:par>
                        <p:par>
                          <p:cTn id="319" fill="hold">
                            <p:stCondLst>
                              <p:cond delay="8810"/>
                            </p:stCondLst>
                            <p:childTnLst>
                              <p:par>
                                <p:cTn id="320" presetID="2" presetClass="entr" presetSubtype="4" fill="hold" nodeType="withEffect">
                                  <p:stCondLst>
                                    <p:cond delay="0"/>
                                  </p:stCondLst>
                                  <p:childTnLst>
                                    <p:set>
                                      <p:cBhvr>
                                        <p:cTn id="321" dur="1" fill="hold">
                                          <p:stCondLst>
                                            <p:cond delay="0"/>
                                          </p:stCondLst>
                                        </p:cTn>
                                        <p:tgtEl>
                                          <p:spTgt spid="75"/>
                                        </p:tgtEl>
                                        <p:attrNameLst>
                                          <p:attrName>style.visibility</p:attrName>
                                        </p:attrNameLst>
                                      </p:cBhvr>
                                      <p:to>
                                        <p:strVal val="visible"/>
                                      </p:to>
                                    </p:set>
                                    <p:anim calcmode="lin" valueType="num">
                                      <p:cBhvr additive="base">
                                        <p:cTn id="322" dur="500" fill="hold"/>
                                        <p:tgtEl>
                                          <p:spTgt spid="75"/>
                                        </p:tgtEl>
                                        <p:attrNameLst>
                                          <p:attrName>ppt_y</p:attrName>
                                        </p:attrNameLst>
                                      </p:cBhvr>
                                      <p:tavLst>
                                        <p:tav tm="0">
                                          <p:val>
                                            <p:strVal val="1+#ppt_h/2"/>
                                          </p:val>
                                        </p:tav>
                                        <p:tav tm="100000">
                                          <p:val>
                                            <p:strVal val="#ppt_y"/>
                                          </p:val>
                                        </p:tav>
                                      </p:tavLst>
                                    </p:anim>
                                    <p:animEffect transition="in" filter="fade">
                                      <p:cBhvr>
                                        <p:cTn id="323" dur="500"/>
                                        <p:tgtEl>
                                          <p:spTgt spid="75"/>
                                        </p:tgtEl>
                                      </p:cBhvr>
                                    </p:animEffect>
                                  </p:childTnLst>
                                </p:cTn>
                              </p:par>
                            </p:childTnLst>
                          </p:cTn>
                        </p:par>
                        <p:par>
                          <p:cTn id="324" fill="hold">
                            <p:stCondLst>
                              <p:cond delay="8960"/>
                            </p:stCondLst>
                            <p:childTnLst>
                              <p:par>
                                <p:cTn id="325" presetID="2" presetClass="entr" presetSubtype="4" fill="hold" nodeType="withEffect">
                                  <p:stCondLst>
                                    <p:cond delay="0"/>
                                  </p:stCondLst>
                                  <p:childTnLst>
                                    <p:set>
                                      <p:cBhvr>
                                        <p:cTn id="326" dur="1" fill="hold">
                                          <p:stCondLst>
                                            <p:cond delay="0"/>
                                          </p:stCondLst>
                                        </p:cTn>
                                        <p:tgtEl>
                                          <p:spTgt spid="76"/>
                                        </p:tgtEl>
                                        <p:attrNameLst>
                                          <p:attrName>style.visibility</p:attrName>
                                        </p:attrNameLst>
                                      </p:cBhvr>
                                      <p:to>
                                        <p:strVal val="visible"/>
                                      </p:to>
                                    </p:set>
                                    <p:anim calcmode="lin" valueType="num">
                                      <p:cBhvr additive="base">
                                        <p:cTn id="327" dur="500" fill="hold"/>
                                        <p:tgtEl>
                                          <p:spTgt spid="76"/>
                                        </p:tgtEl>
                                        <p:attrNameLst>
                                          <p:attrName>ppt_y</p:attrName>
                                        </p:attrNameLst>
                                      </p:cBhvr>
                                      <p:tavLst>
                                        <p:tav tm="0">
                                          <p:val>
                                            <p:strVal val="1+#ppt_h/2"/>
                                          </p:val>
                                        </p:tav>
                                        <p:tav tm="100000">
                                          <p:val>
                                            <p:strVal val="#ppt_y"/>
                                          </p:val>
                                        </p:tav>
                                      </p:tavLst>
                                    </p:anim>
                                    <p:animEffect transition="in" filter="fade">
                                      <p:cBhvr>
                                        <p:cTn id="328" dur="500"/>
                                        <p:tgtEl>
                                          <p:spTgt spid="76"/>
                                        </p:tgtEl>
                                      </p:cBhvr>
                                    </p:animEffect>
                                  </p:childTnLst>
                                </p:cTn>
                              </p:par>
                            </p:childTnLst>
                          </p:cTn>
                        </p:par>
                        <p:par>
                          <p:cTn id="329" fill="hold">
                            <p:stCondLst>
                              <p:cond delay="8960"/>
                            </p:stCondLst>
                            <p:childTnLst>
                              <p:par>
                                <p:cTn id="330" presetID="2" presetClass="entr" presetSubtype="8" fill="hold" nodeType="withEffect">
                                  <p:stCondLst>
                                    <p:cond delay="0"/>
                                  </p:stCondLst>
                                  <p:childTnLst>
                                    <p:set>
                                      <p:cBhvr>
                                        <p:cTn id="331" dur="1" fill="hold">
                                          <p:stCondLst>
                                            <p:cond delay="0"/>
                                          </p:stCondLst>
                                        </p:cTn>
                                        <p:tgtEl>
                                          <p:spTgt spid="77"/>
                                        </p:tgtEl>
                                        <p:attrNameLst>
                                          <p:attrName>style.visibility</p:attrName>
                                        </p:attrNameLst>
                                      </p:cBhvr>
                                      <p:to>
                                        <p:strVal val="visible"/>
                                      </p:to>
                                    </p:set>
                                    <p:anim calcmode="lin" valueType="num">
                                      <p:cBhvr additive="base">
                                        <p:cTn id="332" dur="500" fill="hold"/>
                                        <p:tgtEl>
                                          <p:spTgt spid="77"/>
                                        </p:tgtEl>
                                        <p:attrNameLst>
                                          <p:attrName>ppt_x</p:attrName>
                                        </p:attrNameLst>
                                      </p:cBhvr>
                                      <p:tavLst>
                                        <p:tav tm="0">
                                          <p:val>
                                            <p:strVal val="0-#ppt_w/2"/>
                                          </p:val>
                                        </p:tav>
                                        <p:tav tm="100000">
                                          <p:val>
                                            <p:strVal val="#ppt_x"/>
                                          </p:val>
                                        </p:tav>
                                      </p:tavLst>
                                    </p:anim>
                                    <p:animEffect transition="in" filter="fade">
                                      <p:cBhvr>
                                        <p:cTn id="333" dur="500"/>
                                        <p:tgtEl>
                                          <p:spTgt spid="77"/>
                                        </p:tgtEl>
                                      </p:cBhvr>
                                    </p:animEffect>
                                  </p:childTnLst>
                                </p:cTn>
                              </p:par>
                            </p:childTnLst>
                          </p:cTn>
                        </p:par>
                        <p:par>
                          <p:cTn id="334" fill="hold">
                            <p:stCondLst>
                              <p:cond delay="9160"/>
                            </p:stCondLst>
                            <p:childTnLst>
                              <p:par>
                                <p:cTn id="335" presetID="2" presetClass="entr" presetSubtype="1" fill="hold" nodeType="withEffect">
                                  <p:stCondLst>
                                    <p:cond delay="0"/>
                                  </p:stCondLst>
                                  <p:childTnLst>
                                    <p:set>
                                      <p:cBhvr>
                                        <p:cTn id="336" dur="1" fill="hold">
                                          <p:stCondLst>
                                            <p:cond delay="0"/>
                                          </p:stCondLst>
                                        </p:cTn>
                                        <p:tgtEl>
                                          <p:spTgt spid="6"/>
                                        </p:tgtEl>
                                        <p:attrNameLst>
                                          <p:attrName>style.visibility</p:attrName>
                                        </p:attrNameLst>
                                      </p:cBhvr>
                                      <p:to>
                                        <p:strVal val="visible"/>
                                      </p:to>
                                    </p:set>
                                    <p:anim calcmode="lin" valueType="num">
                                      <p:cBhvr additive="base">
                                        <p:cTn id="337" dur="500" fill="hold"/>
                                        <p:tgtEl>
                                          <p:spTgt spid="6"/>
                                        </p:tgtEl>
                                        <p:attrNameLst>
                                          <p:attrName>ppt_y</p:attrName>
                                        </p:attrNameLst>
                                      </p:cBhvr>
                                      <p:tavLst>
                                        <p:tav tm="0">
                                          <p:val>
                                            <p:strVal val="0-#ppt_h/2"/>
                                          </p:val>
                                        </p:tav>
                                        <p:tav tm="100000">
                                          <p:val>
                                            <p:strVal val="#ppt_y"/>
                                          </p:val>
                                        </p:tav>
                                      </p:tavLst>
                                    </p:anim>
                                    <p:animEffect transition="in" filter="fade">
                                      <p:cBhvr>
                                        <p:cTn id="338" dur="500"/>
                                        <p:tgtEl>
                                          <p:spTgt spid="6"/>
                                        </p:tgtEl>
                                      </p:cBhvr>
                                    </p:animEffect>
                                  </p:childTnLst>
                                </p:cTn>
                              </p:par>
                            </p:childTnLst>
                          </p:cTn>
                        </p:par>
                        <p:par>
                          <p:cTn id="339" fill="hold">
                            <p:stCondLst>
                              <p:cond delay="9160"/>
                            </p:stCondLst>
                            <p:childTnLst>
                              <p:par>
                                <p:cTn id="340" presetID="2" presetClass="entr" presetSubtype="1" fill="hold" nodeType="withEffect">
                                  <p:stCondLst>
                                    <p:cond delay="0"/>
                                  </p:stCondLst>
                                  <p:childTnLst>
                                    <p:set>
                                      <p:cBhvr>
                                        <p:cTn id="341" dur="1" fill="hold">
                                          <p:stCondLst>
                                            <p:cond delay="0"/>
                                          </p:stCondLst>
                                        </p:cTn>
                                        <p:tgtEl>
                                          <p:spTgt spid="7"/>
                                        </p:tgtEl>
                                        <p:attrNameLst>
                                          <p:attrName>style.visibility</p:attrName>
                                        </p:attrNameLst>
                                      </p:cBhvr>
                                      <p:to>
                                        <p:strVal val="visible"/>
                                      </p:to>
                                    </p:set>
                                    <p:anim calcmode="lin" valueType="num">
                                      <p:cBhvr additive="base">
                                        <p:cTn id="342" dur="500" fill="hold"/>
                                        <p:tgtEl>
                                          <p:spTgt spid="7"/>
                                        </p:tgtEl>
                                        <p:attrNameLst>
                                          <p:attrName>ppt_y</p:attrName>
                                        </p:attrNameLst>
                                      </p:cBhvr>
                                      <p:tavLst>
                                        <p:tav tm="0">
                                          <p:val>
                                            <p:strVal val="0-#ppt_h/2"/>
                                          </p:val>
                                        </p:tav>
                                        <p:tav tm="100000">
                                          <p:val>
                                            <p:strVal val="#ppt_y"/>
                                          </p:val>
                                        </p:tav>
                                      </p:tavLst>
                                    </p:anim>
                                    <p:animEffect transition="in" filter="fade">
                                      <p:cBhvr>
                                        <p:cTn id="3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9184"/>
            <a:ext cx="5852160" cy="182880"/>
          </a:xfrm>
          <a:prstGeom prst="rect">
            <a:avLst/>
          </a:prstGeom>
          <a:noFill/>
          <a:ln/>
        </p:spPr>
        <p:txBody>
          <a:bodyPr wrap="square" lIns="0" tIns="0" rIns="0" bIns="0" rtlCol="0" anchor="ctr"/>
          <a:lstStyle/>
          <a:p>
            <a:pPr marL="0" indent="0">
              <a:buNone/>
            </a:pPr>
            <a:r>
              <a:rPr lang="en-US" sz="850" b="1" kern="0" spc="220" dirty="0">
                <a:solidFill>
                  <a:srgbClr val="0B63CE"/>
                </a:solidFill>
                <a:latin typeface="Calibri" pitchFamily="34" charset="0"/>
                <a:ea typeface="Calibri" pitchFamily="34" charset="-122"/>
                <a:cs typeface="Calibri" pitchFamily="34" charset="-120"/>
              </a:rPr>
              <a:t>15   —   THE OBJECTIVE, END TO END</a:t>
            </a:r>
            <a:endParaRPr lang="en-US" sz="850" dirty="0"/>
          </a:p>
        </p:txBody>
      </p:sp>
      <p:sp>
        <p:nvSpPr>
          <p:cNvPr id="3" name="Text 1"/>
          <p:cNvSpPr/>
          <p:nvPr/>
        </p:nvSpPr>
        <p:spPr>
          <a:xfrm>
            <a:off x="640080" y="502920"/>
            <a:ext cx="7863840" cy="347472"/>
          </a:xfrm>
          <a:prstGeom prst="rect">
            <a:avLst/>
          </a:prstGeom>
          <a:noFill/>
          <a:ln/>
        </p:spPr>
        <p:txBody>
          <a:bodyPr wrap="square" lIns="0" tIns="0" rIns="0" bIns="0" rtlCol="0" anchor="t"/>
          <a:lstStyle/>
          <a:p>
            <a:pPr marL="0" indent="0">
              <a:buNone/>
            </a:pPr>
            <a:r>
              <a:rPr lang="en-US" sz="2300" b="1" dirty="0">
                <a:solidFill>
                  <a:srgbClr val="10243A"/>
                </a:solidFill>
                <a:latin typeface="Calibri" pitchFamily="34" charset="0"/>
                <a:ea typeface="Calibri" pitchFamily="34" charset="-122"/>
                <a:cs typeface="Calibri" pitchFamily="34" charset="-120"/>
              </a:rPr>
              <a:t>Why any of this </a:t>
            </a:r>
            <a:r>
              <a:rPr lang="en-US" sz="2300" b="1" dirty="0">
                <a:solidFill>
                  <a:srgbClr val="0B63CE"/>
                </a:solidFill>
                <a:latin typeface="Calibri" pitchFamily="34" charset="0"/>
                <a:ea typeface="Calibri" pitchFamily="34" charset="-122"/>
                <a:cs typeface="Calibri" pitchFamily="34" charset="-120"/>
              </a:rPr>
              <a:t>was worth doing</a:t>
            </a:r>
            <a:endParaRPr lang="en-US" sz="2300" dirty="0"/>
          </a:p>
        </p:txBody>
      </p:sp>
      <p:sp>
        <p:nvSpPr>
          <p:cNvPr id="4" name="ch_0"/>
          <p:cNvSpPr/>
          <p:nvPr/>
        </p:nvSpPr>
        <p:spPr>
          <a:xfrm>
            <a:off x="640080" y="950976"/>
            <a:ext cx="1481328" cy="1572768"/>
          </a:xfrm>
          <a:prstGeom prst="roundRect">
            <a:avLst>
              <a:gd name="adj" fmla="val 4321"/>
            </a:avLst>
          </a:prstGeom>
          <a:solidFill>
            <a:srgbClr val="FFFFFF"/>
          </a:solidFill>
          <a:ln w="12065">
            <a:solidFill>
              <a:srgbClr val="F6C4B8"/>
            </a:solidFill>
            <a:prstDash val="solid"/>
          </a:ln>
          <a:effectLst>
            <a:outerShdw blurRad="88900" dist="25400" dir="5400000" algn="bl" rotWithShape="0">
              <a:srgbClr val="AFC0CE">
                <a:alpha val="22000"/>
              </a:srgbClr>
            </a:outerShdw>
          </a:effectLst>
        </p:spPr>
        <p:txBody>
          <a:bodyPr/>
          <a:lstStyle/>
          <a:p>
            <a:endParaRPr lang="en-US"/>
          </a:p>
        </p:txBody>
      </p:sp>
      <p:sp>
        <p:nvSpPr>
          <p:cNvPr id="5" name="chk_0"/>
          <p:cNvSpPr/>
          <p:nvPr/>
        </p:nvSpPr>
        <p:spPr>
          <a:xfrm>
            <a:off x="758952" y="1042416"/>
            <a:ext cx="566928" cy="173736"/>
          </a:xfrm>
          <a:prstGeom prst="roundRect">
            <a:avLst>
              <a:gd name="adj" fmla="val 18421"/>
            </a:avLst>
          </a:prstGeom>
          <a:solidFill>
            <a:srgbClr val="FDEDE9"/>
          </a:solidFill>
          <a:ln w="7620">
            <a:solidFill>
              <a:srgbClr val="F6C4B8"/>
            </a:solidFill>
            <a:prstDash val="solid"/>
          </a:ln>
        </p:spPr>
        <p:txBody>
          <a:bodyPr/>
          <a:lstStyle/>
          <a:p>
            <a:endParaRPr lang="en-US"/>
          </a:p>
        </p:txBody>
      </p:sp>
      <p:sp>
        <p:nvSpPr>
          <p:cNvPr id="6" name="chkt_0"/>
          <p:cNvSpPr/>
          <p:nvPr/>
        </p:nvSpPr>
        <p:spPr>
          <a:xfrm>
            <a:off x="758952" y="1042416"/>
            <a:ext cx="566928" cy="173736"/>
          </a:xfrm>
          <a:prstGeom prst="rect">
            <a:avLst/>
          </a:prstGeom>
          <a:noFill/>
          <a:ln/>
        </p:spPr>
        <p:txBody>
          <a:bodyPr wrap="square" lIns="0" tIns="0" rIns="0" bIns="0" rtlCol="0" anchor="ctr"/>
          <a:lstStyle/>
          <a:p>
            <a:pPr marL="0" indent="0" algn="ctr">
              <a:buNone/>
            </a:pPr>
            <a:r>
              <a:rPr lang="en-US" sz="580" b="1" kern="0" spc="70" dirty="0">
                <a:solidFill>
                  <a:srgbClr val="D8452A"/>
                </a:solidFill>
                <a:latin typeface="Calibri" pitchFamily="34" charset="0"/>
                <a:ea typeface="Calibri" pitchFamily="34" charset="-122"/>
                <a:cs typeface="Calibri" pitchFamily="34" charset="-120"/>
              </a:rPr>
              <a:t>PROBLEM</a:t>
            </a:r>
            <a:endParaRPr lang="en-US" sz="580" dirty="0"/>
          </a:p>
        </p:txBody>
      </p:sp>
      <p:sp>
        <p:nvSpPr>
          <p:cNvPr id="7" name="cht_0"/>
          <p:cNvSpPr/>
          <p:nvPr/>
        </p:nvSpPr>
        <p:spPr>
          <a:xfrm>
            <a:off x="758952" y="1261872"/>
            <a:ext cx="1243584" cy="384048"/>
          </a:xfrm>
          <a:prstGeom prst="rect">
            <a:avLst/>
          </a:prstGeom>
          <a:noFill/>
          <a:ln/>
        </p:spPr>
        <p:txBody>
          <a:bodyPr wrap="square" lIns="0" tIns="0" rIns="0" bIns="0" rtlCol="0" anchor="ctr"/>
          <a:lstStyle/>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Evidence that</a:t>
            </a:r>
            <a:endParaRPr lang="en-US" sz="1050" dirty="0"/>
          </a:p>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does not predict</a:t>
            </a:r>
            <a:endParaRPr lang="en-US" sz="1050" dirty="0"/>
          </a:p>
        </p:txBody>
      </p:sp>
      <p:sp>
        <p:nvSpPr>
          <p:cNvPr id="8" name="chd_0"/>
          <p:cNvSpPr/>
          <p:nvPr/>
        </p:nvSpPr>
        <p:spPr>
          <a:xfrm>
            <a:off x="758952" y="1664208"/>
            <a:ext cx="1243584" cy="402336"/>
          </a:xfrm>
          <a:prstGeom prst="rect">
            <a:avLst/>
          </a:prstGeom>
          <a:noFill/>
          <a:ln/>
        </p:spPr>
        <p:txBody>
          <a:bodyPr wrap="square" lIns="0" tIns="0" rIns="0" bIns="0" rtlCol="0" anchor="ctr"/>
          <a:lstStyle/>
          <a:p>
            <a:pPr marL="0" indent="0">
              <a:lnSpc>
                <a:spcPts val="900"/>
              </a:lnSpc>
              <a:buNone/>
            </a:pPr>
            <a:r>
              <a:rPr lang="en-US" sz="720" dirty="0">
                <a:solidFill>
                  <a:srgbClr val="55697C"/>
                </a:solidFill>
                <a:latin typeface="Calibri" pitchFamily="34" charset="0"/>
                <a:ea typeface="Calibri" pitchFamily="34" charset="-122"/>
                <a:cs typeface="Calibri" pitchFamily="34" charset="-120"/>
              </a:rPr>
              <a:t>Animal models decide a $2.6bn question they cannot answer.</a:t>
            </a:r>
            <a:endParaRPr lang="en-US" sz="720" dirty="0"/>
          </a:p>
        </p:txBody>
      </p:sp>
      <p:sp>
        <p:nvSpPr>
          <p:cNvPr id="9" name="chr_0"/>
          <p:cNvSpPr/>
          <p:nvPr/>
        </p:nvSpPr>
        <p:spPr>
          <a:xfrm>
            <a:off x="758952" y="2103120"/>
            <a:ext cx="1243584" cy="0"/>
          </a:xfrm>
          <a:prstGeom prst="line">
            <a:avLst/>
          </a:prstGeom>
          <a:noFill/>
          <a:ln w="8890">
            <a:solidFill>
              <a:srgbClr val="F6C4B8"/>
            </a:solidFill>
            <a:prstDash val="solid"/>
          </a:ln>
        </p:spPr>
        <p:txBody>
          <a:bodyPr/>
          <a:lstStyle/>
          <a:p>
            <a:endParaRPr lang="en-US"/>
          </a:p>
        </p:txBody>
      </p:sp>
      <p:sp>
        <p:nvSpPr>
          <p:cNvPr id="10" name="chv_0"/>
          <p:cNvSpPr/>
          <p:nvPr/>
        </p:nvSpPr>
        <p:spPr>
          <a:xfrm>
            <a:off x="758952" y="2139696"/>
            <a:ext cx="1243584" cy="219456"/>
          </a:xfrm>
          <a:prstGeom prst="rect">
            <a:avLst/>
          </a:prstGeom>
          <a:noFill/>
          <a:ln/>
        </p:spPr>
        <p:txBody>
          <a:bodyPr wrap="square" lIns="0" tIns="0" rIns="0" bIns="0" rtlCol="0" anchor="ctr"/>
          <a:lstStyle/>
          <a:p>
            <a:pPr marL="0" indent="0">
              <a:buNone/>
            </a:pPr>
            <a:r>
              <a:rPr lang="en-US" sz="1300" b="1" dirty="0">
                <a:solidFill>
                  <a:srgbClr val="D8452A"/>
                </a:solidFill>
                <a:latin typeface="Calibri" pitchFamily="34" charset="0"/>
                <a:ea typeface="Calibri" pitchFamily="34" charset="-122"/>
                <a:cs typeface="Calibri" pitchFamily="34" charset="-120"/>
              </a:rPr>
              <a:t>~90%</a:t>
            </a:r>
            <a:endParaRPr lang="en-US" sz="1300" dirty="0"/>
          </a:p>
        </p:txBody>
      </p:sp>
      <p:sp>
        <p:nvSpPr>
          <p:cNvPr id="11" name="chvl_0"/>
          <p:cNvSpPr/>
          <p:nvPr/>
        </p:nvSpPr>
        <p:spPr>
          <a:xfrm>
            <a:off x="758952" y="2350008"/>
            <a:ext cx="1243584" cy="128016"/>
          </a:xfrm>
          <a:prstGeom prst="rect">
            <a:avLst/>
          </a:prstGeom>
          <a:noFill/>
          <a:ln/>
        </p:spPr>
        <p:txBody>
          <a:bodyPr wrap="square" lIns="0" tIns="0" rIns="0" bIns="0" rtlCol="0" anchor="ctr"/>
          <a:lstStyle/>
          <a:p>
            <a:pPr marL="0" indent="0">
              <a:buNone/>
            </a:pPr>
            <a:r>
              <a:rPr lang="en-US" sz="600" dirty="0">
                <a:solidFill>
                  <a:srgbClr val="8FA1B2"/>
                </a:solidFill>
                <a:latin typeface="Calibri" pitchFamily="34" charset="0"/>
                <a:ea typeface="Calibri" pitchFamily="34" charset="-122"/>
                <a:cs typeface="Calibri" pitchFamily="34" charset="-120"/>
              </a:rPr>
              <a:t>clinical failure</a:t>
            </a:r>
            <a:endParaRPr lang="en-US" sz="600" dirty="0"/>
          </a:p>
        </p:txBody>
      </p:sp>
      <p:sp>
        <p:nvSpPr>
          <p:cNvPr id="12" name="cha_0"/>
          <p:cNvSpPr/>
          <p:nvPr/>
        </p:nvSpPr>
        <p:spPr>
          <a:xfrm>
            <a:off x="2125980" y="1737360"/>
            <a:ext cx="109728" cy="0"/>
          </a:xfrm>
          <a:prstGeom prst="line">
            <a:avLst/>
          </a:prstGeom>
          <a:noFill/>
          <a:ln w="13970">
            <a:solidFill>
              <a:srgbClr val="8FA1B2"/>
            </a:solidFill>
            <a:prstDash val="solid"/>
            <a:tailEnd type="triangle"/>
          </a:ln>
        </p:spPr>
        <p:txBody>
          <a:bodyPr/>
          <a:lstStyle/>
          <a:p>
            <a:endParaRPr lang="en-US"/>
          </a:p>
        </p:txBody>
      </p:sp>
      <p:sp>
        <p:nvSpPr>
          <p:cNvPr id="13" name="ch_1"/>
          <p:cNvSpPr/>
          <p:nvPr/>
        </p:nvSpPr>
        <p:spPr>
          <a:xfrm>
            <a:off x="2240280" y="950976"/>
            <a:ext cx="1481328" cy="1572768"/>
          </a:xfrm>
          <a:prstGeom prst="roundRect">
            <a:avLst>
              <a:gd name="adj" fmla="val 4321"/>
            </a:avLst>
          </a:prstGeom>
          <a:solidFill>
            <a:srgbClr val="FFFFFF"/>
          </a:solidFill>
          <a:ln w="12065">
            <a:solidFill>
              <a:srgbClr val="C9DFF6"/>
            </a:solidFill>
            <a:prstDash val="solid"/>
          </a:ln>
          <a:effectLst>
            <a:outerShdw blurRad="88900" dist="25400" dir="5400000" algn="bl" rotWithShape="0">
              <a:srgbClr val="AFC0CE">
                <a:alpha val="22000"/>
              </a:srgbClr>
            </a:outerShdw>
          </a:effectLst>
        </p:spPr>
        <p:txBody>
          <a:bodyPr/>
          <a:lstStyle/>
          <a:p>
            <a:endParaRPr lang="en-US"/>
          </a:p>
        </p:txBody>
      </p:sp>
      <p:sp>
        <p:nvSpPr>
          <p:cNvPr id="14" name="chk_1"/>
          <p:cNvSpPr/>
          <p:nvPr/>
        </p:nvSpPr>
        <p:spPr>
          <a:xfrm>
            <a:off x="2359152" y="1042416"/>
            <a:ext cx="566928" cy="173736"/>
          </a:xfrm>
          <a:prstGeom prst="roundRect">
            <a:avLst>
              <a:gd name="adj" fmla="val 18421"/>
            </a:avLst>
          </a:prstGeom>
          <a:solidFill>
            <a:srgbClr val="E8F1FC"/>
          </a:solidFill>
          <a:ln w="7620">
            <a:solidFill>
              <a:srgbClr val="C9DFF6"/>
            </a:solidFill>
            <a:prstDash val="solid"/>
          </a:ln>
        </p:spPr>
        <p:txBody>
          <a:bodyPr/>
          <a:lstStyle/>
          <a:p>
            <a:endParaRPr lang="en-US"/>
          </a:p>
        </p:txBody>
      </p:sp>
      <p:sp>
        <p:nvSpPr>
          <p:cNvPr id="15" name="chkt_1"/>
          <p:cNvSpPr/>
          <p:nvPr/>
        </p:nvSpPr>
        <p:spPr>
          <a:xfrm>
            <a:off x="2359152" y="1042416"/>
            <a:ext cx="566928" cy="173736"/>
          </a:xfrm>
          <a:prstGeom prst="rect">
            <a:avLst/>
          </a:prstGeom>
          <a:noFill/>
          <a:ln/>
        </p:spPr>
        <p:txBody>
          <a:bodyPr wrap="square" lIns="0" tIns="0" rIns="0" bIns="0" rtlCol="0" anchor="ctr"/>
          <a:lstStyle/>
          <a:p>
            <a:pPr marL="0" indent="0" algn="ctr">
              <a:buNone/>
            </a:pPr>
            <a:r>
              <a:rPr lang="en-US" sz="580" b="1" kern="0" spc="70" dirty="0">
                <a:solidFill>
                  <a:srgbClr val="0B63CE"/>
                </a:solidFill>
                <a:latin typeface="Calibri" pitchFamily="34" charset="0"/>
                <a:ea typeface="Calibri" pitchFamily="34" charset="-122"/>
                <a:cs typeface="Calibri" pitchFamily="34" charset="-120"/>
              </a:rPr>
              <a:t>DATA</a:t>
            </a:r>
            <a:endParaRPr lang="en-US" sz="580" dirty="0"/>
          </a:p>
        </p:txBody>
      </p:sp>
      <p:sp>
        <p:nvSpPr>
          <p:cNvPr id="16" name="cht_1"/>
          <p:cNvSpPr/>
          <p:nvPr/>
        </p:nvSpPr>
        <p:spPr>
          <a:xfrm>
            <a:off x="2359152" y="1261872"/>
            <a:ext cx="1243584" cy="384048"/>
          </a:xfrm>
          <a:prstGeom prst="rect">
            <a:avLst/>
          </a:prstGeom>
          <a:noFill/>
          <a:ln/>
        </p:spPr>
        <p:txBody>
          <a:bodyPr wrap="square" lIns="0" tIns="0" rIns="0" bIns="0" rtlCol="0" anchor="ctr"/>
          <a:lstStyle/>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Human genetics</a:t>
            </a:r>
            <a:endParaRPr lang="en-US" sz="1050" dirty="0"/>
          </a:p>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instead</a:t>
            </a:r>
            <a:endParaRPr lang="en-US" sz="1050" dirty="0"/>
          </a:p>
        </p:txBody>
      </p:sp>
      <p:sp>
        <p:nvSpPr>
          <p:cNvPr id="17" name="chd_1"/>
          <p:cNvSpPr/>
          <p:nvPr/>
        </p:nvSpPr>
        <p:spPr>
          <a:xfrm>
            <a:off x="2359152" y="1664208"/>
            <a:ext cx="1243584" cy="402336"/>
          </a:xfrm>
          <a:prstGeom prst="rect">
            <a:avLst/>
          </a:prstGeom>
          <a:noFill/>
          <a:ln/>
        </p:spPr>
        <p:txBody>
          <a:bodyPr wrap="square" lIns="0" tIns="0" rIns="0" bIns="0" rtlCol="0" anchor="ctr"/>
          <a:lstStyle/>
          <a:p>
            <a:pPr marL="0" indent="0">
              <a:lnSpc>
                <a:spcPts val="900"/>
              </a:lnSpc>
              <a:buNone/>
            </a:pPr>
            <a:r>
              <a:rPr lang="en-US" sz="720" dirty="0">
                <a:solidFill>
                  <a:srgbClr val="55697C"/>
                </a:solidFill>
                <a:latin typeface="Calibri" pitchFamily="34" charset="0"/>
                <a:ea typeface="Calibri" pitchFamily="34" charset="-122"/>
                <a:cs typeface="Calibri" pitchFamily="34" charset="-120"/>
              </a:rPr>
              <a:t>Three million sequenced people linked to their medical records.</a:t>
            </a:r>
            <a:endParaRPr lang="en-US" sz="720" dirty="0"/>
          </a:p>
        </p:txBody>
      </p:sp>
      <p:sp>
        <p:nvSpPr>
          <p:cNvPr id="18" name="chr_1"/>
          <p:cNvSpPr/>
          <p:nvPr/>
        </p:nvSpPr>
        <p:spPr>
          <a:xfrm>
            <a:off x="2359152" y="2103120"/>
            <a:ext cx="1243584" cy="0"/>
          </a:xfrm>
          <a:prstGeom prst="line">
            <a:avLst/>
          </a:prstGeom>
          <a:noFill/>
          <a:ln w="8890">
            <a:solidFill>
              <a:srgbClr val="C9DFF6"/>
            </a:solidFill>
            <a:prstDash val="solid"/>
          </a:ln>
        </p:spPr>
        <p:txBody>
          <a:bodyPr/>
          <a:lstStyle/>
          <a:p>
            <a:endParaRPr lang="en-US"/>
          </a:p>
        </p:txBody>
      </p:sp>
      <p:sp>
        <p:nvSpPr>
          <p:cNvPr id="19" name="chv_1"/>
          <p:cNvSpPr/>
          <p:nvPr/>
        </p:nvSpPr>
        <p:spPr>
          <a:xfrm>
            <a:off x="2359152" y="2139696"/>
            <a:ext cx="1243584" cy="219456"/>
          </a:xfrm>
          <a:prstGeom prst="rect">
            <a:avLst/>
          </a:prstGeom>
          <a:noFill/>
          <a:ln/>
        </p:spPr>
        <p:txBody>
          <a:bodyPr wrap="square" lIns="0" tIns="0" rIns="0" bIns="0" rtlCol="0" anchor="ctr"/>
          <a:lstStyle/>
          <a:p>
            <a:pPr marL="0" indent="0">
              <a:buNone/>
            </a:pPr>
            <a:r>
              <a:rPr lang="en-US" sz="1300" b="1" dirty="0">
                <a:solidFill>
                  <a:srgbClr val="0B63CE"/>
                </a:solidFill>
                <a:latin typeface="Calibri" pitchFamily="34" charset="0"/>
                <a:ea typeface="Calibri" pitchFamily="34" charset="-122"/>
                <a:cs typeface="Calibri" pitchFamily="34" charset="-120"/>
              </a:rPr>
              <a:t>210k</a:t>
            </a:r>
            <a:endParaRPr lang="en-US" sz="1300" dirty="0"/>
          </a:p>
        </p:txBody>
      </p:sp>
      <p:sp>
        <p:nvSpPr>
          <p:cNvPr id="20" name="chvl_1"/>
          <p:cNvSpPr/>
          <p:nvPr/>
        </p:nvSpPr>
        <p:spPr>
          <a:xfrm>
            <a:off x="2359152" y="2350008"/>
            <a:ext cx="1243584" cy="128016"/>
          </a:xfrm>
          <a:prstGeom prst="rect">
            <a:avLst/>
          </a:prstGeom>
          <a:noFill/>
          <a:ln/>
        </p:spPr>
        <p:txBody>
          <a:bodyPr wrap="square" lIns="0" tIns="0" rIns="0" bIns="0" rtlCol="0" anchor="ctr"/>
          <a:lstStyle/>
          <a:p>
            <a:pPr marL="0" indent="0">
              <a:buNone/>
            </a:pPr>
            <a:r>
              <a:rPr lang="en-US" sz="600" dirty="0">
                <a:solidFill>
                  <a:srgbClr val="8FA1B2"/>
                </a:solidFill>
                <a:latin typeface="Calibri" pitchFamily="34" charset="0"/>
                <a:ea typeface="Calibri" pitchFamily="34" charset="-122"/>
                <a:cs typeface="Calibri" pitchFamily="34" charset="-120"/>
              </a:rPr>
              <a:t>rows analysed</a:t>
            </a:r>
            <a:endParaRPr lang="en-US" sz="600" dirty="0"/>
          </a:p>
        </p:txBody>
      </p:sp>
      <p:sp>
        <p:nvSpPr>
          <p:cNvPr id="21" name="cha_1"/>
          <p:cNvSpPr/>
          <p:nvPr/>
        </p:nvSpPr>
        <p:spPr>
          <a:xfrm>
            <a:off x="3726180" y="1737360"/>
            <a:ext cx="109728" cy="0"/>
          </a:xfrm>
          <a:prstGeom prst="line">
            <a:avLst/>
          </a:prstGeom>
          <a:noFill/>
          <a:ln w="13970">
            <a:solidFill>
              <a:srgbClr val="8FA1B2"/>
            </a:solidFill>
            <a:prstDash val="solid"/>
            <a:tailEnd type="triangle"/>
          </a:ln>
        </p:spPr>
        <p:txBody>
          <a:bodyPr/>
          <a:lstStyle/>
          <a:p>
            <a:endParaRPr lang="en-US"/>
          </a:p>
        </p:txBody>
      </p:sp>
      <p:sp>
        <p:nvSpPr>
          <p:cNvPr id="22" name="ch_2"/>
          <p:cNvSpPr/>
          <p:nvPr/>
        </p:nvSpPr>
        <p:spPr>
          <a:xfrm>
            <a:off x="3840480" y="950976"/>
            <a:ext cx="1481328" cy="1572768"/>
          </a:xfrm>
          <a:prstGeom prst="roundRect">
            <a:avLst>
              <a:gd name="adj" fmla="val 4321"/>
            </a:avLst>
          </a:prstGeom>
          <a:solidFill>
            <a:srgbClr val="FFFFFF"/>
          </a:solidFill>
          <a:ln w="12065">
            <a:solidFill>
              <a:srgbClr val="C9DFF6"/>
            </a:solidFill>
            <a:prstDash val="solid"/>
          </a:ln>
          <a:effectLst>
            <a:outerShdw blurRad="88900" dist="25400" dir="5400000" algn="bl" rotWithShape="0">
              <a:srgbClr val="AFC0CE">
                <a:alpha val="22000"/>
              </a:srgbClr>
            </a:outerShdw>
          </a:effectLst>
        </p:spPr>
        <p:txBody>
          <a:bodyPr/>
          <a:lstStyle/>
          <a:p>
            <a:endParaRPr lang="en-US"/>
          </a:p>
        </p:txBody>
      </p:sp>
      <p:sp>
        <p:nvSpPr>
          <p:cNvPr id="23" name="chk_2"/>
          <p:cNvSpPr/>
          <p:nvPr/>
        </p:nvSpPr>
        <p:spPr>
          <a:xfrm>
            <a:off x="3959352" y="1042416"/>
            <a:ext cx="566928" cy="173736"/>
          </a:xfrm>
          <a:prstGeom prst="roundRect">
            <a:avLst>
              <a:gd name="adj" fmla="val 18421"/>
            </a:avLst>
          </a:prstGeom>
          <a:solidFill>
            <a:srgbClr val="E8F1FC"/>
          </a:solidFill>
          <a:ln w="7620">
            <a:solidFill>
              <a:srgbClr val="C9DFF6"/>
            </a:solidFill>
            <a:prstDash val="solid"/>
          </a:ln>
        </p:spPr>
        <p:txBody>
          <a:bodyPr/>
          <a:lstStyle/>
          <a:p>
            <a:endParaRPr lang="en-US"/>
          </a:p>
        </p:txBody>
      </p:sp>
      <p:sp>
        <p:nvSpPr>
          <p:cNvPr id="24" name="chkt_2"/>
          <p:cNvSpPr/>
          <p:nvPr/>
        </p:nvSpPr>
        <p:spPr>
          <a:xfrm>
            <a:off x="3959352" y="1042416"/>
            <a:ext cx="566928" cy="173736"/>
          </a:xfrm>
          <a:prstGeom prst="rect">
            <a:avLst/>
          </a:prstGeom>
          <a:noFill/>
          <a:ln/>
        </p:spPr>
        <p:txBody>
          <a:bodyPr wrap="square" lIns="0" tIns="0" rIns="0" bIns="0" rtlCol="0" anchor="ctr"/>
          <a:lstStyle/>
          <a:p>
            <a:pPr marL="0" indent="0" algn="ctr">
              <a:buNone/>
            </a:pPr>
            <a:r>
              <a:rPr lang="en-US" sz="580" b="1" kern="0" spc="70" dirty="0">
                <a:solidFill>
                  <a:srgbClr val="0B63CE"/>
                </a:solidFill>
                <a:latin typeface="Calibri" pitchFamily="34" charset="0"/>
                <a:ea typeface="Calibri" pitchFamily="34" charset="-122"/>
                <a:cs typeface="Calibri" pitchFamily="34" charset="-120"/>
              </a:rPr>
              <a:t>MODEL</a:t>
            </a:r>
            <a:endParaRPr lang="en-US" sz="580" dirty="0"/>
          </a:p>
        </p:txBody>
      </p:sp>
      <p:sp>
        <p:nvSpPr>
          <p:cNvPr id="25" name="cht_2"/>
          <p:cNvSpPr/>
          <p:nvPr/>
        </p:nvSpPr>
        <p:spPr>
          <a:xfrm>
            <a:off x="3959352" y="1261872"/>
            <a:ext cx="1243584" cy="384048"/>
          </a:xfrm>
          <a:prstGeom prst="rect">
            <a:avLst/>
          </a:prstGeom>
          <a:noFill/>
          <a:ln/>
        </p:spPr>
        <p:txBody>
          <a:bodyPr wrap="square" lIns="0" tIns="0" rIns="0" bIns="0" rtlCol="0" anchor="ctr"/>
          <a:lstStyle/>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Score every</a:t>
            </a:r>
            <a:endParaRPr lang="en-US" sz="1050" dirty="0"/>
          </a:p>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target</a:t>
            </a:r>
            <a:endParaRPr lang="en-US" sz="1050" dirty="0"/>
          </a:p>
        </p:txBody>
      </p:sp>
      <p:sp>
        <p:nvSpPr>
          <p:cNvPr id="26" name="chd_2"/>
          <p:cNvSpPr/>
          <p:nvPr/>
        </p:nvSpPr>
        <p:spPr>
          <a:xfrm>
            <a:off x="3959352" y="1664208"/>
            <a:ext cx="1243584" cy="402336"/>
          </a:xfrm>
          <a:prstGeom prst="rect">
            <a:avLst/>
          </a:prstGeom>
          <a:noFill/>
          <a:ln/>
        </p:spPr>
        <p:txBody>
          <a:bodyPr wrap="square" lIns="0" tIns="0" rIns="0" bIns="0" rtlCol="0" anchor="ctr"/>
          <a:lstStyle/>
          <a:p>
            <a:pPr marL="0" indent="0">
              <a:lnSpc>
                <a:spcPts val="900"/>
              </a:lnSpc>
              <a:buNone/>
            </a:pPr>
            <a:r>
              <a:rPr lang="en-US" sz="720" dirty="0">
                <a:solidFill>
                  <a:srgbClr val="55697C"/>
                </a:solidFill>
                <a:latin typeface="Calibri" pitchFamily="34" charset="0"/>
                <a:ea typeface="Calibri" pitchFamily="34" charset="-122"/>
                <a:cs typeface="Calibri" pitchFamily="34" charset="-120"/>
              </a:rPr>
              <a:t>Regression, not opinion. One number out of ten per target.</a:t>
            </a:r>
            <a:endParaRPr lang="en-US" sz="720" dirty="0"/>
          </a:p>
        </p:txBody>
      </p:sp>
      <p:sp>
        <p:nvSpPr>
          <p:cNvPr id="27" name="chr_2"/>
          <p:cNvSpPr/>
          <p:nvPr/>
        </p:nvSpPr>
        <p:spPr>
          <a:xfrm>
            <a:off x="3959352" y="2103120"/>
            <a:ext cx="1243584" cy="0"/>
          </a:xfrm>
          <a:prstGeom prst="line">
            <a:avLst/>
          </a:prstGeom>
          <a:noFill/>
          <a:ln w="8890">
            <a:solidFill>
              <a:srgbClr val="C9DFF6"/>
            </a:solidFill>
            <a:prstDash val="solid"/>
          </a:ln>
        </p:spPr>
        <p:txBody>
          <a:bodyPr/>
          <a:lstStyle/>
          <a:p>
            <a:endParaRPr lang="en-US"/>
          </a:p>
        </p:txBody>
      </p:sp>
      <p:sp>
        <p:nvSpPr>
          <p:cNvPr id="28" name="chv_2"/>
          <p:cNvSpPr/>
          <p:nvPr/>
        </p:nvSpPr>
        <p:spPr>
          <a:xfrm>
            <a:off x="3959352" y="2139696"/>
            <a:ext cx="1243584" cy="219456"/>
          </a:xfrm>
          <a:prstGeom prst="rect">
            <a:avLst/>
          </a:prstGeom>
          <a:noFill/>
          <a:ln/>
        </p:spPr>
        <p:txBody>
          <a:bodyPr wrap="square" lIns="0" tIns="0" rIns="0" bIns="0" rtlCol="0" anchor="ctr"/>
          <a:lstStyle/>
          <a:p>
            <a:pPr marL="0" indent="0">
              <a:buNone/>
            </a:pPr>
            <a:r>
              <a:rPr lang="en-US" sz="1300" b="1" dirty="0">
                <a:solidFill>
                  <a:srgbClr val="0B63CE"/>
                </a:solidFill>
                <a:latin typeface="Calibri" pitchFamily="34" charset="0"/>
                <a:ea typeface="Calibri" pitchFamily="34" charset="-122"/>
                <a:cs typeface="Calibri" pitchFamily="34" charset="-120"/>
              </a:rPr>
              <a:t>0.91</a:t>
            </a:r>
            <a:endParaRPr lang="en-US" sz="1300" dirty="0"/>
          </a:p>
        </p:txBody>
      </p:sp>
      <p:sp>
        <p:nvSpPr>
          <p:cNvPr id="29" name="chvl_2"/>
          <p:cNvSpPr/>
          <p:nvPr/>
        </p:nvSpPr>
        <p:spPr>
          <a:xfrm>
            <a:off x="3959352" y="2350008"/>
            <a:ext cx="1243584" cy="128016"/>
          </a:xfrm>
          <a:prstGeom prst="rect">
            <a:avLst/>
          </a:prstGeom>
          <a:noFill/>
          <a:ln/>
        </p:spPr>
        <p:txBody>
          <a:bodyPr wrap="square" lIns="0" tIns="0" rIns="0" bIns="0" rtlCol="0" anchor="ctr"/>
          <a:lstStyle/>
          <a:p>
            <a:pPr marL="0" indent="0">
              <a:buNone/>
            </a:pPr>
            <a:r>
              <a:rPr lang="en-US" sz="600" dirty="0">
                <a:solidFill>
                  <a:srgbClr val="8FA1B2"/>
                </a:solidFill>
                <a:latin typeface="Calibri" pitchFamily="34" charset="0"/>
                <a:ea typeface="Calibri" pitchFamily="34" charset="-122"/>
                <a:cs typeface="Calibri" pitchFamily="34" charset="-120"/>
              </a:rPr>
              <a:t>ranking AUC</a:t>
            </a:r>
            <a:endParaRPr lang="en-US" sz="600" dirty="0"/>
          </a:p>
        </p:txBody>
      </p:sp>
      <p:sp>
        <p:nvSpPr>
          <p:cNvPr id="30" name="cha_2"/>
          <p:cNvSpPr/>
          <p:nvPr/>
        </p:nvSpPr>
        <p:spPr>
          <a:xfrm>
            <a:off x="5326380" y="1737360"/>
            <a:ext cx="109728" cy="0"/>
          </a:xfrm>
          <a:prstGeom prst="line">
            <a:avLst/>
          </a:prstGeom>
          <a:noFill/>
          <a:ln w="13970">
            <a:solidFill>
              <a:srgbClr val="8FA1B2"/>
            </a:solidFill>
            <a:prstDash val="solid"/>
            <a:tailEnd type="triangle"/>
          </a:ln>
        </p:spPr>
        <p:txBody>
          <a:bodyPr/>
          <a:lstStyle/>
          <a:p>
            <a:endParaRPr lang="en-US"/>
          </a:p>
        </p:txBody>
      </p:sp>
      <p:sp>
        <p:nvSpPr>
          <p:cNvPr id="31" name="ch_3"/>
          <p:cNvSpPr/>
          <p:nvPr/>
        </p:nvSpPr>
        <p:spPr>
          <a:xfrm>
            <a:off x="5440680" y="950976"/>
            <a:ext cx="1481328" cy="1572768"/>
          </a:xfrm>
          <a:prstGeom prst="roundRect">
            <a:avLst>
              <a:gd name="adj" fmla="val 4321"/>
            </a:avLst>
          </a:prstGeom>
          <a:solidFill>
            <a:srgbClr val="FFFFFF"/>
          </a:solidFill>
          <a:ln w="12065">
            <a:solidFill>
              <a:srgbClr val="A9E0DA"/>
            </a:solidFill>
            <a:prstDash val="solid"/>
          </a:ln>
          <a:effectLst>
            <a:outerShdw blurRad="88900" dist="25400" dir="5400000" algn="bl" rotWithShape="0">
              <a:srgbClr val="AFC0CE">
                <a:alpha val="22000"/>
              </a:srgbClr>
            </a:outerShdw>
          </a:effectLst>
        </p:spPr>
        <p:txBody>
          <a:bodyPr/>
          <a:lstStyle/>
          <a:p>
            <a:endParaRPr lang="en-US"/>
          </a:p>
        </p:txBody>
      </p:sp>
      <p:sp>
        <p:nvSpPr>
          <p:cNvPr id="32" name="chk_3"/>
          <p:cNvSpPr/>
          <p:nvPr/>
        </p:nvSpPr>
        <p:spPr>
          <a:xfrm>
            <a:off x="5559552" y="1042416"/>
            <a:ext cx="566928" cy="173736"/>
          </a:xfrm>
          <a:prstGeom prst="roundRect">
            <a:avLst>
              <a:gd name="adj" fmla="val 18421"/>
            </a:avLst>
          </a:prstGeom>
          <a:solidFill>
            <a:srgbClr val="E0F4F2"/>
          </a:solidFill>
          <a:ln w="7620">
            <a:solidFill>
              <a:srgbClr val="A9E0DA"/>
            </a:solidFill>
            <a:prstDash val="solid"/>
          </a:ln>
        </p:spPr>
        <p:txBody>
          <a:bodyPr/>
          <a:lstStyle/>
          <a:p>
            <a:endParaRPr lang="en-US"/>
          </a:p>
        </p:txBody>
      </p:sp>
      <p:sp>
        <p:nvSpPr>
          <p:cNvPr id="33" name="chkt_3"/>
          <p:cNvSpPr/>
          <p:nvPr/>
        </p:nvSpPr>
        <p:spPr>
          <a:xfrm>
            <a:off x="5559552" y="1042416"/>
            <a:ext cx="566928" cy="173736"/>
          </a:xfrm>
          <a:prstGeom prst="rect">
            <a:avLst/>
          </a:prstGeom>
          <a:noFill/>
          <a:ln/>
        </p:spPr>
        <p:txBody>
          <a:bodyPr wrap="square" lIns="0" tIns="0" rIns="0" bIns="0" rtlCol="0" anchor="ctr"/>
          <a:lstStyle/>
          <a:p>
            <a:pPr marL="0" indent="0" algn="ctr">
              <a:buNone/>
            </a:pPr>
            <a:r>
              <a:rPr lang="en-US" sz="580" b="1" kern="0" spc="70" dirty="0">
                <a:solidFill>
                  <a:srgbClr val="0C8C83"/>
                </a:solidFill>
                <a:latin typeface="Calibri" pitchFamily="34" charset="0"/>
                <a:ea typeface="Calibri" pitchFamily="34" charset="-122"/>
                <a:cs typeface="Calibri" pitchFamily="34" charset="-120"/>
              </a:rPr>
              <a:t>DECISION</a:t>
            </a:r>
            <a:endParaRPr lang="en-US" sz="580" dirty="0"/>
          </a:p>
        </p:txBody>
      </p:sp>
      <p:sp>
        <p:nvSpPr>
          <p:cNvPr id="34" name="cht_3"/>
          <p:cNvSpPr/>
          <p:nvPr/>
        </p:nvSpPr>
        <p:spPr>
          <a:xfrm>
            <a:off x="5559552" y="1261872"/>
            <a:ext cx="1243584" cy="384048"/>
          </a:xfrm>
          <a:prstGeom prst="rect">
            <a:avLst/>
          </a:prstGeom>
          <a:noFill/>
          <a:ln/>
        </p:spPr>
        <p:txBody>
          <a:bodyPr wrap="square" lIns="0" tIns="0" rIns="0" bIns="0" rtlCol="0" anchor="ctr"/>
          <a:lstStyle/>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Fund the</a:t>
            </a:r>
            <a:endParaRPr lang="en-US" sz="1050" dirty="0"/>
          </a:p>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evidence</a:t>
            </a:r>
            <a:endParaRPr lang="en-US" sz="1050" dirty="0"/>
          </a:p>
        </p:txBody>
      </p:sp>
      <p:sp>
        <p:nvSpPr>
          <p:cNvPr id="35" name="chd_3"/>
          <p:cNvSpPr/>
          <p:nvPr/>
        </p:nvSpPr>
        <p:spPr>
          <a:xfrm>
            <a:off x="5559552" y="1664208"/>
            <a:ext cx="1243584" cy="402336"/>
          </a:xfrm>
          <a:prstGeom prst="rect">
            <a:avLst/>
          </a:prstGeom>
          <a:noFill/>
          <a:ln/>
        </p:spPr>
        <p:txBody>
          <a:bodyPr wrap="square" lIns="0" tIns="0" rIns="0" bIns="0" rtlCol="0" anchor="ctr"/>
          <a:lstStyle/>
          <a:p>
            <a:pPr marL="0" indent="0">
              <a:lnSpc>
                <a:spcPts val="900"/>
              </a:lnSpc>
              <a:buNone/>
            </a:pPr>
            <a:r>
              <a:rPr lang="en-US" sz="720" dirty="0">
                <a:solidFill>
                  <a:srgbClr val="55697C"/>
                </a:solidFill>
                <a:latin typeface="Calibri" pitchFamily="34" charset="0"/>
                <a:ea typeface="Calibri" pitchFamily="34" charset="-122"/>
                <a:cs typeface="Calibri" pitchFamily="34" charset="-120"/>
              </a:rPr>
              <a:t>Six programmes per cycle chosen by score, not by committee.</a:t>
            </a:r>
            <a:endParaRPr lang="en-US" sz="720" dirty="0"/>
          </a:p>
        </p:txBody>
      </p:sp>
      <p:sp>
        <p:nvSpPr>
          <p:cNvPr id="36" name="chr_3"/>
          <p:cNvSpPr/>
          <p:nvPr/>
        </p:nvSpPr>
        <p:spPr>
          <a:xfrm>
            <a:off x="5559552" y="2103120"/>
            <a:ext cx="1243584" cy="0"/>
          </a:xfrm>
          <a:prstGeom prst="line">
            <a:avLst/>
          </a:prstGeom>
          <a:noFill/>
          <a:ln w="8890">
            <a:solidFill>
              <a:srgbClr val="A9E0DA"/>
            </a:solidFill>
            <a:prstDash val="solid"/>
          </a:ln>
        </p:spPr>
        <p:txBody>
          <a:bodyPr/>
          <a:lstStyle/>
          <a:p>
            <a:endParaRPr lang="en-US"/>
          </a:p>
        </p:txBody>
      </p:sp>
      <p:sp>
        <p:nvSpPr>
          <p:cNvPr id="37" name="chv_3"/>
          <p:cNvSpPr/>
          <p:nvPr/>
        </p:nvSpPr>
        <p:spPr>
          <a:xfrm>
            <a:off x="5559552" y="2139696"/>
            <a:ext cx="1243584" cy="219456"/>
          </a:xfrm>
          <a:prstGeom prst="rect">
            <a:avLst/>
          </a:prstGeom>
          <a:noFill/>
          <a:ln/>
        </p:spPr>
        <p:txBody>
          <a:bodyPr wrap="square" lIns="0" tIns="0" rIns="0" bIns="0" rtlCol="0" anchor="ctr"/>
          <a:lstStyle/>
          <a:p>
            <a:pPr marL="0" indent="0">
              <a:buNone/>
            </a:pPr>
            <a:r>
              <a:rPr lang="en-US" sz="1300" b="1" dirty="0">
                <a:solidFill>
                  <a:srgbClr val="0C8C83"/>
                </a:solidFill>
                <a:latin typeface="Calibri" pitchFamily="34" charset="0"/>
                <a:ea typeface="Calibri" pitchFamily="34" charset="-122"/>
                <a:cs typeface="Calibri" pitchFamily="34" charset="-120"/>
              </a:rPr>
              <a:t>6 of 6</a:t>
            </a:r>
            <a:endParaRPr lang="en-US" sz="1300" dirty="0"/>
          </a:p>
        </p:txBody>
      </p:sp>
      <p:sp>
        <p:nvSpPr>
          <p:cNvPr id="38" name="chvl_3"/>
          <p:cNvSpPr/>
          <p:nvPr/>
        </p:nvSpPr>
        <p:spPr>
          <a:xfrm>
            <a:off x="5559552" y="2350008"/>
            <a:ext cx="1243584" cy="128016"/>
          </a:xfrm>
          <a:prstGeom prst="rect">
            <a:avLst/>
          </a:prstGeom>
          <a:noFill/>
          <a:ln/>
        </p:spPr>
        <p:txBody>
          <a:bodyPr wrap="square" lIns="0" tIns="0" rIns="0" bIns="0" rtlCol="0" anchor="ctr"/>
          <a:lstStyle/>
          <a:p>
            <a:pPr marL="0" indent="0">
              <a:buNone/>
            </a:pPr>
            <a:r>
              <a:rPr lang="en-US" sz="600" dirty="0">
                <a:solidFill>
                  <a:srgbClr val="8FA1B2"/>
                </a:solidFill>
                <a:latin typeface="Calibri" pitchFamily="34" charset="0"/>
                <a:ea typeface="Calibri" pitchFamily="34" charset="-122"/>
                <a:cs typeface="Calibri" pitchFamily="34" charset="-120"/>
              </a:rPr>
              <a:t>supported</a:t>
            </a:r>
            <a:endParaRPr lang="en-US" sz="600" dirty="0"/>
          </a:p>
        </p:txBody>
      </p:sp>
      <p:sp>
        <p:nvSpPr>
          <p:cNvPr id="39" name="cha_3"/>
          <p:cNvSpPr/>
          <p:nvPr/>
        </p:nvSpPr>
        <p:spPr>
          <a:xfrm>
            <a:off x="6926580" y="1737360"/>
            <a:ext cx="109728" cy="0"/>
          </a:xfrm>
          <a:prstGeom prst="line">
            <a:avLst/>
          </a:prstGeom>
          <a:noFill/>
          <a:ln w="13970">
            <a:solidFill>
              <a:srgbClr val="8FA1B2"/>
            </a:solidFill>
            <a:prstDash val="solid"/>
            <a:tailEnd type="triangle"/>
          </a:ln>
        </p:spPr>
        <p:txBody>
          <a:bodyPr/>
          <a:lstStyle/>
          <a:p>
            <a:endParaRPr lang="en-US"/>
          </a:p>
        </p:txBody>
      </p:sp>
      <p:sp>
        <p:nvSpPr>
          <p:cNvPr id="40" name="ch_4"/>
          <p:cNvSpPr/>
          <p:nvPr/>
        </p:nvSpPr>
        <p:spPr>
          <a:xfrm>
            <a:off x="7040880" y="950976"/>
            <a:ext cx="1481328" cy="1572768"/>
          </a:xfrm>
          <a:prstGeom prst="roundRect">
            <a:avLst>
              <a:gd name="adj" fmla="val 4321"/>
            </a:avLst>
          </a:prstGeom>
          <a:solidFill>
            <a:srgbClr val="FFFFFF"/>
          </a:solidFill>
          <a:ln w="12065">
            <a:solidFill>
              <a:srgbClr val="A9E0DA"/>
            </a:solidFill>
            <a:prstDash val="solid"/>
          </a:ln>
          <a:effectLst>
            <a:outerShdw blurRad="88900" dist="25400" dir="5400000" algn="bl" rotWithShape="0">
              <a:srgbClr val="AFC0CE">
                <a:alpha val="22000"/>
              </a:srgbClr>
            </a:outerShdw>
          </a:effectLst>
        </p:spPr>
        <p:txBody>
          <a:bodyPr/>
          <a:lstStyle/>
          <a:p>
            <a:endParaRPr lang="en-US"/>
          </a:p>
        </p:txBody>
      </p:sp>
      <p:sp>
        <p:nvSpPr>
          <p:cNvPr id="41" name="chk_4"/>
          <p:cNvSpPr/>
          <p:nvPr/>
        </p:nvSpPr>
        <p:spPr>
          <a:xfrm>
            <a:off x="7159752" y="1042416"/>
            <a:ext cx="566928" cy="173736"/>
          </a:xfrm>
          <a:prstGeom prst="roundRect">
            <a:avLst>
              <a:gd name="adj" fmla="val 18421"/>
            </a:avLst>
          </a:prstGeom>
          <a:solidFill>
            <a:srgbClr val="E0F4F2"/>
          </a:solidFill>
          <a:ln w="7620">
            <a:solidFill>
              <a:srgbClr val="A9E0DA"/>
            </a:solidFill>
            <a:prstDash val="solid"/>
          </a:ln>
        </p:spPr>
        <p:txBody>
          <a:bodyPr/>
          <a:lstStyle/>
          <a:p>
            <a:endParaRPr lang="en-US"/>
          </a:p>
        </p:txBody>
      </p:sp>
      <p:sp>
        <p:nvSpPr>
          <p:cNvPr id="42" name="chkt_4"/>
          <p:cNvSpPr/>
          <p:nvPr/>
        </p:nvSpPr>
        <p:spPr>
          <a:xfrm>
            <a:off x="7159752" y="1042416"/>
            <a:ext cx="566928" cy="173736"/>
          </a:xfrm>
          <a:prstGeom prst="rect">
            <a:avLst/>
          </a:prstGeom>
          <a:noFill/>
          <a:ln/>
        </p:spPr>
        <p:txBody>
          <a:bodyPr wrap="square" lIns="0" tIns="0" rIns="0" bIns="0" rtlCol="0" anchor="ctr"/>
          <a:lstStyle/>
          <a:p>
            <a:pPr marL="0" indent="0" algn="ctr">
              <a:buNone/>
            </a:pPr>
            <a:r>
              <a:rPr lang="en-US" sz="580" b="1" kern="0" spc="70" dirty="0">
                <a:solidFill>
                  <a:srgbClr val="0C8C83"/>
                </a:solidFill>
                <a:latin typeface="Calibri" pitchFamily="34" charset="0"/>
                <a:ea typeface="Calibri" pitchFamily="34" charset="-122"/>
                <a:cs typeface="Calibri" pitchFamily="34" charset="-120"/>
              </a:rPr>
              <a:t>OUTCOME</a:t>
            </a:r>
            <a:endParaRPr lang="en-US" sz="580" dirty="0"/>
          </a:p>
        </p:txBody>
      </p:sp>
      <p:sp>
        <p:nvSpPr>
          <p:cNvPr id="43" name="cht_4"/>
          <p:cNvSpPr/>
          <p:nvPr/>
        </p:nvSpPr>
        <p:spPr>
          <a:xfrm>
            <a:off x="7159752" y="1261872"/>
            <a:ext cx="1243584" cy="384048"/>
          </a:xfrm>
          <a:prstGeom prst="rect">
            <a:avLst/>
          </a:prstGeom>
          <a:noFill/>
          <a:ln/>
        </p:spPr>
        <p:txBody>
          <a:bodyPr wrap="square" lIns="0" tIns="0" rIns="0" bIns="0" rtlCol="0" anchor="ctr"/>
          <a:lstStyle/>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More medicines,</a:t>
            </a:r>
            <a:endParaRPr lang="en-US" sz="1050" dirty="0"/>
          </a:p>
          <a:p>
            <a:pPr marL="0" indent="0">
              <a:lnSpc>
                <a:spcPts val="1200"/>
              </a:lnSpc>
              <a:buNone/>
            </a:pPr>
            <a:r>
              <a:rPr lang="en-US" sz="1050" b="1" dirty="0">
                <a:solidFill>
                  <a:srgbClr val="10243A"/>
                </a:solidFill>
                <a:latin typeface="Calibri" pitchFamily="34" charset="0"/>
                <a:ea typeface="Calibri" pitchFamily="34" charset="-122"/>
                <a:cs typeface="Calibri" pitchFamily="34" charset="-120"/>
              </a:rPr>
              <a:t>same money</a:t>
            </a:r>
            <a:endParaRPr lang="en-US" sz="1050" dirty="0"/>
          </a:p>
        </p:txBody>
      </p:sp>
      <p:sp>
        <p:nvSpPr>
          <p:cNvPr id="44" name="chd_4"/>
          <p:cNvSpPr/>
          <p:nvPr/>
        </p:nvSpPr>
        <p:spPr>
          <a:xfrm>
            <a:off x="7159752" y="1664208"/>
            <a:ext cx="1243584" cy="402336"/>
          </a:xfrm>
          <a:prstGeom prst="rect">
            <a:avLst/>
          </a:prstGeom>
          <a:noFill/>
          <a:ln/>
        </p:spPr>
        <p:txBody>
          <a:bodyPr wrap="square" lIns="0" tIns="0" rIns="0" bIns="0" rtlCol="0" anchor="ctr"/>
          <a:lstStyle/>
          <a:p>
            <a:pPr marL="0" indent="0">
              <a:lnSpc>
                <a:spcPts val="900"/>
              </a:lnSpc>
              <a:buNone/>
            </a:pPr>
            <a:r>
              <a:rPr lang="en-US" sz="720" dirty="0">
                <a:solidFill>
                  <a:srgbClr val="55697C"/>
                </a:solidFill>
                <a:latin typeface="Calibri" pitchFamily="34" charset="0"/>
                <a:ea typeface="Calibri" pitchFamily="34" charset="-122"/>
                <a:cs typeface="Calibri" pitchFamily="34" charset="-120"/>
              </a:rPr>
              <a:t>Same budget, same science, same people. Different rule.</a:t>
            </a:r>
            <a:endParaRPr lang="en-US" sz="720" dirty="0"/>
          </a:p>
        </p:txBody>
      </p:sp>
      <p:sp>
        <p:nvSpPr>
          <p:cNvPr id="45" name="chr_4"/>
          <p:cNvSpPr/>
          <p:nvPr/>
        </p:nvSpPr>
        <p:spPr>
          <a:xfrm>
            <a:off x="7159752" y="2103120"/>
            <a:ext cx="1243584" cy="0"/>
          </a:xfrm>
          <a:prstGeom prst="line">
            <a:avLst/>
          </a:prstGeom>
          <a:noFill/>
          <a:ln w="8890">
            <a:solidFill>
              <a:srgbClr val="A9E0DA"/>
            </a:solidFill>
            <a:prstDash val="solid"/>
          </a:ln>
        </p:spPr>
        <p:txBody>
          <a:bodyPr/>
          <a:lstStyle/>
          <a:p>
            <a:endParaRPr lang="en-US"/>
          </a:p>
        </p:txBody>
      </p:sp>
      <p:sp>
        <p:nvSpPr>
          <p:cNvPr id="46" name="chv_4"/>
          <p:cNvSpPr/>
          <p:nvPr/>
        </p:nvSpPr>
        <p:spPr>
          <a:xfrm>
            <a:off x="7159752" y="2139696"/>
            <a:ext cx="1243584" cy="219456"/>
          </a:xfrm>
          <a:prstGeom prst="rect">
            <a:avLst/>
          </a:prstGeom>
          <a:noFill/>
          <a:ln/>
        </p:spPr>
        <p:txBody>
          <a:bodyPr wrap="square" lIns="0" tIns="0" rIns="0" bIns="0" rtlCol="0" anchor="ctr"/>
          <a:lstStyle/>
          <a:p>
            <a:pPr marL="0" indent="0">
              <a:buNone/>
            </a:pPr>
            <a:r>
              <a:rPr lang="en-US" sz="1300" b="1" dirty="0">
                <a:solidFill>
                  <a:srgbClr val="0C8C83"/>
                </a:solidFill>
                <a:latin typeface="Calibri" pitchFamily="34" charset="0"/>
                <a:ea typeface="Calibri" pitchFamily="34" charset="-122"/>
                <a:cs typeface="Calibri" pitchFamily="34" charset="-120"/>
              </a:rPr>
              <a:t>+72%</a:t>
            </a:r>
            <a:endParaRPr lang="en-US" sz="1300" dirty="0"/>
          </a:p>
        </p:txBody>
      </p:sp>
      <p:sp>
        <p:nvSpPr>
          <p:cNvPr id="47" name="chvl_4"/>
          <p:cNvSpPr/>
          <p:nvPr/>
        </p:nvSpPr>
        <p:spPr>
          <a:xfrm>
            <a:off x="7159752" y="2350008"/>
            <a:ext cx="1243584" cy="128016"/>
          </a:xfrm>
          <a:prstGeom prst="rect">
            <a:avLst/>
          </a:prstGeom>
          <a:noFill/>
          <a:ln/>
        </p:spPr>
        <p:txBody>
          <a:bodyPr wrap="square" lIns="0" tIns="0" rIns="0" bIns="0" rtlCol="0" anchor="ctr"/>
          <a:lstStyle/>
          <a:p>
            <a:pPr marL="0" indent="0">
              <a:buNone/>
            </a:pPr>
            <a:r>
              <a:rPr lang="en-US" sz="600" dirty="0">
                <a:solidFill>
                  <a:srgbClr val="8FA1B2"/>
                </a:solidFill>
                <a:latin typeface="Calibri" pitchFamily="34" charset="0"/>
                <a:ea typeface="Calibri" pitchFamily="34" charset="-122"/>
                <a:cs typeface="Calibri" pitchFamily="34" charset="-120"/>
              </a:rPr>
              <a:t>per $1bn</a:t>
            </a:r>
            <a:endParaRPr lang="en-US" sz="600" dirty="0"/>
          </a:p>
        </p:txBody>
      </p:sp>
      <p:sp>
        <p:nvSpPr>
          <p:cNvPr id="48" name="roih"/>
          <p:cNvSpPr/>
          <p:nvPr/>
        </p:nvSpPr>
        <p:spPr>
          <a:xfrm>
            <a:off x="640080" y="2670048"/>
            <a:ext cx="3657600" cy="164592"/>
          </a:xfrm>
          <a:prstGeom prst="rect">
            <a:avLst/>
          </a:prstGeom>
          <a:noFill/>
          <a:ln/>
        </p:spPr>
        <p:txBody>
          <a:bodyPr wrap="square" lIns="0" tIns="0" rIns="0" bIns="0" rtlCol="0" anchor="ctr"/>
          <a:lstStyle/>
          <a:p>
            <a:pPr marL="0" indent="0">
              <a:buNone/>
            </a:pPr>
            <a:r>
              <a:rPr lang="en-US" sz="800" b="1" kern="0" spc="160" dirty="0">
                <a:solidFill>
                  <a:srgbClr val="0B63CE"/>
                </a:solidFill>
                <a:latin typeface="Calibri" pitchFamily="34" charset="0"/>
                <a:ea typeface="Calibri" pitchFamily="34" charset="-122"/>
                <a:cs typeface="Calibri" pitchFamily="34" charset="-120"/>
              </a:rPr>
              <a:t>AND THE RETURN ON IT</a:t>
            </a:r>
            <a:endParaRPr lang="en-US" sz="800" dirty="0"/>
          </a:p>
        </p:txBody>
      </p:sp>
      <p:sp>
        <p:nvSpPr>
          <p:cNvPr id="49" name="rh_1"/>
          <p:cNvSpPr/>
          <p:nvPr/>
        </p:nvSpPr>
        <p:spPr>
          <a:xfrm>
            <a:off x="1883664" y="2871216"/>
            <a:ext cx="676656" cy="146304"/>
          </a:xfrm>
          <a:prstGeom prst="rect">
            <a:avLst/>
          </a:prstGeom>
          <a:noFill/>
          <a:ln/>
        </p:spPr>
        <p:txBody>
          <a:bodyPr wrap="square" lIns="0" tIns="0" rIns="0" bIns="0" rtlCol="0" anchor="ctr"/>
          <a:lstStyle/>
          <a:p>
            <a:pPr marL="0" indent="0" algn="r">
              <a:buNone/>
            </a:pPr>
            <a:r>
              <a:rPr lang="en-US" sz="640" b="1" kern="0" spc="50" dirty="0">
                <a:solidFill>
                  <a:srgbClr val="8FA1B2"/>
                </a:solidFill>
                <a:latin typeface="Calibri" pitchFamily="34" charset="0"/>
                <a:ea typeface="Calibri" pitchFamily="34" charset="-122"/>
                <a:cs typeface="Calibri" pitchFamily="34" charset="-120"/>
              </a:rPr>
              <a:t>spend</a:t>
            </a:r>
            <a:endParaRPr lang="en-US" sz="640" dirty="0"/>
          </a:p>
        </p:txBody>
      </p:sp>
      <p:sp>
        <p:nvSpPr>
          <p:cNvPr id="50" name="rh_2"/>
          <p:cNvSpPr/>
          <p:nvPr/>
        </p:nvSpPr>
        <p:spPr>
          <a:xfrm>
            <a:off x="2578608" y="2871216"/>
            <a:ext cx="804672" cy="146304"/>
          </a:xfrm>
          <a:prstGeom prst="rect">
            <a:avLst/>
          </a:prstGeom>
          <a:noFill/>
          <a:ln/>
        </p:spPr>
        <p:txBody>
          <a:bodyPr wrap="square" lIns="0" tIns="0" rIns="0" bIns="0" rtlCol="0" anchor="ctr"/>
          <a:lstStyle/>
          <a:p>
            <a:pPr marL="0" indent="0" algn="r">
              <a:buNone/>
            </a:pPr>
            <a:r>
              <a:rPr lang="en-US" sz="640" b="1" kern="0" spc="50" dirty="0">
                <a:solidFill>
                  <a:srgbClr val="8FA1B2"/>
                </a:solidFill>
                <a:latin typeface="Calibri" pitchFamily="34" charset="0"/>
                <a:ea typeface="Calibri" pitchFamily="34" charset="-122"/>
                <a:cs typeface="Calibri" pitchFamily="34" charset="-120"/>
              </a:rPr>
              <a:t>value created</a:t>
            </a:r>
            <a:endParaRPr lang="en-US" sz="640" dirty="0"/>
          </a:p>
        </p:txBody>
      </p:sp>
      <p:sp>
        <p:nvSpPr>
          <p:cNvPr id="51" name="rh_3"/>
          <p:cNvSpPr/>
          <p:nvPr/>
        </p:nvSpPr>
        <p:spPr>
          <a:xfrm>
            <a:off x="3401568" y="2871216"/>
            <a:ext cx="731520" cy="146304"/>
          </a:xfrm>
          <a:prstGeom prst="rect">
            <a:avLst/>
          </a:prstGeom>
          <a:noFill/>
          <a:ln/>
        </p:spPr>
        <p:txBody>
          <a:bodyPr wrap="square" lIns="0" tIns="0" rIns="0" bIns="0" rtlCol="0" anchor="ctr"/>
          <a:lstStyle/>
          <a:p>
            <a:pPr marL="0" indent="0" algn="r">
              <a:buNone/>
            </a:pPr>
            <a:r>
              <a:rPr lang="en-US" sz="640" b="1" kern="0" spc="50" dirty="0">
                <a:solidFill>
                  <a:srgbClr val="8FA1B2"/>
                </a:solidFill>
                <a:latin typeface="Calibri" pitchFamily="34" charset="0"/>
                <a:ea typeface="Calibri" pitchFamily="34" charset="-122"/>
                <a:cs typeface="Calibri" pitchFamily="34" charset="-120"/>
              </a:rPr>
              <a:t>net value</a:t>
            </a:r>
            <a:endParaRPr lang="en-US" sz="640" dirty="0"/>
          </a:p>
        </p:txBody>
      </p:sp>
      <p:sp>
        <p:nvSpPr>
          <p:cNvPr id="52" name="rh_4"/>
          <p:cNvSpPr/>
          <p:nvPr/>
        </p:nvSpPr>
        <p:spPr>
          <a:xfrm>
            <a:off x="4151376" y="2871216"/>
            <a:ext cx="548640" cy="146304"/>
          </a:xfrm>
          <a:prstGeom prst="rect">
            <a:avLst/>
          </a:prstGeom>
          <a:noFill/>
          <a:ln/>
        </p:spPr>
        <p:txBody>
          <a:bodyPr wrap="square" lIns="0" tIns="0" rIns="0" bIns="0" rtlCol="0" anchor="ctr"/>
          <a:lstStyle/>
          <a:p>
            <a:pPr marL="0" indent="0" algn="r">
              <a:buNone/>
            </a:pPr>
            <a:r>
              <a:rPr lang="en-US" sz="640" b="1" kern="0" spc="50" dirty="0">
                <a:solidFill>
                  <a:srgbClr val="8FA1B2"/>
                </a:solidFill>
                <a:latin typeface="Calibri" pitchFamily="34" charset="0"/>
                <a:ea typeface="Calibri" pitchFamily="34" charset="-122"/>
                <a:cs typeface="Calibri" pitchFamily="34" charset="-120"/>
              </a:rPr>
              <a:t>ROI</a:t>
            </a:r>
            <a:endParaRPr lang="en-US" sz="640" dirty="0"/>
          </a:p>
        </p:txBody>
      </p:sp>
      <p:sp>
        <p:nvSpPr>
          <p:cNvPr id="53" name="rr_0"/>
          <p:cNvSpPr/>
          <p:nvPr/>
        </p:nvSpPr>
        <p:spPr>
          <a:xfrm>
            <a:off x="640080" y="3054096"/>
            <a:ext cx="4187952" cy="310896"/>
          </a:xfrm>
          <a:prstGeom prst="roundRect">
            <a:avLst>
              <a:gd name="adj" fmla="val 11765"/>
            </a:avLst>
          </a:prstGeom>
          <a:solidFill>
            <a:srgbClr val="FFFFFF"/>
          </a:solidFill>
          <a:ln w="10160">
            <a:solidFill>
              <a:srgbClr val="E3E9EF"/>
            </a:solidFill>
            <a:prstDash val="solid"/>
          </a:ln>
        </p:spPr>
        <p:txBody>
          <a:bodyPr/>
          <a:lstStyle/>
          <a:p>
            <a:endParaRPr lang="en-US"/>
          </a:p>
        </p:txBody>
      </p:sp>
      <p:sp>
        <p:nvSpPr>
          <p:cNvPr id="54" name="rn_0"/>
          <p:cNvSpPr/>
          <p:nvPr/>
        </p:nvSpPr>
        <p:spPr>
          <a:xfrm>
            <a:off x="768096" y="3054096"/>
            <a:ext cx="1097280" cy="310896"/>
          </a:xfrm>
          <a:prstGeom prst="rect">
            <a:avLst/>
          </a:prstGeom>
          <a:noFill/>
          <a:ln/>
        </p:spPr>
        <p:txBody>
          <a:bodyPr wrap="square" lIns="0" tIns="0" rIns="0" bIns="0" rtlCol="0" anchor="ctr"/>
          <a:lstStyle/>
          <a:p>
            <a:pPr marL="0" indent="0">
              <a:buNone/>
            </a:pPr>
            <a:r>
              <a:rPr lang="en-US" sz="800" b="1" dirty="0">
                <a:solidFill>
                  <a:srgbClr val="8FA1B2"/>
                </a:solidFill>
                <a:latin typeface="Calibri" pitchFamily="34" charset="0"/>
                <a:ea typeface="Calibri" pitchFamily="34" charset="-122"/>
                <a:cs typeface="Calibri" pitchFamily="34" charset="-120"/>
              </a:rPr>
              <a:t>A  Committee</a:t>
            </a:r>
            <a:endParaRPr lang="en-US" sz="800" dirty="0"/>
          </a:p>
        </p:txBody>
      </p:sp>
      <p:sp>
        <p:nvSpPr>
          <p:cNvPr id="55" name="rv_0_1"/>
          <p:cNvSpPr/>
          <p:nvPr/>
        </p:nvSpPr>
        <p:spPr>
          <a:xfrm>
            <a:off x="1883664" y="3054096"/>
            <a:ext cx="676656"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$0.91bn</a:t>
            </a:r>
            <a:endParaRPr lang="en-US" sz="760" dirty="0"/>
          </a:p>
        </p:txBody>
      </p:sp>
      <p:sp>
        <p:nvSpPr>
          <p:cNvPr id="56" name="rv_0_2"/>
          <p:cNvSpPr/>
          <p:nvPr/>
        </p:nvSpPr>
        <p:spPr>
          <a:xfrm>
            <a:off x="2578608" y="3054096"/>
            <a:ext cx="804672"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$1.26bn</a:t>
            </a:r>
            <a:endParaRPr lang="en-US" sz="760" dirty="0"/>
          </a:p>
        </p:txBody>
      </p:sp>
      <p:sp>
        <p:nvSpPr>
          <p:cNvPr id="57" name="rv_0_3"/>
          <p:cNvSpPr/>
          <p:nvPr/>
        </p:nvSpPr>
        <p:spPr>
          <a:xfrm>
            <a:off x="3401568" y="3054096"/>
            <a:ext cx="731520"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$0.34bn</a:t>
            </a:r>
            <a:endParaRPr lang="en-US" sz="760" dirty="0"/>
          </a:p>
        </p:txBody>
      </p:sp>
      <p:sp>
        <p:nvSpPr>
          <p:cNvPr id="58" name="rp_0"/>
          <p:cNvSpPr/>
          <p:nvPr/>
        </p:nvSpPr>
        <p:spPr>
          <a:xfrm>
            <a:off x="4151376" y="3054096"/>
            <a:ext cx="548640" cy="310896"/>
          </a:xfrm>
          <a:prstGeom prst="rect">
            <a:avLst/>
          </a:prstGeom>
          <a:noFill/>
          <a:ln/>
        </p:spPr>
        <p:txBody>
          <a:bodyPr wrap="square" lIns="0" tIns="0" rIns="0" bIns="0" rtlCol="0" anchor="ctr"/>
          <a:lstStyle/>
          <a:p>
            <a:pPr marL="0" indent="0" algn="r">
              <a:buNone/>
            </a:pPr>
            <a:r>
              <a:rPr lang="en-US" sz="1100" b="1" dirty="0">
                <a:solidFill>
                  <a:srgbClr val="8FA1B2"/>
                </a:solidFill>
                <a:latin typeface="Calibri" pitchFamily="34" charset="0"/>
                <a:ea typeface="Calibri" pitchFamily="34" charset="-122"/>
                <a:cs typeface="Calibri" pitchFamily="34" charset="-120"/>
              </a:rPr>
              <a:t>34%</a:t>
            </a:r>
            <a:endParaRPr lang="en-US" sz="1100" dirty="0"/>
          </a:p>
        </p:txBody>
      </p:sp>
      <p:sp>
        <p:nvSpPr>
          <p:cNvPr id="59" name="rr_1"/>
          <p:cNvSpPr/>
          <p:nvPr/>
        </p:nvSpPr>
        <p:spPr>
          <a:xfrm>
            <a:off x="640080" y="3419856"/>
            <a:ext cx="4187952" cy="310896"/>
          </a:xfrm>
          <a:prstGeom prst="roundRect">
            <a:avLst>
              <a:gd name="adj" fmla="val 11765"/>
            </a:avLst>
          </a:prstGeom>
          <a:solidFill>
            <a:srgbClr val="E0F4F2"/>
          </a:solidFill>
          <a:ln w="10160">
            <a:solidFill>
              <a:srgbClr val="A9E0DA"/>
            </a:solidFill>
            <a:prstDash val="solid"/>
          </a:ln>
        </p:spPr>
        <p:txBody>
          <a:bodyPr/>
          <a:lstStyle/>
          <a:p>
            <a:endParaRPr lang="en-US"/>
          </a:p>
        </p:txBody>
      </p:sp>
      <p:sp>
        <p:nvSpPr>
          <p:cNvPr id="60" name="rn_1"/>
          <p:cNvSpPr/>
          <p:nvPr/>
        </p:nvSpPr>
        <p:spPr>
          <a:xfrm>
            <a:off x="768096" y="3419856"/>
            <a:ext cx="1097280" cy="310896"/>
          </a:xfrm>
          <a:prstGeom prst="rect">
            <a:avLst/>
          </a:prstGeom>
          <a:noFill/>
          <a:ln/>
        </p:spPr>
        <p:txBody>
          <a:bodyPr wrap="square" lIns="0" tIns="0" rIns="0" bIns="0" rtlCol="0" anchor="ctr"/>
          <a:lstStyle/>
          <a:p>
            <a:pPr marL="0" indent="0">
              <a:buNone/>
            </a:pPr>
            <a:r>
              <a:rPr lang="en-US" sz="800" b="1" dirty="0">
                <a:solidFill>
                  <a:srgbClr val="0C8C83"/>
                </a:solidFill>
                <a:latin typeface="Calibri" pitchFamily="34" charset="0"/>
                <a:ea typeface="Calibri" pitchFamily="34" charset="-122"/>
                <a:cs typeface="Calibri" pitchFamily="34" charset="-120"/>
              </a:rPr>
              <a:t>B  AI-led</a:t>
            </a:r>
            <a:endParaRPr lang="en-US" sz="800" dirty="0"/>
          </a:p>
        </p:txBody>
      </p:sp>
      <p:sp>
        <p:nvSpPr>
          <p:cNvPr id="61" name="rv_1_1"/>
          <p:cNvSpPr/>
          <p:nvPr/>
        </p:nvSpPr>
        <p:spPr>
          <a:xfrm>
            <a:off x="1883664" y="3419856"/>
            <a:ext cx="676656"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$0.92bn</a:t>
            </a:r>
            <a:endParaRPr lang="en-US" sz="760" dirty="0"/>
          </a:p>
        </p:txBody>
      </p:sp>
      <p:sp>
        <p:nvSpPr>
          <p:cNvPr id="62" name="rv_1_2"/>
          <p:cNvSpPr/>
          <p:nvPr/>
        </p:nvSpPr>
        <p:spPr>
          <a:xfrm>
            <a:off x="2578608" y="3419856"/>
            <a:ext cx="804672"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$2.16bn</a:t>
            </a:r>
            <a:endParaRPr lang="en-US" sz="760" dirty="0"/>
          </a:p>
        </p:txBody>
      </p:sp>
      <p:sp>
        <p:nvSpPr>
          <p:cNvPr id="63" name="rv_1_3"/>
          <p:cNvSpPr/>
          <p:nvPr/>
        </p:nvSpPr>
        <p:spPr>
          <a:xfrm>
            <a:off x="3401568" y="3419856"/>
            <a:ext cx="731520"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$1.24bn</a:t>
            </a:r>
            <a:endParaRPr lang="en-US" sz="760" dirty="0"/>
          </a:p>
        </p:txBody>
      </p:sp>
      <p:sp>
        <p:nvSpPr>
          <p:cNvPr id="64" name="rp_1"/>
          <p:cNvSpPr/>
          <p:nvPr/>
        </p:nvSpPr>
        <p:spPr>
          <a:xfrm>
            <a:off x="4151376" y="3419856"/>
            <a:ext cx="548640" cy="310896"/>
          </a:xfrm>
          <a:prstGeom prst="rect">
            <a:avLst/>
          </a:prstGeom>
          <a:noFill/>
          <a:ln/>
        </p:spPr>
        <p:txBody>
          <a:bodyPr wrap="square" lIns="0" tIns="0" rIns="0" bIns="0" rtlCol="0" anchor="ctr"/>
          <a:lstStyle/>
          <a:p>
            <a:pPr marL="0" indent="0" algn="r">
              <a:buNone/>
            </a:pPr>
            <a:r>
              <a:rPr lang="en-US" sz="1100" b="1" dirty="0">
                <a:solidFill>
                  <a:srgbClr val="0C8C83"/>
                </a:solidFill>
                <a:latin typeface="Calibri" pitchFamily="34" charset="0"/>
                <a:ea typeface="Calibri" pitchFamily="34" charset="-122"/>
                <a:cs typeface="Calibri" pitchFamily="34" charset="-120"/>
              </a:rPr>
              <a:t>131%</a:t>
            </a:r>
            <a:endParaRPr lang="en-US" sz="1100" dirty="0"/>
          </a:p>
        </p:txBody>
      </p:sp>
      <p:sp>
        <p:nvSpPr>
          <p:cNvPr id="65" name="rr_2"/>
          <p:cNvSpPr/>
          <p:nvPr/>
        </p:nvSpPr>
        <p:spPr>
          <a:xfrm>
            <a:off x="640080" y="3785616"/>
            <a:ext cx="4187952" cy="310896"/>
          </a:xfrm>
          <a:prstGeom prst="roundRect">
            <a:avLst>
              <a:gd name="adj" fmla="val 11765"/>
            </a:avLst>
          </a:prstGeom>
          <a:solidFill>
            <a:srgbClr val="FFFFFF"/>
          </a:solidFill>
          <a:ln w="10160">
            <a:solidFill>
              <a:srgbClr val="F2D9A8"/>
            </a:solidFill>
            <a:prstDash val="solid"/>
          </a:ln>
        </p:spPr>
        <p:txBody>
          <a:bodyPr/>
          <a:lstStyle/>
          <a:p>
            <a:endParaRPr lang="en-US"/>
          </a:p>
        </p:txBody>
      </p:sp>
      <p:sp>
        <p:nvSpPr>
          <p:cNvPr id="66" name="rn_2"/>
          <p:cNvSpPr/>
          <p:nvPr/>
        </p:nvSpPr>
        <p:spPr>
          <a:xfrm>
            <a:off x="768096" y="3785616"/>
            <a:ext cx="1097280" cy="310896"/>
          </a:xfrm>
          <a:prstGeom prst="rect">
            <a:avLst/>
          </a:prstGeom>
          <a:noFill/>
          <a:ln/>
        </p:spPr>
        <p:txBody>
          <a:bodyPr wrap="square" lIns="0" tIns="0" rIns="0" bIns="0" rtlCol="0" anchor="ctr"/>
          <a:lstStyle/>
          <a:p>
            <a:pPr marL="0" indent="0">
              <a:buNone/>
            </a:pPr>
            <a:r>
              <a:rPr lang="en-US" sz="800" b="1" dirty="0">
                <a:solidFill>
                  <a:srgbClr val="C77A0A"/>
                </a:solidFill>
                <a:latin typeface="Calibri" pitchFamily="34" charset="0"/>
                <a:ea typeface="Calibri" pitchFamily="34" charset="-122"/>
                <a:cs typeface="Calibri" pitchFamily="34" charset="-120"/>
              </a:rPr>
              <a:t>C  Stress test</a:t>
            </a:r>
            <a:endParaRPr lang="en-US" sz="800" dirty="0"/>
          </a:p>
        </p:txBody>
      </p:sp>
      <p:sp>
        <p:nvSpPr>
          <p:cNvPr id="67" name="rv_2_1"/>
          <p:cNvSpPr/>
          <p:nvPr/>
        </p:nvSpPr>
        <p:spPr>
          <a:xfrm>
            <a:off x="1883664" y="3785616"/>
            <a:ext cx="676656"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$0.92bn</a:t>
            </a:r>
            <a:endParaRPr lang="en-US" sz="760" dirty="0"/>
          </a:p>
        </p:txBody>
      </p:sp>
      <p:sp>
        <p:nvSpPr>
          <p:cNvPr id="68" name="rv_2_2"/>
          <p:cNvSpPr/>
          <p:nvPr/>
        </p:nvSpPr>
        <p:spPr>
          <a:xfrm>
            <a:off x="2578608" y="3785616"/>
            <a:ext cx="804672"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$1.17bn</a:t>
            </a:r>
            <a:endParaRPr lang="en-US" sz="760" dirty="0"/>
          </a:p>
        </p:txBody>
      </p:sp>
      <p:sp>
        <p:nvSpPr>
          <p:cNvPr id="69" name="rv_2_3"/>
          <p:cNvSpPr/>
          <p:nvPr/>
        </p:nvSpPr>
        <p:spPr>
          <a:xfrm>
            <a:off x="3401568" y="3785616"/>
            <a:ext cx="731520" cy="310896"/>
          </a:xfrm>
          <a:prstGeom prst="rect">
            <a:avLst/>
          </a:prstGeom>
          <a:noFill/>
          <a:ln/>
        </p:spPr>
        <p:txBody>
          <a:bodyPr wrap="square" lIns="0" tIns="0" rIns="0" bIns="0" rtlCol="0" anchor="ctr"/>
          <a:lstStyle/>
          <a:p>
            <a:pPr marL="0" indent="0" algn="r">
              <a:buNone/>
            </a:pPr>
            <a:r>
              <a:rPr lang="en-US" sz="760" dirty="0">
                <a:solidFill>
                  <a:srgbClr val="10243A"/>
                </a:solidFill>
                <a:latin typeface="Consolas" pitchFamily="34" charset="0"/>
                <a:ea typeface="Consolas" pitchFamily="34" charset="-122"/>
                <a:cs typeface="Consolas" pitchFamily="34" charset="-120"/>
              </a:rPr>
              <a:t>$0.25bn</a:t>
            </a:r>
            <a:endParaRPr lang="en-US" sz="760" dirty="0"/>
          </a:p>
        </p:txBody>
      </p:sp>
      <p:sp>
        <p:nvSpPr>
          <p:cNvPr id="70" name="rp_2"/>
          <p:cNvSpPr/>
          <p:nvPr/>
        </p:nvSpPr>
        <p:spPr>
          <a:xfrm>
            <a:off x="4151376" y="3785616"/>
            <a:ext cx="548640" cy="310896"/>
          </a:xfrm>
          <a:prstGeom prst="rect">
            <a:avLst/>
          </a:prstGeom>
          <a:noFill/>
          <a:ln/>
        </p:spPr>
        <p:txBody>
          <a:bodyPr wrap="square" lIns="0" tIns="0" rIns="0" bIns="0" rtlCol="0" anchor="ctr"/>
          <a:lstStyle/>
          <a:p>
            <a:pPr marL="0" indent="0" algn="r">
              <a:buNone/>
            </a:pPr>
            <a:r>
              <a:rPr lang="en-US" sz="1100" b="1" dirty="0">
                <a:solidFill>
                  <a:srgbClr val="C77A0A"/>
                </a:solidFill>
                <a:latin typeface="Calibri" pitchFamily="34" charset="0"/>
                <a:ea typeface="Calibri" pitchFamily="34" charset="-122"/>
                <a:cs typeface="Calibri" pitchFamily="34" charset="-120"/>
              </a:rPr>
              <a:t>24%</a:t>
            </a:r>
            <a:endParaRPr lang="en-US" sz="1100" dirty="0"/>
          </a:p>
        </p:txBody>
      </p:sp>
      <p:sp>
        <p:nvSpPr>
          <p:cNvPr id="71" name="roi_hero"/>
          <p:cNvSpPr/>
          <p:nvPr/>
        </p:nvSpPr>
        <p:spPr>
          <a:xfrm>
            <a:off x="5010912" y="2633472"/>
            <a:ext cx="3493008" cy="914400"/>
          </a:xfrm>
          <a:prstGeom prst="roundRect">
            <a:avLst>
              <a:gd name="adj" fmla="val 7000"/>
            </a:avLst>
          </a:prstGeom>
          <a:solidFill>
            <a:srgbClr val="0C8C83"/>
          </a:solidFill>
          <a:ln w="12700">
            <a:solidFill>
              <a:srgbClr val="0C8C83"/>
            </a:solidFill>
            <a:prstDash val="solid"/>
          </a:ln>
        </p:spPr>
        <p:txBody>
          <a:bodyPr/>
          <a:lstStyle/>
          <a:p>
            <a:endParaRPr lang="en-US"/>
          </a:p>
        </p:txBody>
      </p:sp>
      <p:sp>
        <p:nvSpPr>
          <p:cNvPr id="72" name="roi_herok"/>
          <p:cNvSpPr/>
          <p:nvPr/>
        </p:nvSpPr>
        <p:spPr>
          <a:xfrm>
            <a:off x="5175504" y="2715768"/>
            <a:ext cx="3163824" cy="146304"/>
          </a:xfrm>
          <a:prstGeom prst="rect">
            <a:avLst/>
          </a:prstGeom>
          <a:noFill/>
          <a:ln/>
        </p:spPr>
        <p:txBody>
          <a:bodyPr wrap="square" lIns="0" tIns="0" rIns="0" bIns="0" rtlCol="0" anchor="ctr"/>
          <a:lstStyle/>
          <a:p>
            <a:pPr marL="0" indent="0">
              <a:buNone/>
            </a:pPr>
            <a:r>
              <a:rPr lang="en-US" sz="660" b="1" kern="0" spc="120" dirty="0">
                <a:solidFill>
                  <a:srgbClr val="BDEDE8"/>
                </a:solidFill>
                <a:latin typeface="Calibri" pitchFamily="34" charset="0"/>
                <a:ea typeface="Calibri" pitchFamily="34" charset="-122"/>
                <a:cs typeface="Calibri" pitchFamily="34" charset="-120"/>
              </a:rPr>
              <a:t>THE NUMBER A BOARD WOULD ACT ON</a:t>
            </a:r>
            <a:endParaRPr lang="en-US" sz="660" dirty="0"/>
          </a:p>
        </p:txBody>
      </p:sp>
      <p:sp>
        <p:nvSpPr>
          <p:cNvPr id="73" name="roi_herov"/>
          <p:cNvSpPr/>
          <p:nvPr/>
        </p:nvSpPr>
        <p:spPr>
          <a:xfrm>
            <a:off x="5175504" y="2871216"/>
            <a:ext cx="1188720" cy="38404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$0.90bn</a:t>
            </a:r>
            <a:endParaRPr lang="en-US" sz="2600" dirty="0"/>
          </a:p>
        </p:txBody>
      </p:sp>
      <p:sp>
        <p:nvSpPr>
          <p:cNvPr id="74" name="roi_herot"/>
          <p:cNvSpPr/>
          <p:nvPr/>
        </p:nvSpPr>
        <p:spPr>
          <a:xfrm>
            <a:off x="6419088" y="2871216"/>
            <a:ext cx="1920240" cy="438912"/>
          </a:xfrm>
          <a:prstGeom prst="rect">
            <a:avLst/>
          </a:prstGeom>
          <a:noFill/>
          <a:ln/>
        </p:spPr>
        <p:txBody>
          <a:bodyPr wrap="square" lIns="0" tIns="0" rIns="0" bIns="0" rtlCol="0" anchor="ctr"/>
          <a:lstStyle/>
          <a:p>
            <a:pPr marL="0" indent="0">
              <a:lnSpc>
                <a:spcPts val="950"/>
              </a:lnSpc>
              <a:buNone/>
            </a:pPr>
            <a:r>
              <a:rPr lang="en-US" sz="760" dirty="0">
                <a:solidFill>
                  <a:srgbClr val="DFF5F2"/>
                </a:solidFill>
                <a:latin typeface="Calibri" pitchFamily="34" charset="0"/>
                <a:ea typeface="Calibri" pitchFamily="34" charset="-122"/>
                <a:cs typeface="Calibri" pitchFamily="34" charset="-120"/>
              </a:rPr>
              <a:t>of extra expected value per $1bn cycle, from changing the selection rule alone.</a:t>
            </a:r>
            <a:endParaRPr lang="en-US" sz="760" dirty="0"/>
          </a:p>
        </p:txBody>
      </p:sp>
      <p:sp>
        <p:nvSpPr>
          <p:cNvPr id="75" name="roi_heror"/>
          <p:cNvSpPr/>
          <p:nvPr/>
        </p:nvSpPr>
        <p:spPr>
          <a:xfrm>
            <a:off x="5175504" y="3291840"/>
            <a:ext cx="3163824"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ROI  34%  →  131%</a:t>
            </a:r>
            <a:endParaRPr lang="en-US" sz="1000" dirty="0"/>
          </a:p>
        </p:txBody>
      </p:sp>
      <p:sp>
        <p:nvSpPr>
          <p:cNvPr id="76" name="risk"/>
          <p:cNvSpPr/>
          <p:nvPr/>
        </p:nvSpPr>
        <p:spPr>
          <a:xfrm>
            <a:off x="5010912" y="3621024"/>
            <a:ext cx="3493008" cy="658368"/>
          </a:xfrm>
          <a:prstGeom prst="roundRect">
            <a:avLst>
              <a:gd name="adj" fmla="val 8333"/>
            </a:avLst>
          </a:prstGeom>
          <a:solidFill>
            <a:srgbClr val="FDEDE9"/>
          </a:solidFill>
          <a:ln w="10160">
            <a:solidFill>
              <a:srgbClr val="F6C4B8"/>
            </a:solidFill>
            <a:prstDash val="solid"/>
          </a:ln>
        </p:spPr>
        <p:txBody>
          <a:bodyPr/>
          <a:lstStyle/>
          <a:p>
            <a:endParaRPr lang="en-US"/>
          </a:p>
        </p:txBody>
      </p:sp>
      <p:sp>
        <p:nvSpPr>
          <p:cNvPr id="77" name="riskh"/>
          <p:cNvSpPr/>
          <p:nvPr/>
        </p:nvSpPr>
        <p:spPr>
          <a:xfrm>
            <a:off x="5157216" y="3685032"/>
            <a:ext cx="3200400" cy="146304"/>
          </a:xfrm>
          <a:prstGeom prst="rect">
            <a:avLst/>
          </a:prstGeom>
          <a:noFill/>
          <a:ln/>
        </p:spPr>
        <p:txBody>
          <a:bodyPr wrap="square" lIns="0" tIns="0" rIns="0" bIns="0" rtlCol="0" anchor="ctr"/>
          <a:lstStyle/>
          <a:p>
            <a:pPr marL="0" indent="0">
              <a:buNone/>
            </a:pPr>
            <a:r>
              <a:rPr lang="en-US" sz="660" b="1" kern="0" spc="110" dirty="0">
                <a:solidFill>
                  <a:srgbClr val="D8452A"/>
                </a:solidFill>
                <a:latin typeface="Calibri" pitchFamily="34" charset="0"/>
                <a:ea typeface="Calibri" pitchFamily="34" charset="-122"/>
                <a:cs typeface="Calibri" pitchFamily="34" charset="-120"/>
              </a:rPr>
              <a:t>AND THE RISK, NOT HIDDEN</a:t>
            </a:r>
            <a:endParaRPr lang="en-US" sz="660" dirty="0"/>
          </a:p>
        </p:txBody>
      </p:sp>
      <p:sp>
        <p:nvSpPr>
          <p:cNvPr id="78" name="riskt"/>
          <p:cNvSpPr/>
          <p:nvPr/>
        </p:nvSpPr>
        <p:spPr>
          <a:xfrm>
            <a:off x="5157216" y="3840480"/>
            <a:ext cx="3200400" cy="402336"/>
          </a:xfrm>
          <a:prstGeom prst="rect">
            <a:avLst/>
          </a:prstGeom>
          <a:noFill/>
          <a:ln/>
        </p:spPr>
        <p:txBody>
          <a:bodyPr wrap="square" lIns="0" tIns="0" rIns="0" bIns="0" rtlCol="0" anchor="ctr"/>
          <a:lstStyle/>
          <a:p>
            <a:pPr marL="0" indent="0">
              <a:lnSpc>
                <a:spcPts val="860"/>
              </a:lnSpc>
              <a:buNone/>
            </a:pPr>
            <a:r>
              <a:rPr lang="en-US" sz="700" dirty="0">
                <a:solidFill>
                  <a:srgbClr val="10243A"/>
                </a:solidFill>
                <a:latin typeface="Calibri" pitchFamily="34" charset="0"/>
                <a:ea typeface="Calibri" pitchFamily="34" charset="-122"/>
                <a:cs typeface="Calibri" pitchFamily="34" charset="-120"/>
              </a:rPr>
              <a:t>52% of cycles still lose money even in the AI-led case, and the ROI range across ten thousand runs is -100% to 548%. Losing is normal here; the analytics change how often you win.</a:t>
            </a:r>
            <a:endParaRPr lang="en-US" sz="700" dirty="0"/>
          </a:p>
        </p:txBody>
      </p:sp>
      <p:sp>
        <p:nvSpPr>
          <p:cNvPr id="79" name="roifoot"/>
          <p:cNvSpPr/>
          <p:nvPr/>
        </p:nvSpPr>
        <p:spPr>
          <a:xfrm>
            <a:off x="640080" y="4370832"/>
            <a:ext cx="7863840" cy="182880"/>
          </a:xfrm>
          <a:prstGeom prst="rect">
            <a:avLst/>
          </a:prstGeom>
          <a:noFill/>
          <a:ln/>
        </p:spPr>
        <p:txBody>
          <a:bodyPr wrap="square" lIns="0" tIns="0" rIns="0" bIns="0" rtlCol="0" anchor="ctr"/>
          <a:lstStyle/>
          <a:p>
            <a:pPr marL="0" indent="0">
              <a:buNone/>
            </a:pPr>
            <a:r>
              <a:rPr lang="en-US" sz="700" dirty="0">
                <a:solidFill>
                  <a:srgbClr val="8FA1B2"/>
                </a:solidFill>
                <a:latin typeface="Calibri" pitchFamily="34" charset="0"/>
                <a:ea typeface="Calibri" pitchFamily="34" charset="-122"/>
                <a:cs typeface="Calibri" pitchFamily="34" charset="-120"/>
              </a:rPr>
              <a:t>One approved medicine is valued at $3.5bn risk-adjusted NPV; change that assumption and every figure above moves. Spend, value and ROI are means across 10,000 simulated cycles.</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Effect transition="in" filter="fade">
                                      <p:cBhvr>
                                        <p:cTn id="8" dur="500"/>
                                        <p:tgtEl>
                                          <p:spTgt spid="4"/>
                                        </p:tgtEl>
                                      </p:cBhvr>
                                    </p:animEffect>
                                  </p:childTnLst>
                                </p:cTn>
                              </p:par>
                            </p:childTnLst>
                          </p:cTn>
                        </p:par>
                        <p:par>
                          <p:cTn id="9" fill="hold">
                            <p:stCondLst>
                              <p:cond delay="0"/>
                            </p:stCondLst>
                            <p:childTnLst>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Effect transition="in" filter="fade">
                                      <p:cBhvr>
                                        <p:cTn id="13" dur="500"/>
                                        <p:tgtEl>
                                          <p:spTgt spid="5"/>
                                        </p:tgtEl>
                                      </p:cBhvr>
                                    </p:animEffect>
                                  </p:childTnLst>
                                </p:cTn>
                              </p:par>
                            </p:childTnLst>
                          </p:cTn>
                        </p:par>
                        <p:par>
                          <p:cTn id="14" fill="hold">
                            <p:stCondLst>
                              <p:cond delay="0"/>
                            </p:stCondLst>
                            <p:childTnLst>
                              <p:par>
                                <p:cTn id="15" presetID="2" presetClass="entr" presetSubtype="8"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Effect transition="in" filter="fade">
                                      <p:cBhvr>
                                        <p:cTn id="18" dur="500"/>
                                        <p:tgtEl>
                                          <p:spTgt spid="6"/>
                                        </p:tgtEl>
                                      </p:cBhvr>
                                    </p:animEffect>
                                  </p:childTnLst>
                                </p:cTn>
                              </p:par>
                            </p:childTnLst>
                          </p:cTn>
                        </p:par>
                        <p:par>
                          <p:cTn id="19" fill="hold">
                            <p:stCondLst>
                              <p:cond delay="140"/>
                            </p:stCondLst>
                            <p:childTnLst>
                              <p:par>
                                <p:cTn id="20" presetID="2" presetClass="entr" presetSubtype="8"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Effect transition="in" filter="fade">
                                      <p:cBhvr>
                                        <p:cTn id="23" dur="500"/>
                                        <p:tgtEl>
                                          <p:spTgt spid="7"/>
                                        </p:tgtEl>
                                      </p:cBhvr>
                                    </p:animEffect>
                                  </p:childTnLst>
                                </p:cTn>
                              </p:par>
                            </p:childTnLst>
                          </p:cTn>
                        </p:par>
                        <p:par>
                          <p:cTn id="24" fill="hold">
                            <p:stCondLst>
                              <p:cond delay="260"/>
                            </p:stCondLst>
                            <p:childTnLst>
                              <p:par>
                                <p:cTn id="25" presetID="2" presetClass="entr" presetSubtype="8"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0-#ppt_w/2"/>
                                          </p:val>
                                        </p:tav>
                                        <p:tav tm="100000">
                                          <p:val>
                                            <p:strVal val="#ppt_x"/>
                                          </p:val>
                                        </p:tav>
                                      </p:tavLst>
                                    </p:anim>
                                    <p:animEffect transition="in" filter="fade">
                                      <p:cBhvr>
                                        <p:cTn id="28" dur="500"/>
                                        <p:tgtEl>
                                          <p:spTgt spid="8"/>
                                        </p:tgtEl>
                                      </p:cBhvr>
                                    </p:animEffect>
                                  </p:childTnLst>
                                </p:cTn>
                              </p:par>
                            </p:childTnLst>
                          </p:cTn>
                        </p:par>
                        <p:par>
                          <p:cTn id="29" fill="hold">
                            <p:stCondLst>
                              <p:cond delay="380"/>
                            </p:stCondLst>
                            <p:childTnLst>
                              <p:par>
                                <p:cTn id="30" presetID="2" presetClass="entr" presetSubtype="8"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Effect transition="in" filter="fade">
                                      <p:cBhvr>
                                        <p:cTn id="33" dur="500"/>
                                        <p:tgtEl>
                                          <p:spTgt spid="9"/>
                                        </p:tgtEl>
                                      </p:cBhvr>
                                    </p:animEffect>
                                  </p:childTnLst>
                                </p:cTn>
                              </p:par>
                            </p:childTnLst>
                          </p:cTn>
                        </p:par>
                        <p:par>
                          <p:cTn id="34" fill="hold">
                            <p:stCondLst>
                              <p:cond delay="460"/>
                            </p:stCondLst>
                            <p:childTnLst>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ppt_y</p:attrName>
                                        </p:attrNameLst>
                                      </p:cBhvr>
                                      <p:tavLst>
                                        <p:tav tm="0">
                                          <p:val>
                                            <p:strVal val="1+#ppt_h/2"/>
                                          </p:val>
                                        </p:tav>
                                        <p:tav tm="100000">
                                          <p:val>
                                            <p:strVal val="#ppt_y"/>
                                          </p:val>
                                        </p:tav>
                                      </p:tavLst>
                                    </p:anim>
                                    <p:animEffect transition="in" filter="fade">
                                      <p:cBhvr>
                                        <p:cTn id="38" dur="500"/>
                                        <p:tgtEl>
                                          <p:spTgt spid="10"/>
                                        </p:tgtEl>
                                      </p:cBhvr>
                                    </p:animEffect>
                                  </p:childTnLst>
                                </p:cTn>
                              </p:par>
                            </p:childTnLst>
                          </p:cTn>
                        </p:par>
                        <p:par>
                          <p:cTn id="39" fill="hold">
                            <p:stCondLst>
                              <p:cond delay="540"/>
                            </p:stCondLst>
                            <p:childTnLst>
                              <p:par>
                                <p:cTn id="40" presetID="2" presetClass="entr" presetSubtype="4"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ppt_y</p:attrName>
                                        </p:attrNameLst>
                                      </p:cBhvr>
                                      <p:tavLst>
                                        <p:tav tm="0">
                                          <p:val>
                                            <p:strVal val="1+#ppt_h/2"/>
                                          </p:val>
                                        </p:tav>
                                        <p:tav tm="100000">
                                          <p:val>
                                            <p:strVal val="#ppt_y"/>
                                          </p:val>
                                        </p:tav>
                                      </p:tavLst>
                                    </p:anim>
                                    <p:animEffect transition="in" filter="fade">
                                      <p:cBhvr>
                                        <p:cTn id="43" dur="500"/>
                                        <p:tgtEl>
                                          <p:spTgt spid="11"/>
                                        </p:tgtEl>
                                      </p:cBhvr>
                                    </p:animEffect>
                                  </p:childTnLst>
                                </p:cTn>
                              </p:par>
                            </p:childTnLst>
                          </p:cTn>
                        </p:par>
                        <p:par>
                          <p:cTn id="44" fill="hold">
                            <p:stCondLst>
                              <p:cond delay="640"/>
                            </p:stCondLst>
                            <p:childTnLst>
                              <p:par>
                                <p:cTn id="45" presetID="2" presetClass="entr" presetSubtype="8"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0-#ppt_w/2"/>
                                          </p:val>
                                        </p:tav>
                                        <p:tav tm="100000">
                                          <p:val>
                                            <p:strVal val="#ppt_x"/>
                                          </p:val>
                                        </p:tav>
                                      </p:tavLst>
                                    </p:anim>
                                    <p:animEffect transition="in" filter="fade">
                                      <p:cBhvr>
                                        <p:cTn id="48" dur="500"/>
                                        <p:tgtEl>
                                          <p:spTgt spid="12"/>
                                        </p:tgtEl>
                                      </p:cBhvr>
                                    </p:animEffect>
                                  </p:childTnLst>
                                </p:cTn>
                              </p:par>
                            </p:childTnLst>
                          </p:cTn>
                        </p:par>
                        <p:par>
                          <p:cTn id="49" fill="hold">
                            <p:stCondLst>
                              <p:cond delay="720"/>
                            </p:stCondLst>
                            <p:childTnLst>
                              <p:par>
                                <p:cTn id="50" presetID="2" presetClass="entr" presetSubtype="8"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0-#ppt_w/2"/>
                                          </p:val>
                                        </p:tav>
                                        <p:tav tm="100000">
                                          <p:val>
                                            <p:strVal val="#ppt_x"/>
                                          </p:val>
                                        </p:tav>
                                      </p:tavLst>
                                    </p:anim>
                                    <p:animEffect transition="in" filter="fade">
                                      <p:cBhvr>
                                        <p:cTn id="53" dur="500"/>
                                        <p:tgtEl>
                                          <p:spTgt spid="13"/>
                                        </p:tgtEl>
                                      </p:cBhvr>
                                    </p:animEffect>
                                  </p:childTnLst>
                                </p:cTn>
                              </p:par>
                            </p:childTnLst>
                          </p:cTn>
                        </p:par>
                        <p:par>
                          <p:cTn id="54" fill="hold">
                            <p:stCondLst>
                              <p:cond delay="720"/>
                            </p:stCondLst>
                            <p:childTnLst>
                              <p:par>
                                <p:cTn id="55" presetID="2" presetClass="entr" presetSubtype="8"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0-#ppt_w/2"/>
                                          </p:val>
                                        </p:tav>
                                        <p:tav tm="100000">
                                          <p:val>
                                            <p:strVal val="#ppt_x"/>
                                          </p:val>
                                        </p:tav>
                                      </p:tavLst>
                                    </p:anim>
                                    <p:animEffect transition="in" filter="fade">
                                      <p:cBhvr>
                                        <p:cTn id="58" dur="500"/>
                                        <p:tgtEl>
                                          <p:spTgt spid="14"/>
                                        </p:tgtEl>
                                      </p:cBhvr>
                                    </p:animEffect>
                                  </p:childTnLst>
                                </p:cTn>
                              </p:par>
                            </p:childTnLst>
                          </p:cTn>
                        </p:par>
                        <p:par>
                          <p:cTn id="59" fill="hold">
                            <p:stCondLst>
                              <p:cond delay="720"/>
                            </p:stCondLst>
                            <p:childTnLst>
                              <p:par>
                                <p:cTn id="60" presetID="2" presetClass="entr" presetSubtype="8"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0-#ppt_w/2"/>
                                          </p:val>
                                        </p:tav>
                                        <p:tav tm="100000">
                                          <p:val>
                                            <p:strVal val="#ppt_x"/>
                                          </p:val>
                                        </p:tav>
                                      </p:tavLst>
                                    </p:anim>
                                    <p:animEffect transition="in" filter="fade">
                                      <p:cBhvr>
                                        <p:cTn id="63" dur="500"/>
                                        <p:tgtEl>
                                          <p:spTgt spid="15"/>
                                        </p:tgtEl>
                                      </p:cBhvr>
                                    </p:animEffect>
                                  </p:childTnLst>
                                </p:cTn>
                              </p:par>
                            </p:childTnLst>
                          </p:cTn>
                        </p:par>
                        <p:par>
                          <p:cTn id="64" fill="hold">
                            <p:stCondLst>
                              <p:cond delay="860"/>
                            </p:stCondLst>
                            <p:childTnLst>
                              <p:par>
                                <p:cTn id="65" presetID="2" presetClass="entr" presetSubtype="8"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0-#ppt_w/2"/>
                                          </p:val>
                                        </p:tav>
                                        <p:tav tm="100000">
                                          <p:val>
                                            <p:strVal val="#ppt_x"/>
                                          </p:val>
                                        </p:tav>
                                      </p:tavLst>
                                    </p:anim>
                                    <p:animEffect transition="in" filter="fade">
                                      <p:cBhvr>
                                        <p:cTn id="68" dur="500"/>
                                        <p:tgtEl>
                                          <p:spTgt spid="16"/>
                                        </p:tgtEl>
                                      </p:cBhvr>
                                    </p:animEffect>
                                  </p:childTnLst>
                                </p:cTn>
                              </p:par>
                            </p:childTnLst>
                          </p:cTn>
                        </p:par>
                        <p:par>
                          <p:cTn id="69" fill="hold">
                            <p:stCondLst>
                              <p:cond delay="980"/>
                            </p:stCondLst>
                            <p:childTnLst>
                              <p:par>
                                <p:cTn id="70" presetID="2" presetClass="entr" presetSubtype="8"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0-#ppt_w/2"/>
                                          </p:val>
                                        </p:tav>
                                        <p:tav tm="100000">
                                          <p:val>
                                            <p:strVal val="#ppt_x"/>
                                          </p:val>
                                        </p:tav>
                                      </p:tavLst>
                                    </p:anim>
                                    <p:animEffect transition="in" filter="fade">
                                      <p:cBhvr>
                                        <p:cTn id="73" dur="500"/>
                                        <p:tgtEl>
                                          <p:spTgt spid="17"/>
                                        </p:tgtEl>
                                      </p:cBhvr>
                                    </p:animEffect>
                                  </p:childTnLst>
                                </p:cTn>
                              </p:par>
                            </p:childTnLst>
                          </p:cTn>
                        </p:par>
                        <p:par>
                          <p:cTn id="74" fill="hold">
                            <p:stCondLst>
                              <p:cond delay="1100"/>
                            </p:stCondLst>
                            <p:childTnLst>
                              <p:par>
                                <p:cTn id="75" presetID="2" presetClass="entr" presetSubtype="8"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0-#ppt_w/2"/>
                                          </p:val>
                                        </p:tav>
                                        <p:tav tm="100000">
                                          <p:val>
                                            <p:strVal val="#ppt_x"/>
                                          </p:val>
                                        </p:tav>
                                      </p:tavLst>
                                    </p:anim>
                                    <p:animEffect transition="in" filter="fade">
                                      <p:cBhvr>
                                        <p:cTn id="78" dur="500"/>
                                        <p:tgtEl>
                                          <p:spTgt spid="18"/>
                                        </p:tgtEl>
                                      </p:cBhvr>
                                    </p:animEffect>
                                  </p:childTnLst>
                                </p:cTn>
                              </p:par>
                            </p:childTnLst>
                          </p:cTn>
                        </p:par>
                        <p:par>
                          <p:cTn id="79" fill="hold">
                            <p:stCondLst>
                              <p:cond delay="1180"/>
                            </p:stCondLst>
                            <p:childTnLst>
                              <p:par>
                                <p:cTn id="80" presetID="2" presetClass="entr" presetSubtype="4"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ppt_y</p:attrName>
                                        </p:attrNameLst>
                                      </p:cBhvr>
                                      <p:tavLst>
                                        <p:tav tm="0">
                                          <p:val>
                                            <p:strVal val="1+#ppt_h/2"/>
                                          </p:val>
                                        </p:tav>
                                        <p:tav tm="100000">
                                          <p:val>
                                            <p:strVal val="#ppt_y"/>
                                          </p:val>
                                        </p:tav>
                                      </p:tavLst>
                                    </p:anim>
                                    <p:animEffect transition="in" filter="fade">
                                      <p:cBhvr>
                                        <p:cTn id="83" dur="500"/>
                                        <p:tgtEl>
                                          <p:spTgt spid="19"/>
                                        </p:tgtEl>
                                      </p:cBhvr>
                                    </p:animEffect>
                                  </p:childTnLst>
                                </p:cTn>
                              </p:par>
                            </p:childTnLst>
                          </p:cTn>
                        </p:par>
                        <p:par>
                          <p:cTn id="84" fill="hold">
                            <p:stCondLst>
                              <p:cond delay="1260"/>
                            </p:stCondLst>
                            <p:childTnLst>
                              <p:par>
                                <p:cTn id="85" presetID="2" presetClass="entr" presetSubtype="4"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ppt_y</p:attrName>
                                        </p:attrNameLst>
                                      </p:cBhvr>
                                      <p:tavLst>
                                        <p:tav tm="0">
                                          <p:val>
                                            <p:strVal val="1+#ppt_h/2"/>
                                          </p:val>
                                        </p:tav>
                                        <p:tav tm="100000">
                                          <p:val>
                                            <p:strVal val="#ppt_y"/>
                                          </p:val>
                                        </p:tav>
                                      </p:tavLst>
                                    </p:anim>
                                    <p:animEffect transition="in" filter="fade">
                                      <p:cBhvr>
                                        <p:cTn id="88" dur="500"/>
                                        <p:tgtEl>
                                          <p:spTgt spid="20"/>
                                        </p:tgtEl>
                                      </p:cBhvr>
                                    </p:animEffect>
                                  </p:childTnLst>
                                </p:cTn>
                              </p:par>
                            </p:childTnLst>
                          </p:cTn>
                        </p:par>
                        <p:par>
                          <p:cTn id="89" fill="hold">
                            <p:stCondLst>
                              <p:cond delay="1360"/>
                            </p:stCondLst>
                            <p:childTnLst>
                              <p:par>
                                <p:cTn id="90" presetID="2" presetClass="entr" presetSubtype="8"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ppt_x</p:attrName>
                                        </p:attrNameLst>
                                      </p:cBhvr>
                                      <p:tavLst>
                                        <p:tav tm="0">
                                          <p:val>
                                            <p:strVal val="0-#ppt_w/2"/>
                                          </p:val>
                                        </p:tav>
                                        <p:tav tm="100000">
                                          <p:val>
                                            <p:strVal val="#ppt_x"/>
                                          </p:val>
                                        </p:tav>
                                      </p:tavLst>
                                    </p:anim>
                                    <p:animEffect transition="in" filter="fade">
                                      <p:cBhvr>
                                        <p:cTn id="93" dur="500"/>
                                        <p:tgtEl>
                                          <p:spTgt spid="21"/>
                                        </p:tgtEl>
                                      </p:cBhvr>
                                    </p:animEffect>
                                  </p:childTnLst>
                                </p:cTn>
                              </p:par>
                            </p:childTnLst>
                          </p:cTn>
                        </p:par>
                        <p:par>
                          <p:cTn id="94" fill="hold">
                            <p:stCondLst>
                              <p:cond delay="1440"/>
                            </p:stCondLst>
                            <p:childTnLst>
                              <p:par>
                                <p:cTn id="95" presetID="2" presetClass="entr" presetSubtype="8"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ppt_x</p:attrName>
                                        </p:attrNameLst>
                                      </p:cBhvr>
                                      <p:tavLst>
                                        <p:tav tm="0">
                                          <p:val>
                                            <p:strVal val="0-#ppt_w/2"/>
                                          </p:val>
                                        </p:tav>
                                        <p:tav tm="100000">
                                          <p:val>
                                            <p:strVal val="#ppt_x"/>
                                          </p:val>
                                        </p:tav>
                                      </p:tavLst>
                                    </p:anim>
                                    <p:animEffect transition="in" filter="fade">
                                      <p:cBhvr>
                                        <p:cTn id="98" dur="500"/>
                                        <p:tgtEl>
                                          <p:spTgt spid="22"/>
                                        </p:tgtEl>
                                      </p:cBhvr>
                                    </p:animEffect>
                                  </p:childTnLst>
                                </p:cTn>
                              </p:par>
                            </p:childTnLst>
                          </p:cTn>
                        </p:par>
                        <p:par>
                          <p:cTn id="99" fill="hold">
                            <p:stCondLst>
                              <p:cond delay="1440"/>
                            </p:stCondLst>
                            <p:childTnLst>
                              <p:par>
                                <p:cTn id="100" presetID="2" presetClass="entr" presetSubtype="8"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ppt_x</p:attrName>
                                        </p:attrNameLst>
                                      </p:cBhvr>
                                      <p:tavLst>
                                        <p:tav tm="0">
                                          <p:val>
                                            <p:strVal val="0-#ppt_w/2"/>
                                          </p:val>
                                        </p:tav>
                                        <p:tav tm="100000">
                                          <p:val>
                                            <p:strVal val="#ppt_x"/>
                                          </p:val>
                                        </p:tav>
                                      </p:tavLst>
                                    </p:anim>
                                    <p:animEffect transition="in" filter="fade">
                                      <p:cBhvr>
                                        <p:cTn id="103" dur="500"/>
                                        <p:tgtEl>
                                          <p:spTgt spid="23"/>
                                        </p:tgtEl>
                                      </p:cBhvr>
                                    </p:animEffect>
                                  </p:childTnLst>
                                </p:cTn>
                              </p:par>
                            </p:childTnLst>
                          </p:cTn>
                        </p:par>
                        <p:par>
                          <p:cTn id="104" fill="hold">
                            <p:stCondLst>
                              <p:cond delay="1440"/>
                            </p:stCondLst>
                            <p:childTnLst>
                              <p:par>
                                <p:cTn id="105" presetID="2" presetClass="entr" presetSubtype="8"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0-#ppt_w/2"/>
                                          </p:val>
                                        </p:tav>
                                        <p:tav tm="100000">
                                          <p:val>
                                            <p:strVal val="#ppt_x"/>
                                          </p:val>
                                        </p:tav>
                                      </p:tavLst>
                                    </p:anim>
                                    <p:animEffect transition="in" filter="fade">
                                      <p:cBhvr>
                                        <p:cTn id="108" dur="500"/>
                                        <p:tgtEl>
                                          <p:spTgt spid="24"/>
                                        </p:tgtEl>
                                      </p:cBhvr>
                                    </p:animEffect>
                                  </p:childTnLst>
                                </p:cTn>
                              </p:par>
                            </p:childTnLst>
                          </p:cTn>
                        </p:par>
                        <p:par>
                          <p:cTn id="109" fill="hold">
                            <p:stCondLst>
                              <p:cond delay="1580"/>
                            </p:stCondLst>
                            <p:childTnLst>
                              <p:par>
                                <p:cTn id="110" presetID="2" presetClass="entr" presetSubtype="8"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ppt_x</p:attrName>
                                        </p:attrNameLst>
                                      </p:cBhvr>
                                      <p:tavLst>
                                        <p:tav tm="0">
                                          <p:val>
                                            <p:strVal val="0-#ppt_w/2"/>
                                          </p:val>
                                        </p:tav>
                                        <p:tav tm="100000">
                                          <p:val>
                                            <p:strVal val="#ppt_x"/>
                                          </p:val>
                                        </p:tav>
                                      </p:tavLst>
                                    </p:anim>
                                    <p:animEffect transition="in" filter="fade">
                                      <p:cBhvr>
                                        <p:cTn id="113" dur="500"/>
                                        <p:tgtEl>
                                          <p:spTgt spid="25"/>
                                        </p:tgtEl>
                                      </p:cBhvr>
                                    </p:animEffect>
                                  </p:childTnLst>
                                </p:cTn>
                              </p:par>
                            </p:childTnLst>
                          </p:cTn>
                        </p:par>
                        <p:par>
                          <p:cTn id="114" fill="hold">
                            <p:stCondLst>
                              <p:cond delay="1700"/>
                            </p:stCondLst>
                            <p:childTnLst>
                              <p:par>
                                <p:cTn id="115" presetID="2" presetClass="entr" presetSubtype="8"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0-#ppt_w/2"/>
                                          </p:val>
                                        </p:tav>
                                        <p:tav tm="100000">
                                          <p:val>
                                            <p:strVal val="#ppt_x"/>
                                          </p:val>
                                        </p:tav>
                                      </p:tavLst>
                                    </p:anim>
                                    <p:animEffect transition="in" filter="fade">
                                      <p:cBhvr>
                                        <p:cTn id="118" dur="500"/>
                                        <p:tgtEl>
                                          <p:spTgt spid="26"/>
                                        </p:tgtEl>
                                      </p:cBhvr>
                                    </p:animEffect>
                                  </p:childTnLst>
                                </p:cTn>
                              </p:par>
                            </p:childTnLst>
                          </p:cTn>
                        </p:par>
                        <p:par>
                          <p:cTn id="119" fill="hold">
                            <p:stCondLst>
                              <p:cond delay="1820"/>
                            </p:stCondLst>
                            <p:childTnLst>
                              <p:par>
                                <p:cTn id="120" presetID="2" presetClass="entr" presetSubtype="8"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ppt_x</p:attrName>
                                        </p:attrNameLst>
                                      </p:cBhvr>
                                      <p:tavLst>
                                        <p:tav tm="0">
                                          <p:val>
                                            <p:strVal val="0-#ppt_w/2"/>
                                          </p:val>
                                        </p:tav>
                                        <p:tav tm="100000">
                                          <p:val>
                                            <p:strVal val="#ppt_x"/>
                                          </p:val>
                                        </p:tav>
                                      </p:tavLst>
                                    </p:anim>
                                    <p:animEffect transition="in" filter="fade">
                                      <p:cBhvr>
                                        <p:cTn id="123" dur="500"/>
                                        <p:tgtEl>
                                          <p:spTgt spid="27"/>
                                        </p:tgtEl>
                                      </p:cBhvr>
                                    </p:animEffect>
                                  </p:childTnLst>
                                </p:cTn>
                              </p:par>
                            </p:childTnLst>
                          </p:cTn>
                        </p:par>
                        <p:par>
                          <p:cTn id="124" fill="hold">
                            <p:stCondLst>
                              <p:cond delay="1900"/>
                            </p:stCondLst>
                            <p:childTnLst>
                              <p:par>
                                <p:cTn id="125" presetID="2" presetClass="entr" presetSubtype="4"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ppt_y</p:attrName>
                                        </p:attrNameLst>
                                      </p:cBhvr>
                                      <p:tavLst>
                                        <p:tav tm="0">
                                          <p:val>
                                            <p:strVal val="1+#ppt_h/2"/>
                                          </p:val>
                                        </p:tav>
                                        <p:tav tm="100000">
                                          <p:val>
                                            <p:strVal val="#ppt_y"/>
                                          </p:val>
                                        </p:tav>
                                      </p:tavLst>
                                    </p:anim>
                                    <p:animEffect transition="in" filter="fade">
                                      <p:cBhvr>
                                        <p:cTn id="128" dur="500"/>
                                        <p:tgtEl>
                                          <p:spTgt spid="28"/>
                                        </p:tgtEl>
                                      </p:cBhvr>
                                    </p:animEffect>
                                  </p:childTnLst>
                                </p:cTn>
                              </p:par>
                            </p:childTnLst>
                          </p:cTn>
                        </p:par>
                        <p:par>
                          <p:cTn id="129" fill="hold">
                            <p:stCondLst>
                              <p:cond delay="1980"/>
                            </p:stCondLst>
                            <p:childTnLst>
                              <p:par>
                                <p:cTn id="130" presetID="2" presetClass="entr" presetSubtype="4"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ppt_y</p:attrName>
                                        </p:attrNameLst>
                                      </p:cBhvr>
                                      <p:tavLst>
                                        <p:tav tm="0">
                                          <p:val>
                                            <p:strVal val="1+#ppt_h/2"/>
                                          </p:val>
                                        </p:tav>
                                        <p:tav tm="100000">
                                          <p:val>
                                            <p:strVal val="#ppt_y"/>
                                          </p:val>
                                        </p:tav>
                                      </p:tavLst>
                                    </p:anim>
                                    <p:animEffect transition="in" filter="fade">
                                      <p:cBhvr>
                                        <p:cTn id="133" dur="500"/>
                                        <p:tgtEl>
                                          <p:spTgt spid="29"/>
                                        </p:tgtEl>
                                      </p:cBhvr>
                                    </p:animEffect>
                                  </p:childTnLst>
                                </p:cTn>
                              </p:par>
                            </p:childTnLst>
                          </p:cTn>
                        </p:par>
                        <p:par>
                          <p:cTn id="134" fill="hold">
                            <p:stCondLst>
                              <p:cond delay="2080"/>
                            </p:stCondLst>
                            <p:childTnLst>
                              <p:par>
                                <p:cTn id="135" presetID="2" presetClass="entr" presetSubtype="8"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ppt_x</p:attrName>
                                        </p:attrNameLst>
                                      </p:cBhvr>
                                      <p:tavLst>
                                        <p:tav tm="0">
                                          <p:val>
                                            <p:strVal val="0-#ppt_w/2"/>
                                          </p:val>
                                        </p:tav>
                                        <p:tav tm="100000">
                                          <p:val>
                                            <p:strVal val="#ppt_x"/>
                                          </p:val>
                                        </p:tav>
                                      </p:tavLst>
                                    </p:anim>
                                    <p:animEffect transition="in" filter="fade">
                                      <p:cBhvr>
                                        <p:cTn id="138" dur="500"/>
                                        <p:tgtEl>
                                          <p:spTgt spid="30"/>
                                        </p:tgtEl>
                                      </p:cBhvr>
                                    </p:animEffect>
                                  </p:childTnLst>
                                </p:cTn>
                              </p:par>
                            </p:childTnLst>
                          </p:cTn>
                        </p:par>
                        <p:par>
                          <p:cTn id="139" fill="hold">
                            <p:stCondLst>
                              <p:cond delay="2160"/>
                            </p:stCondLst>
                            <p:childTnLst>
                              <p:par>
                                <p:cTn id="140" presetID="2" presetClass="entr" presetSubtype="8"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 calcmode="lin" valueType="num">
                                      <p:cBhvr additive="base">
                                        <p:cTn id="142" dur="500" fill="hold"/>
                                        <p:tgtEl>
                                          <p:spTgt spid="31"/>
                                        </p:tgtEl>
                                        <p:attrNameLst>
                                          <p:attrName>ppt_x</p:attrName>
                                        </p:attrNameLst>
                                      </p:cBhvr>
                                      <p:tavLst>
                                        <p:tav tm="0">
                                          <p:val>
                                            <p:strVal val="0-#ppt_w/2"/>
                                          </p:val>
                                        </p:tav>
                                        <p:tav tm="100000">
                                          <p:val>
                                            <p:strVal val="#ppt_x"/>
                                          </p:val>
                                        </p:tav>
                                      </p:tavLst>
                                    </p:anim>
                                    <p:animEffect transition="in" filter="fade">
                                      <p:cBhvr>
                                        <p:cTn id="143" dur="500"/>
                                        <p:tgtEl>
                                          <p:spTgt spid="31"/>
                                        </p:tgtEl>
                                      </p:cBhvr>
                                    </p:animEffect>
                                  </p:childTnLst>
                                </p:cTn>
                              </p:par>
                            </p:childTnLst>
                          </p:cTn>
                        </p:par>
                        <p:par>
                          <p:cTn id="144" fill="hold">
                            <p:stCondLst>
                              <p:cond delay="2160"/>
                            </p:stCondLst>
                            <p:childTnLst>
                              <p:par>
                                <p:cTn id="145" presetID="2" presetClass="entr" presetSubtype="8"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500" fill="hold"/>
                                        <p:tgtEl>
                                          <p:spTgt spid="32"/>
                                        </p:tgtEl>
                                        <p:attrNameLst>
                                          <p:attrName>ppt_x</p:attrName>
                                        </p:attrNameLst>
                                      </p:cBhvr>
                                      <p:tavLst>
                                        <p:tav tm="0">
                                          <p:val>
                                            <p:strVal val="0-#ppt_w/2"/>
                                          </p:val>
                                        </p:tav>
                                        <p:tav tm="100000">
                                          <p:val>
                                            <p:strVal val="#ppt_x"/>
                                          </p:val>
                                        </p:tav>
                                      </p:tavLst>
                                    </p:anim>
                                    <p:animEffect transition="in" filter="fade">
                                      <p:cBhvr>
                                        <p:cTn id="148" dur="500"/>
                                        <p:tgtEl>
                                          <p:spTgt spid="32"/>
                                        </p:tgtEl>
                                      </p:cBhvr>
                                    </p:animEffect>
                                  </p:childTnLst>
                                </p:cTn>
                              </p:par>
                            </p:childTnLst>
                          </p:cTn>
                        </p:par>
                        <p:par>
                          <p:cTn id="149" fill="hold">
                            <p:stCondLst>
                              <p:cond delay="2160"/>
                            </p:stCondLst>
                            <p:childTnLst>
                              <p:par>
                                <p:cTn id="150" presetID="2" presetClass="entr" presetSubtype="8"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500" fill="hold"/>
                                        <p:tgtEl>
                                          <p:spTgt spid="33"/>
                                        </p:tgtEl>
                                        <p:attrNameLst>
                                          <p:attrName>ppt_x</p:attrName>
                                        </p:attrNameLst>
                                      </p:cBhvr>
                                      <p:tavLst>
                                        <p:tav tm="0">
                                          <p:val>
                                            <p:strVal val="0-#ppt_w/2"/>
                                          </p:val>
                                        </p:tav>
                                        <p:tav tm="100000">
                                          <p:val>
                                            <p:strVal val="#ppt_x"/>
                                          </p:val>
                                        </p:tav>
                                      </p:tavLst>
                                    </p:anim>
                                    <p:animEffect transition="in" filter="fade">
                                      <p:cBhvr>
                                        <p:cTn id="153" dur="500"/>
                                        <p:tgtEl>
                                          <p:spTgt spid="33"/>
                                        </p:tgtEl>
                                      </p:cBhvr>
                                    </p:animEffect>
                                  </p:childTnLst>
                                </p:cTn>
                              </p:par>
                            </p:childTnLst>
                          </p:cTn>
                        </p:par>
                        <p:par>
                          <p:cTn id="154" fill="hold">
                            <p:stCondLst>
                              <p:cond delay="2300"/>
                            </p:stCondLst>
                            <p:childTnLst>
                              <p:par>
                                <p:cTn id="155" presetID="2" presetClass="entr" presetSubtype="8"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 calcmode="lin" valueType="num">
                                      <p:cBhvr additive="base">
                                        <p:cTn id="157" dur="500" fill="hold"/>
                                        <p:tgtEl>
                                          <p:spTgt spid="34"/>
                                        </p:tgtEl>
                                        <p:attrNameLst>
                                          <p:attrName>ppt_x</p:attrName>
                                        </p:attrNameLst>
                                      </p:cBhvr>
                                      <p:tavLst>
                                        <p:tav tm="0">
                                          <p:val>
                                            <p:strVal val="0-#ppt_w/2"/>
                                          </p:val>
                                        </p:tav>
                                        <p:tav tm="100000">
                                          <p:val>
                                            <p:strVal val="#ppt_x"/>
                                          </p:val>
                                        </p:tav>
                                      </p:tavLst>
                                    </p:anim>
                                    <p:animEffect transition="in" filter="fade">
                                      <p:cBhvr>
                                        <p:cTn id="158" dur="500"/>
                                        <p:tgtEl>
                                          <p:spTgt spid="34"/>
                                        </p:tgtEl>
                                      </p:cBhvr>
                                    </p:animEffect>
                                  </p:childTnLst>
                                </p:cTn>
                              </p:par>
                            </p:childTnLst>
                          </p:cTn>
                        </p:par>
                        <p:par>
                          <p:cTn id="159" fill="hold">
                            <p:stCondLst>
                              <p:cond delay="2420"/>
                            </p:stCondLst>
                            <p:childTnLst>
                              <p:par>
                                <p:cTn id="160" presetID="2" presetClass="entr" presetSubtype="8"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additive="base">
                                        <p:cTn id="162" dur="500" fill="hold"/>
                                        <p:tgtEl>
                                          <p:spTgt spid="35"/>
                                        </p:tgtEl>
                                        <p:attrNameLst>
                                          <p:attrName>ppt_x</p:attrName>
                                        </p:attrNameLst>
                                      </p:cBhvr>
                                      <p:tavLst>
                                        <p:tav tm="0">
                                          <p:val>
                                            <p:strVal val="0-#ppt_w/2"/>
                                          </p:val>
                                        </p:tav>
                                        <p:tav tm="100000">
                                          <p:val>
                                            <p:strVal val="#ppt_x"/>
                                          </p:val>
                                        </p:tav>
                                      </p:tavLst>
                                    </p:anim>
                                    <p:animEffect transition="in" filter="fade">
                                      <p:cBhvr>
                                        <p:cTn id="163" dur="500"/>
                                        <p:tgtEl>
                                          <p:spTgt spid="35"/>
                                        </p:tgtEl>
                                      </p:cBhvr>
                                    </p:animEffect>
                                  </p:childTnLst>
                                </p:cTn>
                              </p:par>
                            </p:childTnLst>
                          </p:cTn>
                        </p:par>
                        <p:par>
                          <p:cTn id="164" fill="hold">
                            <p:stCondLst>
                              <p:cond delay="2540"/>
                            </p:stCondLst>
                            <p:childTnLst>
                              <p:par>
                                <p:cTn id="165" presetID="2" presetClass="entr" presetSubtype="8"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 calcmode="lin" valueType="num">
                                      <p:cBhvr additive="base">
                                        <p:cTn id="167" dur="500" fill="hold"/>
                                        <p:tgtEl>
                                          <p:spTgt spid="36"/>
                                        </p:tgtEl>
                                        <p:attrNameLst>
                                          <p:attrName>ppt_x</p:attrName>
                                        </p:attrNameLst>
                                      </p:cBhvr>
                                      <p:tavLst>
                                        <p:tav tm="0">
                                          <p:val>
                                            <p:strVal val="0-#ppt_w/2"/>
                                          </p:val>
                                        </p:tav>
                                        <p:tav tm="100000">
                                          <p:val>
                                            <p:strVal val="#ppt_x"/>
                                          </p:val>
                                        </p:tav>
                                      </p:tavLst>
                                    </p:anim>
                                    <p:animEffect transition="in" filter="fade">
                                      <p:cBhvr>
                                        <p:cTn id="168" dur="500"/>
                                        <p:tgtEl>
                                          <p:spTgt spid="36"/>
                                        </p:tgtEl>
                                      </p:cBhvr>
                                    </p:animEffect>
                                  </p:childTnLst>
                                </p:cTn>
                              </p:par>
                            </p:childTnLst>
                          </p:cTn>
                        </p:par>
                        <p:par>
                          <p:cTn id="169" fill="hold">
                            <p:stCondLst>
                              <p:cond delay="2620"/>
                            </p:stCondLst>
                            <p:childTnLst>
                              <p:par>
                                <p:cTn id="170" presetID="2" presetClass="entr" presetSubtype="4"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 calcmode="lin" valueType="num">
                                      <p:cBhvr additive="base">
                                        <p:cTn id="172" dur="500" fill="hold"/>
                                        <p:tgtEl>
                                          <p:spTgt spid="37"/>
                                        </p:tgtEl>
                                        <p:attrNameLst>
                                          <p:attrName>ppt_y</p:attrName>
                                        </p:attrNameLst>
                                      </p:cBhvr>
                                      <p:tavLst>
                                        <p:tav tm="0">
                                          <p:val>
                                            <p:strVal val="1+#ppt_h/2"/>
                                          </p:val>
                                        </p:tav>
                                        <p:tav tm="100000">
                                          <p:val>
                                            <p:strVal val="#ppt_y"/>
                                          </p:val>
                                        </p:tav>
                                      </p:tavLst>
                                    </p:anim>
                                    <p:animEffect transition="in" filter="fade">
                                      <p:cBhvr>
                                        <p:cTn id="173" dur="500"/>
                                        <p:tgtEl>
                                          <p:spTgt spid="37"/>
                                        </p:tgtEl>
                                      </p:cBhvr>
                                    </p:animEffect>
                                  </p:childTnLst>
                                </p:cTn>
                              </p:par>
                            </p:childTnLst>
                          </p:cTn>
                        </p:par>
                        <p:par>
                          <p:cTn id="174" fill="hold">
                            <p:stCondLst>
                              <p:cond delay="2700"/>
                            </p:stCondLst>
                            <p:childTnLst>
                              <p:par>
                                <p:cTn id="175" presetID="2" presetClass="entr" presetSubtype="4"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 calcmode="lin" valueType="num">
                                      <p:cBhvr additive="base">
                                        <p:cTn id="177" dur="500" fill="hold"/>
                                        <p:tgtEl>
                                          <p:spTgt spid="38"/>
                                        </p:tgtEl>
                                        <p:attrNameLst>
                                          <p:attrName>ppt_y</p:attrName>
                                        </p:attrNameLst>
                                      </p:cBhvr>
                                      <p:tavLst>
                                        <p:tav tm="0">
                                          <p:val>
                                            <p:strVal val="1+#ppt_h/2"/>
                                          </p:val>
                                        </p:tav>
                                        <p:tav tm="100000">
                                          <p:val>
                                            <p:strVal val="#ppt_y"/>
                                          </p:val>
                                        </p:tav>
                                      </p:tavLst>
                                    </p:anim>
                                    <p:animEffect transition="in" filter="fade">
                                      <p:cBhvr>
                                        <p:cTn id="178" dur="500"/>
                                        <p:tgtEl>
                                          <p:spTgt spid="38"/>
                                        </p:tgtEl>
                                      </p:cBhvr>
                                    </p:animEffect>
                                  </p:childTnLst>
                                </p:cTn>
                              </p:par>
                            </p:childTnLst>
                          </p:cTn>
                        </p:par>
                        <p:par>
                          <p:cTn id="179" fill="hold">
                            <p:stCondLst>
                              <p:cond delay="2800"/>
                            </p:stCondLst>
                            <p:childTnLst>
                              <p:par>
                                <p:cTn id="180" presetID="2" presetClass="entr" presetSubtype="8"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 calcmode="lin" valueType="num">
                                      <p:cBhvr additive="base">
                                        <p:cTn id="182" dur="500" fill="hold"/>
                                        <p:tgtEl>
                                          <p:spTgt spid="39"/>
                                        </p:tgtEl>
                                        <p:attrNameLst>
                                          <p:attrName>ppt_x</p:attrName>
                                        </p:attrNameLst>
                                      </p:cBhvr>
                                      <p:tavLst>
                                        <p:tav tm="0">
                                          <p:val>
                                            <p:strVal val="0-#ppt_w/2"/>
                                          </p:val>
                                        </p:tav>
                                        <p:tav tm="100000">
                                          <p:val>
                                            <p:strVal val="#ppt_x"/>
                                          </p:val>
                                        </p:tav>
                                      </p:tavLst>
                                    </p:anim>
                                    <p:animEffect transition="in" filter="fade">
                                      <p:cBhvr>
                                        <p:cTn id="183" dur="500"/>
                                        <p:tgtEl>
                                          <p:spTgt spid="39"/>
                                        </p:tgtEl>
                                      </p:cBhvr>
                                    </p:animEffect>
                                  </p:childTnLst>
                                </p:cTn>
                              </p:par>
                            </p:childTnLst>
                          </p:cTn>
                        </p:par>
                        <p:par>
                          <p:cTn id="184" fill="hold">
                            <p:stCondLst>
                              <p:cond delay="2880"/>
                            </p:stCondLst>
                            <p:childTnLst>
                              <p:par>
                                <p:cTn id="185" presetID="2" presetClass="entr" presetSubtype="8"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 calcmode="lin" valueType="num">
                                      <p:cBhvr additive="base">
                                        <p:cTn id="187" dur="500" fill="hold"/>
                                        <p:tgtEl>
                                          <p:spTgt spid="40"/>
                                        </p:tgtEl>
                                        <p:attrNameLst>
                                          <p:attrName>ppt_x</p:attrName>
                                        </p:attrNameLst>
                                      </p:cBhvr>
                                      <p:tavLst>
                                        <p:tav tm="0">
                                          <p:val>
                                            <p:strVal val="0-#ppt_w/2"/>
                                          </p:val>
                                        </p:tav>
                                        <p:tav tm="100000">
                                          <p:val>
                                            <p:strVal val="#ppt_x"/>
                                          </p:val>
                                        </p:tav>
                                      </p:tavLst>
                                    </p:anim>
                                    <p:animEffect transition="in" filter="fade">
                                      <p:cBhvr>
                                        <p:cTn id="188" dur="500"/>
                                        <p:tgtEl>
                                          <p:spTgt spid="40"/>
                                        </p:tgtEl>
                                      </p:cBhvr>
                                    </p:animEffect>
                                  </p:childTnLst>
                                </p:cTn>
                              </p:par>
                            </p:childTnLst>
                          </p:cTn>
                        </p:par>
                        <p:par>
                          <p:cTn id="189" fill="hold">
                            <p:stCondLst>
                              <p:cond delay="2880"/>
                            </p:stCondLst>
                            <p:childTnLst>
                              <p:par>
                                <p:cTn id="190" presetID="2" presetClass="entr" presetSubtype="8"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 calcmode="lin" valueType="num">
                                      <p:cBhvr additive="base">
                                        <p:cTn id="192" dur="500" fill="hold"/>
                                        <p:tgtEl>
                                          <p:spTgt spid="41"/>
                                        </p:tgtEl>
                                        <p:attrNameLst>
                                          <p:attrName>ppt_x</p:attrName>
                                        </p:attrNameLst>
                                      </p:cBhvr>
                                      <p:tavLst>
                                        <p:tav tm="0">
                                          <p:val>
                                            <p:strVal val="0-#ppt_w/2"/>
                                          </p:val>
                                        </p:tav>
                                        <p:tav tm="100000">
                                          <p:val>
                                            <p:strVal val="#ppt_x"/>
                                          </p:val>
                                        </p:tav>
                                      </p:tavLst>
                                    </p:anim>
                                    <p:animEffect transition="in" filter="fade">
                                      <p:cBhvr>
                                        <p:cTn id="193" dur="500"/>
                                        <p:tgtEl>
                                          <p:spTgt spid="41"/>
                                        </p:tgtEl>
                                      </p:cBhvr>
                                    </p:animEffect>
                                  </p:childTnLst>
                                </p:cTn>
                              </p:par>
                            </p:childTnLst>
                          </p:cTn>
                        </p:par>
                        <p:par>
                          <p:cTn id="194" fill="hold">
                            <p:stCondLst>
                              <p:cond delay="2880"/>
                            </p:stCondLst>
                            <p:childTnLst>
                              <p:par>
                                <p:cTn id="195" presetID="2" presetClass="entr" presetSubtype="8"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 calcmode="lin" valueType="num">
                                      <p:cBhvr additive="base">
                                        <p:cTn id="197" dur="500" fill="hold"/>
                                        <p:tgtEl>
                                          <p:spTgt spid="42"/>
                                        </p:tgtEl>
                                        <p:attrNameLst>
                                          <p:attrName>ppt_x</p:attrName>
                                        </p:attrNameLst>
                                      </p:cBhvr>
                                      <p:tavLst>
                                        <p:tav tm="0">
                                          <p:val>
                                            <p:strVal val="0-#ppt_w/2"/>
                                          </p:val>
                                        </p:tav>
                                        <p:tav tm="100000">
                                          <p:val>
                                            <p:strVal val="#ppt_x"/>
                                          </p:val>
                                        </p:tav>
                                      </p:tavLst>
                                    </p:anim>
                                    <p:animEffect transition="in" filter="fade">
                                      <p:cBhvr>
                                        <p:cTn id="198" dur="500"/>
                                        <p:tgtEl>
                                          <p:spTgt spid="42"/>
                                        </p:tgtEl>
                                      </p:cBhvr>
                                    </p:animEffect>
                                  </p:childTnLst>
                                </p:cTn>
                              </p:par>
                            </p:childTnLst>
                          </p:cTn>
                        </p:par>
                        <p:par>
                          <p:cTn id="199" fill="hold">
                            <p:stCondLst>
                              <p:cond delay="3020"/>
                            </p:stCondLst>
                            <p:childTnLst>
                              <p:par>
                                <p:cTn id="200" presetID="2" presetClass="entr" presetSubtype="8"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 calcmode="lin" valueType="num">
                                      <p:cBhvr additive="base">
                                        <p:cTn id="202" dur="500" fill="hold"/>
                                        <p:tgtEl>
                                          <p:spTgt spid="43"/>
                                        </p:tgtEl>
                                        <p:attrNameLst>
                                          <p:attrName>ppt_x</p:attrName>
                                        </p:attrNameLst>
                                      </p:cBhvr>
                                      <p:tavLst>
                                        <p:tav tm="0">
                                          <p:val>
                                            <p:strVal val="0-#ppt_w/2"/>
                                          </p:val>
                                        </p:tav>
                                        <p:tav tm="100000">
                                          <p:val>
                                            <p:strVal val="#ppt_x"/>
                                          </p:val>
                                        </p:tav>
                                      </p:tavLst>
                                    </p:anim>
                                    <p:animEffect transition="in" filter="fade">
                                      <p:cBhvr>
                                        <p:cTn id="203" dur="500"/>
                                        <p:tgtEl>
                                          <p:spTgt spid="43"/>
                                        </p:tgtEl>
                                      </p:cBhvr>
                                    </p:animEffect>
                                  </p:childTnLst>
                                </p:cTn>
                              </p:par>
                            </p:childTnLst>
                          </p:cTn>
                        </p:par>
                        <p:par>
                          <p:cTn id="204" fill="hold">
                            <p:stCondLst>
                              <p:cond delay="3140"/>
                            </p:stCondLst>
                            <p:childTnLst>
                              <p:par>
                                <p:cTn id="205" presetID="2" presetClass="entr" presetSubtype="8"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 calcmode="lin" valueType="num">
                                      <p:cBhvr additive="base">
                                        <p:cTn id="207" dur="500" fill="hold"/>
                                        <p:tgtEl>
                                          <p:spTgt spid="44"/>
                                        </p:tgtEl>
                                        <p:attrNameLst>
                                          <p:attrName>ppt_x</p:attrName>
                                        </p:attrNameLst>
                                      </p:cBhvr>
                                      <p:tavLst>
                                        <p:tav tm="0">
                                          <p:val>
                                            <p:strVal val="0-#ppt_w/2"/>
                                          </p:val>
                                        </p:tav>
                                        <p:tav tm="100000">
                                          <p:val>
                                            <p:strVal val="#ppt_x"/>
                                          </p:val>
                                        </p:tav>
                                      </p:tavLst>
                                    </p:anim>
                                    <p:animEffect transition="in" filter="fade">
                                      <p:cBhvr>
                                        <p:cTn id="208" dur="500"/>
                                        <p:tgtEl>
                                          <p:spTgt spid="44"/>
                                        </p:tgtEl>
                                      </p:cBhvr>
                                    </p:animEffect>
                                  </p:childTnLst>
                                </p:cTn>
                              </p:par>
                            </p:childTnLst>
                          </p:cTn>
                        </p:par>
                        <p:par>
                          <p:cTn id="209" fill="hold">
                            <p:stCondLst>
                              <p:cond delay="3260"/>
                            </p:stCondLst>
                            <p:childTnLst>
                              <p:par>
                                <p:cTn id="210" presetID="2" presetClass="entr" presetSubtype="8"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 calcmode="lin" valueType="num">
                                      <p:cBhvr additive="base">
                                        <p:cTn id="212" dur="500" fill="hold"/>
                                        <p:tgtEl>
                                          <p:spTgt spid="45"/>
                                        </p:tgtEl>
                                        <p:attrNameLst>
                                          <p:attrName>ppt_x</p:attrName>
                                        </p:attrNameLst>
                                      </p:cBhvr>
                                      <p:tavLst>
                                        <p:tav tm="0">
                                          <p:val>
                                            <p:strVal val="0-#ppt_w/2"/>
                                          </p:val>
                                        </p:tav>
                                        <p:tav tm="100000">
                                          <p:val>
                                            <p:strVal val="#ppt_x"/>
                                          </p:val>
                                        </p:tav>
                                      </p:tavLst>
                                    </p:anim>
                                    <p:animEffect transition="in" filter="fade">
                                      <p:cBhvr>
                                        <p:cTn id="213" dur="500"/>
                                        <p:tgtEl>
                                          <p:spTgt spid="45"/>
                                        </p:tgtEl>
                                      </p:cBhvr>
                                    </p:animEffect>
                                  </p:childTnLst>
                                </p:cTn>
                              </p:par>
                            </p:childTnLst>
                          </p:cTn>
                        </p:par>
                        <p:par>
                          <p:cTn id="214" fill="hold">
                            <p:stCondLst>
                              <p:cond delay="3340"/>
                            </p:stCondLst>
                            <p:childTnLst>
                              <p:par>
                                <p:cTn id="215" presetID="2" presetClass="entr" presetSubtype="4"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 calcmode="lin" valueType="num">
                                      <p:cBhvr additive="base">
                                        <p:cTn id="217" dur="500" fill="hold"/>
                                        <p:tgtEl>
                                          <p:spTgt spid="46"/>
                                        </p:tgtEl>
                                        <p:attrNameLst>
                                          <p:attrName>ppt_y</p:attrName>
                                        </p:attrNameLst>
                                      </p:cBhvr>
                                      <p:tavLst>
                                        <p:tav tm="0">
                                          <p:val>
                                            <p:strVal val="1+#ppt_h/2"/>
                                          </p:val>
                                        </p:tav>
                                        <p:tav tm="100000">
                                          <p:val>
                                            <p:strVal val="#ppt_y"/>
                                          </p:val>
                                        </p:tav>
                                      </p:tavLst>
                                    </p:anim>
                                    <p:animEffect transition="in" filter="fade">
                                      <p:cBhvr>
                                        <p:cTn id="218" dur="500"/>
                                        <p:tgtEl>
                                          <p:spTgt spid="46"/>
                                        </p:tgtEl>
                                      </p:cBhvr>
                                    </p:animEffect>
                                  </p:childTnLst>
                                </p:cTn>
                              </p:par>
                            </p:childTnLst>
                          </p:cTn>
                        </p:par>
                        <p:par>
                          <p:cTn id="219" fill="hold">
                            <p:stCondLst>
                              <p:cond delay="3420"/>
                            </p:stCondLst>
                            <p:childTnLst>
                              <p:par>
                                <p:cTn id="220" presetID="2" presetClass="entr" presetSubtype="4"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 calcmode="lin" valueType="num">
                                      <p:cBhvr additive="base">
                                        <p:cTn id="222" dur="500" fill="hold"/>
                                        <p:tgtEl>
                                          <p:spTgt spid="47"/>
                                        </p:tgtEl>
                                        <p:attrNameLst>
                                          <p:attrName>ppt_y</p:attrName>
                                        </p:attrNameLst>
                                      </p:cBhvr>
                                      <p:tavLst>
                                        <p:tav tm="0">
                                          <p:val>
                                            <p:strVal val="1+#ppt_h/2"/>
                                          </p:val>
                                        </p:tav>
                                        <p:tav tm="100000">
                                          <p:val>
                                            <p:strVal val="#ppt_y"/>
                                          </p:val>
                                        </p:tav>
                                      </p:tavLst>
                                    </p:anim>
                                    <p:animEffect transition="in" filter="fade">
                                      <p:cBhvr>
                                        <p:cTn id="223" dur="500"/>
                                        <p:tgtEl>
                                          <p:spTgt spid="47"/>
                                        </p:tgtEl>
                                      </p:cBhvr>
                                    </p:animEffect>
                                  </p:childTnLst>
                                </p:cTn>
                              </p:par>
                            </p:childTnLst>
                          </p:cTn>
                        </p:par>
                        <p:par>
                          <p:cTn id="224" fill="hold">
                            <p:stCondLst>
                              <p:cond delay="3900"/>
                            </p:stCondLst>
                            <p:childTnLst>
                              <p:par>
                                <p:cTn id="225" presetID="2" presetClass="entr" presetSubtype="8"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 calcmode="lin" valueType="num">
                                      <p:cBhvr additive="base">
                                        <p:cTn id="227" dur="500" fill="hold"/>
                                        <p:tgtEl>
                                          <p:spTgt spid="48"/>
                                        </p:tgtEl>
                                        <p:attrNameLst>
                                          <p:attrName>ppt_x</p:attrName>
                                        </p:attrNameLst>
                                      </p:cBhvr>
                                      <p:tavLst>
                                        <p:tav tm="0">
                                          <p:val>
                                            <p:strVal val="0-#ppt_w/2"/>
                                          </p:val>
                                        </p:tav>
                                        <p:tav tm="100000">
                                          <p:val>
                                            <p:strVal val="#ppt_x"/>
                                          </p:val>
                                        </p:tav>
                                      </p:tavLst>
                                    </p:anim>
                                    <p:animEffect transition="in" filter="fade">
                                      <p:cBhvr>
                                        <p:cTn id="228" dur="500"/>
                                        <p:tgtEl>
                                          <p:spTgt spid="48"/>
                                        </p:tgtEl>
                                      </p:cBhvr>
                                    </p:animEffect>
                                  </p:childTnLst>
                                </p:cTn>
                              </p:par>
                            </p:childTnLst>
                          </p:cTn>
                        </p:par>
                        <p:par>
                          <p:cTn id="229" fill="hold">
                            <p:stCondLst>
                              <p:cond delay="4050"/>
                            </p:stCondLst>
                            <p:childTnLst>
                              <p:par>
                                <p:cTn id="230" presetID="2" presetClass="entr" presetSubtype="4"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 calcmode="lin" valueType="num">
                                      <p:cBhvr additive="base">
                                        <p:cTn id="232" dur="500" fill="hold"/>
                                        <p:tgtEl>
                                          <p:spTgt spid="49"/>
                                        </p:tgtEl>
                                        <p:attrNameLst>
                                          <p:attrName>ppt_y</p:attrName>
                                        </p:attrNameLst>
                                      </p:cBhvr>
                                      <p:tavLst>
                                        <p:tav tm="0">
                                          <p:val>
                                            <p:strVal val="1+#ppt_h/2"/>
                                          </p:val>
                                        </p:tav>
                                        <p:tav tm="100000">
                                          <p:val>
                                            <p:strVal val="#ppt_y"/>
                                          </p:val>
                                        </p:tav>
                                      </p:tavLst>
                                    </p:anim>
                                    <p:animEffect transition="in" filter="fade">
                                      <p:cBhvr>
                                        <p:cTn id="233" dur="500"/>
                                        <p:tgtEl>
                                          <p:spTgt spid="49"/>
                                        </p:tgtEl>
                                      </p:cBhvr>
                                    </p:animEffect>
                                  </p:childTnLst>
                                </p:cTn>
                              </p:par>
                            </p:childTnLst>
                          </p:cTn>
                        </p:par>
                        <p:par>
                          <p:cTn id="234" fill="hold">
                            <p:stCondLst>
                              <p:cond delay="4050"/>
                            </p:stCondLst>
                            <p:childTnLst>
                              <p:par>
                                <p:cTn id="235" presetID="2" presetClass="entr" presetSubtype="4"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 calcmode="lin" valueType="num">
                                      <p:cBhvr additive="base">
                                        <p:cTn id="237" dur="500" fill="hold"/>
                                        <p:tgtEl>
                                          <p:spTgt spid="50"/>
                                        </p:tgtEl>
                                        <p:attrNameLst>
                                          <p:attrName>ppt_y</p:attrName>
                                        </p:attrNameLst>
                                      </p:cBhvr>
                                      <p:tavLst>
                                        <p:tav tm="0">
                                          <p:val>
                                            <p:strVal val="1+#ppt_h/2"/>
                                          </p:val>
                                        </p:tav>
                                        <p:tav tm="100000">
                                          <p:val>
                                            <p:strVal val="#ppt_y"/>
                                          </p:val>
                                        </p:tav>
                                      </p:tavLst>
                                    </p:anim>
                                    <p:animEffect transition="in" filter="fade">
                                      <p:cBhvr>
                                        <p:cTn id="238" dur="500"/>
                                        <p:tgtEl>
                                          <p:spTgt spid="50"/>
                                        </p:tgtEl>
                                      </p:cBhvr>
                                    </p:animEffect>
                                  </p:childTnLst>
                                </p:cTn>
                              </p:par>
                            </p:childTnLst>
                          </p:cTn>
                        </p:par>
                        <p:par>
                          <p:cTn id="239" fill="hold">
                            <p:stCondLst>
                              <p:cond delay="4050"/>
                            </p:stCondLst>
                            <p:childTnLst>
                              <p:par>
                                <p:cTn id="240" presetID="2" presetClass="entr" presetSubtype="4"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 calcmode="lin" valueType="num">
                                      <p:cBhvr additive="base">
                                        <p:cTn id="242" dur="500" fill="hold"/>
                                        <p:tgtEl>
                                          <p:spTgt spid="51"/>
                                        </p:tgtEl>
                                        <p:attrNameLst>
                                          <p:attrName>ppt_y</p:attrName>
                                        </p:attrNameLst>
                                      </p:cBhvr>
                                      <p:tavLst>
                                        <p:tav tm="0">
                                          <p:val>
                                            <p:strVal val="1+#ppt_h/2"/>
                                          </p:val>
                                        </p:tav>
                                        <p:tav tm="100000">
                                          <p:val>
                                            <p:strVal val="#ppt_y"/>
                                          </p:val>
                                        </p:tav>
                                      </p:tavLst>
                                    </p:anim>
                                    <p:animEffect transition="in" filter="fade">
                                      <p:cBhvr>
                                        <p:cTn id="243" dur="500"/>
                                        <p:tgtEl>
                                          <p:spTgt spid="51"/>
                                        </p:tgtEl>
                                      </p:cBhvr>
                                    </p:animEffect>
                                  </p:childTnLst>
                                </p:cTn>
                              </p:par>
                            </p:childTnLst>
                          </p:cTn>
                        </p:par>
                        <p:par>
                          <p:cTn id="244" fill="hold">
                            <p:stCondLst>
                              <p:cond delay="4050"/>
                            </p:stCondLst>
                            <p:childTnLst>
                              <p:par>
                                <p:cTn id="245" presetID="2" presetClass="entr" presetSubtype="4"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 calcmode="lin" valueType="num">
                                      <p:cBhvr additive="base">
                                        <p:cTn id="247" dur="500" fill="hold"/>
                                        <p:tgtEl>
                                          <p:spTgt spid="52"/>
                                        </p:tgtEl>
                                        <p:attrNameLst>
                                          <p:attrName>ppt_y</p:attrName>
                                        </p:attrNameLst>
                                      </p:cBhvr>
                                      <p:tavLst>
                                        <p:tav tm="0">
                                          <p:val>
                                            <p:strVal val="1+#ppt_h/2"/>
                                          </p:val>
                                        </p:tav>
                                        <p:tav tm="100000">
                                          <p:val>
                                            <p:strVal val="#ppt_y"/>
                                          </p:val>
                                        </p:tav>
                                      </p:tavLst>
                                    </p:anim>
                                    <p:animEffect transition="in" filter="fade">
                                      <p:cBhvr>
                                        <p:cTn id="248" dur="500"/>
                                        <p:tgtEl>
                                          <p:spTgt spid="52"/>
                                        </p:tgtEl>
                                      </p:cBhvr>
                                    </p:animEffect>
                                  </p:childTnLst>
                                </p:cTn>
                              </p:par>
                            </p:childTnLst>
                          </p:cTn>
                        </p:par>
                        <p:par>
                          <p:cTn id="249" fill="hold">
                            <p:stCondLst>
                              <p:cond delay="4250"/>
                            </p:stCondLst>
                            <p:childTnLst>
                              <p:par>
                                <p:cTn id="250" presetID="2" presetClass="entr" presetSubtype="8"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 calcmode="lin" valueType="num">
                                      <p:cBhvr additive="base">
                                        <p:cTn id="252" dur="500" fill="hold"/>
                                        <p:tgtEl>
                                          <p:spTgt spid="53"/>
                                        </p:tgtEl>
                                        <p:attrNameLst>
                                          <p:attrName>ppt_x</p:attrName>
                                        </p:attrNameLst>
                                      </p:cBhvr>
                                      <p:tavLst>
                                        <p:tav tm="0">
                                          <p:val>
                                            <p:strVal val="0-#ppt_w/2"/>
                                          </p:val>
                                        </p:tav>
                                        <p:tav tm="100000">
                                          <p:val>
                                            <p:strVal val="#ppt_x"/>
                                          </p:val>
                                        </p:tav>
                                      </p:tavLst>
                                    </p:anim>
                                    <p:animEffect transition="in" filter="fade">
                                      <p:cBhvr>
                                        <p:cTn id="253" dur="500"/>
                                        <p:tgtEl>
                                          <p:spTgt spid="53"/>
                                        </p:tgtEl>
                                      </p:cBhvr>
                                    </p:animEffect>
                                  </p:childTnLst>
                                </p:cTn>
                              </p:par>
                            </p:childTnLst>
                          </p:cTn>
                        </p:par>
                        <p:par>
                          <p:cTn id="254" fill="hold">
                            <p:stCondLst>
                              <p:cond delay="4350"/>
                            </p:stCondLst>
                            <p:childTnLst>
                              <p:par>
                                <p:cTn id="255" presetID="2" presetClass="entr" presetSubtype="8"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 calcmode="lin" valueType="num">
                                      <p:cBhvr additive="base">
                                        <p:cTn id="257" dur="500" fill="hold"/>
                                        <p:tgtEl>
                                          <p:spTgt spid="54"/>
                                        </p:tgtEl>
                                        <p:attrNameLst>
                                          <p:attrName>ppt_x</p:attrName>
                                        </p:attrNameLst>
                                      </p:cBhvr>
                                      <p:tavLst>
                                        <p:tav tm="0">
                                          <p:val>
                                            <p:strVal val="0-#ppt_w/2"/>
                                          </p:val>
                                        </p:tav>
                                        <p:tav tm="100000">
                                          <p:val>
                                            <p:strVal val="#ppt_x"/>
                                          </p:val>
                                        </p:tav>
                                      </p:tavLst>
                                    </p:anim>
                                    <p:animEffect transition="in" filter="fade">
                                      <p:cBhvr>
                                        <p:cTn id="258" dur="500"/>
                                        <p:tgtEl>
                                          <p:spTgt spid="54"/>
                                        </p:tgtEl>
                                      </p:cBhvr>
                                    </p:animEffect>
                                  </p:childTnLst>
                                </p:cTn>
                              </p:par>
                            </p:childTnLst>
                          </p:cTn>
                        </p:par>
                        <p:par>
                          <p:cTn id="259" fill="hold">
                            <p:stCondLst>
                              <p:cond delay="4540"/>
                            </p:stCondLst>
                            <p:childTnLst>
                              <p:par>
                                <p:cTn id="260" presetID="2" presetClass="entr" presetSubtype="8"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 calcmode="lin" valueType="num">
                                      <p:cBhvr additive="base">
                                        <p:cTn id="262" dur="500" fill="hold"/>
                                        <p:tgtEl>
                                          <p:spTgt spid="55"/>
                                        </p:tgtEl>
                                        <p:attrNameLst>
                                          <p:attrName>ppt_x</p:attrName>
                                        </p:attrNameLst>
                                      </p:cBhvr>
                                      <p:tavLst>
                                        <p:tav tm="0">
                                          <p:val>
                                            <p:strVal val="0-#ppt_w/2"/>
                                          </p:val>
                                        </p:tav>
                                        <p:tav tm="100000">
                                          <p:val>
                                            <p:strVal val="#ppt_x"/>
                                          </p:val>
                                        </p:tav>
                                      </p:tavLst>
                                    </p:anim>
                                    <p:animEffect transition="in" filter="fade">
                                      <p:cBhvr>
                                        <p:cTn id="263" dur="500"/>
                                        <p:tgtEl>
                                          <p:spTgt spid="55"/>
                                        </p:tgtEl>
                                      </p:cBhvr>
                                    </p:animEffect>
                                  </p:childTnLst>
                                </p:cTn>
                              </p:par>
                            </p:childTnLst>
                          </p:cTn>
                        </p:par>
                        <p:par>
                          <p:cTn id="264" fill="hold">
                            <p:stCondLst>
                              <p:cond delay="4630"/>
                            </p:stCondLst>
                            <p:childTnLst>
                              <p:par>
                                <p:cTn id="265" presetID="2" presetClass="entr" presetSubtype="8"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 calcmode="lin" valueType="num">
                                      <p:cBhvr additive="base">
                                        <p:cTn id="267" dur="500" fill="hold"/>
                                        <p:tgtEl>
                                          <p:spTgt spid="56"/>
                                        </p:tgtEl>
                                        <p:attrNameLst>
                                          <p:attrName>ppt_x</p:attrName>
                                        </p:attrNameLst>
                                      </p:cBhvr>
                                      <p:tavLst>
                                        <p:tav tm="0">
                                          <p:val>
                                            <p:strVal val="0-#ppt_w/2"/>
                                          </p:val>
                                        </p:tav>
                                        <p:tav tm="100000">
                                          <p:val>
                                            <p:strVal val="#ppt_x"/>
                                          </p:val>
                                        </p:tav>
                                      </p:tavLst>
                                    </p:anim>
                                    <p:animEffect transition="in" filter="fade">
                                      <p:cBhvr>
                                        <p:cTn id="268" dur="500"/>
                                        <p:tgtEl>
                                          <p:spTgt spid="56"/>
                                        </p:tgtEl>
                                      </p:cBhvr>
                                    </p:animEffect>
                                  </p:childTnLst>
                                </p:cTn>
                              </p:par>
                            </p:childTnLst>
                          </p:cTn>
                        </p:par>
                        <p:par>
                          <p:cTn id="269" fill="hold">
                            <p:stCondLst>
                              <p:cond delay="4720"/>
                            </p:stCondLst>
                            <p:childTnLst>
                              <p:par>
                                <p:cTn id="270" presetID="2" presetClass="entr" presetSubtype="8"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 calcmode="lin" valueType="num">
                                      <p:cBhvr additive="base">
                                        <p:cTn id="272" dur="500" fill="hold"/>
                                        <p:tgtEl>
                                          <p:spTgt spid="57"/>
                                        </p:tgtEl>
                                        <p:attrNameLst>
                                          <p:attrName>ppt_x</p:attrName>
                                        </p:attrNameLst>
                                      </p:cBhvr>
                                      <p:tavLst>
                                        <p:tav tm="0">
                                          <p:val>
                                            <p:strVal val="0-#ppt_w/2"/>
                                          </p:val>
                                        </p:tav>
                                        <p:tav tm="100000">
                                          <p:val>
                                            <p:strVal val="#ppt_x"/>
                                          </p:val>
                                        </p:tav>
                                      </p:tavLst>
                                    </p:anim>
                                    <p:animEffect transition="in" filter="fade">
                                      <p:cBhvr>
                                        <p:cTn id="273" dur="500"/>
                                        <p:tgtEl>
                                          <p:spTgt spid="57"/>
                                        </p:tgtEl>
                                      </p:cBhvr>
                                    </p:animEffect>
                                  </p:childTnLst>
                                </p:cTn>
                              </p:par>
                            </p:childTnLst>
                          </p:cTn>
                        </p:par>
                        <p:par>
                          <p:cTn id="274" fill="hold">
                            <p:stCondLst>
                              <p:cond delay="4770"/>
                            </p:stCondLst>
                            <p:childTnLst>
                              <p:par>
                                <p:cTn id="275" presetID="2" presetClass="entr" presetSubtype="2" fill="hold" nodeType="withEffect">
                                  <p:stCondLst>
                                    <p:cond delay="0"/>
                                  </p:stCondLst>
                                  <p:childTnLst>
                                    <p:set>
                                      <p:cBhvr>
                                        <p:cTn id="276" dur="1" fill="hold">
                                          <p:stCondLst>
                                            <p:cond delay="0"/>
                                          </p:stCondLst>
                                        </p:cTn>
                                        <p:tgtEl>
                                          <p:spTgt spid="58"/>
                                        </p:tgtEl>
                                        <p:attrNameLst>
                                          <p:attrName>style.visibility</p:attrName>
                                        </p:attrNameLst>
                                      </p:cBhvr>
                                      <p:to>
                                        <p:strVal val="visible"/>
                                      </p:to>
                                    </p:set>
                                    <p:anim calcmode="lin" valueType="num">
                                      <p:cBhvr additive="base">
                                        <p:cTn id="277" dur="500" fill="hold"/>
                                        <p:tgtEl>
                                          <p:spTgt spid="58"/>
                                        </p:tgtEl>
                                        <p:attrNameLst>
                                          <p:attrName>ppt_x</p:attrName>
                                        </p:attrNameLst>
                                      </p:cBhvr>
                                      <p:tavLst>
                                        <p:tav tm="0">
                                          <p:val>
                                            <p:strVal val="1+#ppt_w/2"/>
                                          </p:val>
                                        </p:tav>
                                        <p:tav tm="100000">
                                          <p:val>
                                            <p:strVal val="#ppt_x"/>
                                          </p:val>
                                        </p:tav>
                                      </p:tavLst>
                                    </p:anim>
                                    <p:animEffect transition="in" filter="fade">
                                      <p:cBhvr>
                                        <p:cTn id="278" dur="500"/>
                                        <p:tgtEl>
                                          <p:spTgt spid="58"/>
                                        </p:tgtEl>
                                      </p:cBhvr>
                                    </p:animEffect>
                                  </p:childTnLst>
                                </p:cTn>
                              </p:par>
                            </p:childTnLst>
                          </p:cTn>
                        </p:par>
                        <p:par>
                          <p:cTn id="279" fill="hold">
                            <p:stCondLst>
                              <p:cond delay="4870"/>
                            </p:stCondLst>
                            <p:childTnLst>
                              <p:par>
                                <p:cTn id="280" presetID="2" presetClass="entr" presetSubtype="8" fill="hold" nodeType="withEffect">
                                  <p:stCondLst>
                                    <p:cond delay="0"/>
                                  </p:stCondLst>
                                  <p:childTnLst>
                                    <p:set>
                                      <p:cBhvr>
                                        <p:cTn id="281" dur="1" fill="hold">
                                          <p:stCondLst>
                                            <p:cond delay="0"/>
                                          </p:stCondLst>
                                        </p:cTn>
                                        <p:tgtEl>
                                          <p:spTgt spid="59"/>
                                        </p:tgtEl>
                                        <p:attrNameLst>
                                          <p:attrName>style.visibility</p:attrName>
                                        </p:attrNameLst>
                                      </p:cBhvr>
                                      <p:to>
                                        <p:strVal val="visible"/>
                                      </p:to>
                                    </p:set>
                                    <p:anim calcmode="lin" valueType="num">
                                      <p:cBhvr additive="base">
                                        <p:cTn id="282" dur="500" fill="hold"/>
                                        <p:tgtEl>
                                          <p:spTgt spid="59"/>
                                        </p:tgtEl>
                                        <p:attrNameLst>
                                          <p:attrName>ppt_x</p:attrName>
                                        </p:attrNameLst>
                                      </p:cBhvr>
                                      <p:tavLst>
                                        <p:tav tm="0">
                                          <p:val>
                                            <p:strVal val="0-#ppt_w/2"/>
                                          </p:val>
                                        </p:tav>
                                        <p:tav tm="100000">
                                          <p:val>
                                            <p:strVal val="#ppt_x"/>
                                          </p:val>
                                        </p:tav>
                                      </p:tavLst>
                                    </p:anim>
                                    <p:animEffect transition="in" filter="fade">
                                      <p:cBhvr>
                                        <p:cTn id="283" dur="500"/>
                                        <p:tgtEl>
                                          <p:spTgt spid="59"/>
                                        </p:tgtEl>
                                      </p:cBhvr>
                                    </p:animEffect>
                                  </p:childTnLst>
                                </p:cTn>
                              </p:par>
                            </p:childTnLst>
                          </p:cTn>
                        </p:par>
                        <p:par>
                          <p:cTn id="284" fill="hold">
                            <p:stCondLst>
                              <p:cond delay="4970"/>
                            </p:stCondLst>
                            <p:childTnLst>
                              <p:par>
                                <p:cTn id="285" presetID="2" presetClass="entr" presetSubtype="8" fill="hold" nodeType="withEffect">
                                  <p:stCondLst>
                                    <p:cond delay="0"/>
                                  </p:stCondLst>
                                  <p:childTnLst>
                                    <p:set>
                                      <p:cBhvr>
                                        <p:cTn id="286" dur="1" fill="hold">
                                          <p:stCondLst>
                                            <p:cond delay="0"/>
                                          </p:stCondLst>
                                        </p:cTn>
                                        <p:tgtEl>
                                          <p:spTgt spid="60"/>
                                        </p:tgtEl>
                                        <p:attrNameLst>
                                          <p:attrName>style.visibility</p:attrName>
                                        </p:attrNameLst>
                                      </p:cBhvr>
                                      <p:to>
                                        <p:strVal val="visible"/>
                                      </p:to>
                                    </p:set>
                                    <p:anim calcmode="lin" valueType="num">
                                      <p:cBhvr additive="base">
                                        <p:cTn id="287" dur="500" fill="hold"/>
                                        <p:tgtEl>
                                          <p:spTgt spid="60"/>
                                        </p:tgtEl>
                                        <p:attrNameLst>
                                          <p:attrName>ppt_x</p:attrName>
                                        </p:attrNameLst>
                                      </p:cBhvr>
                                      <p:tavLst>
                                        <p:tav tm="0">
                                          <p:val>
                                            <p:strVal val="0-#ppt_w/2"/>
                                          </p:val>
                                        </p:tav>
                                        <p:tav tm="100000">
                                          <p:val>
                                            <p:strVal val="#ppt_x"/>
                                          </p:val>
                                        </p:tav>
                                      </p:tavLst>
                                    </p:anim>
                                    <p:animEffect transition="in" filter="fade">
                                      <p:cBhvr>
                                        <p:cTn id="288" dur="500"/>
                                        <p:tgtEl>
                                          <p:spTgt spid="60"/>
                                        </p:tgtEl>
                                      </p:cBhvr>
                                    </p:animEffect>
                                  </p:childTnLst>
                                </p:cTn>
                              </p:par>
                            </p:childTnLst>
                          </p:cTn>
                        </p:par>
                        <p:par>
                          <p:cTn id="289" fill="hold">
                            <p:stCondLst>
                              <p:cond delay="5160"/>
                            </p:stCondLst>
                            <p:childTnLst>
                              <p:par>
                                <p:cTn id="290" presetID="2" presetClass="entr" presetSubtype="8" fill="hold" nodeType="withEffect">
                                  <p:stCondLst>
                                    <p:cond delay="0"/>
                                  </p:stCondLst>
                                  <p:childTnLst>
                                    <p:set>
                                      <p:cBhvr>
                                        <p:cTn id="291" dur="1" fill="hold">
                                          <p:stCondLst>
                                            <p:cond delay="0"/>
                                          </p:stCondLst>
                                        </p:cTn>
                                        <p:tgtEl>
                                          <p:spTgt spid="61"/>
                                        </p:tgtEl>
                                        <p:attrNameLst>
                                          <p:attrName>style.visibility</p:attrName>
                                        </p:attrNameLst>
                                      </p:cBhvr>
                                      <p:to>
                                        <p:strVal val="visible"/>
                                      </p:to>
                                    </p:set>
                                    <p:anim calcmode="lin" valueType="num">
                                      <p:cBhvr additive="base">
                                        <p:cTn id="292" dur="500" fill="hold"/>
                                        <p:tgtEl>
                                          <p:spTgt spid="61"/>
                                        </p:tgtEl>
                                        <p:attrNameLst>
                                          <p:attrName>ppt_x</p:attrName>
                                        </p:attrNameLst>
                                      </p:cBhvr>
                                      <p:tavLst>
                                        <p:tav tm="0">
                                          <p:val>
                                            <p:strVal val="0-#ppt_w/2"/>
                                          </p:val>
                                        </p:tav>
                                        <p:tav tm="100000">
                                          <p:val>
                                            <p:strVal val="#ppt_x"/>
                                          </p:val>
                                        </p:tav>
                                      </p:tavLst>
                                    </p:anim>
                                    <p:animEffect transition="in" filter="fade">
                                      <p:cBhvr>
                                        <p:cTn id="293" dur="500"/>
                                        <p:tgtEl>
                                          <p:spTgt spid="61"/>
                                        </p:tgtEl>
                                      </p:cBhvr>
                                    </p:animEffect>
                                  </p:childTnLst>
                                </p:cTn>
                              </p:par>
                            </p:childTnLst>
                          </p:cTn>
                        </p:par>
                        <p:par>
                          <p:cTn id="294" fill="hold">
                            <p:stCondLst>
                              <p:cond delay="5250"/>
                            </p:stCondLst>
                            <p:childTnLst>
                              <p:par>
                                <p:cTn id="295" presetID="2" presetClass="entr" presetSubtype="8" fill="hold" nodeType="withEffect">
                                  <p:stCondLst>
                                    <p:cond delay="0"/>
                                  </p:stCondLst>
                                  <p:childTnLst>
                                    <p:set>
                                      <p:cBhvr>
                                        <p:cTn id="296" dur="1" fill="hold">
                                          <p:stCondLst>
                                            <p:cond delay="0"/>
                                          </p:stCondLst>
                                        </p:cTn>
                                        <p:tgtEl>
                                          <p:spTgt spid="62"/>
                                        </p:tgtEl>
                                        <p:attrNameLst>
                                          <p:attrName>style.visibility</p:attrName>
                                        </p:attrNameLst>
                                      </p:cBhvr>
                                      <p:to>
                                        <p:strVal val="visible"/>
                                      </p:to>
                                    </p:set>
                                    <p:anim calcmode="lin" valueType="num">
                                      <p:cBhvr additive="base">
                                        <p:cTn id="297" dur="500" fill="hold"/>
                                        <p:tgtEl>
                                          <p:spTgt spid="62"/>
                                        </p:tgtEl>
                                        <p:attrNameLst>
                                          <p:attrName>ppt_x</p:attrName>
                                        </p:attrNameLst>
                                      </p:cBhvr>
                                      <p:tavLst>
                                        <p:tav tm="0">
                                          <p:val>
                                            <p:strVal val="0-#ppt_w/2"/>
                                          </p:val>
                                        </p:tav>
                                        <p:tav tm="100000">
                                          <p:val>
                                            <p:strVal val="#ppt_x"/>
                                          </p:val>
                                        </p:tav>
                                      </p:tavLst>
                                    </p:anim>
                                    <p:animEffect transition="in" filter="fade">
                                      <p:cBhvr>
                                        <p:cTn id="298" dur="500"/>
                                        <p:tgtEl>
                                          <p:spTgt spid="62"/>
                                        </p:tgtEl>
                                      </p:cBhvr>
                                    </p:animEffect>
                                  </p:childTnLst>
                                </p:cTn>
                              </p:par>
                            </p:childTnLst>
                          </p:cTn>
                        </p:par>
                        <p:par>
                          <p:cTn id="299" fill="hold">
                            <p:stCondLst>
                              <p:cond delay="5340"/>
                            </p:stCondLst>
                            <p:childTnLst>
                              <p:par>
                                <p:cTn id="300" presetID="2" presetClass="entr" presetSubtype="8" fill="hold" nodeType="withEffect">
                                  <p:stCondLst>
                                    <p:cond delay="0"/>
                                  </p:stCondLst>
                                  <p:childTnLst>
                                    <p:set>
                                      <p:cBhvr>
                                        <p:cTn id="301" dur="1" fill="hold">
                                          <p:stCondLst>
                                            <p:cond delay="0"/>
                                          </p:stCondLst>
                                        </p:cTn>
                                        <p:tgtEl>
                                          <p:spTgt spid="63"/>
                                        </p:tgtEl>
                                        <p:attrNameLst>
                                          <p:attrName>style.visibility</p:attrName>
                                        </p:attrNameLst>
                                      </p:cBhvr>
                                      <p:to>
                                        <p:strVal val="visible"/>
                                      </p:to>
                                    </p:set>
                                    <p:anim calcmode="lin" valueType="num">
                                      <p:cBhvr additive="base">
                                        <p:cTn id="302" dur="500" fill="hold"/>
                                        <p:tgtEl>
                                          <p:spTgt spid="63"/>
                                        </p:tgtEl>
                                        <p:attrNameLst>
                                          <p:attrName>ppt_x</p:attrName>
                                        </p:attrNameLst>
                                      </p:cBhvr>
                                      <p:tavLst>
                                        <p:tav tm="0">
                                          <p:val>
                                            <p:strVal val="0-#ppt_w/2"/>
                                          </p:val>
                                        </p:tav>
                                        <p:tav tm="100000">
                                          <p:val>
                                            <p:strVal val="#ppt_x"/>
                                          </p:val>
                                        </p:tav>
                                      </p:tavLst>
                                    </p:anim>
                                    <p:animEffect transition="in" filter="fade">
                                      <p:cBhvr>
                                        <p:cTn id="303" dur="500"/>
                                        <p:tgtEl>
                                          <p:spTgt spid="63"/>
                                        </p:tgtEl>
                                      </p:cBhvr>
                                    </p:animEffect>
                                  </p:childTnLst>
                                </p:cTn>
                              </p:par>
                            </p:childTnLst>
                          </p:cTn>
                        </p:par>
                        <p:par>
                          <p:cTn id="304" fill="hold">
                            <p:stCondLst>
                              <p:cond delay="5390"/>
                            </p:stCondLst>
                            <p:childTnLst>
                              <p:par>
                                <p:cTn id="305" presetID="2" presetClass="entr" presetSubtype="2" fill="hold" nodeType="withEffect">
                                  <p:stCondLst>
                                    <p:cond delay="0"/>
                                  </p:stCondLst>
                                  <p:childTnLst>
                                    <p:set>
                                      <p:cBhvr>
                                        <p:cTn id="306" dur="1" fill="hold">
                                          <p:stCondLst>
                                            <p:cond delay="0"/>
                                          </p:stCondLst>
                                        </p:cTn>
                                        <p:tgtEl>
                                          <p:spTgt spid="64"/>
                                        </p:tgtEl>
                                        <p:attrNameLst>
                                          <p:attrName>style.visibility</p:attrName>
                                        </p:attrNameLst>
                                      </p:cBhvr>
                                      <p:to>
                                        <p:strVal val="visible"/>
                                      </p:to>
                                    </p:set>
                                    <p:anim calcmode="lin" valueType="num">
                                      <p:cBhvr additive="base">
                                        <p:cTn id="307" dur="500" fill="hold"/>
                                        <p:tgtEl>
                                          <p:spTgt spid="64"/>
                                        </p:tgtEl>
                                        <p:attrNameLst>
                                          <p:attrName>ppt_x</p:attrName>
                                        </p:attrNameLst>
                                      </p:cBhvr>
                                      <p:tavLst>
                                        <p:tav tm="0">
                                          <p:val>
                                            <p:strVal val="1+#ppt_w/2"/>
                                          </p:val>
                                        </p:tav>
                                        <p:tav tm="100000">
                                          <p:val>
                                            <p:strVal val="#ppt_x"/>
                                          </p:val>
                                        </p:tav>
                                      </p:tavLst>
                                    </p:anim>
                                    <p:animEffect transition="in" filter="fade">
                                      <p:cBhvr>
                                        <p:cTn id="308" dur="500"/>
                                        <p:tgtEl>
                                          <p:spTgt spid="64"/>
                                        </p:tgtEl>
                                      </p:cBhvr>
                                    </p:animEffect>
                                  </p:childTnLst>
                                </p:cTn>
                              </p:par>
                            </p:childTnLst>
                          </p:cTn>
                        </p:par>
                        <p:par>
                          <p:cTn id="309" fill="hold">
                            <p:stCondLst>
                              <p:cond delay="5490"/>
                            </p:stCondLst>
                            <p:childTnLst>
                              <p:par>
                                <p:cTn id="310" presetID="2" presetClass="entr" presetSubtype="8" fill="hold" nodeType="withEffect">
                                  <p:stCondLst>
                                    <p:cond delay="0"/>
                                  </p:stCondLst>
                                  <p:childTnLst>
                                    <p:set>
                                      <p:cBhvr>
                                        <p:cTn id="311" dur="1" fill="hold">
                                          <p:stCondLst>
                                            <p:cond delay="0"/>
                                          </p:stCondLst>
                                        </p:cTn>
                                        <p:tgtEl>
                                          <p:spTgt spid="65"/>
                                        </p:tgtEl>
                                        <p:attrNameLst>
                                          <p:attrName>style.visibility</p:attrName>
                                        </p:attrNameLst>
                                      </p:cBhvr>
                                      <p:to>
                                        <p:strVal val="visible"/>
                                      </p:to>
                                    </p:set>
                                    <p:anim calcmode="lin" valueType="num">
                                      <p:cBhvr additive="base">
                                        <p:cTn id="312" dur="500" fill="hold"/>
                                        <p:tgtEl>
                                          <p:spTgt spid="65"/>
                                        </p:tgtEl>
                                        <p:attrNameLst>
                                          <p:attrName>ppt_x</p:attrName>
                                        </p:attrNameLst>
                                      </p:cBhvr>
                                      <p:tavLst>
                                        <p:tav tm="0">
                                          <p:val>
                                            <p:strVal val="0-#ppt_w/2"/>
                                          </p:val>
                                        </p:tav>
                                        <p:tav tm="100000">
                                          <p:val>
                                            <p:strVal val="#ppt_x"/>
                                          </p:val>
                                        </p:tav>
                                      </p:tavLst>
                                    </p:anim>
                                    <p:animEffect transition="in" filter="fade">
                                      <p:cBhvr>
                                        <p:cTn id="313" dur="500"/>
                                        <p:tgtEl>
                                          <p:spTgt spid="65"/>
                                        </p:tgtEl>
                                      </p:cBhvr>
                                    </p:animEffect>
                                  </p:childTnLst>
                                </p:cTn>
                              </p:par>
                            </p:childTnLst>
                          </p:cTn>
                        </p:par>
                        <p:par>
                          <p:cTn id="314" fill="hold">
                            <p:stCondLst>
                              <p:cond delay="5590"/>
                            </p:stCondLst>
                            <p:childTnLst>
                              <p:par>
                                <p:cTn id="315" presetID="2" presetClass="entr" presetSubtype="8" fill="hold" nodeType="withEffect">
                                  <p:stCondLst>
                                    <p:cond delay="0"/>
                                  </p:stCondLst>
                                  <p:childTnLst>
                                    <p:set>
                                      <p:cBhvr>
                                        <p:cTn id="316" dur="1" fill="hold">
                                          <p:stCondLst>
                                            <p:cond delay="0"/>
                                          </p:stCondLst>
                                        </p:cTn>
                                        <p:tgtEl>
                                          <p:spTgt spid="66"/>
                                        </p:tgtEl>
                                        <p:attrNameLst>
                                          <p:attrName>style.visibility</p:attrName>
                                        </p:attrNameLst>
                                      </p:cBhvr>
                                      <p:to>
                                        <p:strVal val="visible"/>
                                      </p:to>
                                    </p:set>
                                    <p:anim calcmode="lin" valueType="num">
                                      <p:cBhvr additive="base">
                                        <p:cTn id="317" dur="500" fill="hold"/>
                                        <p:tgtEl>
                                          <p:spTgt spid="66"/>
                                        </p:tgtEl>
                                        <p:attrNameLst>
                                          <p:attrName>ppt_x</p:attrName>
                                        </p:attrNameLst>
                                      </p:cBhvr>
                                      <p:tavLst>
                                        <p:tav tm="0">
                                          <p:val>
                                            <p:strVal val="0-#ppt_w/2"/>
                                          </p:val>
                                        </p:tav>
                                        <p:tav tm="100000">
                                          <p:val>
                                            <p:strVal val="#ppt_x"/>
                                          </p:val>
                                        </p:tav>
                                      </p:tavLst>
                                    </p:anim>
                                    <p:animEffect transition="in" filter="fade">
                                      <p:cBhvr>
                                        <p:cTn id="318" dur="500"/>
                                        <p:tgtEl>
                                          <p:spTgt spid="66"/>
                                        </p:tgtEl>
                                      </p:cBhvr>
                                    </p:animEffect>
                                  </p:childTnLst>
                                </p:cTn>
                              </p:par>
                            </p:childTnLst>
                          </p:cTn>
                        </p:par>
                        <p:par>
                          <p:cTn id="319" fill="hold">
                            <p:stCondLst>
                              <p:cond delay="5780"/>
                            </p:stCondLst>
                            <p:childTnLst>
                              <p:par>
                                <p:cTn id="320" presetID="2" presetClass="entr" presetSubtype="8" fill="hold" nodeType="withEffect">
                                  <p:stCondLst>
                                    <p:cond delay="0"/>
                                  </p:stCondLst>
                                  <p:childTnLst>
                                    <p:set>
                                      <p:cBhvr>
                                        <p:cTn id="321" dur="1" fill="hold">
                                          <p:stCondLst>
                                            <p:cond delay="0"/>
                                          </p:stCondLst>
                                        </p:cTn>
                                        <p:tgtEl>
                                          <p:spTgt spid="67"/>
                                        </p:tgtEl>
                                        <p:attrNameLst>
                                          <p:attrName>style.visibility</p:attrName>
                                        </p:attrNameLst>
                                      </p:cBhvr>
                                      <p:to>
                                        <p:strVal val="visible"/>
                                      </p:to>
                                    </p:set>
                                    <p:anim calcmode="lin" valueType="num">
                                      <p:cBhvr additive="base">
                                        <p:cTn id="322" dur="500" fill="hold"/>
                                        <p:tgtEl>
                                          <p:spTgt spid="67"/>
                                        </p:tgtEl>
                                        <p:attrNameLst>
                                          <p:attrName>ppt_x</p:attrName>
                                        </p:attrNameLst>
                                      </p:cBhvr>
                                      <p:tavLst>
                                        <p:tav tm="0">
                                          <p:val>
                                            <p:strVal val="0-#ppt_w/2"/>
                                          </p:val>
                                        </p:tav>
                                        <p:tav tm="100000">
                                          <p:val>
                                            <p:strVal val="#ppt_x"/>
                                          </p:val>
                                        </p:tav>
                                      </p:tavLst>
                                    </p:anim>
                                    <p:animEffect transition="in" filter="fade">
                                      <p:cBhvr>
                                        <p:cTn id="323" dur="500"/>
                                        <p:tgtEl>
                                          <p:spTgt spid="67"/>
                                        </p:tgtEl>
                                      </p:cBhvr>
                                    </p:animEffect>
                                  </p:childTnLst>
                                </p:cTn>
                              </p:par>
                            </p:childTnLst>
                          </p:cTn>
                        </p:par>
                        <p:par>
                          <p:cTn id="324" fill="hold">
                            <p:stCondLst>
                              <p:cond delay="5870"/>
                            </p:stCondLst>
                            <p:childTnLst>
                              <p:par>
                                <p:cTn id="325" presetID="2" presetClass="entr" presetSubtype="8" fill="hold" nodeType="withEffect">
                                  <p:stCondLst>
                                    <p:cond delay="0"/>
                                  </p:stCondLst>
                                  <p:childTnLst>
                                    <p:set>
                                      <p:cBhvr>
                                        <p:cTn id="326" dur="1" fill="hold">
                                          <p:stCondLst>
                                            <p:cond delay="0"/>
                                          </p:stCondLst>
                                        </p:cTn>
                                        <p:tgtEl>
                                          <p:spTgt spid="68"/>
                                        </p:tgtEl>
                                        <p:attrNameLst>
                                          <p:attrName>style.visibility</p:attrName>
                                        </p:attrNameLst>
                                      </p:cBhvr>
                                      <p:to>
                                        <p:strVal val="visible"/>
                                      </p:to>
                                    </p:set>
                                    <p:anim calcmode="lin" valueType="num">
                                      <p:cBhvr additive="base">
                                        <p:cTn id="327" dur="500" fill="hold"/>
                                        <p:tgtEl>
                                          <p:spTgt spid="68"/>
                                        </p:tgtEl>
                                        <p:attrNameLst>
                                          <p:attrName>ppt_x</p:attrName>
                                        </p:attrNameLst>
                                      </p:cBhvr>
                                      <p:tavLst>
                                        <p:tav tm="0">
                                          <p:val>
                                            <p:strVal val="0-#ppt_w/2"/>
                                          </p:val>
                                        </p:tav>
                                        <p:tav tm="100000">
                                          <p:val>
                                            <p:strVal val="#ppt_x"/>
                                          </p:val>
                                        </p:tav>
                                      </p:tavLst>
                                    </p:anim>
                                    <p:animEffect transition="in" filter="fade">
                                      <p:cBhvr>
                                        <p:cTn id="328" dur="500"/>
                                        <p:tgtEl>
                                          <p:spTgt spid="68"/>
                                        </p:tgtEl>
                                      </p:cBhvr>
                                    </p:animEffect>
                                  </p:childTnLst>
                                </p:cTn>
                              </p:par>
                            </p:childTnLst>
                          </p:cTn>
                        </p:par>
                        <p:par>
                          <p:cTn id="329" fill="hold">
                            <p:stCondLst>
                              <p:cond delay="5960"/>
                            </p:stCondLst>
                            <p:childTnLst>
                              <p:par>
                                <p:cTn id="330" presetID="2" presetClass="entr" presetSubtype="8" fill="hold" nodeType="withEffect">
                                  <p:stCondLst>
                                    <p:cond delay="0"/>
                                  </p:stCondLst>
                                  <p:childTnLst>
                                    <p:set>
                                      <p:cBhvr>
                                        <p:cTn id="331" dur="1" fill="hold">
                                          <p:stCondLst>
                                            <p:cond delay="0"/>
                                          </p:stCondLst>
                                        </p:cTn>
                                        <p:tgtEl>
                                          <p:spTgt spid="69"/>
                                        </p:tgtEl>
                                        <p:attrNameLst>
                                          <p:attrName>style.visibility</p:attrName>
                                        </p:attrNameLst>
                                      </p:cBhvr>
                                      <p:to>
                                        <p:strVal val="visible"/>
                                      </p:to>
                                    </p:set>
                                    <p:anim calcmode="lin" valueType="num">
                                      <p:cBhvr additive="base">
                                        <p:cTn id="332" dur="500" fill="hold"/>
                                        <p:tgtEl>
                                          <p:spTgt spid="69"/>
                                        </p:tgtEl>
                                        <p:attrNameLst>
                                          <p:attrName>ppt_x</p:attrName>
                                        </p:attrNameLst>
                                      </p:cBhvr>
                                      <p:tavLst>
                                        <p:tav tm="0">
                                          <p:val>
                                            <p:strVal val="0-#ppt_w/2"/>
                                          </p:val>
                                        </p:tav>
                                        <p:tav tm="100000">
                                          <p:val>
                                            <p:strVal val="#ppt_x"/>
                                          </p:val>
                                        </p:tav>
                                      </p:tavLst>
                                    </p:anim>
                                    <p:animEffect transition="in" filter="fade">
                                      <p:cBhvr>
                                        <p:cTn id="333" dur="500"/>
                                        <p:tgtEl>
                                          <p:spTgt spid="69"/>
                                        </p:tgtEl>
                                      </p:cBhvr>
                                    </p:animEffect>
                                  </p:childTnLst>
                                </p:cTn>
                              </p:par>
                            </p:childTnLst>
                          </p:cTn>
                        </p:par>
                        <p:par>
                          <p:cTn id="334" fill="hold">
                            <p:stCondLst>
                              <p:cond delay="6010"/>
                            </p:stCondLst>
                            <p:childTnLst>
                              <p:par>
                                <p:cTn id="335" presetID="2" presetClass="entr" presetSubtype="2" fill="hold" nodeType="withEffect">
                                  <p:stCondLst>
                                    <p:cond delay="0"/>
                                  </p:stCondLst>
                                  <p:childTnLst>
                                    <p:set>
                                      <p:cBhvr>
                                        <p:cTn id="336" dur="1" fill="hold">
                                          <p:stCondLst>
                                            <p:cond delay="0"/>
                                          </p:stCondLst>
                                        </p:cTn>
                                        <p:tgtEl>
                                          <p:spTgt spid="70"/>
                                        </p:tgtEl>
                                        <p:attrNameLst>
                                          <p:attrName>style.visibility</p:attrName>
                                        </p:attrNameLst>
                                      </p:cBhvr>
                                      <p:to>
                                        <p:strVal val="visible"/>
                                      </p:to>
                                    </p:set>
                                    <p:anim calcmode="lin" valueType="num">
                                      <p:cBhvr additive="base">
                                        <p:cTn id="337" dur="500" fill="hold"/>
                                        <p:tgtEl>
                                          <p:spTgt spid="70"/>
                                        </p:tgtEl>
                                        <p:attrNameLst>
                                          <p:attrName>ppt_x</p:attrName>
                                        </p:attrNameLst>
                                      </p:cBhvr>
                                      <p:tavLst>
                                        <p:tav tm="0">
                                          <p:val>
                                            <p:strVal val="1+#ppt_w/2"/>
                                          </p:val>
                                        </p:tav>
                                        <p:tav tm="100000">
                                          <p:val>
                                            <p:strVal val="#ppt_x"/>
                                          </p:val>
                                        </p:tav>
                                      </p:tavLst>
                                    </p:anim>
                                    <p:animEffect transition="in" filter="fade">
                                      <p:cBhvr>
                                        <p:cTn id="338" dur="500"/>
                                        <p:tgtEl>
                                          <p:spTgt spid="70"/>
                                        </p:tgtEl>
                                      </p:cBhvr>
                                    </p:animEffect>
                                  </p:childTnLst>
                                </p:cTn>
                              </p:par>
                            </p:childTnLst>
                          </p:cTn>
                        </p:par>
                        <p:par>
                          <p:cTn id="339" fill="hold">
                            <p:stCondLst>
                              <p:cond delay="6360"/>
                            </p:stCondLst>
                            <p:childTnLst>
                              <p:par>
                                <p:cTn id="340" presetID="2" presetClass="entr" presetSubtype="2" fill="hold" nodeType="withEffect">
                                  <p:stCondLst>
                                    <p:cond delay="0"/>
                                  </p:stCondLst>
                                  <p:childTnLst>
                                    <p:set>
                                      <p:cBhvr>
                                        <p:cTn id="341" dur="1" fill="hold">
                                          <p:stCondLst>
                                            <p:cond delay="0"/>
                                          </p:stCondLst>
                                        </p:cTn>
                                        <p:tgtEl>
                                          <p:spTgt spid="71"/>
                                        </p:tgtEl>
                                        <p:attrNameLst>
                                          <p:attrName>style.visibility</p:attrName>
                                        </p:attrNameLst>
                                      </p:cBhvr>
                                      <p:to>
                                        <p:strVal val="visible"/>
                                      </p:to>
                                    </p:set>
                                    <p:anim calcmode="lin" valueType="num">
                                      <p:cBhvr additive="base">
                                        <p:cTn id="342" dur="500" fill="hold"/>
                                        <p:tgtEl>
                                          <p:spTgt spid="71"/>
                                        </p:tgtEl>
                                        <p:attrNameLst>
                                          <p:attrName>ppt_x</p:attrName>
                                        </p:attrNameLst>
                                      </p:cBhvr>
                                      <p:tavLst>
                                        <p:tav tm="0">
                                          <p:val>
                                            <p:strVal val="1+#ppt_w/2"/>
                                          </p:val>
                                        </p:tav>
                                        <p:tav tm="100000">
                                          <p:val>
                                            <p:strVal val="#ppt_x"/>
                                          </p:val>
                                        </p:tav>
                                      </p:tavLst>
                                    </p:anim>
                                    <p:animEffect transition="in" filter="fade">
                                      <p:cBhvr>
                                        <p:cTn id="343" dur="500"/>
                                        <p:tgtEl>
                                          <p:spTgt spid="71"/>
                                        </p:tgtEl>
                                      </p:cBhvr>
                                    </p:animEffect>
                                  </p:childTnLst>
                                </p:cTn>
                              </p:par>
                            </p:childTnLst>
                          </p:cTn>
                        </p:par>
                        <p:par>
                          <p:cTn id="344" fill="hold">
                            <p:stCondLst>
                              <p:cond delay="6510"/>
                            </p:stCondLst>
                            <p:childTnLst>
                              <p:par>
                                <p:cTn id="345" presetID="2" presetClass="entr" presetSubtype="2" fill="hold" nodeType="withEffect">
                                  <p:stCondLst>
                                    <p:cond delay="0"/>
                                  </p:stCondLst>
                                  <p:childTnLst>
                                    <p:set>
                                      <p:cBhvr>
                                        <p:cTn id="346" dur="1" fill="hold">
                                          <p:stCondLst>
                                            <p:cond delay="0"/>
                                          </p:stCondLst>
                                        </p:cTn>
                                        <p:tgtEl>
                                          <p:spTgt spid="72"/>
                                        </p:tgtEl>
                                        <p:attrNameLst>
                                          <p:attrName>style.visibility</p:attrName>
                                        </p:attrNameLst>
                                      </p:cBhvr>
                                      <p:to>
                                        <p:strVal val="visible"/>
                                      </p:to>
                                    </p:set>
                                    <p:anim calcmode="lin" valueType="num">
                                      <p:cBhvr additive="base">
                                        <p:cTn id="347" dur="500" fill="hold"/>
                                        <p:tgtEl>
                                          <p:spTgt spid="72"/>
                                        </p:tgtEl>
                                        <p:attrNameLst>
                                          <p:attrName>ppt_x</p:attrName>
                                        </p:attrNameLst>
                                      </p:cBhvr>
                                      <p:tavLst>
                                        <p:tav tm="0">
                                          <p:val>
                                            <p:strVal val="1+#ppt_w/2"/>
                                          </p:val>
                                        </p:tav>
                                        <p:tav tm="100000">
                                          <p:val>
                                            <p:strVal val="#ppt_x"/>
                                          </p:val>
                                        </p:tav>
                                      </p:tavLst>
                                    </p:anim>
                                    <p:animEffect transition="in" filter="fade">
                                      <p:cBhvr>
                                        <p:cTn id="348" dur="500"/>
                                        <p:tgtEl>
                                          <p:spTgt spid="72"/>
                                        </p:tgtEl>
                                      </p:cBhvr>
                                    </p:animEffect>
                                  </p:childTnLst>
                                </p:cTn>
                              </p:par>
                            </p:childTnLst>
                          </p:cTn>
                        </p:par>
                        <p:par>
                          <p:cTn id="349" fill="hold">
                            <p:stCondLst>
                              <p:cond delay="6680"/>
                            </p:stCondLst>
                            <p:childTnLst>
                              <p:par>
                                <p:cTn id="350" presetID="2" presetClass="entr" presetSubtype="4" fill="hold" nodeType="withEffect">
                                  <p:stCondLst>
                                    <p:cond delay="0"/>
                                  </p:stCondLst>
                                  <p:childTnLst>
                                    <p:set>
                                      <p:cBhvr>
                                        <p:cTn id="351" dur="1" fill="hold">
                                          <p:stCondLst>
                                            <p:cond delay="0"/>
                                          </p:stCondLst>
                                        </p:cTn>
                                        <p:tgtEl>
                                          <p:spTgt spid="73"/>
                                        </p:tgtEl>
                                        <p:attrNameLst>
                                          <p:attrName>style.visibility</p:attrName>
                                        </p:attrNameLst>
                                      </p:cBhvr>
                                      <p:to>
                                        <p:strVal val="visible"/>
                                      </p:to>
                                    </p:set>
                                    <p:anim calcmode="lin" valueType="num">
                                      <p:cBhvr additive="base">
                                        <p:cTn id="352" dur="500" fill="hold"/>
                                        <p:tgtEl>
                                          <p:spTgt spid="73"/>
                                        </p:tgtEl>
                                        <p:attrNameLst>
                                          <p:attrName>ppt_y</p:attrName>
                                        </p:attrNameLst>
                                      </p:cBhvr>
                                      <p:tavLst>
                                        <p:tav tm="0">
                                          <p:val>
                                            <p:strVal val="1+#ppt_h/2"/>
                                          </p:val>
                                        </p:tav>
                                        <p:tav tm="100000">
                                          <p:val>
                                            <p:strVal val="#ppt_y"/>
                                          </p:val>
                                        </p:tav>
                                      </p:tavLst>
                                    </p:anim>
                                    <p:animEffect transition="in" filter="fade">
                                      <p:cBhvr>
                                        <p:cTn id="353" dur="500"/>
                                        <p:tgtEl>
                                          <p:spTgt spid="73"/>
                                        </p:tgtEl>
                                      </p:cBhvr>
                                    </p:animEffect>
                                  </p:childTnLst>
                                </p:cTn>
                              </p:par>
                            </p:childTnLst>
                          </p:cTn>
                        </p:par>
                        <p:par>
                          <p:cTn id="354" fill="hold">
                            <p:stCondLst>
                              <p:cond delay="6800"/>
                            </p:stCondLst>
                            <p:childTnLst>
                              <p:par>
                                <p:cTn id="355" presetID="2" presetClass="entr" presetSubtype="2" fill="hold" nodeType="withEffect">
                                  <p:stCondLst>
                                    <p:cond delay="0"/>
                                  </p:stCondLst>
                                  <p:childTnLst>
                                    <p:set>
                                      <p:cBhvr>
                                        <p:cTn id="356" dur="1" fill="hold">
                                          <p:stCondLst>
                                            <p:cond delay="0"/>
                                          </p:stCondLst>
                                        </p:cTn>
                                        <p:tgtEl>
                                          <p:spTgt spid="74"/>
                                        </p:tgtEl>
                                        <p:attrNameLst>
                                          <p:attrName>style.visibility</p:attrName>
                                        </p:attrNameLst>
                                      </p:cBhvr>
                                      <p:to>
                                        <p:strVal val="visible"/>
                                      </p:to>
                                    </p:set>
                                    <p:anim calcmode="lin" valueType="num">
                                      <p:cBhvr additive="base">
                                        <p:cTn id="357" dur="500" fill="hold"/>
                                        <p:tgtEl>
                                          <p:spTgt spid="74"/>
                                        </p:tgtEl>
                                        <p:attrNameLst>
                                          <p:attrName>ppt_x</p:attrName>
                                        </p:attrNameLst>
                                      </p:cBhvr>
                                      <p:tavLst>
                                        <p:tav tm="0">
                                          <p:val>
                                            <p:strVal val="1+#ppt_w/2"/>
                                          </p:val>
                                        </p:tav>
                                        <p:tav tm="100000">
                                          <p:val>
                                            <p:strVal val="#ppt_x"/>
                                          </p:val>
                                        </p:tav>
                                      </p:tavLst>
                                    </p:anim>
                                    <p:animEffect transition="in" filter="fade">
                                      <p:cBhvr>
                                        <p:cTn id="358" dur="500"/>
                                        <p:tgtEl>
                                          <p:spTgt spid="74"/>
                                        </p:tgtEl>
                                      </p:cBhvr>
                                    </p:animEffect>
                                  </p:childTnLst>
                                </p:cTn>
                              </p:par>
                            </p:childTnLst>
                          </p:cTn>
                        </p:par>
                        <p:par>
                          <p:cTn id="359" fill="hold">
                            <p:stCondLst>
                              <p:cond delay="6960"/>
                            </p:stCondLst>
                            <p:childTnLst>
                              <p:par>
                                <p:cTn id="360" presetID="2" presetClass="entr" presetSubtype="4" fill="hold" nodeType="withEffect">
                                  <p:stCondLst>
                                    <p:cond delay="0"/>
                                  </p:stCondLst>
                                  <p:childTnLst>
                                    <p:set>
                                      <p:cBhvr>
                                        <p:cTn id="361" dur="1" fill="hold">
                                          <p:stCondLst>
                                            <p:cond delay="0"/>
                                          </p:stCondLst>
                                        </p:cTn>
                                        <p:tgtEl>
                                          <p:spTgt spid="75"/>
                                        </p:tgtEl>
                                        <p:attrNameLst>
                                          <p:attrName>style.visibility</p:attrName>
                                        </p:attrNameLst>
                                      </p:cBhvr>
                                      <p:to>
                                        <p:strVal val="visible"/>
                                      </p:to>
                                    </p:set>
                                    <p:anim calcmode="lin" valueType="num">
                                      <p:cBhvr additive="base">
                                        <p:cTn id="362" dur="500" fill="hold"/>
                                        <p:tgtEl>
                                          <p:spTgt spid="75"/>
                                        </p:tgtEl>
                                        <p:attrNameLst>
                                          <p:attrName>ppt_y</p:attrName>
                                        </p:attrNameLst>
                                      </p:cBhvr>
                                      <p:tavLst>
                                        <p:tav tm="0">
                                          <p:val>
                                            <p:strVal val="1+#ppt_h/2"/>
                                          </p:val>
                                        </p:tav>
                                        <p:tav tm="100000">
                                          <p:val>
                                            <p:strVal val="#ppt_y"/>
                                          </p:val>
                                        </p:tav>
                                      </p:tavLst>
                                    </p:anim>
                                    <p:animEffect transition="in" filter="fade">
                                      <p:cBhvr>
                                        <p:cTn id="363" dur="500"/>
                                        <p:tgtEl>
                                          <p:spTgt spid="75"/>
                                        </p:tgtEl>
                                      </p:cBhvr>
                                    </p:animEffect>
                                  </p:childTnLst>
                                </p:cTn>
                              </p:par>
                            </p:childTnLst>
                          </p:cTn>
                        </p:par>
                        <p:par>
                          <p:cTn id="364" fill="hold">
                            <p:stCondLst>
                              <p:cond delay="7360"/>
                            </p:stCondLst>
                            <p:childTnLst>
                              <p:par>
                                <p:cTn id="365" presetID="2" presetClass="entr" presetSubtype="4" fill="hold" nodeType="withEffect">
                                  <p:stCondLst>
                                    <p:cond delay="0"/>
                                  </p:stCondLst>
                                  <p:childTnLst>
                                    <p:set>
                                      <p:cBhvr>
                                        <p:cTn id="366" dur="1" fill="hold">
                                          <p:stCondLst>
                                            <p:cond delay="0"/>
                                          </p:stCondLst>
                                        </p:cTn>
                                        <p:tgtEl>
                                          <p:spTgt spid="76"/>
                                        </p:tgtEl>
                                        <p:attrNameLst>
                                          <p:attrName>style.visibility</p:attrName>
                                        </p:attrNameLst>
                                      </p:cBhvr>
                                      <p:to>
                                        <p:strVal val="visible"/>
                                      </p:to>
                                    </p:set>
                                    <p:anim calcmode="lin" valueType="num">
                                      <p:cBhvr additive="base">
                                        <p:cTn id="367" dur="500" fill="hold"/>
                                        <p:tgtEl>
                                          <p:spTgt spid="76"/>
                                        </p:tgtEl>
                                        <p:attrNameLst>
                                          <p:attrName>ppt_y</p:attrName>
                                        </p:attrNameLst>
                                      </p:cBhvr>
                                      <p:tavLst>
                                        <p:tav tm="0">
                                          <p:val>
                                            <p:strVal val="1+#ppt_h/2"/>
                                          </p:val>
                                        </p:tav>
                                        <p:tav tm="100000">
                                          <p:val>
                                            <p:strVal val="#ppt_y"/>
                                          </p:val>
                                        </p:tav>
                                      </p:tavLst>
                                    </p:anim>
                                    <p:animEffect transition="in" filter="fade">
                                      <p:cBhvr>
                                        <p:cTn id="368" dur="500"/>
                                        <p:tgtEl>
                                          <p:spTgt spid="76"/>
                                        </p:tgtEl>
                                      </p:cBhvr>
                                    </p:animEffect>
                                  </p:childTnLst>
                                </p:cTn>
                              </p:par>
                            </p:childTnLst>
                          </p:cTn>
                        </p:par>
                        <p:par>
                          <p:cTn id="369" fill="hold">
                            <p:stCondLst>
                              <p:cond delay="7510"/>
                            </p:stCondLst>
                            <p:childTnLst>
                              <p:par>
                                <p:cTn id="370" presetID="2" presetClass="entr" presetSubtype="4" fill="hold" nodeType="withEffect">
                                  <p:stCondLst>
                                    <p:cond delay="0"/>
                                  </p:stCondLst>
                                  <p:childTnLst>
                                    <p:set>
                                      <p:cBhvr>
                                        <p:cTn id="371" dur="1" fill="hold">
                                          <p:stCondLst>
                                            <p:cond delay="0"/>
                                          </p:stCondLst>
                                        </p:cTn>
                                        <p:tgtEl>
                                          <p:spTgt spid="77"/>
                                        </p:tgtEl>
                                        <p:attrNameLst>
                                          <p:attrName>style.visibility</p:attrName>
                                        </p:attrNameLst>
                                      </p:cBhvr>
                                      <p:to>
                                        <p:strVal val="visible"/>
                                      </p:to>
                                    </p:set>
                                    <p:anim calcmode="lin" valueType="num">
                                      <p:cBhvr additive="base">
                                        <p:cTn id="372" dur="500" fill="hold"/>
                                        <p:tgtEl>
                                          <p:spTgt spid="77"/>
                                        </p:tgtEl>
                                        <p:attrNameLst>
                                          <p:attrName>ppt_y</p:attrName>
                                        </p:attrNameLst>
                                      </p:cBhvr>
                                      <p:tavLst>
                                        <p:tav tm="0">
                                          <p:val>
                                            <p:strVal val="1+#ppt_h/2"/>
                                          </p:val>
                                        </p:tav>
                                        <p:tav tm="100000">
                                          <p:val>
                                            <p:strVal val="#ppt_y"/>
                                          </p:val>
                                        </p:tav>
                                      </p:tavLst>
                                    </p:anim>
                                    <p:animEffect transition="in" filter="fade">
                                      <p:cBhvr>
                                        <p:cTn id="373" dur="500"/>
                                        <p:tgtEl>
                                          <p:spTgt spid="77"/>
                                        </p:tgtEl>
                                      </p:cBhvr>
                                    </p:animEffect>
                                  </p:childTnLst>
                                </p:cTn>
                              </p:par>
                            </p:childTnLst>
                          </p:cTn>
                        </p:par>
                        <p:par>
                          <p:cTn id="374" fill="hold">
                            <p:stCondLst>
                              <p:cond delay="7640"/>
                            </p:stCondLst>
                            <p:childTnLst>
                              <p:par>
                                <p:cTn id="375" presetID="2" presetClass="entr" presetSubtype="4" fill="hold" nodeType="withEffect">
                                  <p:stCondLst>
                                    <p:cond delay="0"/>
                                  </p:stCondLst>
                                  <p:childTnLst>
                                    <p:set>
                                      <p:cBhvr>
                                        <p:cTn id="376" dur="1" fill="hold">
                                          <p:stCondLst>
                                            <p:cond delay="0"/>
                                          </p:stCondLst>
                                        </p:cTn>
                                        <p:tgtEl>
                                          <p:spTgt spid="78"/>
                                        </p:tgtEl>
                                        <p:attrNameLst>
                                          <p:attrName>style.visibility</p:attrName>
                                        </p:attrNameLst>
                                      </p:cBhvr>
                                      <p:to>
                                        <p:strVal val="visible"/>
                                      </p:to>
                                    </p:set>
                                    <p:anim calcmode="lin" valueType="num">
                                      <p:cBhvr additive="base">
                                        <p:cTn id="377" dur="500" fill="hold"/>
                                        <p:tgtEl>
                                          <p:spTgt spid="78"/>
                                        </p:tgtEl>
                                        <p:attrNameLst>
                                          <p:attrName>ppt_y</p:attrName>
                                        </p:attrNameLst>
                                      </p:cBhvr>
                                      <p:tavLst>
                                        <p:tav tm="0">
                                          <p:val>
                                            <p:strVal val="1+#ppt_h/2"/>
                                          </p:val>
                                        </p:tav>
                                        <p:tav tm="100000">
                                          <p:val>
                                            <p:strVal val="#ppt_y"/>
                                          </p:val>
                                        </p:tav>
                                      </p:tavLst>
                                    </p:anim>
                                    <p:animEffect transition="in" filter="fade">
                                      <p:cBhvr>
                                        <p:cTn id="37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1417320"/>
            <a:ext cx="7863840" cy="201168"/>
          </a:xfrm>
          <a:prstGeom prst="rect">
            <a:avLst/>
          </a:prstGeom>
          <a:noFill/>
        </p:spPr>
        <p:txBody>
          <a:bodyPr wrap="square" lIns="0" tIns="0" rIns="0" bIns="0">
            <a:spAutoFit/>
          </a:bodyPr>
          <a:lstStyle/>
          <a:p>
            <a:pPr algn="l">
              <a:lnSpc>
                <a:spcPct val="95000"/>
              </a:lnSpc>
            </a:pPr>
            <a:r>
              <a:rPr sz="900" b="1" spc="160">
                <a:solidFill>
                  <a:srgbClr val="5E9BEA"/>
                </a:solidFill>
                <a:latin typeface="Calibri"/>
              </a:rPr>
              <a:t>16   —   LIVE COMPUTATIONAL DEMONSTRATION</a:t>
            </a:r>
          </a:p>
        </p:txBody>
      </p:sp>
      <p:sp>
        <p:nvSpPr>
          <p:cNvPr id="4" name="TextBox 3"/>
          <p:cNvSpPr txBox="1"/>
          <p:nvPr/>
        </p:nvSpPr>
        <p:spPr>
          <a:xfrm>
            <a:off x="640080" y="1691640"/>
            <a:ext cx="7863840" cy="822960"/>
          </a:xfrm>
          <a:prstGeom prst="rect">
            <a:avLst/>
          </a:prstGeom>
          <a:noFill/>
        </p:spPr>
        <p:txBody>
          <a:bodyPr wrap="square" lIns="0" tIns="0" rIns="0" bIns="0">
            <a:spAutoFit/>
          </a:bodyPr>
          <a:lstStyle/>
          <a:p>
            <a:r>
              <a:rPr sz="2900" b="1">
                <a:solidFill>
                  <a:srgbClr val="FFFFFF"/>
                </a:solidFill>
                <a:latin typeface="Calibri"/>
              </a:rPr>
              <a:t>The analysis executed </a:t>
            </a:r>
            <a:r>
              <a:rPr sz="2900" b="1">
                <a:solidFill>
                  <a:srgbClr val="5E9BEA"/>
                </a:solidFill>
                <a:latin typeface="Calibri"/>
              </a:rPr>
              <a:t>in front of the examiners</a:t>
            </a:r>
          </a:p>
        </p:txBody>
      </p:sp>
      <p:sp>
        <p:nvSpPr>
          <p:cNvPr id="5" name="TextBox 4"/>
          <p:cNvSpPr txBox="1"/>
          <p:nvPr/>
        </p:nvSpPr>
        <p:spPr>
          <a:xfrm>
            <a:off x="640080" y="2697480"/>
            <a:ext cx="7498079" cy="640080"/>
          </a:xfrm>
          <a:prstGeom prst="rect">
            <a:avLst/>
          </a:prstGeom>
          <a:noFill/>
        </p:spPr>
        <p:txBody>
          <a:bodyPr wrap="square" lIns="0" tIns="0" rIns="0" bIns="0">
            <a:spAutoFit/>
          </a:bodyPr>
          <a:lstStyle/>
          <a:p>
            <a:pPr algn="l">
              <a:lnSpc>
                <a:spcPct val="95000"/>
              </a:lnSpc>
            </a:pPr>
            <a:r>
              <a:rPr sz="1050" b="0">
                <a:solidFill>
                  <a:srgbClr val="9AADC2"/>
                </a:solidFill>
                <a:latin typeface="Calibri"/>
              </a:rPr>
              <a:t>Each figure that follows is an unedited capture of the analysis pipeline in execution: the workbook is read, the regressions are fitted and the Monte Carlo is drawn while the audience watches. No output in this section is illustrative, pre-computed or reproduced by hand. The nine steps below are the program’s own execution sequence.</a:t>
            </a:r>
          </a:p>
        </p:txBody>
      </p:sp>
      <p:sp>
        <p:nvSpPr>
          <p:cNvPr id="6" name="TextBox 5"/>
          <p:cNvSpPr txBox="1"/>
          <p:nvPr/>
        </p:nvSpPr>
        <p:spPr>
          <a:xfrm>
            <a:off x="640080" y="3520440"/>
            <a:ext cx="1828800" cy="310896"/>
          </a:xfrm>
          <a:prstGeom prst="rect">
            <a:avLst/>
          </a:prstGeom>
          <a:noFill/>
        </p:spPr>
        <p:txBody>
          <a:bodyPr wrap="square" lIns="0" tIns="0" rIns="0" bIns="0">
            <a:spAutoFit/>
          </a:bodyPr>
          <a:lstStyle/>
          <a:p>
            <a:pPr algn="l">
              <a:lnSpc>
                <a:spcPct val="95000"/>
              </a:lnSpc>
            </a:pPr>
            <a:r>
              <a:rPr sz="2100" b="1">
                <a:solidFill>
                  <a:srgbClr val="FFFFFF"/>
                </a:solidFill>
                <a:latin typeface="Calibri"/>
              </a:rPr>
              <a:t>210,000</a:t>
            </a:r>
          </a:p>
        </p:txBody>
      </p:sp>
      <p:sp>
        <p:nvSpPr>
          <p:cNvPr id="7" name="TextBox 6"/>
          <p:cNvSpPr txBox="1"/>
          <p:nvPr/>
        </p:nvSpPr>
        <p:spPr>
          <a:xfrm>
            <a:off x="640080" y="3877056"/>
            <a:ext cx="1828800" cy="164592"/>
          </a:xfrm>
          <a:prstGeom prst="rect">
            <a:avLst/>
          </a:prstGeom>
          <a:noFill/>
        </p:spPr>
        <p:txBody>
          <a:bodyPr wrap="square" lIns="0" tIns="0" rIns="0" bIns="0">
            <a:spAutoFit/>
          </a:bodyPr>
          <a:lstStyle/>
          <a:p>
            <a:pPr algn="l">
              <a:lnSpc>
                <a:spcPct val="95000"/>
              </a:lnSpc>
            </a:pPr>
            <a:r>
              <a:rPr sz="800" b="1" spc="120">
                <a:solidFill>
                  <a:srgbClr val="7F93AB"/>
                </a:solidFill>
                <a:latin typeface="Calibri"/>
              </a:rPr>
              <a:t>observations ingested</a:t>
            </a:r>
          </a:p>
        </p:txBody>
      </p:sp>
      <p:sp>
        <p:nvSpPr>
          <p:cNvPr id="8" name="TextBox 7"/>
          <p:cNvSpPr txBox="1"/>
          <p:nvPr/>
        </p:nvSpPr>
        <p:spPr>
          <a:xfrm>
            <a:off x="2606039" y="3520440"/>
            <a:ext cx="1828800" cy="310896"/>
          </a:xfrm>
          <a:prstGeom prst="rect">
            <a:avLst/>
          </a:prstGeom>
          <a:noFill/>
        </p:spPr>
        <p:txBody>
          <a:bodyPr wrap="square" lIns="0" tIns="0" rIns="0" bIns="0">
            <a:spAutoFit/>
          </a:bodyPr>
          <a:lstStyle/>
          <a:p>
            <a:pPr algn="l">
              <a:lnSpc>
                <a:spcPct val="95000"/>
              </a:lnSpc>
            </a:pPr>
            <a:r>
              <a:rPr sz="2100" b="1">
                <a:solidFill>
                  <a:srgbClr val="FFFFFF"/>
                </a:solidFill>
                <a:latin typeface="Calibri"/>
              </a:rPr>
              <a:t>20</a:t>
            </a:r>
          </a:p>
        </p:txBody>
      </p:sp>
      <p:sp>
        <p:nvSpPr>
          <p:cNvPr id="9" name="TextBox 8"/>
          <p:cNvSpPr txBox="1"/>
          <p:nvPr/>
        </p:nvSpPr>
        <p:spPr>
          <a:xfrm>
            <a:off x="2606039" y="3877056"/>
            <a:ext cx="1828800" cy="164592"/>
          </a:xfrm>
          <a:prstGeom prst="rect">
            <a:avLst/>
          </a:prstGeom>
          <a:noFill/>
        </p:spPr>
        <p:txBody>
          <a:bodyPr wrap="square" lIns="0" tIns="0" rIns="0" bIns="0">
            <a:spAutoFit/>
          </a:bodyPr>
          <a:lstStyle/>
          <a:p>
            <a:pPr algn="l">
              <a:lnSpc>
                <a:spcPct val="95000"/>
              </a:lnSpc>
            </a:pPr>
            <a:r>
              <a:rPr sz="800" b="1" spc="120">
                <a:solidFill>
                  <a:srgbClr val="7F93AB"/>
                </a:solidFill>
                <a:latin typeface="Calibri"/>
              </a:rPr>
              <a:t>variants estimated</a:t>
            </a:r>
          </a:p>
        </p:txBody>
      </p:sp>
      <p:sp>
        <p:nvSpPr>
          <p:cNvPr id="10" name="TextBox 9"/>
          <p:cNvSpPr txBox="1"/>
          <p:nvPr/>
        </p:nvSpPr>
        <p:spPr>
          <a:xfrm>
            <a:off x="4572000" y="3520440"/>
            <a:ext cx="1828800" cy="310896"/>
          </a:xfrm>
          <a:prstGeom prst="rect">
            <a:avLst/>
          </a:prstGeom>
          <a:noFill/>
        </p:spPr>
        <p:txBody>
          <a:bodyPr wrap="square" lIns="0" tIns="0" rIns="0" bIns="0">
            <a:spAutoFit/>
          </a:bodyPr>
          <a:lstStyle/>
          <a:p>
            <a:pPr algn="l">
              <a:lnSpc>
                <a:spcPct val="95000"/>
              </a:lnSpc>
            </a:pPr>
            <a:r>
              <a:rPr sz="2100" b="1">
                <a:solidFill>
                  <a:srgbClr val="FFFFFF"/>
                </a:solidFill>
                <a:latin typeface="Calibri"/>
              </a:rPr>
              <a:t>0.91</a:t>
            </a:r>
          </a:p>
        </p:txBody>
      </p:sp>
      <p:sp>
        <p:nvSpPr>
          <p:cNvPr id="11" name="TextBox 10"/>
          <p:cNvSpPr txBox="1"/>
          <p:nvPr/>
        </p:nvSpPr>
        <p:spPr>
          <a:xfrm>
            <a:off x="4572000" y="3877056"/>
            <a:ext cx="1828800" cy="164592"/>
          </a:xfrm>
          <a:prstGeom prst="rect">
            <a:avLst/>
          </a:prstGeom>
          <a:noFill/>
        </p:spPr>
        <p:txBody>
          <a:bodyPr wrap="square" lIns="0" tIns="0" rIns="0" bIns="0">
            <a:spAutoFit/>
          </a:bodyPr>
          <a:lstStyle/>
          <a:p>
            <a:pPr algn="l">
              <a:lnSpc>
                <a:spcPct val="95000"/>
              </a:lnSpc>
            </a:pPr>
            <a:r>
              <a:rPr sz="800" b="1" spc="120">
                <a:solidFill>
                  <a:srgbClr val="7F93AB"/>
                </a:solidFill>
                <a:latin typeface="Calibri"/>
              </a:rPr>
              <a:t>discrimination (AUC)</a:t>
            </a:r>
          </a:p>
        </p:txBody>
      </p:sp>
      <p:sp>
        <p:nvSpPr>
          <p:cNvPr id="12" name="TextBox 11"/>
          <p:cNvSpPr txBox="1"/>
          <p:nvPr/>
        </p:nvSpPr>
        <p:spPr>
          <a:xfrm>
            <a:off x="6537959" y="3520440"/>
            <a:ext cx="1828800" cy="310896"/>
          </a:xfrm>
          <a:prstGeom prst="rect">
            <a:avLst/>
          </a:prstGeom>
          <a:noFill/>
        </p:spPr>
        <p:txBody>
          <a:bodyPr wrap="square" lIns="0" tIns="0" rIns="0" bIns="0">
            <a:spAutoFit/>
          </a:bodyPr>
          <a:lstStyle/>
          <a:p>
            <a:pPr algn="l">
              <a:lnSpc>
                <a:spcPct val="95000"/>
              </a:lnSpc>
            </a:pPr>
            <a:r>
              <a:rPr sz="2100" b="1">
                <a:solidFill>
                  <a:srgbClr val="FFFFFF"/>
                </a:solidFill>
                <a:latin typeface="Calibri"/>
              </a:rPr>
              <a:t>+72%</a:t>
            </a:r>
          </a:p>
        </p:txBody>
      </p:sp>
      <p:sp>
        <p:nvSpPr>
          <p:cNvPr id="13" name="TextBox 12"/>
          <p:cNvSpPr txBox="1"/>
          <p:nvPr/>
        </p:nvSpPr>
        <p:spPr>
          <a:xfrm>
            <a:off x="6537959" y="3877056"/>
            <a:ext cx="1828800" cy="164592"/>
          </a:xfrm>
          <a:prstGeom prst="rect">
            <a:avLst/>
          </a:prstGeom>
          <a:noFill/>
        </p:spPr>
        <p:txBody>
          <a:bodyPr wrap="square" lIns="0" tIns="0" rIns="0" bIns="0">
            <a:spAutoFit/>
          </a:bodyPr>
          <a:lstStyle/>
          <a:p>
            <a:pPr algn="l">
              <a:lnSpc>
                <a:spcPct val="95000"/>
              </a:lnSpc>
            </a:pPr>
            <a:r>
              <a:rPr sz="800" b="1" spc="120">
                <a:solidFill>
                  <a:srgbClr val="7F93AB"/>
                </a:solidFill>
                <a:latin typeface="Calibri"/>
              </a:rPr>
              <a:t>gain in approvals per $1bn</a:t>
            </a:r>
          </a:p>
        </p:txBody>
      </p:sp>
      <p:sp>
        <p:nvSpPr>
          <p:cNvPr id="14" name="Rectangle 13"/>
          <p:cNvSpPr/>
          <p:nvPr/>
        </p:nvSpPr>
        <p:spPr>
          <a:xfrm>
            <a:off x="640080" y="3401568"/>
            <a:ext cx="7863840" cy="10972"/>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 y="4663440"/>
            <a:ext cx="7863840" cy="182880"/>
          </a:xfrm>
          <a:prstGeom prst="rect">
            <a:avLst/>
          </a:prstGeom>
          <a:noFill/>
        </p:spPr>
        <p:txBody>
          <a:bodyPr wrap="square" lIns="0" tIns="0" rIns="0" bIns="0">
            <a:spAutoFit/>
          </a:bodyPr>
          <a:lstStyle/>
          <a:p>
            <a:pPr algn="l">
              <a:lnSpc>
                <a:spcPct val="95000"/>
              </a:lnSpc>
            </a:pPr>
            <a:r>
              <a:rPr sz="750" b="0">
                <a:solidFill>
                  <a:srgbClr val="60748B"/>
                </a:solidFill>
                <a:latin typeface="Calibri"/>
              </a:rPr>
              <a:t>Implementation: live_demo.py (presentation layer) · sim_core.py (analytical core) · verify_core.py (reproducibility check)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1 OF 9   ·   RESEARCH QUESTION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Scope, provenance and </a:t>
            </a:r>
            <a:r>
              <a:rPr sz="2500" b="1">
                <a:solidFill>
                  <a:srgbClr val="0B63CE"/>
                </a:solidFill>
                <a:latin typeface="Calibri"/>
              </a:rPr>
              <a:t>the question under test</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The execution opens by declaring the research question and the provenance of every input, before any result is produced.</a:t>
            </a:r>
          </a:p>
        </p:txBody>
      </p:sp>
      <p:sp>
        <p:nvSpPr>
          <p:cNvPr id="5" name="Rectangle 4"/>
          <p:cNvSpPr/>
          <p:nvPr/>
        </p:nvSpPr>
        <p:spPr>
          <a:xfrm>
            <a:off x="603503" y="1261872"/>
            <a:ext cx="5056632" cy="3214448"/>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1_question" descr="s01_question.png"/>
          <p:cNvPicPr>
            <a:picLocks noChangeAspect="1"/>
          </p:cNvPicPr>
          <p:nvPr/>
        </p:nvPicPr>
        <p:blipFill>
          <a:blip r:embed="rId2"/>
          <a:stretch>
            <a:fillRect/>
          </a:stretch>
        </p:blipFill>
        <p:spPr>
          <a:xfrm>
            <a:off x="640080" y="1298448"/>
            <a:ext cx="4983480" cy="3141296"/>
          </a:xfrm>
          <a:prstGeom prst="rect">
            <a:avLst/>
          </a:prstGeom>
        </p:spPr>
      </p:pic>
      <p:sp>
        <p:nvSpPr>
          <p:cNvPr id="7" name="TextBox 6"/>
          <p:cNvSpPr txBox="1"/>
          <p:nvPr/>
        </p:nvSpPr>
        <p:spPr>
          <a:xfrm>
            <a:off x="640080" y="4503752"/>
            <a:ext cx="4983480" cy="164592"/>
          </a:xfrm>
          <a:prstGeom prst="rect">
            <a:avLst/>
          </a:prstGeom>
          <a:noFill/>
        </p:spPr>
        <p:txBody>
          <a:bodyPr wrap="square" lIns="0" tIns="0" rIns="0" bIns="0">
            <a:spAutoFit/>
          </a:bodyPr>
          <a:lstStyle/>
          <a:p>
            <a:pPr algn="l">
              <a:lnSpc>
                <a:spcPct val="95000"/>
              </a:lnSpc>
            </a:pPr>
            <a:r>
              <a:rPr sz="700" b="0">
                <a:solidFill>
                  <a:srgbClr val="8FA1B2"/>
                </a:solidFill>
                <a:latin typeface="Calibri"/>
              </a:rPr>
              <a:t>python3 live_demo.py --notes</a:t>
            </a:r>
          </a:p>
        </p:txBody>
      </p:sp>
      <p:sp>
        <p:nvSpPr>
          <p:cNvPr id="8" name="Rounded Rectangle 7"/>
          <p:cNvSpPr/>
          <p:nvPr/>
        </p:nvSpPr>
        <p:spPr>
          <a:xfrm>
            <a:off x="587044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87502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10" name="TextBox 9"/>
          <p:cNvSpPr txBox="1"/>
          <p:nvPr/>
        </p:nvSpPr>
        <p:spPr>
          <a:xfrm>
            <a:off x="6108192" y="1335024"/>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The problem stated</a:t>
            </a:r>
          </a:p>
        </p:txBody>
      </p:sp>
      <p:sp>
        <p:nvSpPr>
          <p:cNvPr id="11" name="TextBox 10"/>
          <p:cNvSpPr txBox="1"/>
          <p:nvPr/>
        </p:nvSpPr>
        <p:spPr>
          <a:xfrm>
            <a:off x="6108192" y="1490472"/>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Approximately nine in ten candidates fail in clinical development, predominantly through target invalidity rather than chemistry.</a:t>
            </a:r>
          </a:p>
        </p:txBody>
      </p:sp>
      <p:sp>
        <p:nvSpPr>
          <p:cNvPr id="12" name="Rounded Rectangle 11"/>
          <p:cNvSpPr/>
          <p:nvPr/>
        </p:nvSpPr>
        <p:spPr>
          <a:xfrm>
            <a:off x="5870448" y="192024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875020" y="193395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4" name="TextBox 13"/>
          <p:cNvSpPr txBox="1"/>
          <p:nvPr/>
        </p:nvSpPr>
        <p:spPr>
          <a:xfrm>
            <a:off x="6108192" y="1901952"/>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Provenance declared</a:t>
            </a:r>
          </a:p>
        </p:txBody>
      </p:sp>
      <p:sp>
        <p:nvSpPr>
          <p:cNvPr id="15" name="TextBox 14"/>
          <p:cNvSpPr txBox="1"/>
          <p:nvPr/>
        </p:nvSpPr>
        <p:spPr>
          <a:xfrm>
            <a:off x="6108192" y="2057400"/>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reference layer is published and individually cited; participant-level records are simulated from those same effect sizes.</a:t>
            </a:r>
          </a:p>
        </p:txBody>
      </p:sp>
      <p:sp>
        <p:nvSpPr>
          <p:cNvPr id="16" name="Rounded Rectangle 15"/>
          <p:cNvSpPr/>
          <p:nvPr/>
        </p:nvSpPr>
        <p:spPr>
          <a:xfrm>
            <a:off x="5870448" y="2487168"/>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875020" y="2500884"/>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8" name="TextBox 17"/>
          <p:cNvSpPr txBox="1"/>
          <p:nvPr/>
        </p:nvSpPr>
        <p:spPr>
          <a:xfrm>
            <a:off x="6108192" y="2468880"/>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Rationale for simulation</a:t>
            </a:r>
          </a:p>
        </p:txBody>
      </p:sp>
      <p:sp>
        <p:nvSpPr>
          <p:cNvPr id="19" name="TextBox 18"/>
          <p:cNvSpPr txBox="1"/>
          <p:nvPr/>
        </p:nvSpPr>
        <p:spPr>
          <a:xfrm>
            <a:off x="6108192" y="2624328"/>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Individual genomes linked to medical records cannot lawfully be released, so they are reconstructed rather than reproduced.</a:t>
            </a:r>
          </a:p>
        </p:txBody>
      </p:sp>
      <p:sp>
        <p:nvSpPr>
          <p:cNvPr id="20" name="Rectangle 19"/>
          <p:cNvSpPr/>
          <p:nvPr/>
        </p:nvSpPr>
        <p:spPr>
          <a:xfrm>
            <a:off x="5870448" y="3858768"/>
            <a:ext cx="265176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870448" y="3858768"/>
            <a:ext cx="32004" cy="566928"/>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016752" y="3931920"/>
            <a:ext cx="237744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STRUCTURE OF THE DEMONSTRATION</a:t>
            </a:r>
          </a:p>
        </p:txBody>
      </p:sp>
      <p:sp>
        <p:nvSpPr>
          <p:cNvPr id="23" name="TextBox 22"/>
          <p:cNvSpPr txBox="1"/>
          <p:nvPr/>
        </p:nvSpPr>
        <p:spPr>
          <a:xfrm>
            <a:off x="6016752" y="4078224"/>
            <a:ext cx="2377440"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Nine steps</a:t>
            </a:r>
          </a:p>
        </p:txBody>
      </p:sp>
      <p:sp>
        <p:nvSpPr>
          <p:cNvPr id="24" name="TextBox 23"/>
          <p:cNvSpPr txBox="1"/>
          <p:nvPr/>
        </p:nvSpPr>
        <p:spPr>
          <a:xfrm>
            <a:off x="6016752" y="4279392"/>
            <a:ext cx="237744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ingest → estimate → validate → simulate → evaluate</a:t>
            </a:r>
          </a:p>
        </p:txBody>
      </p:sp>
      <p:sp>
        <p:nvSpPr>
          <p:cNvPr id="25" name="TextBox 24"/>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The real/simulated distinction is stated on screen at the outset and is recorded on every row of the dataset.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2 OF 9   ·   DATA INGESTION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Construction of the </a:t>
            </a:r>
            <a:r>
              <a:rPr sz="2500" b="1">
                <a:solidFill>
                  <a:srgbClr val="0B63CE"/>
                </a:solidFill>
                <a:latin typeface="Calibri"/>
              </a:rPr>
              <a:t>analysis dataset</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The five source sheets are streamed row by row and joined into the single table on which every subsequent estimate is computed.</a:t>
            </a:r>
          </a:p>
        </p:txBody>
      </p:sp>
      <p:sp>
        <p:nvSpPr>
          <p:cNvPr id="5" name="Rectangle 4"/>
          <p:cNvSpPr/>
          <p:nvPr/>
        </p:nvSpPr>
        <p:spPr>
          <a:xfrm>
            <a:off x="603503" y="1261872"/>
            <a:ext cx="4934176" cy="2221992"/>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2_load" descr="s02_load.png"/>
          <p:cNvPicPr>
            <a:picLocks noChangeAspect="1"/>
          </p:cNvPicPr>
          <p:nvPr/>
        </p:nvPicPr>
        <p:blipFill>
          <a:blip r:embed="rId2"/>
          <a:stretch>
            <a:fillRect/>
          </a:stretch>
        </p:blipFill>
        <p:spPr>
          <a:xfrm>
            <a:off x="640080" y="1298448"/>
            <a:ext cx="4861024" cy="2148840"/>
          </a:xfrm>
          <a:prstGeom prst="rect">
            <a:avLst/>
          </a:prstGeom>
        </p:spPr>
      </p:pic>
      <p:sp>
        <p:nvSpPr>
          <p:cNvPr id="7" name="Rectangle 6"/>
          <p:cNvSpPr/>
          <p:nvPr/>
        </p:nvSpPr>
        <p:spPr>
          <a:xfrm>
            <a:off x="603503" y="3566160"/>
            <a:ext cx="5227480" cy="850392"/>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shot_s03_table" descr="s03_table.png"/>
          <p:cNvPicPr>
            <a:picLocks noChangeAspect="1"/>
          </p:cNvPicPr>
          <p:nvPr/>
        </p:nvPicPr>
        <p:blipFill>
          <a:blip r:embed="rId3"/>
          <a:stretch>
            <a:fillRect/>
          </a:stretch>
        </p:blipFill>
        <p:spPr>
          <a:xfrm>
            <a:off x="640080" y="3602736"/>
            <a:ext cx="5154328" cy="777240"/>
          </a:xfrm>
          <a:prstGeom prst="rect">
            <a:avLst/>
          </a:prstGeom>
        </p:spPr>
      </p:pic>
      <p:sp>
        <p:nvSpPr>
          <p:cNvPr id="9" name="TextBox 8"/>
          <p:cNvSpPr txBox="1"/>
          <p:nvPr/>
        </p:nvSpPr>
        <p:spPr>
          <a:xfrm>
            <a:off x="640080" y="4443984"/>
            <a:ext cx="5154328" cy="164592"/>
          </a:xfrm>
          <a:prstGeom prst="rect">
            <a:avLst/>
          </a:prstGeom>
          <a:noFill/>
        </p:spPr>
        <p:txBody>
          <a:bodyPr wrap="square" lIns="0" tIns="0" rIns="0" bIns="0">
            <a:spAutoFit/>
          </a:bodyPr>
          <a:lstStyle/>
          <a:p>
            <a:pPr algn="l">
              <a:lnSpc>
                <a:spcPct val="95000"/>
              </a:lnSpc>
            </a:pPr>
            <a:r>
              <a:rPr sz="700" b="0">
                <a:solidFill>
                  <a:srgbClr val="8FA1B2"/>
                </a:solidFill>
                <a:latin typeface="Calibri"/>
              </a:rPr>
              <a:t>the first three rows of the joined analysis table — one row = one person, one gene</a:t>
            </a:r>
          </a:p>
        </p:txBody>
      </p:sp>
      <p:sp>
        <p:nvSpPr>
          <p:cNvPr id="10" name="Rounded Rectangle 9"/>
          <p:cNvSpPr/>
          <p:nvPr/>
        </p:nvSpPr>
        <p:spPr>
          <a:xfrm>
            <a:off x="605332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05790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12" name="TextBox 11"/>
          <p:cNvSpPr txBox="1"/>
          <p:nvPr/>
        </p:nvSpPr>
        <p:spPr>
          <a:xfrm>
            <a:off x="6291072" y="133502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Five source sheets</a:t>
            </a:r>
          </a:p>
        </p:txBody>
      </p:sp>
      <p:sp>
        <p:nvSpPr>
          <p:cNvPr id="13" name="TextBox 12"/>
          <p:cNvSpPr txBox="1"/>
          <p:nvPr/>
        </p:nvSpPr>
        <p:spPr>
          <a:xfrm>
            <a:off x="6291072" y="149047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Participants, genotype observations, variants, genes and drug programmes — ingested in 44 seconds.</a:t>
            </a:r>
          </a:p>
        </p:txBody>
      </p:sp>
      <p:sp>
        <p:nvSpPr>
          <p:cNvPr id="14" name="Rounded Rectangle 13"/>
          <p:cNvSpPr/>
          <p:nvPr/>
        </p:nvSpPr>
        <p:spPr>
          <a:xfrm>
            <a:off x="6053328"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057900"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6" name="TextBox 15"/>
          <p:cNvSpPr txBox="1"/>
          <p:nvPr/>
        </p:nvSpPr>
        <p:spPr>
          <a:xfrm>
            <a:off x="6291072" y="1755648"/>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Unit of analysis</a:t>
            </a:r>
          </a:p>
        </p:txBody>
      </p:sp>
      <p:sp>
        <p:nvSpPr>
          <p:cNvPr id="17" name="TextBox 16"/>
          <p:cNvSpPr txBox="1"/>
          <p:nvPr/>
        </p:nvSpPr>
        <p:spPr>
          <a:xfrm>
            <a:off x="6291072" y="1911095"/>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One record per participant per gene examined; the join yields the table used by every subsequent step.</a:t>
            </a:r>
          </a:p>
        </p:txBody>
      </p:sp>
      <p:sp>
        <p:nvSpPr>
          <p:cNvPr id="18" name="Rectangle 17"/>
          <p:cNvSpPr/>
          <p:nvPr/>
        </p:nvSpPr>
        <p:spPr>
          <a:xfrm>
            <a:off x="6053328" y="3017520"/>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053328" y="3017520"/>
            <a:ext cx="32004" cy="566928"/>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199632" y="3090672"/>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ANALYSIS DATASET</a:t>
            </a:r>
          </a:p>
        </p:txBody>
      </p:sp>
      <p:sp>
        <p:nvSpPr>
          <p:cNvPr id="21" name="TextBox 20"/>
          <p:cNvSpPr txBox="1"/>
          <p:nvPr/>
        </p:nvSpPr>
        <p:spPr>
          <a:xfrm>
            <a:off x="6199632" y="3236976"/>
            <a:ext cx="2194560"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210,000 × 51</a:t>
            </a:r>
          </a:p>
        </p:txBody>
      </p:sp>
      <p:sp>
        <p:nvSpPr>
          <p:cNvPr id="22" name="TextBox 21"/>
          <p:cNvSpPr txBox="1"/>
          <p:nvPr/>
        </p:nvSpPr>
        <p:spPr>
          <a:xfrm>
            <a:off x="6199632" y="3438144"/>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observations × variables, constructed at run time</a:t>
            </a:r>
          </a:p>
        </p:txBody>
      </p:sp>
      <p:sp>
        <p:nvSpPr>
          <p:cNvPr id="23" name="Rectangle 22"/>
          <p:cNvSpPr/>
          <p:nvPr/>
        </p:nvSpPr>
        <p:spPr>
          <a:xfrm>
            <a:off x="6053328" y="3749039"/>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053328" y="3749039"/>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199632" y="3822191"/>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STUDY POPULATION</a:t>
            </a:r>
          </a:p>
        </p:txBody>
      </p:sp>
      <p:sp>
        <p:nvSpPr>
          <p:cNvPr id="26" name="TextBox 25"/>
          <p:cNvSpPr txBox="1"/>
          <p:nvPr/>
        </p:nvSpPr>
        <p:spPr>
          <a:xfrm>
            <a:off x="6199632" y="3968496"/>
            <a:ext cx="219456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42,000</a:t>
            </a:r>
          </a:p>
        </p:txBody>
      </p:sp>
      <p:sp>
        <p:nvSpPr>
          <p:cNvPr id="27" name="TextBox 26"/>
          <p:cNvSpPr txBox="1"/>
          <p:nvPr/>
        </p:nvSpPr>
        <p:spPr>
          <a:xfrm>
            <a:off x="6199632" y="4169663"/>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across seven documented partner cohorts</a:t>
            </a:r>
          </a:p>
        </p:txBody>
      </p:sp>
      <p:sp>
        <p:nvSpPr>
          <p:cNvPr id="28" name="TextBox 27"/>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Ingestion from the source workbook takes approximately 44 seconds. A verified cached copy is available for rehearsal without altering any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3 OF 9   ·   ASSOCIATION TESTING</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Per-variant estimation </a:t>
            </a:r>
            <a:r>
              <a:rPr sz="2500" b="1">
                <a:solidFill>
                  <a:srgbClr val="0B63CE"/>
                </a:solidFill>
                <a:latin typeface="Calibri"/>
              </a:rPr>
              <a:t>across 210,000 observations</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Each row is printed at the moment its own regression converges. This step produces the evidence on which the allocation decision is later made.</a:t>
            </a:r>
          </a:p>
        </p:txBody>
      </p:sp>
      <p:sp>
        <p:nvSpPr>
          <p:cNvPr id="5" name="Rectangle 4"/>
          <p:cNvSpPr/>
          <p:nvPr/>
        </p:nvSpPr>
        <p:spPr>
          <a:xfrm>
            <a:off x="603503" y="1261872"/>
            <a:ext cx="5330952" cy="2600940"/>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4_score_head" descr="s04_score_head.png"/>
          <p:cNvPicPr>
            <a:picLocks noChangeAspect="1"/>
          </p:cNvPicPr>
          <p:nvPr/>
        </p:nvPicPr>
        <p:blipFill>
          <a:blip r:embed="rId2"/>
          <a:stretch>
            <a:fillRect/>
          </a:stretch>
        </p:blipFill>
        <p:spPr>
          <a:xfrm>
            <a:off x="640080" y="1298448"/>
            <a:ext cx="5257800" cy="2527788"/>
          </a:xfrm>
          <a:prstGeom prst="rect">
            <a:avLst/>
          </a:prstGeom>
        </p:spPr>
      </p:pic>
      <p:sp>
        <p:nvSpPr>
          <p:cNvPr id="7" name="Rounded Rectangle 6"/>
          <p:cNvSpPr/>
          <p:nvPr/>
        </p:nvSpPr>
        <p:spPr>
          <a:xfrm>
            <a:off x="605332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05790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6291072" y="133502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Biomarker screen</a:t>
            </a:r>
          </a:p>
        </p:txBody>
      </p:sp>
      <p:sp>
        <p:nvSpPr>
          <p:cNvPr id="10" name="TextBox 9"/>
          <p:cNvSpPr txBox="1"/>
          <p:nvPr/>
        </p:nvSpPr>
        <p:spPr>
          <a:xfrm>
            <a:off x="6291072" y="149047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Seven markers are tested per variant — LDL, triglycerides, HDL, BMI, ALT, HbA1c and Lp(a) — and the strongest association is retained.</a:t>
            </a:r>
          </a:p>
        </p:txBody>
      </p:sp>
      <p:sp>
        <p:nvSpPr>
          <p:cNvPr id="11" name="Rounded Rectangle 10"/>
          <p:cNvSpPr/>
          <p:nvPr/>
        </p:nvSpPr>
        <p:spPr>
          <a:xfrm>
            <a:off x="6053328" y="192024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57900" y="193395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6291072" y="1901952"/>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Disease model</a:t>
            </a:r>
          </a:p>
        </p:txBody>
      </p:sp>
      <p:sp>
        <p:nvSpPr>
          <p:cNvPr id="14" name="TextBox 13"/>
          <p:cNvSpPr txBox="1"/>
          <p:nvPr/>
        </p:nvSpPr>
        <p:spPr>
          <a:xfrm>
            <a:off x="6291072" y="2057400"/>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Logistic regression of the clinical outcome on allele dosage, fitted by Newton-Raphson and adjusted for age, sex and ancestry.</a:t>
            </a:r>
          </a:p>
        </p:txBody>
      </p:sp>
      <p:sp>
        <p:nvSpPr>
          <p:cNvPr id="15" name="Rounded Rectangle 14"/>
          <p:cNvSpPr/>
          <p:nvPr/>
        </p:nvSpPr>
        <p:spPr>
          <a:xfrm>
            <a:off x="6053328" y="2487168"/>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057900" y="2500884"/>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6291072" y="2468880"/>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Pre-specified exclusions</a:t>
            </a:r>
          </a:p>
        </p:txBody>
      </p:sp>
      <p:sp>
        <p:nvSpPr>
          <p:cNvPr id="18" name="TextBox 17"/>
          <p:cNvSpPr txBox="1"/>
          <p:nvPr/>
        </p:nvSpPr>
        <p:spPr>
          <a:xfrm>
            <a:off x="6291072" y="2624328"/>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Fewer than 20 carriers, or zero events in a genotype group, and the disease channel is excluded with the reason reported.</a:t>
            </a:r>
          </a:p>
        </p:txBody>
      </p:sp>
      <p:sp>
        <p:nvSpPr>
          <p:cNvPr id="19" name="Rectangle 18"/>
          <p:cNvSpPr/>
          <p:nvPr/>
        </p:nvSpPr>
        <p:spPr>
          <a:xfrm>
            <a:off x="6053328" y="3931920"/>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053328" y="3931920"/>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99632" y="4005072"/>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PCSK9 — LDL CHOLESTEROL</a:t>
            </a:r>
          </a:p>
        </p:txBody>
      </p:sp>
      <p:sp>
        <p:nvSpPr>
          <p:cNvPr id="22" name="TextBox 21"/>
          <p:cNvSpPr txBox="1"/>
          <p:nvPr/>
        </p:nvSpPr>
        <p:spPr>
          <a:xfrm>
            <a:off x="6199632" y="4151376"/>
            <a:ext cx="219456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−19.76 mg/dL</a:t>
            </a:r>
          </a:p>
        </p:txBody>
      </p:sp>
      <p:sp>
        <p:nvSpPr>
          <p:cNvPr id="23" name="TextBox 22"/>
          <p:cNvSpPr txBox="1"/>
          <p:nvPr/>
        </p:nvSpPr>
        <p:spPr>
          <a:xfrm>
            <a:off x="6199632" y="4352544"/>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per allele, z = −16.0</a:t>
            </a:r>
          </a:p>
        </p:txBody>
      </p:sp>
      <p:sp>
        <p:nvSpPr>
          <p:cNvPr id="24" name="TextBox 23"/>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APOC3 and SLC30A8 are excluded from the disease channel on screen, with the statistical reason stated, rather than reporting an unsupported estimate.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3 OF 9   ·   EVIDENCE SCORING FRAMEWORK</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A transparent, </a:t>
            </a:r>
            <a:r>
              <a:rPr sz="2500" b="1">
                <a:solidFill>
                  <a:srgbClr val="0B63CE"/>
                </a:solidFill>
                <a:latin typeface="Calibri"/>
              </a:rPr>
              <a:t>four-channel composite score</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The score is fully specified and auditable: four weighted components, each computed from the estimates above and displayed as it is derived.</a:t>
            </a:r>
          </a:p>
        </p:txBody>
      </p:sp>
      <p:sp>
        <p:nvSpPr>
          <p:cNvPr id="5" name="Rectangle 4"/>
          <p:cNvSpPr/>
          <p:nvPr/>
        </p:nvSpPr>
        <p:spPr>
          <a:xfrm>
            <a:off x="603503" y="1261872"/>
            <a:ext cx="5330952" cy="2600940"/>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5_score_tail" descr="s05_score_tail.png"/>
          <p:cNvPicPr>
            <a:picLocks noChangeAspect="1"/>
          </p:cNvPicPr>
          <p:nvPr/>
        </p:nvPicPr>
        <p:blipFill>
          <a:blip r:embed="rId2"/>
          <a:stretch>
            <a:fillRect/>
          </a:stretch>
        </p:blipFill>
        <p:spPr>
          <a:xfrm>
            <a:off x="640080" y="1298448"/>
            <a:ext cx="5257800" cy="2527788"/>
          </a:xfrm>
          <a:prstGeom prst="rect">
            <a:avLst/>
          </a:prstGeom>
        </p:spPr>
      </p:pic>
      <p:sp>
        <p:nvSpPr>
          <p:cNvPr id="7" name="Rounded Rectangle 6"/>
          <p:cNvSpPr/>
          <p:nvPr/>
        </p:nvSpPr>
        <p:spPr>
          <a:xfrm>
            <a:off x="605332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05790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6291072" y="133502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Effect magnitude  ×3</a:t>
            </a:r>
          </a:p>
        </p:txBody>
      </p:sp>
      <p:sp>
        <p:nvSpPr>
          <p:cNvPr id="10" name="TextBox 9"/>
          <p:cNvSpPr txBox="1"/>
          <p:nvPr/>
        </p:nvSpPr>
        <p:spPr>
          <a:xfrm>
            <a:off x="6291072" y="149047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Standardised size of the biomarker shift per allele.</a:t>
            </a:r>
          </a:p>
        </p:txBody>
      </p:sp>
      <p:sp>
        <p:nvSpPr>
          <p:cNvPr id="11" name="Rounded Rectangle 10"/>
          <p:cNvSpPr/>
          <p:nvPr/>
        </p:nvSpPr>
        <p:spPr>
          <a:xfrm>
            <a:off x="6053328" y="162763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57900" y="164134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6291072" y="160934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Statistical precision  ×2</a:t>
            </a:r>
          </a:p>
        </p:txBody>
      </p:sp>
      <p:sp>
        <p:nvSpPr>
          <p:cNvPr id="14" name="TextBox 13"/>
          <p:cNvSpPr txBox="1"/>
          <p:nvPr/>
        </p:nvSpPr>
        <p:spPr>
          <a:xfrm>
            <a:off x="6291072" y="176479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Confidence in that estimate, from its z statistic.</a:t>
            </a:r>
          </a:p>
        </p:txBody>
      </p:sp>
      <p:sp>
        <p:nvSpPr>
          <p:cNvPr id="15" name="Rounded Rectangle 14"/>
          <p:cNvSpPr/>
          <p:nvPr/>
        </p:nvSpPr>
        <p:spPr>
          <a:xfrm>
            <a:off x="6053328" y="190195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057900" y="191566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6291072" y="188366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Clinical association  ×2</a:t>
            </a:r>
          </a:p>
        </p:txBody>
      </p:sp>
      <p:sp>
        <p:nvSpPr>
          <p:cNvPr id="18" name="TextBox 17"/>
          <p:cNvSpPr txBox="1"/>
          <p:nvPr/>
        </p:nvSpPr>
        <p:spPr>
          <a:xfrm>
            <a:off x="6291072" y="203911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Strength of the adjusted association with disease incidence.</a:t>
            </a:r>
          </a:p>
        </p:txBody>
      </p:sp>
      <p:sp>
        <p:nvSpPr>
          <p:cNvPr id="19" name="Rounded Rectangle 18"/>
          <p:cNvSpPr/>
          <p:nvPr/>
        </p:nvSpPr>
        <p:spPr>
          <a:xfrm>
            <a:off x="6053328" y="217627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057900" y="218998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4</a:t>
            </a:r>
          </a:p>
        </p:txBody>
      </p:sp>
      <p:sp>
        <p:nvSpPr>
          <p:cNvPr id="21" name="TextBox 20"/>
          <p:cNvSpPr txBox="1"/>
          <p:nvPr/>
        </p:nvSpPr>
        <p:spPr>
          <a:xfrm>
            <a:off x="6291072" y="215798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Loss of function with benefit  ×3</a:t>
            </a:r>
          </a:p>
        </p:txBody>
      </p:sp>
      <p:sp>
        <p:nvSpPr>
          <p:cNvPr id="22" name="TextBox 21"/>
          <p:cNvSpPr txBox="1"/>
          <p:nvPr/>
        </p:nvSpPr>
        <p:spPr>
          <a:xfrm>
            <a:off x="6291072" y="231343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A naturally occurring human knockout with a favourable phenotype — a safety and efficacy signal unavailable from animal models.</a:t>
            </a:r>
          </a:p>
        </p:txBody>
      </p:sp>
      <p:sp>
        <p:nvSpPr>
          <p:cNvPr id="23" name="Rectangle 22"/>
          <p:cNvSpPr/>
          <p:nvPr/>
        </p:nvSpPr>
        <p:spPr>
          <a:xfrm>
            <a:off x="6053328" y="4041648"/>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053328" y="4041648"/>
            <a:ext cx="32004" cy="566928"/>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199632" y="4114800"/>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MEETING THE EVIDENCE THRESHOLD</a:t>
            </a:r>
          </a:p>
        </p:txBody>
      </p:sp>
      <p:sp>
        <p:nvSpPr>
          <p:cNvPr id="26" name="TextBox 25"/>
          <p:cNvSpPr txBox="1"/>
          <p:nvPr/>
        </p:nvSpPr>
        <p:spPr>
          <a:xfrm>
            <a:off x="6199632" y="4261104"/>
            <a:ext cx="2194560"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6 of 20</a:t>
            </a:r>
          </a:p>
        </p:txBody>
      </p:sp>
      <p:sp>
        <p:nvSpPr>
          <p:cNvPr id="27" name="TextBox 26"/>
          <p:cNvSpPr txBox="1"/>
          <p:nvPr/>
        </p:nvSpPr>
        <p:spPr>
          <a:xfrm>
            <a:off x="6199632" y="4462272"/>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composite score ≥ 6.0</a:t>
            </a:r>
          </a:p>
        </p:txBody>
      </p:sp>
      <p:sp>
        <p:nvSpPr>
          <p:cNvPr id="28" name="TextBox 27"/>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Twenty variants are scored in approximately one second from the 210,000 observations held in memory.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4 OF 9   ·   EXTERNAL VALIDATION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Ranking produced </a:t>
            </a:r>
            <a:r>
              <a:rPr sz="2500" b="1">
                <a:solidFill>
                  <a:srgbClr val="0B63CE"/>
                </a:solidFill>
                <a:latin typeface="Calibri"/>
              </a:rPr>
              <a:t>blind to the outcome</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Eighteen genes are ranked on genetic evidence alone; the indicator of an existing approved medicine is introduced only after the ranking is fixed.</a:t>
            </a:r>
          </a:p>
        </p:txBody>
      </p:sp>
      <p:sp>
        <p:nvSpPr>
          <p:cNvPr id="5" name="Rectangle 4"/>
          <p:cNvSpPr/>
          <p:nvPr/>
        </p:nvSpPr>
        <p:spPr>
          <a:xfrm>
            <a:off x="603503" y="1261872"/>
            <a:ext cx="4782312" cy="3109235"/>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6_rank" descr="s06_rank.png"/>
          <p:cNvPicPr>
            <a:picLocks noChangeAspect="1"/>
          </p:cNvPicPr>
          <p:nvPr/>
        </p:nvPicPr>
        <p:blipFill>
          <a:blip r:embed="rId2"/>
          <a:stretch>
            <a:fillRect/>
          </a:stretch>
        </p:blipFill>
        <p:spPr>
          <a:xfrm>
            <a:off x="640080" y="1298448"/>
            <a:ext cx="4709160" cy="3036083"/>
          </a:xfrm>
          <a:prstGeom prst="rect">
            <a:avLst/>
          </a:prstGeom>
        </p:spPr>
      </p:pic>
      <p:sp>
        <p:nvSpPr>
          <p:cNvPr id="7" name="Rounded Rectangle 6"/>
          <p:cNvSpPr/>
          <p:nvPr/>
        </p:nvSpPr>
        <p:spPr>
          <a:xfrm>
            <a:off x="5577840"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582412"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5815583" y="1335024"/>
            <a:ext cx="270662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Ranking fixed first</a:t>
            </a:r>
          </a:p>
        </p:txBody>
      </p:sp>
      <p:sp>
        <p:nvSpPr>
          <p:cNvPr id="10" name="TextBox 9"/>
          <p:cNvSpPr txBox="1"/>
          <p:nvPr/>
        </p:nvSpPr>
        <p:spPr>
          <a:xfrm>
            <a:off x="5815583" y="1490472"/>
            <a:ext cx="270662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Scores derive solely from the estimated associations; approval status enters no part of the computation.</a:t>
            </a:r>
          </a:p>
        </p:txBody>
      </p:sp>
      <p:sp>
        <p:nvSpPr>
          <p:cNvPr id="11" name="Rounded Rectangle 10"/>
          <p:cNvSpPr/>
          <p:nvPr/>
        </p:nvSpPr>
        <p:spPr>
          <a:xfrm>
            <a:off x="5577840"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582412"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5815583" y="1755648"/>
            <a:ext cx="270662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Outcome then applied</a:t>
            </a:r>
          </a:p>
        </p:txBody>
      </p:sp>
      <p:sp>
        <p:nvSpPr>
          <p:cNvPr id="14" name="TextBox 13"/>
          <p:cNvSpPr txBox="1"/>
          <p:nvPr/>
        </p:nvSpPr>
        <p:spPr>
          <a:xfrm>
            <a:off x="5815583" y="1911095"/>
            <a:ext cx="270662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A filled marker denotes a gene against which an approved medicine exists in current practice.</a:t>
            </a:r>
          </a:p>
        </p:txBody>
      </p:sp>
      <p:sp>
        <p:nvSpPr>
          <p:cNvPr id="15" name="Rounded Rectangle 14"/>
          <p:cNvSpPr/>
          <p:nvPr/>
        </p:nvSpPr>
        <p:spPr>
          <a:xfrm>
            <a:off x="5577840" y="219456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582412" y="220827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5815583" y="2176272"/>
            <a:ext cx="270662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Result</a:t>
            </a:r>
          </a:p>
        </p:txBody>
      </p:sp>
      <p:sp>
        <p:nvSpPr>
          <p:cNvPr id="18" name="TextBox 17"/>
          <p:cNvSpPr txBox="1"/>
          <p:nvPr/>
        </p:nvSpPr>
        <p:spPr>
          <a:xfrm>
            <a:off x="5815583" y="2331720"/>
            <a:ext cx="270662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Four of the five highest-ranked genes are drugged; HSD17B13, ranked fourth, is in clinical development.</a:t>
            </a:r>
          </a:p>
        </p:txBody>
      </p:sp>
      <p:sp>
        <p:nvSpPr>
          <p:cNvPr id="19" name="Rectangle 18"/>
          <p:cNvSpPr/>
          <p:nvPr/>
        </p:nvSpPr>
        <p:spPr>
          <a:xfrm>
            <a:off x="5577840" y="3986784"/>
            <a:ext cx="2944368"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577840" y="3986784"/>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724144" y="4059936"/>
            <a:ext cx="267004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PRECISION AT FIVE</a:t>
            </a:r>
          </a:p>
        </p:txBody>
      </p:sp>
      <p:sp>
        <p:nvSpPr>
          <p:cNvPr id="22" name="TextBox 21"/>
          <p:cNvSpPr txBox="1"/>
          <p:nvPr/>
        </p:nvSpPr>
        <p:spPr>
          <a:xfrm>
            <a:off x="5724144" y="4206240"/>
            <a:ext cx="2670048"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4 of 5</a:t>
            </a:r>
          </a:p>
        </p:txBody>
      </p:sp>
      <p:sp>
        <p:nvSpPr>
          <p:cNvPr id="23" name="TextBox 22"/>
          <p:cNvSpPr txBox="1"/>
          <p:nvPr/>
        </p:nvSpPr>
        <p:spPr>
          <a:xfrm>
            <a:off x="5724144" y="4407408"/>
            <a:ext cx="267004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top-ranked genes with an approved medicine</a:t>
            </a:r>
          </a:p>
        </p:txBody>
      </p:sp>
      <p:sp>
        <p:nvSpPr>
          <p:cNvPr id="24" name="TextBox 23"/>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The ranking is evaluated against an outcome the procedure never observed, which is the basis for the validity claim that follows.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4 OF 9   ·   DISCRIMINATION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Discriminative performance: </a:t>
            </a:r>
            <a:r>
              <a:rPr sz="2500" b="1">
                <a:solidFill>
                  <a:srgbClr val="0B63CE"/>
                </a:solidFill>
                <a:latin typeface="Calibri"/>
              </a:rPr>
              <a:t>AUC = 0.91</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The area under the ROC curve quantifies how well the score separates targets with an approved medicine from those without. No parameter was tuned to this outcome.</a:t>
            </a:r>
          </a:p>
        </p:txBody>
      </p:sp>
      <p:sp>
        <p:nvSpPr>
          <p:cNvPr id="5" name="Rectangle 4"/>
          <p:cNvSpPr/>
          <p:nvPr/>
        </p:nvSpPr>
        <p:spPr>
          <a:xfrm>
            <a:off x="603503" y="1261872"/>
            <a:ext cx="5056632" cy="1938947"/>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7_test" descr="s07_test.png"/>
          <p:cNvPicPr>
            <a:picLocks noChangeAspect="1"/>
          </p:cNvPicPr>
          <p:nvPr/>
        </p:nvPicPr>
        <p:blipFill>
          <a:blip r:embed="rId2"/>
          <a:stretch>
            <a:fillRect/>
          </a:stretch>
        </p:blipFill>
        <p:spPr>
          <a:xfrm>
            <a:off x="640080" y="1298448"/>
            <a:ext cx="4983480" cy="1865795"/>
          </a:xfrm>
          <a:prstGeom prst="rect">
            <a:avLst/>
          </a:prstGeom>
        </p:spPr>
      </p:pic>
      <p:sp>
        <p:nvSpPr>
          <p:cNvPr id="7" name="TextBox 6"/>
          <p:cNvSpPr txBox="1"/>
          <p:nvPr/>
        </p:nvSpPr>
        <p:spPr>
          <a:xfrm>
            <a:off x="640080" y="3474720"/>
            <a:ext cx="4983480" cy="164592"/>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WHAT THE AUC MEANS</a:t>
            </a:r>
          </a:p>
        </p:txBody>
      </p:sp>
      <p:sp>
        <p:nvSpPr>
          <p:cNvPr id="8" name="TextBox 7"/>
          <p:cNvSpPr txBox="1"/>
          <p:nvPr/>
        </p:nvSpPr>
        <p:spPr>
          <a:xfrm>
            <a:off x="640080" y="3648456"/>
            <a:ext cx="4983480" cy="548640"/>
          </a:xfrm>
          <a:prstGeom prst="rect">
            <a:avLst/>
          </a:prstGeom>
          <a:noFill/>
        </p:spPr>
        <p:txBody>
          <a:bodyPr wrap="square" lIns="0" tIns="0" rIns="0" bIns="0">
            <a:spAutoFit/>
          </a:bodyPr>
          <a:lstStyle/>
          <a:p>
            <a:pPr algn="l">
              <a:lnSpc>
                <a:spcPct val="95000"/>
              </a:lnSpc>
            </a:pPr>
            <a:r>
              <a:rPr sz="900" b="0">
                <a:solidFill>
                  <a:srgbClr val="55697C"/>
                </a:solidFill>
                <a:latin typeface="Calibri"/>
              </a:rPr>
              <a:t>Take one gene at random that already has a medicine, and one that does not. The AUC is the probability that the model scores the first higher. A coin toss gives 0.50. This run gives 0.91.</a:t>
            </a:r>
          </a:p>
        </p:txBody>
      </p:sp>
      <p:sp>
        <p:nvSpPr>
          <p:cNvPr id="9" name="Rounded Rectangle 8"/>
          <p:cNvSpPr/>
          <p:nvPr/>
        </p:nvSpPr>
        <p:spPr>
          <a:xfrm>
            <a:off x="587044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87502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11" name="TextBox 10"/>
          <p:cNvSpPr txBox="1"/>
          <p:nvPr/>
        </p:nvSpPr>
        <p:spPr>
          <a:xfrm>
            <a:off x="6108192" y="1335024"/>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Genes with an approved medicine</a:t>
            </a:r>
          </a:p>
        </p:txBody>
      </p:sp>
      <p:sp>
        <p:nvSpPr>
          <p:cNvPr id="12" name="TextBox 11"/>
          <p:cNvSpPr txBox="1"/>
          <p:nvPr/>
        </p:nvSpPr>
        <p:spPr>
          <a:xfrm>
            <a:off x="6108192" y="1490472"/>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mean composite score 6.92 / 10.</a:t>
            </a:r>
          </a:p>
        </p:txBody>
      </p:sp>
      <p:sp>
        <p:nvSpPr>
          <p:cNvPr id="13" name="Rounded Rectangle 12"/>
          <p:cNvSpPr/>
          <p:nvPr/>
        </p:nvSpPr>
        <p:spPr>
          <a:xfrm>
            <a:off x="5870448" y="162763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875020" y="164134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5" name="TextBox 14"/>
          <p:cNvSpPr txBox="1"/>
          <p:nvPr/>
        </p:nvSpPr>
        <p:spPr>
          <a:xfrm>
            <a:off x="6108192" y="1609344"/>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Genes without</a:t>
            </a:r>
          </a:p>
        </p:txBody>
      </p:sp>
      <p:sp>
        <p:nvSpPr>
          <p:cNvPr id="16" name="TextBox 15"/>
          <p:cNvSpPr txBox="1"/>
          <p:nvPr/>
        </p:nvSpPr>
        <p:spPr>
          <a:xfrm>
            <a:off x="6108192" y="1764792"/>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mean composite score 4.38 / 10.</a:t>
            </a:r>
          </a:p>
        </p:txBody>
      </p:sp>
      <p:sp>
        <p:nvSpPr>
          <p:cNvPr id="17" name="Rounded Rectangle 16"/>
          <p:cNvSpPr/>
          <p:nvPr/>
        </p:nvSpPr>
        <p:spPr>
          <a:xfrm>
            <a:off x="5870448" y="190195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875020" y="191566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9" name="TextBox 18"/>
          <p:cNvSpPr txBox="1"/>
          <p:nvPr/>
        </p:nvSpPr>
        <p:spPr>
          <a:xfrm>
            <a:off x="6108192" y="1883664"/>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Blinding preserved in code</a:t>
            </a:r>
          </a:p>
        </p:txBody>
      </p:sp>
      <p:sp>
        <p:nvSpPr>
          <p:cNvPr id="20" name="TextBox 19"/>
          <p:cNvSpPr txBox="1"/>
          <p:nvPr/>
        </p:nvSpPr>
        <p:spPr>
          <a:xfrm>
            <a:off x="6108192" y="2039112"/>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Approval status is read only after the ranking is fixed; this ordering is enforced in validate().</a:t>
            </a:r>
          </a:p>
        </p:txBody>
      </p:sp>
      <p:sp>
        <p:nvSpPr>
          <p:cNvPr id="21" name="Rectangle 20"/>
          <p:cNvSpPr/>
          <p:nvPr/>
        </p:nvSpPr>
        <p:spPr>
          <a:xfrm>
            <a:off x="5870448" y="3749039"/>
            <a:ext cx="2651760"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870448" y="3749039"/>
            <a:ext cx="32004" cy="640080"/>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016752" y="3822191"/>
            <a:ext cx="237744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AREA UNDER THE ROC CURVE</a:t>
            </a:r>
          </a:p>
        </p:txBody>
      </p:sp>
      <p:sp>
        <p:nvSpPr>
          <p:cNvPr id="24" name="TextBox 23"/>
          <p:cNvSpPr txBox="1"/>
          <p:nvPr/>
        </p:nvSpPr>
        <p:spPr>
          <a:xfrm>
            <a:off x="6016752" y="3968496"/>
            <a:ext cx="237744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0.91</a:t>
            </a:r>
          </a:p>
        </p:txBody>
      </p:sp>
      <p:sp>
        <p:nvSpPr>
          <p:cNvPr id="25" name="TextBox 24"/>
          <p:cNvSpPr txBox="1"/>
          <p:nvPr/>
        </p:nvSpPr>
        <p:spPr>
          <a:xfrm>
            <a:off x="6016752" y="4169663"/>
            <a:ext cx="237744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against 0.50 under random ordering</a:t>
            </a:r>
          </a:p>
        </p:txBody>
      </p:sp>
      <p:sp>
        <p:nvSpPr>
          <p:cNvPr id="26" name="TextBox 25"/>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Validation 1 of 3. The remaining two — portfolio success probability and cost per approval — are reported in step 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5 OF 9   ·   WORKED EXAMPLE</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PCSK9: full derivation </a:t>
            </a:r>
            <a:r>
              <a:rPr sz="2500" b="1">
                <a:solidFill>
                  <a:srgbClr val="0B63CE"/>
                </a:solidFill>
                <a:latin typeface="Calibri"/>
              </a:rPr>
              <a:t>from observation to decision</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A single target is traced through every stage of the pipeline, then compared with the medicines approved against that target in clinical practice.</a:t>
            </a:r>
          </a:p>
        </p:txBody>
      </p:sp>
      <p:sp>
        <p:nvSpPr>
          <p:cNvPr id="5" name="Rectangle 4"/>
          <p:cNvSpPr/>
          <p:nvPr/>
        </p:nvSpPr>
        <p:spPr>
          <a:xfrm>
            <a:off x="603503" y="1261872"/>
            <a:ext cx="4519465" cy="3227832"/>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8_pcsk9" descr="s08_pcsk9.png"/>
          <p:cNvPicPr>
            <a:picLocks noChangeAspect="1"/>
          </p:cNvPicPr>
          <p:nvPr/>
        </p:nvPicPr>
        <p:blipFill>
          <a:blip r:embed="rId2"/>
          <a:stretch>
            <a:fillRect/>
          </a:stretch>
        </p:blipFill>
        <p:spPr>
          <a:xfrm>
            <a:off x="640080" y="1298448"/>
            <a:ext cx="4446313" cy="3154679"/>
          </a:xfrm>
          <a:prstGeom prst="rect">
            <a:avLst/>
          </a:prstGeom>
        </p:spPr>
      </p:pic>
      <p:sp>
        <p:nvSpPr>
          <p:cNvPr id="7" name="Rounded Rectangle 6"/>
          <p:cNvSpPr/>
          <p:nvPr/>
        </p:nvSpPr>
        <p:spPr>
          <a:xfrm>
            <a:off x="5669280"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673852"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5907024" y="1335024"/>
            <a:ext cx="26151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Carrier ascertainment</a:t>
            </a:r>
          </a:p>
        </p:txBody>
      </p:sp>
      <p:sp>
        <p:nvSpPr>
          <p:cNvPr id="10" name="TextBox 9"/>
          <p:cNvSpPr txBox="1"/>
          <p:nvPr/>
        </p:nvSpPr>
        <p:spPr>
          <a:xfrm>
            <a:off x="5907024" y="1490472"/>
            <a:ext cx="26151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688 carriers among 10,439 examined (6.59%), consistent with the published allele frequency.</a:t>
            </a:r>
          </a:p>
        </p:txBody>
      </p:sp>
      <p:sp>
        <p:nvSpPr>
          <p:cNvPr id="11" name="Rounded Rectangle 10"/>
          <p:cNvSpPr/>
          <p:nvPr/>
        </p:nvSpPr>
        <p:spPr>
          <a:xfrm>
            <a:off x="5669280"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73852"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5907024" y="1755648"/>
            <a:ext cx="26151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Biomarker effect</a:t>
            </a:r>
          </a:p>
        </p:txBody>
      </p:sp>
      <p:sp>
        <p:nvSpPr>
          <p:cNvPr id="14" name="TextBox 13"/>
          <p:cNvSpPr txBox="1"/>
          <p:nvPr/>
        </p:nvSpPr>
        <p:spPr>
          <a:xfrm>
            <a:off x="5907024" y="1911095"/>
            <a:ext cx="26151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101.3 mg/dL in carriers against 121.3 in non-carriers; −19.8 mg/dL per allele, z = −16.0.</a:t>
            </a:r>
          </a:p>
        </p:txBody>
      </p:sp>
      <p:sp>
        <p:nvSpPr>
          <p:cNvPr id="15" name="Rounded Rectangle 14"/>
          <p:cNvSpPr/>
          <p:nvPr/>
        </p:nvSpPr>
        <p:spPr>
          <a:xfrm>
            <a:off x="5669280" y="219456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673852" y="220827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5907024" y="2176272"/>
            <a:ext cx="26151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Clinical outcome</a:t>
            </a:r>
          </a:p>
        </p:txBody>
      </p:sp>
      <p:sp>
        <p:nvSpPr>
          <p:cNvPr id="18" name="TextBox 17"/>
          <p:cNvSpPr txBox="1"/>
          <p:nvPr/>
        </p:nvSpPr>
        <p:spPr>
          <a:xfrm>
            <a:off x="5907024" y="2331720"/>
            <a:ext cx="26151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Coronary heart disease 6.40% against 8.67%; adjusted odds ratio 0.72 [95% CI 0.53–0.98].</a:t>
            </a:r>
          </a:p>
        </p:txBody>
      </p:sp>
      <p:sp>
        <p:nvSpPr>
          <p:cNvPr id="19" name="Rectangle 18"/>
          <p:cNvSpPr/>
          <p:nvPr/>
        </p:nvSpPr>
        <p:spPr>
          <a:xfrm>
            <a:off x="5669280" y="3840480"/>
            <a:ext cx="2852928" cy="65836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669280" y="3840480"/>
            <a:ext cx="32004" cy="658368"/>
          </a:xfrm>
          <a:prstGeom prst="rect">
            <a:avLst/>
          </a:prstGeom>
          <a:solidFill>
            <a:srgbClr val="D84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815584" y="3913632"/>
            <a:ext cx="257860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CLINICAL CORROBORATION</a:t>
            </a:r>
          </a:p>
        </p:txBody>
      </p:sp>
      <p:sp>
        <p:nvSpPr>
          <p:cNvPr id="22" name="TextBox 21"/>
          <p:cNvSpPr txBox="1"/>
          <p:nvPr/>
        </p:nvSpPr>
        <p:spPr>
          <a:xfrm>
            <a:off x="5815584" y="4059936"/>
            <a:ext cx="2578608" cy="219456"/>
          </a:xfrm>
          <a:prstGeom prst="rect">
            <a:avLst/>
          </a:prstGeom>
          <a:noFill/>
        </p:spPr>
        <p:txBody>
          <a:bodyPr wrap="square" lIns="0" tIns="0" rIns="0" bIns="0">
            <a:spAutoFit/>
          </a:bodyPr>
          <a:lstStyle/>
          <a:p>
            <a:pPr algn="l">
              <a:lnSpc>
                <a:spcPct val="95000"/>
              </a:lnSpc>
            </a:pPr>
            <a:r>
              <a:rPr sz="1350" b="1">
                <a:solidFill>
                  <a:srgbClr val="D8452A"/>
                </a:solidFill>
                <a:latin typeface="Calibri"/>
              </a:rPr>
              <a:t>Alirocumab · Evolocumab · Inclisiran</a:t>
            </a:r>
          </a:p>
        </p:txBody>
      </p:sp>
      <p:sp>
        <p:nvSpPr>
          <p:cNvPr id="23" name="TextBox 22"/>
          <p:cNvSpPr txBox="1"/>
          <p:nvPr/>
        </p:nvSpPr>
        <p:spPr>
          <a:xfrm>
            <a:off x="5815584" y="4261104"/>
            <a:ext cx="257860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three approved PCSK9 medicines, withheld from the procedure</a:t>
            </a:r>
          </a:p>
        </p:txBody>
      </p:sp>
      <p:sp>
        <p:nvSpPr>
          <p:cNvPr id="24" name="TextBox 23"/>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Composite score 7.01/10, rank 5 of 18, classified as supported. Success probability rises from 6.0% to 15.6% under the published 2.6× uplift (Minikel et al., Nature 2024).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6 OF 9   ·   MONTE CARLO SIMULATION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Three allocation strategies </a:t>
            </a:r>
            <a:r>
              <a:rPr sz="2500" b="1">
                <a:solidFill>
                  <a:srgbClr val="0B63CE"/>
                </a:solidFill>
                <a:latin typeface="Calibri"/>
              </a:rPr>
              <a:t>under identical constraints</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Budget, unit costs and portfolio size are held constant across arms. The selection rule is the only variable manipulated.</a:t>
            </a:r>
          </a:p>
        </p:txBody>
      </p:sp>
      <p:sp>
        <p:nvSpPr>
          <p:cNvPr id="5" name="Rectangle 4"/>
          <p:cNvSpPr/>
          <p:nvPr/>
        </p:nvSpPr>
        <p:spPr>
          <a:xfrm>
            <a:off x="603503" y="1261872"/>
            <a:ext cx="4921652" cy="3227832"/>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09_mc_runs" descr="s09_mc_runs.png"/>
          <p:cNvPicPr>
            <a:picLocks noChangeAspect="1"/>
          </p:cNvPicPr>
          <p:nvPr/>
        </p:nvPicPr>
        <p:blipFill>
          <a:blip r:embed="rId2"/>
          <a:stretch>
            <a:fillRect/>
          </a:stretch>
        </p:blipFill>
        <p:spPr>
          <a:xfrm>
            <a:off x="640080" y="1298448"/>
            <a:ext cx="4848500" cy="3154680"/>
          </a:xfrm>
          <a:prstGeom prst="rect">
            <a:avLst/>
          </a:prstGeom>
        </p:spPr>
      </p:pic>
      <p:sp>
        <p:nvSpPr>
          <p:cNvPr id="7" name="Rounded Rectangle 6"/>
          <p:cNvSpPr/>
          <p:nvPr/>
        </p:nvSpPr>
        <p:spPr>
          <a:xfrm>
            <a:off x="6272784"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77356"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6510528" y="1335024"/>
            <a:ext cx="2011680"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Arm A — committee</a:t>
            </a:r>
          </a:p>
        </p:txBody>
      </p:sp>
      <p:sp>
        <p:nvSpPr>
          <p:cNvPr id="10" name="TextBox 9"/>
          <p:cNvSpPr txBox="1"/>
          <p:nvPr/>
        </p:nvSpPr>
        <p:spPr>
          <a:xfrm>
            <a:off x="6510528" y="1490472"/>
            <a:ext cx="2011680"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Six targets selected without genetic screening, representing the pre-genomic default.</a:t>
            </a:r>
          </a:p>
        </p:txBody>
      </p:sp>
      <p:sp>
        <p:nvSpPr>
          <p:cNvPr id="11" name="Rounded Rectangle 10"/>
          <p:cNvSpPr/>
          <p:nvPr/>
        </p:nvSpPr>
        <p:spPr>
          <a:xfrm>
            <a:off x="6272784"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277356"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6510528" y="1755648"/>
            <a:ext cx="2011680"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Arm B — evidence-led</a:t>
            </a:r>
          </a:p>
        </p:txBody>
      </p:sp>
      <p:sp>
        <p:nvSpPr>
          <p:cNvPr id="14" name="TextBox 13"/>
          <p:cNvSpPr txBox="1"/>
          <p:nvPr/>
        </p:nvSpPr>
        <p:spPr>
          <a:xfrm>
            <a:off x="6510528" y="1911095"/>
            <a:ext cx="2011680"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six highest-scoring targets are funded.</a:t>
            </a:r>
          </a:p>
        </p:txBody>
      </p:sp>
      <p:sp>
        <p:nvSpPr>
          <p:cNvPr id="15" name="Rounded Rectangle 14"/>
          <p:cNvSpPr/>
          <p:nvPr/>
        </p:nvSpPr>
        <p:spPr>
          <a:xfrm>
            <a:off x="6272784" y="2048255"/>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277356" y="2061972"/>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6510528" y="2029967"/>
            <a:ext cx="2011680"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Arm C — stress condition</a:t>
            </a:r>
          </a:p>
        </p:txBody>
      </p:sp>
      <p:sp>
        <p:nvSpPr>
          <p:cNvPr id="18" name="TextBox 17"/>
          <p:cNvSpPr txBox="1"/>
          <p:nvPr/>
        </p:nvSpPr>
        <p:spPr>
          <a:xfrm>
            <a:off x="6510528" y="2185415"/>
            <a:ext cx="2011680"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A weaker 1.5× uplift with one score in five randomised.</a:t>
            </a:r>
          </a:p>
        </p:txBody>
      </p:sp>
      <p:sp>
        <p:nvSpPr>
          <p:cNvPr id="19" name="Rectangle 18"/>
          <p:cNvSpPr/>
          <p:nvPr/>
        </p:nvSpPr>
        <p:spPr>
          <a:xfrm>
            <a:off x="6272784" y="3310128"/>
            <a:ext cx="2249424" cy="512064"/>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272784" y="3310128"/>
            <a:ext cx="32004" cy="512064"/>
          </a:xfrm>
          <a:prstGeom prst="rect">
            <a:avLst/>
          </a:prstGeom>
          <a:solidFill>
            <a:srgbClr val="8FA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19088" y="3383280"/>
            <a:ext cx="1975104"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ARM A — COMMITTEE</a:t>
            </a:r>
          </a:p>
        </p:txBody>
      </p:sp>
      <p:sp>
        <p:nvSpPr>
          <p:cNvPr id="22" name="TextBox 21"/>
          <p:cNvSpPr txBox="1"/>
          <p:nvPr/>
        </p:nvSpPr>
        <p:spPr>
          <a:xfrm>
            <a:off x="6419088" y="3529584"/>
            <a:ext cx="1975104" cy="219456"/>
          </a:xfrm>
          <a:prstGeom prst="rect">
            <a:avLst/>
          </a:prstGeom>
          <a:noFill/>
        </p:spPr>
        <p:txBody>
          <a:bodyPr wrap="square" lIns="0" tIns="0" rIns="0" bIns="0">
            <a:spAutoFit/>
          </a:bodyPr>
          <a:lstStyle/>
          <a:p>
            <a:pPr algn="l">
              <a:lnSpc>
                <a:spcPct val="95000"/>
              </a:lnSpc>
            </a:pPr>
            <a:r>
              <a:rPr sz="1350" b="1">
                <a:solidFill>
                  <a:srgbClr val="8FA1B2"/>
                </a:solidFill>
                <a:latin typeface="Calibri"/>
              </a:rPr>
              <a:t>0.38</a:t>
            </a:r>
          </a:p>
        </p:txBody>
      </p:sp>
      <p:sp>
        <p:nvSpPr>
          <p:cNvPr id="23" name="TextBox 22"/>
          <p:cNvSpPr txBox="1"/>
          <p:nvPr/>
        </p:nvSpPr>
        <p:spPr>
          <a:xfrm>
            <a:off x="6419088" y="3730752"/>
            <a:ext cx="1975104"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approvals per $1bn</a:t>
            </a:r>
          </a:p>
        </p:txBody>
      </p:sp>
      <p:sp>
        <p:nvSpPr>
          <p:cNvPr id="24" name="Rectangle 23"/>
          <p:cNvSpPr/>
          <p:nvPr/>
        </p:nvSpPr>
        <p:spPr>
          <a:xfrm>
            <a:off x="6272784" y="3895344"/>
            <a:ext cx="2249424" cy="512064"/>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6272784" y="3895344"/>
            <a:ext cx="32004" cy="512064"/>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419088" y="3968496"/>
            <a:ext cx="1975104"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ARM B — EVIDENCE-LED</a:t>
            </a:r>
          </a:p>
        </p:txBody>
      </p:sp>
      <p:sp>
        <p:nvSpPr>
          <p:cNvPr id="27" name="TextBox 26"/>
          <p:cNvSpPr txBox="1"/>
          <p:nvPr/>
        </p:nvSpPr>
        <p:spPr>
          <a:xfrm>
            <a:off x="6419088" y="4114800"/>
            <a:ext cx="1975104"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0.66</a:t>
            </a:r>
          </a:p>
        </p:txBody>
      </p:sp>
      <p:sp>
        <p:nvSpPr>
          <p:cNvPr id="28" name="TextBox 27"/>
          <p:cNvSpPr txBox="1"/>
          <p:nvPr/>
        </p:nvSpPr>
        <p:spPr>
          <a:xfrm>
            <a:off x="6419088" y="4315968"/>
            <a:ext cx="1975104"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approvals per $1bn</a:t>
            </a:r>
          </a:p>
        </p:txBody>
      </p:sp>
      <p:sp>
        <p:nvSpPr>
          <p:cNvPr id="29" name="TextBox 28"/>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The running mean settles from 0.430 to 0.383 as draws accumulate; this convergence is observable on screen during execution.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6 OF 9   ·   CONVERGENT VALIDITY</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Two unfitted quantities </a:t>
            </a:r>
            <a:r>
              <a:rPr sz="2500" b="1">
                <a:solidFill>
                  <a:srgbClr val="0B63CE"/>
                </a:solidFill>
                <a:latin typeface="Calibri"/>
              </a:rPr>
              <a:t>reproduce published benchmarks</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Two figures emerge as consequences of the cost and probability inputs, and both fall within independently published industry ranges.</a:t>
            </a:r>
          </a:p>
        </p:txBody>
      </p:sp>
      <p:sp>
        <p:nvSpPr>
          <p:cNvPr id="5" name="Rectangle 4"/>
          <p:cNvSpPr/>
          <p:nvPr/>
        </p:nvSpPr>
        <p:spPr>
          <a:xfrm>
            <a:off x="603503" y="1261872"/>
            <a:ext cx="5056632" cy="1818573"/>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10_mc_checks" descr="s10_mc_checks.png"/>
          <p:cNvPicPr>
            <a:picLocks noChangeAspect="1"/>
          </p:cNvPicPr>
          <p:nvPr/>
        </p:nvPicPr>
        <p:blipFill>
          <a:blip r:embed="rId2"/>
          <a:stretch>
            <a:fillRect/>
          </a:stretch>
        </p:blipFill>
        <p:spPr>
          <a:xfrm>
            <a:off x="640080" y="1298448"/>
            <a:ext cx="4983480" cy="1745421"/>
          </a:xfrm>
          <a:prstGeom prst="rect">
            <a:avLst/>
          </a:prstGeom>
        </p:spPr>
      </p:pic>
      <p:sp>
        <p:nvSpPr>
          <p:cNvPr id="7" name="Rounded Rectangle 6"/>
          <p:cNvSpPr/>
          <p:nvPr/>
        </p:nvSpPr>
        <p:spPr>
          <a:xfrm>
            <a:off x="587044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87502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6108192" y="1335024"/>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Portfolio success probability</a:t>
            </a:r>
          </a:p>
        </p:txBody>
      </p:sp>
      <p:sp>
        <p:nvSpPr>
          <p:cNvPr id="10" name="TextBox 9"/>
          <p:cNvSpPr txBox="1"/>
          <p:nvPr/>
        </p:nvSpPr>
        <p:spPr>
          <a:xfrm>
            <a:off x="6108192" y="1490472"/>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comparator arm averages 8.9%, within the published range of 7.9% (BIO) to 11.8% (DiMasi).</a:t>
            </a:r>
          </a:p>
        </p:txBody>
      </p:sp>
      <p:sp>
        <p:nvSpPr>
          <p:cNvPr id="11" name="Rounded Rectangle 10"/>
          <p:cNvSpPr/>
          <p:nvPr/>
        </p:nvSpPr>
        <p:spPr>
          <a:xfrm>
            <a:off x="5870448"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875020"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6108192" y="1755648"/>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Cost per approval</a:t>
            </a:r>
          </a:p>
        </p:txBody>
      </p:sp>
      <p:sp>
        <p:nvSpPr>
          <p:cNvPr id="14" name="TextBox 13"/>
          <p:cNvSpPr txBox="1"/>
          <p:nvPr/>
        </p:nvSpPr>
        <p:spPr>
          <a:xfrm>
            <a:off x="6108192" y="1911095"/>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baseline implies $2.54bn against a published estimate of $2.6bn (DiMasi, Tufts CSDD).</a:t>
            </a:r>
          </a:p>
        </p:txBody>
      </p:sp>
      <p:sp>
        <p:nvSpPr>
          <p:cNvPr id="15" name="Rounded Rectangle 14"/>
          <p:cNvSpPr/>
          <p:nvPr/>
        </p:nvSpPr>
        <p:spPr>
          <a:xfrm>
            <a:off x="5870448" y="219456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875020" y="220827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6108192" y="2176272"/>
            <a:ext cx="2414015"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Neither was calibrated</a:t>
            </a:r>
          </a:p>
        </p:txBody>
      </p:sp>
      <p:sp>
        <p:nvSpPr>
          <p:cNvPr id="18" name="TextBox 17"/>
          <p:cNvSpPr txBox="1"/>
          <p:nvPr/>
        </p:nvSpPr>
        <p:spPr>
          <a:xfrm>
            <a:off x="6108192" y="2331720"/>
            <a:ext cx="2414015"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Both quantities are consequences of the declared cost and probability inputs.</a:t>
            </a:r>
          </a:p>
        </p:txBody>
      </p:sp>
      <p:sp>
        <p:nvSpPr>
          <p:cNvPr id="19" name="Rectangle 18"/>
          <p:cNvSpPr/>
          <p:nvPr/>
        </p:nvSpPr>
        <p:spPr>
          <a:xfrm>
            <a:off x="640080" y="3401568"/>
            <a:ext cx="2395728"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40080" y="3401568"/>
            <a:ext cx="32004" cy="566928"/>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6384" y="3474720"/>
            <a:ext cx="212140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SUPPORTED TARGETS FUNDED</a:t>
            </a:r>
          </a:p>
        </p:txBody>
      </p:sp>
      <p:sp>
        <p:nvSpPr>
          <p:cNvPr id="22" name="TextBox 21"/>
          <p:cNvSpPr txBox="1"/>
          <p:nvPr/>
        </p:nvSpPr>
        <p:spPr>
          <a:xfrm>
            <a:off x="786384" y="3621024"/>
            <a:ext cx="2121408"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1.8  →  6.0</a:t>
            </a:r>
          </a:p>
        </p:txBody>
      </p:sp>
      <p:sp>
        <p:nvSpPr>
          <p:cNvPr id="23" name="TextBox 22"/>
          <p:cNvSpPr txBox="1"/>
          <p:nvPr/>
        </p:nvSpPr>
        <p:spPr>
          <a:xfrm>
            <a:off x="786384" y="3822192"/>
            <a:ext cx="212140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of six per cycle, arm A → arm B</a:t>
            </a:r>
          </a:p>
        </p:txBody>
      </p:sp>
      <p:sp>
        <p:nvSpPr>
          <p:cNvPr id="24" name="Rectangle 23"/>
          <p:cNvSpPr/>
          <p:nvPr/>
        </p:nvSpPr>
        <p:spPr>
          <a:xfrm>
            <a:off x="3218688" y="3401568"/>
            <a:ext cx="2395728"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3218688" y="3401568"/>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364992" y="3474720"/>
            <a:ext cx="212140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RELATIVE GAIN IN APPROVALS</a:t>
            </a:r>
          </a:p>
        </p:txBody>
      </p:sp>
      <p:sp>
        <p:nvSpPr>
          <p:cNvPr id="27" name="TextBox 26"/>
          <p:cNvSpPr txBox="1"/>
          <p:nvPr/>
        </p:nvSpPr>
        <p:spPr>
          <a:xfrm>
            <a:off x="3364992" y="3621024"/>
            <a:ext cx="2121408"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+72%</a:t>
            </a:r>
          </a:p>
        </p:txBody>
      </p:sp>
      <p:sp>
        <p:nvSpPr>
          <p:cNvPr id="28" name="TextBox 27"/>
          <p:cNvSpPr txBox="1"/>
          <p:nvPr/>
        </p:nvSpPr>
        <p:spPr>
          <a:xfrm>
            <a:off x="3364992" y="3822192"/>
            <a:ext cx="212140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arm B over arm A, per $1bn</a:t>
            </a:r>
          </a:p>
        </p:txBody>
      </p:sp>
      <p:sp>
        <p:nvSpPr>
          <p:cNvPr id="29" name="Rectangle 28"/>
          <p:cNvSpPr/>
          <p:nvPr/>
        </p:nvSpPr>
        <p:spPr>
          <a:xfrm>
            <a:off x="5870448" y="4041648"/>
            <a:ext cx="265176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5870448" y="4041648"/>
            <a:ext cx="32004" cy="566928"/>
          </a:xfrm>
          <a:prstGeom prst="rect">
            <a:avLst/>
          </a:prstGeom>
          <a:solidFill>
            <a:srgbClr val="C7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016752" y="4114800"/>
            <a:ext cx="237744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UNDER STRESS CONDITIONS</a:t>
            </a:r>
          </a:p>
        </p:txBody>
      </p:sp>
      <p:sp>
        <p:nvSpPr>
          <p:cNvPr id="32" name="TextBox 31"/>
          <p:cNvSpPr txBox="1"/>
          <p:nvPr/>
        </p:nvSpPr>
        <p:spPr>
          <a:xfrm>
            <a:off x="6016752" y="4261104"/>
            <a:ext cx="2377440" cy="219456"/>
          </a:xfrm>
          <a:prstGeom prst="rect">
            <a:avLst/>
          </a:prstGeom>
          <a:noFill/>
        </p:spPr>
        <p:txBody>
          <a:bodyPr wrap="square" lIns="0" tIns="0" rIns="0" bIns="0">
            <a:spAutoFit/>
          </a:bodyPr>
          <a:lstStyle/>
          <a:p>
            <a:pPr algn="l">
              <a:lnSpc>
                <a:spcPct val="95000"/>
              </a:lnSpc>
            </a:pPr>
            <a:r>
              <a:rPr sz="1350" b="1">
                <a:solidFill>
                  <a:srgbClr val="C77A0A"/>
                </a:solidFill>
                <a:latin typeface="Calibri"/>
              </a:rPr>
              <a:t>+27%</a:t>
            </a:r>
          </a:p>
        </p:txBody>
      </p:sp>
      <p:sp>
        <p:nvSpPr>
          <p:cNvPr id="33" name="TextBox 32"/>
          <p:cNvSpPr txBox="1"/>
          <p:nvPr/>
        </p:nvSpPr>
        <p:spPr>
          <a:xfrm>
            <a:off x="6016752" y="4462272"/>
            <a:ext cx="237744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retained against a matched comparator</a:t>
            </a:r>
          </a:p>
        </p:txBody>
      </p:sp>
      <p:sp>
        <p:nvSpPr>
          <p:cNvPr id="34" name="TextBox 33"/>
          <p:cNvSpPr txBox="1"/>
          <p:nvPr/>
        </p:nvSpPr>
        <p:spPr>
          <a:xfrm>
            <a:off x="640080" y="4114800"/>
            <a:ext cx="5138928" cy="457200"/>
          </a:xfrm>
          <a:prstGeom prst="rect">
            <a:avLst/>
          </a:prstGeom>
          <a:noFill/>
        </p:spPr>
        <p:txBody>
          <a:bodyPr wrap="square" lIns="0" tIns="0" rIns="0" bIns="0">
            <a:spAutoFit/>
          </a:bodyPr>
          <a:lstStyle/>
          <a:p>
            <a:pPr algn="l">
              <a:lnSpc>
                <a:spcPct val="95000"/>
              </a:lnSpc>
            </a:pPr>
            <a:r>
              <a:rPr sz="850" b="0">
                <a:solidFill>
                  <a:srgbClr val="55697C"/>
                </a:solidFill>
                <a:latin typeface="Calibri"/>
              </a:rPr>
              <a:t>The comparator arm still selects 1.8 supported targets by chance, and the underlying biology rewards those selections. Modelling this correctly yields +72% rather than the inflated figure an asymmetric comparison would produce.</a:t>
            </a:r>
          </a:p>
        </p:txBody>
      </p:sp>
      <p:sp>
        <p:nvSpPr>
          <p:cNvPr id="35" name="TextBox 34"/>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Validations 2 and 3 of 3. Neither quantity was used in calibration.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7 OF 9   ·   ECONOMIC EVALUATION</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Expected value and </a:t>
            </a:r>
            <a:r>
              <a:rPr sz="2500" b="1">
                <a:solidFill>
                  <a:srgbClr val="0B63CE"/>
                </a:solidFill>
                <a:latin typeface="Calibri"/>
              </a:rPr>
              <a:t>return on investment</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One approval is valued at $3.5bn risk-adjusted NPV. Expenditure is effectively identical across arms, so the difference is attributable to the selection rule alone.</a:t>
            </a:r>
          </a:p>
        </p:txBody>
      </p:sp>
      <p:sp>
        <p:nvSpPr>
          <p:cNvPr id="5" name="Rectangle 4"/>
          <p:cNvSpPr/>
          <p:nvPr/>
        </p:nvSpPr>
        <p:spPr>
          <a:xfrm>
            <a:off x="603503" y="1261872"/>
            <a:ext cx="5330952" cy="2002114"/>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11_roi" descr="s11_roi.png"/>
          <p:cNvPicPr>
            <a:picLocks noChangeAspect="1"/>
          </p:cNvPicPr>
          <p:nvPr/>
        </p:nvPicPr>
        <p:blipFill>
          <a:blip r:embed="rId2"/>
          <a:stretch>
            <a:fillRect/>
          </a:stretch>
        </p:blipFill>
        <p:spPr>
          <a:xfrm>
            <a:off x="640080" y="1298448"/>
            <a:ext cx="5257800" cy="1928962"/>
          </a:xfrm>
          <a:prstGeom prst="rect">
            <a:avLst/>
          </a:prstGeom>
        </p:spPr>
      </p:pic>
      <p:sp>
        <p:nvSpPr>
          <p:cNvPr id="7" name="Rounded Rectangle 6"/>
          <p:cNvSpPr/>
          <p:nvPr/>
        </p:nvSpPr>
        <p:spPr>
          <a:xfrm>
            <a:off x="6053328"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057900"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6291072" y="1335024"/>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Expenditure held constant</a:t>
            </a:r>
          </a:p>
        </p:txBody>
      </p:sp>
      <p:sp>
        <p:nvSpPr>
          <p:cNvPr id="10" name="TextBox 9"/>
          <p:cNvSpPr txBox="1"/>
          <p:nvPr/>
        </p:nvSpPr>
        <p:spPr>
          <a:xfrm>
            <a:off x="6291072" y="1490472"/>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$0.91bn against $0.92bn; the selection rule imposes no additional cost.</a:t>
            </a:r>
          </a:p>
        </p:txBody>
      </p:sp>
      <p:sp>
        <p:nvSpPr>
          <p:cNvPr id="11" name="Rounded Rectangle 10"/>
          <p:cNvSpPr/>
          <p:nvPr/>
        </p:nvSpPr>
        <p:spPr>
          <a:xfrm>
            <a:off x="6053328"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57900"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6291072" y="1755648"/>
            <a:ext cx="2231136"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Value created</a:t>
            </a:r>
          </a:p>
        </p:txBody>
      </p:sp>
      <p:sp>
        <p:nvSpPr>
          <p:cNvPr id="14" name="TextBox 13"/>
          <p:cNvSpPr txBox="1"/>
          <p:nvPr/>
        </p:nvSpPr>
        <p:spPr>
          <a:xfrm>
            <a:off x="6291072" y="1911095"/>
            <a:ext cx="2231136"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Expected value rises from $1.26bn to $2.16bn per cycle.</a:t>
            </a:r>
          </a:p>
        </p:txBody>
      </p:sp>
      <p:sp>
        <p:nvSpPr>
          <p:cNvPr id="15" name="Rectangle 14"/>
          <p:cNvSpPr/>
          <p:nvPr/>
        </p:nvSpPr>
        <p:spPr>
          <a:xfrm>
            <a:off x="6053328" y="2706624"/>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053328" y="2706624"/>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199632" y="2779776"/>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INCREMENTAL EXPECTED VALUE</a:t>
            </a:r>
          </a:p>
        </p:txBody>
      </p:sp>
      <p:sp>
        <p:nvSpPr>
          <p:cNvPr id="18" name="TextBox 17"/>
          <p:cNvSpPr txBox="1"/>
          <p:nvPr/>
        </p:nvSpPr>
        <p:spPr>
          <a:xfrm>
            <a:off x="6199632" y="2926080"/>
            <a:ext cx="219456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+$0.90bn</a:t>
            </a:r>
          </a:p>
        </p:txBody>
      </p:sp>
      <p:sp>
        <p:nvSpPr>
          <p:cNvPr id="19" name="TextBox 18"/>
          <p:cNvSpPr txBox="1"/>
          <p:nvPr/>
        </p:nvSpPr>
        <p:spPr>
          <a:xfrm>
            <a:off x="6199632" y="3127248"/>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per $1bn discovery cycle</a:t>
            </a:r>
          </a:p>
        </p:txBody>
      </p:sp>
      <p:sp>
        <p:nvSpPr>
          <p:cNvPr id="20" name="Rectangle 19"/>
          <p:cNvSpPr/>
          <p:nvPr/>
        </p:nvSpPr>
        <p:spPr>
          <a:xfrm>
            <a:off x="6053328" y="3438144"/>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6053328" y="3438144"/>
            <a:ext cx="32004" cy="566928"/>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199632" y="3511296"/>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RETURN ON INVESTMENT</a:t>
            </a:r>
          </a:p>
        </p:txBody>
      </p:sp>
      <p:sp>
        <p:nvSpPr>
          <p:cNvPr id="23" name="TextBox 22"/>
          <p:cNvSpPr txBox="1"/>
          <p:nvPr/>
        </p:nvSpPr>
        <p:spPr>
          <a:xfrm>
            <a:off x="6199632" y="3657600"/>
            <a:ext cx="2194560"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34%  →  131%</a:t>
            </a:r>
          </a:p>
        </p:txBody>
      </p:sp>
      <p:sp>
        <p:nvSpPr>
          <p:cNvPr id="24" name="TextBox 23"/>
          <p:cNvSpPr txBox="1"/>
          <p:nvPr/>
        </p:nvSpPr>
        <p:spPr>
          <a:xfrm>
            <a:off x="6199632" y="3858768"/>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arm A → arm B</a:t>
            </a:r>
          </a:p>
        </p:txBody>
      </p:sp>
      <p:sp>
        <p:nvSpPr>
          <p:cNvPr id="25" name="Rectangle 24"/>
          <p:cNvSpPr/>
          <p:nvPr/>
        </p:nvSpPr>
        <p:spPr>
          <a:xfrm>
            <a:off x="6053328" y="4169663"/>
            <a:ext cx="246888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6053328" y="4169663"/>
            <a:ext cx="32004" cy="566928"/>
          </a:xfrm>
          <a:prstGeom prst="rect">
            <a:avLst/>
          </a:prstGeom>
          <a:solidFill>
            <a:srgbClr val="0A3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199632" y="4242816"/>
            <a:ext cx="21945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PRODUCTIVITY</a:t>
            </a:r>
          </a:p>
        </p:txBody>
      </p:sp>
      <p:sp>
        <p:nvSpPr>
          <p:cNvPr id="28" name="TextBox 27"/>
          <p:cNvSpPr txBox="1"/>
          <p:nvPr/>
        </p:nvSpPr>
        <p:spPr>
          <a:xfrm>
            <a:off x="6199632" y="4389120"/>
            <a:ext cx="2194560" cy="219456"/>
          </a:xfrm>
          <a:prstGeom prst="rect">
            <a:avLst/>
          </a:prstGeom>
          <a:noFill/>
        </p:spPr>
        <p:txBody>
          <a:bodyPr wrap="square" lIns="0" tIns="0" rIns="0" bIns="0">
            <a:spAutoFit/>
          </a:bodyPr>
          <a:lstStyle/>
          <a:p>
            <a:pPr algn="l">
              <a:lnSpc>
                <a:spcPct val="95000"/>
              </a:lnSpc>
            </a:pPr>
            <a:r>
              <a:rPr sz="1350" b="1">
                <a:solidFill>
                  <a:srgbClr val="0A3E7A"/>
                </a:solidFill>
                <a:latin typeface="Calibri"/>
              </a:rPr>
              <a:t>0.38 → 0.66</a:t>
            </a:r>
          </a:p>
        </p:txBody>
      </p:sp>
      <p:sp>
        <p:nvSpPr>
          <p:cNvPr id="29" name="TextBox 28"/>
          <p:cNvSpPr txBox="1"/>
          <p:nvPr/>
        </p:nvSpPr>
        <p:spPr>
          <a:xfrm>
            <a:off x="6199632" y="4590288"/>
            <a:ext cx="21945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approvals per $1bn</a:t>
            </a:r>
          </a:p>
        </p:txBody>
      </p:sp>
      <p:sp>
        <p:nvSpPr>
          <p:cNvPr id="30" name="TextBox 29"/>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Budget, scientific capability and organisational capacity are held constant; the intervention is the evidence-based selection rule alone.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7 OF 9   ·   DISTRIBUTIONAL ANALYSIS</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The full outcome distribution, </a:t>
            </a:r>
            <a:r>
              <a:rPr sz="2500" b="1">
                <a:solidFill>
                  <a:srgbClr val="0B63CE"/>
                </a:solidFill>
                <a:latin typeface="Calibri"/>
              </a:rPr>
              <a:t>not the mean alone</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Central estimates conceal the dispersion that governs this industry. The downside is reported alongside the expected return, not after it.</a:t>
            </a:r>
          </a:p>
        </p:txBody>
      </p:sp>
      <p:sp>
        <p:nvSpPr>
          <p:cNvPr id="5" name="Rectangle 4"/>
          <p:cNvSpPr/>
          <p:nvPr/>
        </p:nvSpPr>
        <p:spPr>
          <a:xfrm>
            <a:off x="603503" y="1261872"/>
            <a:ext cx="4416552" cy="1924989"/>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12_risk" descr="s12_risk.png"/>
          <p:cNvPicPr>
            <a:picLocks noChangeAspect="1"/>
          </p:cNvPicPr>
          <p:nvPr/>
        </p:nvPicPr>
        <p:blipFill>
          <a:blip r:embed="rId2"/>
          <a:stretch>
            <a:fillRect/>
          </a:stretch>
        </p:blipFill>
        <p:spPr>
          <a:xfrm>
            <a:off x="640080" y="1298448"/>
            <a:ext cx="4343400" cy="1851837"/>
          </a:xfrm>
          <a:prstGeom prst="rect">
            <a:avLst/>
          </a:prstGeom>
        </p:spPr>
      </p:pic>
      <p:sp>
        <p:nvSpPr>
          <p:cNvPr id="7" name="Rounded Rectangle 6"/>
          <p:cNvSpPr/>
          <p:nvPr/>
        </p:nvSpPr>
        <p:spPr>
          <a:xfrm>
            <a:off x="5212080"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216652"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9" name="TextBox 8"/>
          <p:cNvSpPr txBox="1"/>
          <p:nvPr/>
        </p:nvSpPr>
        <p:spPr>
          <a:xfrm>
            <a:off x="5449824" y="1335024"/>
            <a:ext cx="30723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Majority of cycles return a loss</a:t>
            </a:r>
          </a:p>
        </p:txBody>
      </p:sp>
      <p:sp>
        <p:nvSpPr>
          <p:cNvPr id="10" name="TextBox 9"/>
          <p:cNvSpPr txBox="1"/>
          <p:nvPr/>
        </p:nvSpPr>
        <p:spPr>
          <a:xfrm>
            <a:off x="5449824" y="1490472"/>
            <a:ext cx="30723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In the evidence-led arm, 52% of $1bn cycles close below break-even.</a:t>
            </a:r>
          </a:p>
        </p:txBody>
      </p:sp>
      <p:sp>
        <p:nvSpPr>
          <p:cNvPr id="11" name="Rounded Rectangle 10"/>
          <p:cNvSpPr/>
          <p:nvPr/>
        </p:nvSpPr>
        <p:spPr>
          <a:xfrm>
            <a:off x="5212080" y="1773936"/>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216652" y="1787651"/>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3" name="TextBox 12"/>
          <p:cNvSpPr txBox="1"/>
          <p:nvPr/>
        </p:nvSpPr>
        <p:spPr>
          <a:xfrm>
            <a:off x="5449824" y="1755648"/>
            <a:ext cx="30723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Wide dispersion</a:t>
            </a:r>
          </a:p>
        </p:txBody>
      </p:sp>
      <p:sp>
        <p:nvSpPr>
          <p:cNvPr id="14" name="TextBox 13"/>
          <p:cNvSpPr txBox="1"/>
          <p:nvPr/>
        </p:nvSpPr>
        <p:spPr>
          <a:xfrm>
            <a:off x="5449824" y="1911095"/>
            <a:ext cx="30723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10th-to-90th percentile return spans −100% to +548%.</a:t>
            </a:r>
          </a:p>
        </p:txBody>
      </p:sp>
      <p:sp>
        <p:nvSpPr>
          <p:cNvPr id="15" name="Rounded Rectangle 14"/>
          <p:cNvSpPr/>
          <p:nvPr/>
        </p:nvSpPr>
        <p:spPr>
          <a:xfrm>
            <a:off x="5212080" y="2048255"/>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216652" y="2061972"/>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3</a:t>
            </a:r>
          </a:p>
        </p:txBody>
      </p:sp>
      <p:sp>
        <p:nvSpPr>
          <p:cNvPr id="17" name="TextBox 16"/>
          <p:cNvSpPr txBox="1"/>
          <p:nvPr/>
        </p:nvSpPr>
        <p:spPr>
          <a:xfrm>
            <a:off x="5449824" y="2029967"/>
            <a:ext cx="307238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Shift in the distribution</a:t>
            </a:r>
          </a:p>
        </p:txBody>
      </p:sp>
      <p:sp>
        <p:nvSpPr>
          <p:cNvPr id="18" name="TextBox 17"/>
          <p:cNvSpPr txBox="1"/>
          <p:nvPr/>
        </p:nvSpPr>
        <p:spPr>
          <a:xfrm>
            <a:off x="5449824" y="2185415"/>
            <a:ext cx="307238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probability of producing nothing falls from 69% to 52%, while the probability of two or more approvals approximately triples.</a:t>
            </a:r>
          </a:p>
        </p:txBody>
      </p:sp>
      <p:sp>
        <p:nvSpPr>
          <p:cNvPr id="19" name="Rectangle 18"/>
          <p:cNvSpPr/>
          <p:nvPr/>
        </p:nvSpPr>
        <p:spPr>
          <a:xfrm>
            <a:off x="5212080" y="3877056"/>
            <a:ext cx="160020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212080" y="3877056"/>
            <a:ext cx="32004" cy="566928"/>
          </a:xfrm>
          <a:prstGeom prst="rect">
            <a:avLst/>
          </a:prstGeom>
          <a:solidFill>
            <a:srgbClr val="C7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58384" y="3950208"/>
            <a:ext cx="132588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PROBABILITY OF ZERO APPROVALS</a:t>
            </a:r>
          </a:p>
        </p:txBody>
      </p:sp>
      <p:sp>
        <p:nvSpPr>
          <p:cNvPr id="22" name="TextBox 21"/>
          <p:cNvSpPr txBox="1"/>
          <p:nvPr/>
        </p:nvSpPr>
        <p:spPr>
          <a:xfrm>
            <a:off x="5358384" y="4096512"/>
            <a:ext cx="1325880" cy="219456"/>
          </a:xfrm>
          <a:prstGeom prst="rect">
            <a:avLst/>
          </a:prstGeom>
          <a:noFill/>
        </p:spPr>
        <p:txBody>
          <a:bodyPr wrap="square" lIns="0" tIns="0" rIns="0" bIns="0">
            <a:spAutoFit/>
          </a:bodyPr>
          <a:lstStyle/>
          <a:p>
            <a:pPr algn="l">
              <a:lnSpc>
                <a:spcPct val="95000"/>
              </a:lnSpc>
            </a:pPr>
            <a:r>
              <a:rPr sz="1350" b="1">
                <a:solidFill>
                  <a:srgbClr val="C77A0A"/>
                </a:solidFill>
                <a:latin typeface="Calibri"/>
              </a:rPr>
              <a:t>69% → 52%</a:t>
            </a:r>
          </a:p>
        </p:txBody>
      </p:sp>
      <p:sp>
        <p:nvSpPr>
          <p:cNvPr id="23" name="Rectangle 22"/>
          <p:cNvSpPr/>
          <p:nvPr/>
        </p:nvSpPr>
        <p:spPr>
          <a:xfrm>
            <a:off x="6922008" y="3877056"/>
            <a:ext cx="1600200"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922008" y="3877056"/>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068312" y="3950208"/>
            <a:ext cx="132588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PROBABILITY OF TWO OR MORE</a:t>
            </a:r>
          </a:p>
        </p:txBody>
      </p:sp>
      <p:sp>
        <p:nvSpPr>
          <p:cNvPr id="26" name="TextBox 25"/>
          <p:cNvSpPr txBox="1"/>
          <p:nvPr/>
        </p:nvSpPr>
        <p:spPr>
          <a:xfrm>
            <a:off x="7068312" y="4096512"/>
            <a:ext cx="132588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4.5% → 11.8%</a:t>
            </a:r>
          </a:p>
        </p:txBody>
      </p:sp>
      <p:sp>
        <p:nvSpPr>
          <p:cNvPr id="27" name="TextBox 26"/>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The approach shifts the probability distribution; it does not eliminate downside risk, and reporting both is a condition of the claim.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8 OF 9   ·   SENSITIVITY ANALYSIS</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Robustness of the conclusion </a:t>
            </a:r>
            <a:r>
              <a:rPr sz="2500" b="1">
                <a:solidFill>
                  <a:srgbClr val="0B63CE"/>
                </a:solidFill>
                <a:latin typeface="Calibri"/>
              </a:rPr>
              <a:t>to its two key assumptions</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Both assumptions on which the conclusion depends are varied systematically across their plausible range, and the surviving advantage is measured at each point.</a:t>
            </a:r>
          </a:p>
        </p:txBody>
      </p:sp>
      <p:sp>
        <p:nvSpPr>
          <p:cNvPr id="5" name="Rectangle 4"/>
          <p:cNvSpPr/>
          <p:nvPr/>
        </p:nvSpPr>
        <p:spPr>
          <a:xfrm>
            <a:off x="603503" y="1261872"/>
            <a:ext cx="4429465" cy="2468880"/>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13_sens" descr="s13_sens.png"/>
          <p:cNvPicPr>
            <a:picLocks noChangeAspect="1"/>
          </p:cNvPicPr>
          <p:nvPr/>
        </p:nvPicPr>
        <p:blipFill>
          <a:blip r:embed="rId2"/>
          <a:stretch>
            <a:fillRect/>
          </a:stretch>
        </p:blipFill>
        <p:spPr>
          <a:xfrm>
            <a:off x="640080" y="1298448"/>
            <a:ext cx="4356313" cy="2395728"/>
          </a:xfrm>
          <a:prstGeom prst="rect">
            <a:avLst/>
          </a:prstGeom>
        </p:spPr>
      </p:pic>
      <p:sp>
        <p:nvSpPr>
          <p:cNvPr id="7" name="Rectangle 6"/>
          <p:cNvSpPr/>
          <p:nvPr/>
        </p:nvSpPr>
        <p:spPr>
          <a:xfrm>
            <a:off x="603503" y="3803904"/>
            <a:ext cx="2487951" cy="786384"/>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shot_s15_honest" descr="s15_honest.png"/>
          <p:cNvPicPr>
            <a:picLocks noChangeAspect="1"/>
          </p:cNvPicPr>
          <p:nvPr/>
        </p:nvPicPr>
        <p:blipFill>
          <a:blip r:embed="rId3"/>
          <a:stretch>
            <a:fillRect/>
          </a:stretch>
        </p:blipFill>
        <p:spPr>
          <a:xfrm>
            <a:off x="640080" y="3840480"/>
            <a:ext cx="2414799" cy="713232"/>
          </a:xfrm>
          <a:prstGeom prst="rect">
            <a:avLst/>
          </a:prstGeom>
        </p:spPr>
      </p:pic>
      <p:sp>
        <p:nvSpPr>
          <p:cNvPr id="9" name="Rounded Rectangle 8"/>
          <p:cNvSpPr/>
          <p:nvPr/>
        </p:nvSpPr>
        <p:spPr>
          <a:xfrm>
            <a:off x="5760720" y="1353312"/>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765292" y="1367028"/>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1</a:t>
            </a:r>
          </a:p>
        </p:txBody>
      </p:sp>
      <p:sp>
        <p:nvSpPr>
          <p:cNvPr id="11" name="TextBox 10"/>
          <p:cNvSpPr txBox="1"/>
          <p:nvPr/>
        </p:nvSpPr>
        <p:spPr>
          <a:xfrm>
            <a:off x="5998464" y="1335024"/>
            <a:ext cx="252374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Misspecification of the uplift</a:t>
            </a:r>
          </a:p>
        </p:txBody>
      </p:sp>
      <p:sp>
        <p:nvSpPr>
          <p:cNvPr id="12" name="TextBox 11"/>
          <p:cNvSpPr txBox="1"/>
          <p:nvPr/>
        </p:nvSpPr>
        <p:spPr>
          <a:xfrm>
            <a:off x="5998464" y="1490472"/>
            <a:ext cx="252374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The advantage declines monotonically rather than collapsing, and reaches zero only at 1.0× — the case in which human genetic evidence carries no information.</a:t>
            </a:r>
          </a:p>
        </p:txBody>
      </p:sp>
      <p:sp>
        <p:nvSpPr>
          <p:cNvPr id="13" name="Rounded Rectangle 12"/>
          <p:cNvSpPr/>
          <p:nvPr/>
        </p:nvSpPr>
        <p:spPr>
          <a:xfrm>
            <a:off x="5760720" y="1920240"/>
            <a:ext cx="155448" cy="155448"/>
          </a:xfrm>
          <a:prstGeom prst="roundRect">
            <a:avLst>
              <a:gd name="adj" fmla="val 9000"/>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765292" y="1933956"/>
            <a:ext cx="146304" cy="128016"/>
          </a:xfrm>
          <a:prstGeom prst="rect">
            <a:avLst/>
          </a:prstGeom>
          <a:noFill/>
        </p:spPr>
        <p:txBody>
          <a:bodyPr wrap="square" lIns="0" tIns="0" rIns="0" bIns="0">
            <a:spAutoFit/>
          </a:bodyPr>
          <a:lstStyle/>
          <a:p>
            <a:pPr algn="ctr">
              <a:lnSpc>
                <a:spcPct val="95000"/>
              </a:lnSpc>
            </a:pPr>
            <a:r>
              <a:rPr sz="650" b="1">
                <a:solidFill>
                  <a:srgbClr val="FFFFFF"/>
                </a:solidFill>
                <a:latin typeface="Calibri"/>
              </a:rPr>
              <a:t>2</a:t>
            </a:r>
          </a:p>
        </p:txBody>
      </p:sp>
      <p:sp>
        <p:nvSpPr>
          <p:cNvPr id="15" name="TextBox 14"/>
          <p:cNvSpPr txBox="1"/>
          <p:nvPr/>
        </p:nvSpPr>
        <p:spPr>
          <a:xfrm>
            <a:off x="5998464" y="1901952"/>
            <a:ext cx="2523744" cy="146304"/>
          </a:xfrm>
          <a:prstGeom prst="rect">
            <a:avLst/>
          </a:prstGeom>
          <a:noFill/>
        </p:spPr>
        <p:txBody>
          <a:bodyPr wrap="square" lIns="0" tIns="0" rIns="0" bIns="0">
            <a:spAutoFit/>
          </a:bodyPr>
          <a:lstStyle/>
          <a:p>
            <a:pPr algn="l">
              <a:lnSpc>
                <a:spcPct val="95000"/>
              </a:lnSpc>
            </a:pPr>
            <a:r>
              <a:rPr sz="850" b="1">
                <a:solidFill>
                  <a:srgbClr val="0A3E7A"/>
                </a:solidFill>
                <a:latin typeface="Calibri"/>
              </a:rPr>
              <a:t>Misclassification of the scores</a:t>
            </a:r>
          </a:p>
        </p:txBody>
      </p:sp>
      <p:sp>
        <p:nvSpPr>
          <p:cNvPr id="16" name="TextBox 15"/>
          <p:cNvSpPr txBox="1"/>
          <p:nvPr/>
        </p:nvSpPr>
        <p:spPr>
          <a:xfrm>
            <a:off x="5998464" y="2057400"/>
            <a:ext cx="2523744" cy="365760"/>
          </a:xfrm>
          <a:prstGeom prst="rect">
            <a:avLst/>
          </a:prstGeom>
          <a:noFill/>
        </p:spPr>
        <p:txBody>
          <a:bodyPr wrap="square" lIns="0" tIns="0" rIns="0" bIns="0">
            <a:spAutoFit/>
          </a:bodyPr>
          <a:lstStyle/>
          <a:p>
            <a:pPr algn="l">
              <a:lnSpc>
                <a:spcPct val="95000"/>
              </a:lnSpc>
            </a:pPr>
            <a:r>
              <a:rPr sz="800" b="0">
                <a:solidFill>
                  <a:srgbClr val="55697C"/>
                </a:solidFill>
                <a:latin typeface="Calibri"/>
              </a:rPr>
              <a:t>With one score in five randomised, 51% of the advantage is retained; under complete randomisation it disappears, as expected.</a:t>
            </a:r>
          </a:p>
        </p:txBody>
      </p:sp>
      <p:sp>
        <p:nvSpPr>
          <p:cNvPr id="17" name="Rectangle 16"/>
          <p:cNvSpPr/>
          <p:nvPr/>
        </p:nvSpPr>
        <p:spPr>
          <a:xfrm>
            <a:off x="5760720" y="3529584"/>
            <a:ext cx="2761488"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760720" y="3529584"/>
            <a:ext cx="32004" cy="566928"/>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07024" y="3602736"/>
            <a:ext cx="248716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FIFTY PER CENT OF THE EFFECT RETAINED AT</a:t>
            </a:r>
          </a:p>
        </p:txBody>
      </p:sp>
      <p:sp>
        <p:nvSpPr>
          <p:cNvPr id="20" name="TextBox 19"/>
          <p:cNvSpPr txBox="1"/>
          <p:nvPr/>
        </p:nvSpPr>
        <p:spPr>
          <a:xfrm>
            <a:off x="5907024" y="3749039"/>
            <a:ext cx="2487168"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1.66× uplift</a:t>
            </a:r>
          </a:p>
        </p:txBody>
      </p:sp>
      <p:sp>
        <p:nvSpPr>
          <p:cNvPr id="21" name="TextBox 20"/>
          <p:cNvSpPr txBox="1"/>
          <p:nvPr/>
        </p:nvSpPr>
        <p:spPr>
          <a:xfrm>
            <a:off x="5907024" y="3950208"/>
            <a:ext cx="248716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published estimate is 2.6×</a:t>
            </a:r>
          </a:p>
        </p:txBody>
      </p:sp>
      <p:sp>
        <p:nvSpPr>
          <p:cNvPr id="22" name="Rectangle 21"/>
          <p:cNvSpPr/>
          <p:nvPr/>
        </p:nvSpPr>
        <p:spPr>
          <a:xfrm>
            <a:off x="5760720" y="4224528"/>
            <a:ext cx="2761488" cy="566928"/>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760720" y="4224528"/>
            <a:ext cx="32004" cy="566928"/>
          </a:xfrm>
          <a:prstGeom prst="rect">
            <a:avLst/>
          </a:prstGeom>
          <a:solidFill>
            <a:srgbClr val="C7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907024" y="4297680"/>
            <a:ext cx="248716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OR AT</a:t>
            </a:r>
          </a:p>
        </p:txBody>
      </p:sp>
      <p:sp>
        <p:nvSpPr>
          <p:cNvPr id="25" name="TextBox 24"/>
          <p:cNvSpPr txBox="1"/>
          <p:nvPr/>
        </p:nvSpPr>
        <p:spPr>
          <a:xfrm>
            <a:off x="5907024" y="4443984"/>
            <a:ext cx="2487168" cy="219456"/>
          </a:xfrm>
          <a:prstGeom prst="rect">
            <a:avLst/>
          </a:prstGeom>
          <a:noFill/>
        </p:spPr>
        <p:txBody>
          <a:bodyPr wrap="square" lIns="0" tIns="0" rIns="0" bIns="0">
            <a:spAutoFit/>
          </a:bodyPr>
          <a:lstStyle/>
          <a:p>
            <a:pPr algn="l">
              <a:lnSpc>
                <a:spcPct val="95000"/>
              </a:lnSpc>
            </a:pPr>
            <a:r>
              <a:rPr sz="1350" b="1">
                <a:solidFill>
                  <a:srgbClr val="C77A0A"/>
                </a:solidFill>
                <a:latin typeface="Calibri"/>
              </a:rPr>
              <a:t>32% misclassification</a:t>
            </a:r>
          </a:p>
        </p:txBody>
      </p:sp>
      <p:sp>
        <p:nvSpPr>
          <p:cNvPr id="26" name="TextBox 25"/>
          <p:cNvSpPr txBox="1"/>
          <p:nvPr/>
        </p:nvSpPr>
        <p:spPr>
          <a:xfrm>
            <a:off x="5907024" y="4645152"/>
            <a:ext cx="248716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of the model’s own evidence scores</a:t>
            </a:r>
          </a:p>
        </p:txBody>
      </p:sp>
      <p:sp>
        <p:nvSpPr>
          <p:cNvPr id="27" name="TextBox 26"/>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No interior break-even point exists. The analysis instead reports the proportion of the advantage retained under substantial misspecification.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STEP 9 OF 9   ·   SUMMARY OF FINDINGS</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a:solidFill>
                  <a:srgbClr val="10243A"/>
                </a:solidFill>
                <a:latin typeface="Calibri"/>
              </a:rPr>
              <a:t>Results of the </a:t>
            </a:r>
            <a:r>
              <a:rPr sz="2500" b="1">
                <a:solidFill>
                  <a:srgbClr val="0B63CE"/>
                </a:solidFill>
                <a:latin typeface="Calibri"/>
              </a:rPr>
              <a:t>live execution</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Every quantity reported below was computed during this demonstration, from the source observations upward.</a:t>
            </a:r>
          </a:p>
        </p:txBody>
      </p:sp>
      <p:sp>
        <p:nvSpPr>
          <p:cNvPr id="5" name="Rectangle 4"/>
          <p:cNvSpPr/>
          <p:nvPr/>
        </p:nvSpPr>
        <p:spPr>
          <a:xfrm>
            <a:off x="603503" y="1261872"/>
            <a:ext cx="4231997" cy="3227832"/>
          </a:xfrm>
          <a:prstGeom prst="rect">
            <a:avLst/>
          </a:prstGeom>
          <a:no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shot_s14_close" descr="s14_close.png"/>
          <p:cNvPicPr>
            <a:picLocks noChangeAspect="1"/>
          </p:cNvPicPr>
          <p:nvPr/>
        </p:nvPicPr>
        <p:blipFill>
          <a:blip r:embed="rId2"/>
          <a:stretch>
            <a:fillRect/>
          </a:stretch>
        </p:blipFill>
        <p:spPr>
          <a:xfrm>
            <a:off x="640080" y="1298448"/>
            <a:ext cx="4158845" cy="3154680"/>
          </a:xfrm>
          <a:prstGeom prst="rect">
            <a:avLst/>
          </a:prstGeom>
        </p:spPr>
      </p:pic>
      <p:sp>
        <p:nvSpPr>
          <p:cNvPr id="7" name="Rectangle 6"/>
          <p:cNvSpPr/>
          <p:nvPr/>
        </p:nvSpPr>
        <p:spPr>
          <a:xfrm>
            <a:off x="5394960" y="1335024"/>
            <a:ext cx="3127248"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394960" y="1335024"/>
            <a:ext cx="32004" cy="64008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541264" y="1408176"/>
            <a:ext cx="285292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OBSERVATIONS INGESTED</a:t>
            </a:r>
          </a:p>
        </p:txBody>
      </p:sp>
      <p:sp>
        <p:nvSpPr>
          <p:cNvPr id="10" name="TextBox 9"/>
          <p:cNvSpPr txBox="1"/>
          <p:nvPr/>
        </p:nvSpPr>
        <p:spPr>
          <a:xfrm>
            <a:off x="5541264" y="1554480"/>
            <a:ext cx="2852928"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210,000</a:t>
            </a:r>
          </a:p>
        </p:txBody>
      </p:sp>
      <p:sp>
        <p:nvSpPr>
          <p:cNvPr id="11" name="TextBox 10"/>
          <p:cNvSpPr txBox="1"/>
          <p:nvPr/>
        </p:nvSpPr>
        <p:spPr>
          <a:xfrm>
            <a:off x="5541264" y="1755648"/>
            <a:ext cx="285292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in 44 seconds</a:t>
            </a:r>
          </a:p>
        </p:txBody>
      </p:sp>
      <p:sp>
        <p:nvSpPr>
          <p:cNvPr id="12" name="Rectangle 11"/>
          <p:cNvSpPr/>
          <p:nvPr/>
        </p:nvSpPr>
        <p:spPr>
          <a:xfrm>
            <a:off x="5394960" y="2066543"/>
            <a:ext cx="3127248"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394960" y="2066543"/>
            <a:ext cx="32004" cy="640080"/>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541264" y="2139696"/>
            <a:ext cx="285292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DISCRIMINATION (AUC)</a:t>
            </a:r>
          </a:p>
        </p:txBody>
      </p:sp>
      <p:sp>
        <p:nvSpPr>
          <p:cNvPr id="15" name="TextBox 14"/>
          <p:cNvSpPr txBox="1"/>
          <p:nvPr/>
        </p:nvSpPr>
        <p:spPr>
          <a:xfrm>
            <a:off x="5541264" y="2286000"/>
            <a:ext cx="2852928"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0.91</a:t>
            </a:r>
          </a:p>
        </p:txBody>
      </p:sp>
      <p:sp>
        <p:nvSpPr>
          <p:cNvPr id="16" name="TextBox 15"/>
          <p:cNvSpPr txBox="1"/>
          <p:nvPr/>
        </p:nvSpPr>
        <p:spPr>
          <a:xfrm>
            <a:off x="5541264" y="2487168"/>
            <a:ext cx="285292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against 0.50 under chance</a:t>
            </a:r>
          </a:p>
        </p:txBody>
      </p:sp>
      <p:sp>
        <p:nvSpPr>
          <p:cNvPr id="17" name="Rectangle 16"/>
          <p:cNvSpPr/>
          <p:nvPr/>
        </p:nvSpPr>
        <p:spPr>
          <a:xfrm>
            <a:off x="5394960" y="2798064"/>
            <a:ext cx="3127248"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394960" y="2798064"/>
            <a:ext cx="32004" cy="640080"/>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541264" y="2871216"/>
            <a:ext cx="285292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GAIN IN APPROVALS PER $1bn</a:t>
            </a:r>
          </a:p>
        </p:txBody>
      </p:sp>
      <p:sp>
        <p:nvSpPr>
          <p:cNvPr id="20" name="TextBox 19"/>
          <p:cNvSpPr txBox="1"/>
          <p:nvPr/>
        </p:nvSpPr>
        <p:spPr>
          <a:xfrm>
            <a:off x="5541264" y="3017520"/>
            <a:ext cx="2852928"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+72%</a:t>
            </a:r>
          </a:p>
        </p:txBody>
      </p:sp>
      <p:sp>
        <p:nvSpPr>
          <p:cNvPr id="21" name="TextBox 20"/>
          <p:cNvSpPr txBox="1"/>
          <p:nvPr/>
        </p:nvSpPr>
        <p:spPr>
          <a:xfrm>
            <a:off x="5541264" y="3218688"/>
            <a:ext cx="285292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and +$0.90bn expected value per cycle</a:t>
            </a:r>
          </a:p>
        </p:txBody>
      </p:sp>
      <p:sp>
        <p:nvSpPr>
          <p:cNvPr id="22" name="Rectangle 21"/>
          <p:cNvSpPr/>
          <p:nvPr/>
        </p:nvSpPr>
        <p:spPr>
          <a:xfrm>
            <a:off x="5394960" y="3529584"/>
            <a:ext cx="3127248"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394960" y="3529584"/>
            <a:ext cx="32004" cy="640080"/>
          </a:xfrm>
          <a:prstGeom prst="rect">
            <a:avLst/>
          </a:prstGeom>
          <a:solidFill>
            <a:srgbClr val="C7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541264" y="3602736"/>
            <a:ext cx="2852928"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CYCLES RETURNING A LOSS</a:t>
            </a:r>
          </a:p>
        </p:txBody>
      </p:sp>
      <p:sp>
        <p:nvSpPr>
          <p:cNvPr id="25" name="TextBox 24"/>
          <p:cNvSpPr txBox="1"/>
          <p:nvPr/>
        </p:nvSpPr>
        <p:spPr>
          <a:xfrm>
            <a:off x="5541264" y="3749040"/>
            <a:ext cx="2852928" cy="219456"/>
          </a:xfrm>
          <a:prstGeom prst="rect">
            <a:avLst/>
          </a:prstGeom>
          <a:noFill/>
        </p:spPr>
        <p:txBody>
          <a:bodyPr wrap="square" lIns="0" tIns="0" rIns="0" bIns="0">
            <a:spAutoFit/>
          </a:bodyPr>
          <a:lstStyle/>
          <a:p>
            <a:pPr algn="l">
              <a:lnSpc>
                <a:spcPct val="95000"/>
              </a:lnSpc>
            </a:pPr>
            <a:r>
              <a:rPr sz="1350" b="1">
                <a:solidFill>
                  <a:srgbClr val="C77A0A"/>
                </a:solidFill>
                <a:latin typeface="Calibri"/>
              </a:rPr>
              <a:t>52%</a:t>
            </a:r>
          </a:p>
        </p:txBody>
      </p:sp>
      <p:sp>
        <p:nvSpPr>
          <p:cNvPr id="26" name="TextBox 25"/>
          <p:cNvSpPr txBox="1"/>
          <p:nvPr/>
        </p:nvSpPr>
        <p:spPr>
          <a:xfrm>
            <a:off x="5541264" y="3950208"/>
            <a:ext cx="2852928"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downside risk is not eliminated</a:t>
            </a:r>
          </a:p>
        </p:txBody>
      </p:sp>
      <p:sp>
        <p:nvSpPr>
          <p:cNvPr id="27" name="TextBox 26"/>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verify_core.py re-executes the full pipeline and reconciles every reported figure against simulation_results.json: 70 checks, 0 discrepancies.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5852160" cy="182880"/>
          </a:xfrm>
          <a:prstGeom prst="rect">
            <a:avLst/>
          </a:prstGeom>
          <a:noFill/>
        </p:spPr>
        <p:txBody>
          <a:bodyPr wrap="square" lIns="0" tIns="0" rIns="0" bIns="0">
            <a:spAutoFit/>
          </a:bodyPr>
          <a:lstStyle/>
          <a:p>
            <a:pPr algn="l">
              <a:lnSpc>
                <a:spcPct val="95000"/>
              </a:lnSpc>
            </a:pPr>
            <a:r>
              <a:rPr sz="850" b="1" spc="140">
                <a:solidFill>
                  <a:srgbClr val="0B63CE"/>
                </a:solidFill>
                <a:latin typeface="Calibri"/>
              </a:rPr>
              <a:t>REPRODUCIBILITY STATEMENT</a:t>
            </a:r>
          </a:p>
        </p:txBody>
      </p:sp>
      <p:sp>
        <p:nvSpPr>
          <p:cNvPr id="3" name="TextBox 2"/>
          <p:cNvSpPr txBox="1"/>
          <p:nvPr/>
        </p:nvSpPr>
        <p:spPr>
          <a:xfrm>
            <a:off x="640080" y="548640"/>
            <a:ext cx="7498079" cy="402336"/>
          </a:xfrm>
          <a:prstGeom prst="rect">
            <a:avLst/>
          </a:prstGeom>
          <a:noFill/>
        </p:spPr>
        <p:txBody>
          <a:bodyPr wrap="square" lIns="0" tIns="0" rIns="0" bIns="0">
            <a:spAutoFit/>
          </a:bodyPr>
          <a:lstStyle/>
          <a:p>
            <a:r>
              <a:rPr sz="2500" b="1" dirty="0">
                <a:solidFill>
                  <a:srgbClr val="10243A"/>
                </a:solidFill>
                <a:latin typeface="Calibri"/>
              </a:rPr>
              <a:t>Independent replication </a:t>
            </a:r>
            <a:r>
              <a:rPr sz="2500" b="1" dirty="0">
                <a:solidFill>
                  <a:srgbClr val="0B63CE"/>
                </a:solidFill>
                <a:latin typeface="Calibri"/>
              </a:rPr>
              <a:t>in four commands</a:t>
            </a:r>
          </a:p>
        </p:txBody>
      </p:sp>
      <p:sp>
        <p:nvSpPr>
          <p:cNvPr id="4" name="TextBox 3"/>
          <p:cNvSpPr txBox="1"/>
          <p:nvPr/>
        </p:nvSpPr>
        <p:spPr>
          <a:xfrm>
            <a:off x="640080" y="987552"/>
            <a:ext cx="7680960" cy="219456"/>
          </a:xfrm>
          <a:prstGeom prst="rect">
            <a:avLst/>
          </a:prstGeom>
          <a:noFill/>
        </p:spPr>
        <p:txBody>
          <a:bodyPr wrap="square" lIns="0" tIns="0" rIns="0" bIns="0">
            <a:spAutoFit/>
          </a:bodyPr>
          <a:lstStyle/>
          <a:p>
            <a:pPr algn="l">
              <a:lnSpc>
                <a:spcPct val="95000"/>
              </a:lnSpc>
            </a:pPr>
            <a:r>
              <a:rPr sz="1000" b="0">
                <a:solidFill>
                  <a:srgbClr val="55697C"/>
                </a:solidFill>
                <a:latin typeface="Calibri"/>
              </a:rPr>
              <a:t>The demonstration is not a recording. It executes the same codebase that produced the written report, this presentation and the performance dashboard.</a:t>
            </a:r>
          </a:p>
        </p:txBody>
      </p:sp>
      <p:sp>
        <p:nvSpPr>
          <p:cNvPr id="5" name="Rectangle 4"/>
          <p:cNvSpPr/>
          <p:nvPr/>
        </p:nvSpPr>
        <p:spPr>
          <a:xfrm>
            <a:off x="640080" y="1371600"/>
            <a:ext cx="7863840" cy="493776"/>
          </a:xfrm>
          <a:prstGeom prst="rect">
            <a:avLst/>
          </a:prstGeom>
          <a:solidFill>
            <a:srgbClr val="FFFFFF"/>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640080" y="1371600"/>
            <a:ext cx="32004" cy="493776"/>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04671" y="1463040"/>
            <a:ext cx="3657600" cy="182880"/>
          </a:xfrm>
          <a:prstGeom prst="rect">
            <a:avLst/>
          </a:prstGeom>
          <a:noFill/>
        </p:spPr>
        <p:txBody>
          <a:bodyPr wrap="square" lIns="0" tIns="0" rIns="0" bIns="0">
            <a:spAutoFit/>
          </a:bodyPr>
          <a:lstStyle/>
          <a:p>
            <a:pPr algn="l">
              <a:lnSpc>
                <a:spcPct val="95000"/>
              </a:lnSpc>
            </a:pPr>
            <a:r>
              <a:rPr sz="1000" b="1">
                <a:solidFill>
                  <a:srgbClr val="0A3E7A"/>
                </a:solidFill>
                <a:latin typeface="Calibri"/>
              </a:rPr>
              <a:t>pip install numpy pandas openpyxl</a:t>
            </a:r>
          </a:p>
        </p:txBody>
      </p:sp>
      <p:sp>
        <p:nvSpPr>
          <p:cNvPr id="8" name="TextBox 7"/>
          <p:cNvSpPr txBox="1"/>
          <p:nvPr/>
        </p:nvSpPr>
        <p:spPr>
          <a:xfrm>
            <a:off x="804671" y="1655064"/>
            <a:ext cx="7315200" cy="164592"/>
          </a:xfrm>
          <a:prstGeom prst="rect">
            <a:avLst/>
          </a:prstGeom>
          <a:noFill/>
        </p:spPr>
        <p:txBody>
          <a:bodyPr wrap="square" lIns="0" tIns="0" rIns="0" bIns="0">
            <a:spAutoFit/>
          </a:bodyPr>
          <a:lstStyle/>
          <a:p>
            <a:pPr algn="l">
              <a:lnSpc>
                <a:spcPct val="95000"/>
              </a:lnSpc>
            </a:pPr>
            <a:r>
              <a:rPr sz="800" b="0">
                <a:solidFill>
                  <a:srgbClr val="55697C"/>
                </a:solidFill>
                <a:latin typeface="Calibri"/>
              </a:rPr>
              <a:t>three standard libraries; no network access, external service or proprietary dependency</a:t>
            </a:r>
          </a:p>
        </p:txBody>
      </p:sp>
      <p:sp>
        <p:nvSpPr>
          <p:cNvPr id="9" name="Rectangle 8"/>
          <p:cNvSpPr/>
          <p:nvPr/>
        </p:nvSpPr>
        <p:spPr>
          <a:xfrm>
            <a:off x="640080" y="1975104"/>
            <a:ext cx="7863840" cy="493776"/>
          </a:xfrm>
          <a:prstGeom prst="rect">
            <a:avLst/>
          </a:prstGeom>
          <a:solidFill>
            <a:srgbClr val="FFFFFF"/>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975104"/>
            <a:ext cx="32004" cy="493776"/>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4671" y="2066544"/>
            <a:ext cx="3657600" cy="182880"/>
          </a:xfrm>
          <a:prstGeom prst="rect">
            <a:avLst/>
          </a:prstGeom>
          <a:noFill/>
        </p:spPr>
        <p:txBody>
          <a:bodyPr wrap="square" lIns="0" tIns="0" rIns="0" bIns="0">
            <a:spAutoFit/>
          </a:bodyPr>
          <a:lstStyle/>
          <a:p>
            <a:pPr algn="l">
              <a:lnSpc>
                <a:spcPct val="95000"/>
              </a:lnSpc>
            </a:pPr>
            <a:r>
              <a:rPr sz="1000" b="1">
                <a:solidFill>
                  <a:srgbClr val="0A3E7A"/>
                </a:solidFill>
                <a:latin typeface="Calibri"/>
              </a:rPr>
              <a:t>python live_demo.py --notes</a:t>
            </a:r>
          </a:p>
        </p:txBody>
      </p:sp>
      <p:sp>
        <p:nvSpPr>
          <p:cNvPr id="12" name="TextBox 11"/>
          <p:cNvSpPr txBox="1"/>
          <p:nvPr/>
        </p:nvSpPr>
        <p:spPr>
          <a:xfrm>
            <a:off x="804671" y="2258568"/>
            <a:ext cx="7315200" cy="164592"/>
          </a:xfrm>
          <a:prstGeom prst="rect">
            <a:avLst/>
          </a:prstGeom>
          <a:noFill/>
        </p:spPr>
        <p:txBody>
          <a:bodyPr wrap="square" lIns="0" tIns="0" rIns="0" bIns="0">
            <a:spAutoFit/>
          </a:bodyPr>
          <a:lstStyle/>
          <a:p>
            <a:pPr algn="l">
              <a:lnSpc>
                <a:spcPct val="95000"/>
              </a:lnSpc>
            </a:pPr>
            <a:r>
              <a:rPr sz="800" b="0">
                <a:solidFill>
                  <a:srgbClr val="55697C"/>
                </a:solidFill>
                <a:latin typeface="Calibri"/>
              </a:rPr>
              <a:t>executes the nine steps with presenter annotations, pausing between each</a:t>
            </a:r>
          </a:p>
        </p:txBody>
      </p:sp>
      <p:sp>
        <p:nvSpPr>
          <p:cNvPr id="13" name="Rectangle 12"/>
          <p:cNvSpPr/>
          <p:nvPr/>
        </p:nvSpPr>
        <p:spPr>
          <a:xfrm>
            <a:off x="640080" y="2578608"/>
            <a:ext cx="7863840" cy="493776"/>
          </a:xfrm>
          <a:prstGeom prst="rect">
            <a:avLst/>
          </a:prstGeom>
          <a:solidFill>
            <a:srgbClr val="FFFFFF"/>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40080" y="2578608"/>
            <a:ext cx="32004" cy="493776"/>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4671" y="2670048"/>
            <a:ext cx="3657600" cy="182880"/>
          </a:xfrm>
          <a:prstGeom prst="rect">
            <a:avLst/>
          </a:prstGeom>
          <a:noFill/>
        </p:spPr>
        <p:txBody>
          <a:bodyPr wrap="square" lIns="0" tIns="0" rIns="0" bIns="0">
            <a:spAutoFit/>
          </a:bodyPr>
          <a:lstStyle/>
          <a:p>
            <a:pPr algn="l">
              <a:lnSpc>
                <a:spcPct val="95000"/>
              </a:lnSpc>
            </a:pPr>
            <a:r>
              <a:rPr sz="1000" b="1">
                <a:solidFill>
                  <a:srgbClr val="0A3E7A"/>
                </a:solidFill>
                <a:latin typeface="Calibri"/>
              </a:rPr>
              <a:t>python live_demo.py --sensitivity</a:t>
            </a:r>
          </a:p>
        </p:txBody>
      </p:sp>
      <p:sp>
        <p:nvSpPr>
          <p:cNvPr id="16" name="TextBox 15"/>
          <p:cNvSpPr txBox="1"/>
          <p:nvPr/>
        </p:nvSpPr>
        <p:spPr>
          <a:xfrm>
            <a:off x="804671" y="2862072"/>
            <a:ext cx="7315200" cy="164592"/>
          </a:xfrm>
          <a:prstGeom prst="rect">
            <a:avLst/>
          </a:prstGeom>
          <a:noFill/>
        </p:spPr>
        <p:txBody>
          <a:bodyPr wrap="square" lIns="0" tIns="0" rIns="0" bIns="0">
            <a:spAutoFit/>
          </a:bodyPr>
          <a:lstStyle/>
          <a:p>
            <a:pPr algn="l">
              <a:lnSpc>
                <a:spcPct val="95000"/>
              </a:lnSpc>
            </a:pPr>
            <a:r>
              <a:rPr sz="800" b="0">
                <a:solidFill>
                  <a:srgbClr val="55697C"/>
                </a:solidFill>
                <a:latin typeface="Calibri"/>
              </a:rPr>
              <a:t>adds step 8, the two-parameter sensitivity sweeps</a:t>
            </a:r>
          </a:p>
        </p:txBody>
      </p:sp>
      <p:sp>
        <p:nvSpPr>
          <p:cNvPr id="17" name="Rectangle 16"/>
          <p:cNvSpPr/>
          <p:nvPr/>
        </p:nvSpPr>
        <p:spPr>
          <a:xfrm>
            <a:off x="640080" y="3182112"/>
            <a:ext cx="7863840" cy="493776"/>
          </a:xfrm>
          <a:prstGeom prst="rect">
            <a:avLst/>
          </a:prstGeom>
          <a:solidFill>
            <a:srgbClr val="FFFFFF"/>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40080" y="3182112"/>
            <a:ext cx="32004" cy="493776"/>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4671" y="3273552"/>
            <a:ext cx="3657600" cy="182880"/>
          </a:xfrm>
          <a:prstGeom prst="rect">
            <a:avLst/>
          </a:prstGeom>
          <a:noFill/>
        </p:spPr>
        <p:txBody>
          <a:bodyPr wrap="square" lIns="0" tIns="0" rIns="0" bIns="0">
            <a:spAutoFit/>
          </a:bodyPr>
          <a:lstStyle/>
          <a:p>
            <a:pPr algn="l">
              <a:lnSpc>
                <a:spcPct val="95000"/>
              </a:lnSpc>
            </a:pPr>
            <a:r>
              <a:rPr sz="1000" b="1">
                <a:solidFill>
                  <a:srgbClr val="0A3E7A"/>
                </a:solidFill>
                <a:latin typeface="Calibri"/>
              </a:rPr>
              <a:t>python verify_core.py</a:t>
            </a:r>
          </a:p>
        </p:txBody>
      </p:sp>
      <p:sp>
        <p:nvSpPr>
          <p:cNvPr id="20" name="TextBox 19"/>
          <p:cNvSpPr txBox="1"/>
          <p:nvPr/>
        </p:nvSpPr>
        <p:spPr>
          <a:xfrm>
            <a:off x="804671" y="3465576"/>
            <a:ext cx="7315200" cy="164592"/>
          </a:xfrm>
          <a:prstGeom prst="rect">
            <a:avLst/>
          </a:prstGeom>
          <a:noFill/>
        </p:spPr>
        <p:txBody>
          <a:bodyPr wrap="square" lIns="0" tIns="0" rIns="0" bIns="0">
            <a:spAutoFit/>
          </a:bodyPr>
          <a:lstStyle/>
          <a:p>
            <a:pPr algn="l">
              <a:lnSpc>
                <a:spcPct val="95000"/>
              </a:lnSpc>
            </a:pPr>
            <a:r>
              <a:rPr sz="800" b="0">
                <a:solidFill>
                  <a:srgbClr val="55697C"/>
                </a:solidFill>
                <a:latin typeface="Calibri"/>
              </a:rPr>
              <a:t>re-executes the pipeline and reconciles 70 figures against simulation_results.json</a:t>
            </a:r>
          </a:p>
        </p:txBody>
      </p:sp>
      <p:sp>
        <p:nvSpPr>
          <p:cNvPr id="21" name="Rectangle 20"/>
          <p:cNvSpPr/>
          <p:nvPr/>
        </p:nvSpPr>
        <p:spPr>
          <a:xfrm>
            <a:off x="640080" y="3913632"/>
            <a:ext cx="3840480"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640080" y="3913632"/>
            <a:ext cx="32004" cy="640080"/>
          </a:xfrm>
          <a:prstGeom prst="rect">
            <a:avLst/>
          </a:prstGeom>
          <a:solidFill>
            <a:srgbClr val="0C8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6384" y="3986784"/>
            <a:ext cx="35661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VERIFICATION OUTPUT</a:t>
            </a:r>
          </a:p>
        </p:txBody>
      </p:sp>
      <p:sp>
        <p:nvSpPr>
          <p:cNvPr id="24" name="TextBox 23"/>
          <p:cNvSpPr txBox="1"/>
          <p:nvPr/>
        </p:nvSpPr>
        <p:spPr>
          <a:xfrm>
            <a:off x="786384" y="4133088"/>
            <a:ext cx="3566160" cy="219456"/>
          </a:xfrm>
          <a:prstGeom prst="rect">
            <a:avLst/>
          </a:prstGeom>
          <a:noFill/>
        </p:spPr>
        <p:txBody>
          <a:bodyPr wrap="square" lIns="0" tIns="0" rIns="0" bIns="0">
            <a:spAutoFit/>
          </a:bodyPr>
          <a:lstStyle/>
          <a:p>
            <a:pPr algn="l">
              <a:lnSpc>
                <a:spcPct val="95000"/>
              </a:lnSpc>
            </a:pPr>
            <a:r>
              <a:rPr sz="1350" b="1">
                <a:solidFill>
                  <a:srgbClr val="0C8C83"/>
                </a:solidFill>
                <a:latin typeface="Calibri"/>
              </a:rPr>
              <a:t>PASS 70    FAIL 0</a:t>
            </a:r>
          </a:p>
        </p:txBody>
      </p:sp>
      <p:sp>
        <p:nvSpPr>
          <p:cNvPr id="25" name="TextBox 24"/>
          <p:cNvSpPr txBox="1"/>
          <p:nvPr/>
        </p:nvSpPr>
        <p:spPr>
          <a:xfrm>
            <a:off x="786384" y="4334256"/>
            <a:ext cx="35661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all reported figures reconcile across report, presentation and dashboard</a:t>
            </a:r>
          </a:p>
        </p:txBody>
      </p:sp>
      <p:sp>
        <p:nvSpPr>
          <p:cNvPr id="26" name="Rectangle 25"/>
          <p:cNvSpPr/>
          <p:nvPr/>
        </p:nvSpPr>
        <p:spPr>
          <a:xfrm>
            <a:off x="4663440" y="3913632"/>
            <a:ext cx="3840480" cy="640080"/>
          </a:xfrm>
          <a:prstGeom prst="rect">
            <a:avLst/>
          </a:prstGeom>
          <a:solidFill>
            <a:srgbClr val="F3F7FB"/>
          </a:solidFill>
          <a:ln w="9525">
            <a:solidFill>
              <a:srgbClr val="E3E9E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4663440" y="3913632"/>
            <a:ext cx="32004" cy="64008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809744" y="3986784"/>
            <a:ext cx="3566160" cy="146304"/>
          </a:xfrm>
          <a:prstGeom prst="rect">
            <a:avLst/>
          </a:prstGeom>
          <a:noFill/>
        </p:spPr>
        <p:txBody>
          <a:bodyPr wrap="square" lIns="0" tIns="0" rIns="0" bIns="0">
            <a:spAutoFit/>
          </a:bodyPr>
          <a:lstStyle/>
          <a:p>
            <a:pPr algn="l">
              <a:lnSpc>
                <a:spcPct val="95000"/>
              </a:lnSpc>
            </a:pPr>
            <a:r>
              <a:rPr sz="700" b="1" spc="120">
                <a:solidFill>
                  <a:srgbClr val="8FA1B2"/>
                </a:solidFill>
                <a:latin typeface="Calibri"/>
              </a:rPr>
              <a:t>DOCUMENTED REFERENCE LAYER</a:t>
            </a:r>
          </a:p>
        </p:txBody>
      </p:sp>
      <p:sp>
        <p:nvSpPr>
          <p:cNvPr id="29" name="TextBox 28"/>
          <p:cNvSpPr txBox="1"/>
          <p:nvPr/>
        </p:nvSpPr>
        <p:spPr>
          <a:xfrm>
            <a:off x="4809744" y="4133088"/>
            <a:ext cx="3566160" cy="219456"/>
          </a:xfrm>
          <a:prstGeom prst="rect">
            <a:avLst/>
          </a:prstGeom>
          <a:noFill/>
        </p:spPr>
        <p:txBody>
          <a:bodyPr wrap="square" lIns="0" tIns="0" rIns="0" bIns="0">
            <a:spAutoFit/>
          </a:bodyPr>
          <a:lstStyle/>
          <a:p>
            <a:pPr algn="l">
              <a:lnSpc>
                <a:spcPct val="95000"/>
              </a:lnSpc>
            </a:pPr>
            <a:r>
              <a:rPr sz="1350" b="1">
                <a:solidFill>
                  <a:srgbClr val="0B63CE"/>
                </a:solidFill>
                <a:latin typeface="Calibri"/>
              </a:rPr>
              <a:t>18 genes · 20 variants · 45 sources</a:t>
            </a:r>
          </a:p>
        </p:txBody>
      </p:sp>
      <p:sp>
        <p:nvSpPr>
          <p:cNvPr id="30" name="TextBox 29"/>
          <p:cNvSpPr txBox="1"/>
          <p:nvPr/>
        </p:nvSpPr>
        <p:spPr>
          <a:xfrm>
            <a:off x="4809744" y="4334256"/>
            <a:ext cx="3566160" cy="128016"/>
          </a:xfrm>
          <a:prstGeom prst="rect">
            <a:avLst/>
          </a:prstGeom>
          <a:noFill/>
        </p:spPr>
        <p:txBody>
          <a:bodyPr wrap="square" lIns="0" tIns="0" rIns="0" bIns="0">
            <a:spAutoFit/>
          </a:bodyPr>
          <a:lstStyle/>
          <a:p>
            <a:pPr algn="l">
              <a:lnSpc>
                <a:spcPct val="95000"/>
              </a:lnSpc>
            </a:pPr>
            <a:r>
              <a:rPr sz="750" b="0">
                <a:solidFill>
                  <a:srgbClr val="55697C"/>
                </a:solidFill>
                <a:latin typeface="Calibri"/>
              </a:rPr>
              <a:t>participant-level data simulated from those published effect sizes</a:t>
            </a:r>
          </a:p>
        </p:txBody>
      </p:sp>
      <p:sp>
        <p:nvSpPr>
          <p:cNvPr id="31" name="TextBox 30"/>
          <p:cNvSpPr txBox="1"/>
          <p:nvPr/>
        </p:nvSpPr>
        <p:spPr>
          <a:xfrm>
            <a:off x="640080" y="4727448"/>
            <a:ext cx="7863840" cy="182880"/>
          </a:xfrm>
          <a:prstGeom prst="rect">
            <a:avLst/>
          </a:prstGeom>
          <a:noFill/>
        </p:spPr>
        <p:txBody>
          <a:bodyPr wrap="square" lIns="0" tIns="0" rIns="0" bIns="0">
            <a:spAutoFit/>
          </a:bodyPr>
          <a:lstStyle/>
          <a:p>
            <a:pPr algn="l">
              <a:lnSpc>
                <a:spcPct val="95000"/>
              </a:lnSpc>
            </a:pPr>
            <a:r>
              <a:rPr sz="750" b="0">
                <a:solidFill>
                  <a:srgbClr val="8FA1B2"/>
                </a:solidFill>
                <a:latin typeface="Calibri"/>
              </a:rPr>
              <a:t>Eslam Aly  ·  Case Studies in AI for Business  ·  Dr. Ahmed Elseddawy  ·  Smart Village Campus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44EC08-75C9-A3D5-40A4-1845BC876E93}"/>
              </a:ext>
            </a:extLst>
          </p:cNvPr>
          <p:cNvSpPr txBox="1"/>
          <p:nvPr/>
        </p:nvSpPr>
        <p:spPr>
          <a:xfrm>
            <a:off x="3402280" y="2147810"/>
            <a:ext cx="6305798"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0243A"/>
                </a:solidFill>
                <a:effectLst/>
                <a:uLnTx/>
                <a:uFillTx/>
                <a:latin typeface="Calibri"/>
                <a:ea typeface="+mn-ea"/>
                <a:cs typeface="+mn-cs"/>
              </a:rPr>
              <a:t>Thank You</a:t>
            </a:r>
            <a:endParaRPr kumimoji="0" lang="en-US" sz="4400" b="1" i="0" u="none" strike="noStrike" kern="1200" cap="none" spc="0" normalizeH="0" baseline="0" noProof="0" dirty="0">
              <a:ln>
                <a:noFill/>
              </a:ln>
              <a:solidFill>
                <a:srgbClr val="0B63CE"/>
              </a:solidFill>
              <a:effectLst/>
              <a:uLnTx/>
              <a:uFillTx/>
              <a:latin typeface="Calibri"/>
              <a:ea typeface="+mn-ea"/>
              <a:cs typeface="+mn-cs"/>
            </a:endParaRPr>
          </a:p>
        </p:txBody>
      </p:sp>
    </p:spTree>
    <p:extLst>
      <p:ext uri="{BB962C8B-B14F-4D97-AF65-F5344CB8AC3E}">
        <p14:creationId xmlns:p14="http://schemas.microsoft.com/office/powerpoint/2010/main" val="3784389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10697</Words>
  <Application>Microsoft Office PowerPoint</Application>
  <PresentationFormat>On-screen Show (16:9)</PresentationFormat>
  <Paragraphs>844</Paragraphs>
  <Slides>32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Discovery and Development Using AI Models</dc:title>
  <dc:subject>PptxGenJS Presentation</dc:subject>
  <dc:creator>Eslam Aly</dc:creator>
  <cp:lastModifiedBy>Eslam Aly</cp:lastModifiedBy>
  <cp:revision>2</cp:revision>
  <dcterms:created xsi:type="dcterms:W3CDTF">2026-09-13T16:50:58Z</dcterms:created>
  <dcterms:modified xsi:type="dcterms:W3CDTF">2026-09-27T14:45:53Z</dcterms:modified>
</cp:coreProperties>
</file>